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a90a125dc55489f" /><Relationship Type="http://schemas.openxmlformats.org/officeDocument/2006/relationships/extended-properties" Target="/docProps/app.xml" Id="R24c4fba3b6c940be" /><Relationship Type="http://schemas.openxmlformats.org/officeDocument/2006/relationships/officeDocument" Target="/ppt/presentation.xml" Id="Rab3152fe77754412" /></Relationships>
</file>

<file path=ppt/presentation.xml><?xml version="1.0" encoding="utf-8"?>
<p:presentation xmlns:p="http://schemas.openxmlformats.org/presentationml/2006/main">
  <p:sldMasterIdLst>
    <p:sldMasterId xmlns:r="http://schemas.openxmlformats.org/officeDocument/2006/relationships" id="2147483648" r:id="R121ef7d1e8f143db"/>
  </p:sldMasterIdLst>
  <p:notesMasterIdLst>
    <p:notesMasterId xmlns:r="http://schemas.openxmlformats.org/officeDocument/2006/relationships" r:id="Rc00f75f78a38474d"/>
  </p:notesMasterIdLst>
  <p:sldIdLst>
    <p:sldId xmlns:r="http://schemas.openxmlformats.org/officeDocument/2006/relationships" id="256" r:id="R4802f28a34004e43"/>
    <p:sldId xmlns:r="http://schemas.openxmlformats.org/officeDocument/2006/relationships" id="257" r:id="Rb19c197ba50e4602"/>
    <p:sldId xmlns:r="http://schemas.openxmlformats.org/officeDocument/2006/relationships" id="258" r:id="Rdf34bcd13d484aa0"/>
    <p:sldId xmlns:r="http://schemas.openxmlformats.org/officeDocument/2006/relationships" id="259" r:id="R1fec17e17aaa464e"/>
    <p:sldId xmlns:r="http://schemas.openxmlformats.org/officeDocument/2006/relationships" id="260" r:id="Rd0990bf1f9a94b10"/>
    <p:sldId xmlns:r="http://schemas.openxmlformats.org/officeDocument/2006/relationships" id="261" r:id="R71a3ce2301564e8f"/>
    <p:sldId xmlns:r="http://schemas.openxmlformats.org/officeDocument/2006/relationships" id="262" r:id="Rbb8a2a3f80a34bd8"/>
    <p:sldId xmlns:r="http://schemas.openxmlformats.org/officeDocument/2006/relationships" id="263" r:id="R79f3510874ff4489"/>
    <p:sldId xmlns:r="http://schemas.openxmlformats.org/officeDocument/2006/relationships" id="264" r:id="R06f419eea7ac4c57"/>
    <p:sldId xmlns:r="http://schemas.openxmlformats.org/officeDocument/2006/relationships" id="265" r:id="R57c64d87b4a54134"/>
    <p:sldId xmlns:r="http://schemas.openxmlformats.org/officeDocument/2006/relationships" id="266" r:id="R0081ca4c896d40a5"/>
    <p:sldId xmlns:r="http://schemas.openxmlformats.org/officeDocument/2006/relationships" id="267" r:id="R3a2f6554bdfd435c"/>
    <p:sldId xmlns:r="http://schemas.openxmlformats.org/officeDocument/2006/relationships" id="268" r:id="R0f553f25fa224209"/>
    <p:sldId xmlns:r="http://schemas.openxmlformats.org/officeDocument/2006/relationships" id="269" r:id="R05a73b38ba924e73"/>
    <p:sldId xmlns:r="http://schemas.openxmlformats.org/officeDocument/2006/relationships" id="270" r:id="Rf18b528f36924aaf"/>
    <p:sldId xmlns:r="http://schemas.openxmlformats.org/officeDocument/2006/relationships" id="271" r:id="Ra122baa311784e2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330d0014184d84" /><Relationship Type="http://schemas.openxmlformats.org/officeDocument/2006/relationships/slideMaster" Target="/ppt/slideMasters/slideMaster1.xml" Id="R121ef7d1e8f143db" /><Relationship Type="http://schemas.openxmlformats.org/officeDocument/2006/relationships/notesMaster" Target="/ppt/notesMasters/notesMaster1.xml" Id="Rc00f75f78a38474d" /><Relationship Type="http://schemas.openxmlformats.org/officeDocument/2006/relationships/presProps" Target="/ppt/presProps.xml" Id="Rd4d3a63cb7da45dd" /><Relationship Type="http://schemas.openxmlformats.org/officeDocument/2006/relationships/tableStyles" Target="/ppt/tableStyles.xml" Id="R32fb42fe23ee434f" /><Relationship Type="http://schemas.openxmlformats.org/officeDocument/2006/relationships/slide" Target="/ppt/slides/slide1.xml" Id="R4802f28a34004e43" /><Relationship Type="http://schemas.openxmlformats.org/officeDocument/2006/relationships/slide" Target="/ppt/slides/slide2.xml" Id="Rb19c197ba50e4602" /><Relationship Type="http://schemas.openxmlformats.org/officeDocument/2006/relationships/slide" Target="/ppt/slides/slide3.xml" Id="Rdf34bcd13d484aa0" /><Relationship Type="http://schemas.openxmlformats.org/officeDocument/2006/relationships/slide" Target="/ppt/slides/slide4.xml" Id="R1fec17e17aaa464e" /><Relationship Type="http://schemas.openxmlformats.org/officeDocument/2006/relationships/slide" Target="/ppt/slides/slide5.xml" Id="Rd0990bf1f9a94b10" /><Relationship Type="http://schemas.openxmlformats.org/officeDocument/2006/relationships/slide" Target="/ppt/slides/slide6.xml" Id="R71a3ce2301564e8f" /><Relationship Type="http://schemas.openxmlformats.org/officeDocument/2006/relationships/slide" Target="/ppt/slides/slide7.xml" Id="Rbb8a2a3f80a34bd8" /><Relationship Type="http://schemas.openxmlformats.org/officeDocument/2006/relationships/slide" Target="/ppt/slides/slide8.xml" Id="R79f3510874ff4489" /><Relationship Type="http://schemas.openxmlformats.org/officeDocument/2006/relationships/slide" Target="/ppt/slides/slide9.xml" Id="R06f419eea7ac4c57" /><Relationship Type="http://schemas.openxmlformats.org/officeDocument/2006/relationships/slide" Target="/ppt/slides/slide10.xml" Id="R57c64d87b4a54134" /><Relationship Type="http://schemas.openxmlformats.org/officeDocument/2006/relationships/slide" Target="/ppt/slides/slide11.xml" Id="R0081ca4c896d40a5" /><Relationship Type="http://schemas.openxmlformats.org/officeDocument/2006/relationships/slide" Target="/ppt/slides/slide12.xml" Id="R3a2f6554bdfd435c" /><Relationship Type="http://schemas.openxmlformats.org/officeDocument/2006/relationships/slide" Target="/ppt/slides/slide13.xml" Id="R0f553f25fa224209" /><Relationship Type="http://schemas.openxmlformats.org/officeDocument/2006/relationships/slide" Target="/ppt/slides/slide14.xml" Id="R05a73b38ba924e73" /><Relationship Type="http://schemas.openxmlformats.org/officeDocument/2006/relationships/slide" Target="/ppt/slides/slide15.xml" Id="Rf18b528f36924aaf" /><Relationship Type="http://schemas.openxmlformats.org/officeDocument/2006/relationships/slide" Target="/ppt/slides/slide16.xml" Id="Ra122baa311784e2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397223f49a435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38eac9c0664c03" /><Relationship Type="http://schemas.openxmlformats.org/officeDocument/2006/relationships/notesMaster" Target="/ppt/notesMasters/notesMaster1.xml" Id="R6607c6c7db9d4e0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e03ec56ddd4a8e" /><Relationship Type="http://schemas.openxmlformats.org/officeDocument/2006/relationships/notesMaster" Target="/ppt/notesMasters/notesMaster1.xml" Id="Rb77f5092cb6e4ba2"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455bcb67374d7a" /><Relationship Type="http://schemas.openxmlformats.org/officeDocument/2006/relationships/notesMaster" Target="/ppt/notesMasters/notesMaster1.xml" Id="R9f6cfe8db2c64f2d" /></Relationships>
</file>

<file path=ppt/notesSlides/_rels/notesSlide4.xml.rels>&#65279;<?xml version="1.0" encoding="utf-8"?><Relationships xmlns="http://schemas.openxmlformats.org/package/2006/relationships"><Relationship Type="http://schemas.openxmlformats.org/officeDocument/2006/relationships/slide" Target="/ppt/slides/slide4.xml" Id="R942ed1c0c32241c9" /><Relationship Type="http://schemas.openxmlformats.org/officeDocument/2006/relationships/notesMaster" Target="/ppt/notesMasters/notesMaster1.xml" Id="R51146b668bc541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ad5da4ca1554025" /><Relationship Type="http://schemas.openxmlformats.org/officeDocument/2006/relationships/notesMaster" Target="/ppt/notesMasters/notesMaster1.xml" Id="Raa2c05bfec5247ea"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48fb37707f4667" /><Relationship Type="http://schemas.openxmlformats.org/officeDocument/2006/relationships/notesMaster" Target="/ppt/notesMasters/notesMaster1.xml" Id="Rbbad0c49d63b43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13c582a2f7b4f51" /><Relationship Type="http://schemas.openxmlformats.org/officeDocument/2006/relationships/notesMaster" Target="/ppt/notesMasters/notesMaster1.xml" Id="R0073e4f83c7e4f1c" /></Relationships>
</file>

<file path=ppt/notesSlides/_rels/notesSlide8.xml.rels>&#65279;<?xml version="1.0" encoding="utf-8"?><Relationships xmlns="http://schemas.openxmlformats.org/package/2006/relationships"><Relationship Type="http://schemas.openxmlformats.org/officeDocument/2006/relationships/slide" Target="/ppt/slides/slide8.xml" Id="R6ae70c33cf944bfa" /><Relationship Type="http://schemas.openxmlformats.org/officeDocument/2006/relationships/notesMaster" Target="/ppt/notesMasters/notesMaster1.xml" Id="Rf06463b603ac41dc" /></Relationships>
</file>

<file path=ppt/notesSlides/_rels/notesSlide9.xml.rels>&#65279;<?xml version="1.0" encoding="utf-8"?><Relationships xmlns="http://schemas.openxmlformats.org/package/2006/relationships"><Relationship Type="http://schemas.openxmlformats.org/officeDocument/2006/relationships/slide" Target="/ppt/slides/slide9.xml" Id="R7040646ded9e4b6b" /><Relationship Type="http://schemas.openxmlformats.org/officeDocument/2006/relationships/notesMaster" Target="/ppt/notesMasters/notesMaster1.xml" Id="Rdfde78b28c35498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502d0a7e0c84598" /><Relationship Type="http://schemas.openxmlformats.org/officeDocument/2006/relationships/notesMaster" Target="/ppt/notesMasters/notesMaster1.xml" Id="R3f34019376eb468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6a7b05dee1c44f0" /><Relationship Type="http://schemas.openxmlformats.org/officeDocument/2006/relationships/notesMaster" Target="/ppt/notesMasters/notesMaster1.xml" Id="R82352a9aef7841c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ef32744ffe841a8" /><Relationship Type="http://schemas.openxmlformats.org/officeDocument/2006/relationships/notesMaster" Target="/ppt/notesMasters/notesMaster1.xml" Id="Rf5000a026899429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65ee263e118466c" /><Relationship Type="http://schemas.openxmlformats.org/officeDocument/2006/relationships/notesMaster" Target="/ppt/notesMasters/notesMaster1.xml" Id="Rb52680d1dea4442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b3c46b3bebe4d19" /><Relationship Type="http://schemas.openxmlformats.org/officeDocument/2006/relationships/notesMaster" Target="/ppt/notesMasters/notesMaster1.xml" Id="R896afe16b97e42e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39bec01ed7a4f02" /><Relationship Type="http://schemas.openxmlformats.org/officeDocument/2006/relationships/notesMaster" Target="/ppt/notesMasters/notesMaster1.xml" Id="R4f9281e87511486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799b84f5238460f" /><Relationship Type="http://schemas.openxmlformats.org/officeDocument/2006/relationships/notesMaster" Target="/ppt/notesMasters/notesMaster1.xml" Id="Re8f2a51501aa4f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Cách trả lời hội đồng:</a:t>
            </a:r>
          </a:p>
          <a:p xmlns:a="http://schemas.openxmlformats.org/drawingml/2006/main">
            <a:r>
              <a:t>- Hiện tại backend kiểm tra đuôi PDF/DOCX và giới hạn 10 MB. PDF được đọc từng trang bằng pypdf; DOCX lấy paragraph và table.</a:t>
            </a:r>
          </a:p>
          <a:p xmlns:a="http://schemas.openxmlformats.org/drawingml/2006/main">
            <a:r>
              <a:t>- Hệ thống hiện chỉ lấy text layer. Ảnh nhúng, ảnh chụp CV hoặc scanned PDF chưa được OCR. Nếu lấy được dưới 50 ký tự thì request bị từ chối 422.</a:t>
            </a:r>
          </a:p>
          <a:p xmlns:a="http://schemas.openxmlformats.org/drawingml/2006/main">
            <a:r>
              <a:t>- Không được nói hệ thống đã xử lý ảnh. Phần OCR trên slide là phương án nâng cấp: chỉ chạy OCR khi text coverage thấp để tránh tăng latency/cost cho mọi CV.</a:t>
            </a:r>
          </a:p>
          <a:p xmlns:a="http://schemas.openxmlformats.org/drawingml/2006/main">
            <a:r>
              <a:t>- Cần kiểm tra magic bytes/MIME và chống prompt injection; prompt hiện coi CV là dữ liệu không tin cậy.</a:t>
            </a:r>
          </a:p>
          <a:p xmlns:a="http://schemas.openxmlformats.org/drawingml/2006/main">
            <a:r>
              <a:t/>
            </a:r>
          </a:p>
          <a:p xmlns:a="http://schemas.openxmlformats.org/drawingml/2006/main">
            <a:r>
              <a:t>[Sources]</a:t>
            </a:r>
          </a:p>
          <a:p xmlns:a="http://schemas.openxmlformats.org/drawingml/2006/main">
            <a:r>
              <a:t>- backend/gateway/api/resume.py</a:t>
            </a:r>
          </a:p>
          <a:p xmlns:a="http://schemas.openxmlformats.org/drawingml/2006/main">
            <a:r>
              <a:t>- backend/infrastructure/documents/pdf_service.py</a:t>
            </a:r>
          </a:p>
          <a:p xmlns:a="http://schemas.openxmlformats.org/drawingml/2006/main">
            <a:r>
              <a:t>- backend/services/profile_scanner/prompts.py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Cách trả lời câu hỏi 'cắt text thành token như thế nào?':</a:t>
            </a:r>
          </a:p>
          <a:p xmlns:a="http://schemas.openxmlformats.org/drawingml/2006/main">
            <a:r>
              <a:t>- Phải tách hiện trạng và thiết kế vector. Hiện trạng CV không chunk theo token; code cắt chuỗi Python ở 12.000 ký tự trước khi gửi Gemini.</a:t>
            </a:r>
          </a:p>
          <a:p xmlns:a="http://schemas.openxmlformats.org/drawingml/2006/main">
            <a:r>
              <a:t>- 12.000 ký tự không tương đương 12.000 token và có thể cắt giữa một section. Đây là giới hạn input đơn giản, không phải chiến lược RAG.</a:t>
            </a:r>
          </a:p>
          <a:p xmlns:a="http://schemas.openxmlformats.org/drawingml/2006/main">
            <a:r>
              <a:t>- Với knowledge vector, đề xuất chunk theo semantic boundary: heading, competency, bullet group. Các giá trị 250–500 và overlap 50–80 là initial hypothesis, phải tune bằng Recall@K/MRR/context precision.</a:t>
            </a:r>
          </a:p>
          <a:p xmlns:a="http://schemas.openxmlformats.org/drawingml/2006/main">
            <a:r>
              <a:t>- Không nên embed ID, timestamp hoặc content hash vì chúng dùng cho filter, update và audit, không tạo nghĩa semantic hữu ích.</a:t>
            </a:r>
          </a:p>
          <a:p xmlns:a="http://schemas.openxmlformats.org/drawingml/2006/main">
            <a:r>
              <a:t/>
            </a:r>
          </a:p>
          <a:p xmlns:a="http://schemas.openxmlformats.org/drawingml/2006/main">
            <a:r>
              <a:t>[Sources]</a:t>
            </a:r>
          </a:p>
          <a:p xmlns:a="http://schemas.openxmlformats.org/drawingml/2006/main">
            <a:r>
              <a:t>- backend/services/profile_scanner/prompts.py</a:t>
            </a:r>
          </a:p>
          <a:p xmlns:a="http://schemas.openxmlformats.org/drawingml/2006/main">
            <a:r>
              <a:t>- backend/scripts/build_interview_knowledge_catalog.py</a:t>
            </a:r>
          </a:p>
          <a:p xmlns:a="http://schemas.openxmlformats.org/drawingml/2006/main">
            <a:r>
              <a:t>- backend/services/interview_knowledge/vector_prototype/README.md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Cách giải thích search hiện tại:</a:t>
            </a:r>
          </a:p>
          <a:p xmlns:a="http://schemas.openxmlformats.org/drawingml/2006/main">
            <a:r>
              <a:t>- Query được hình thành từ toàn bộ CandidateProfile có cấu trúc: specialization, skills, skill evidence, projects, experiences và education; experience_level cung cấp level guidance.</a:t>
            </a:r>
          </a:p>
          <a:p xmlns:a="http://schemas.openxmlformats.org/drawingml/2006/main">
            <a:r>
              <a:t>- Hệ thống tokenize bằng regex, lowercase, bỏ stop words. Domain được chọn bằng exact label và overlap với bộ domain terms.</a:t>
            </a:r>
          </a:p>
          <a:p xmlns:a="http://schemas.openxmlformats.org/drawingml/2006/main">
            <a:r>
              <a:t>- Mỗi topic trong catalog được chấm điểm theo token overlap; token dài từ 5 ký tự có trọng số 3, token ngắn trọng số 1, exact title được cộng 12. Sau đó sort giảm dần và lấy Top-8.</a:t>
            </a:r>
          </a:p>
          <a:p xmlns:a="http://schemas.openxmlformats.org/drawingml/2006/main">
            <a:r>
              <a:t>- Đây là keyword retrieval xác định, dễ debug nhưng yếu với synonym và semantic paraphrase. Không gọi đây là vector search.</a:t>
            </a:r>
          </a:p>
          <a:p xmlns:a="http://schemas.openxmlformats.org/drawingml/2006/main">
            <a:r>
              <a:t/>
            </a:r>
          </a:p>
          <a:p xmlns:a="http://schemas.openxmlformats.org/drawingml/2006/main">
            <a:r>
              <a:t>[Sources]</a:t>
            </a:r>
          </a:p>
          <a:p xmlns:a="http://schemas.openxmlformats.org/drawingml/2006/main">
            <a:r>
              <a:t>- backend/services/interview_knowledge/local.py</a:t>
            </a:r>
          </a:p>
          <a:p xmlns:a="http://schemas.openxmlformats.org/drawingml/2006/main">
            <a:r>
              <a:t>- backend/services/interview_knowledge/retriever.py</a:t>
            </a:r>
          </a:p>
          <a:p xmlns:a="http://schemas.openxmlformats.org/drawingml/2006/main">
            <a:r>
              <a:t>- backend/core/dependencies.py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Cách trả lời vector database lưu gì và search ra sao:</a:t>
            </a:r>
          </a:p>
          <a:p xmlns:a="http://schemas.openxmlformats.org/drawingml/2006/main">
            <a:r>
              <a:t>- Một Firestore document tương ứng một knowledge chunk. Vector 768 chiều là field riêng; text gốc và metadata được giữ để giải thích kết quả, filter và re-index.</a:t>
            </a:r>
          </a:p>
          <a:p xmlns:a="http://schemas.openxmlformats.org/drawingml/2006/main">
            <a:r>
              <a:t>- Query vector không dựa vào một keyword duy nhất mà tổng hợp specialization/role, experience level, skills mạnh và evidence. Có thể pre-filter domain/level rồi mới nearest-neighbor search.</a:t>
            </a:r>
          </a:p>
          <a:p xmlns:a="http://schemas.openxmlformats.org/drawingml/2006/main">
            <a:r>
              <a:t>- Cosine similarity đo góc giữa query vector và chunk vector; càng gần 1 càng tương đồng. Firestore trả cosine distance, nên score hiển thị có thể là 1 - distance.</a:t>
            </a:r>
          </a:p>
          <a:p xmlns:a="http://schemas.openxmlformats.org/drawingml/2006/main">
            <a:r>
              <a:t>- Top-K=5 và 768 dimensions mới là cấu hình đề xuất, chưa phải optimum đã benchmark.</a:t>
            </a:r>
          </a:p>
          <a:p xmlns:a="http://schemas.openxmlformats.org/drawingml/2006/main">
            <a:r>
              <a:t>- Prototype hiện tại chỉ dùng vector giả 12 chiều và 10 hardcoded chunks trong memory; tuyệt đối không dùng prototype đó làm bằng chứng production.</a:t>
            </a:r>
          </a:p>
          <a:p xmlns:a="http://schemas.openxmlformats.org/drawingml/2006/main">
            <a:r>
              <a:t/>
            </a:r>
          </a:p>
          <a:p xmlns:a="http://schemas.openxmlformats.org/drawingml/2006/main">
            <a:r>
              <a:t>[Sources]</a:t>
            </a:r>
          </a:p>
          <a:p xmlns:a="http://schemas.openxmlformats.org/drawingml/2006/main">
            <a:r>
              <a:t>- backend/services/interview_knowledge/vector_prototype/README.md</a:t>
            </a:r>
          </a:p>
          <a:p xmlns:a="http://schemas.openxmlformats.org/drawingml/2006/main">
            <a:r>
              <a:t>- backend/services/interview_knowledge/vector_prototype/logic.py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Cách trả lời 'vector database có cập nhật không?':</a:t>
            </a:r>
          </a:p>
          <a:p xmlns:a="http://schemas.openxmlformats.org/drawingml/2006/main">
            <a:r>
              <a:t>- Hiện tại không có vector DB production nên không có vector được cập nhật. Knowledge source là Markdown; script build tạo catalog.json và cần deploy lại app.</a:t>
            </a:r>
          </a:p>
          <a:p xmlns:a="http://schemas.openxmlformats.org/drawingml/2006/main">
            <a:r>
              <a:t>- Nếu triển khai vector, update nên idempotent bằng content_hash. Chunk không đổi không embed lại; chunk mới/thay đổi được upsert; chunk bị xóa được đánh dấu inactive trước khi dọn.</a:t>
            </a:r>
          </a:p>
          <a:p xmlns:a="http://schemas.openxmlformats.org/drawingml/2006/main">
            <a:r>
              <a:t>- Dùng embedding_version và index_version để rollback, audit và tránh trộn vector từ hai model/dimension khác nhau.</a:t>
            </a:r>
          </a:p>
          <a:p xmlns:a="http://schemas.openxmlformats.org/drawingml/2006/main">
            <a:r>
              <a:t>- Khi đổi embedding model, số chiều hoặc chunking policy thì bắt buộc full re-index, không update từng phần.</a:t>
            </a:r>
          </a:p>
          <a:p xmlns:a="http://schemas.openxmlformats.org/drawingml/2006/main">
            <a:r>
              <a:t/>
            </a:r>
          </a:p>
          <a:p xmlns:a="http://schemas.openxmlformats.org/drawingml/2006/main">
            <a:r>
              <a:t>[Sources]</a:t>
            </a:r>
          </a:p>
          <a:p xmlns:a="http://schemas.openxmlformats.org/drawingml/2006/main">
            <a:r>
              <a:t>- backend/scripts/build_interview_knowledge_catalog.py</a:t>
            </a:r>
          </a:p>
          <a:p xmlns:a="http://schemas.openxmlformats.org/drawingml/2006/main">
            <a:r>
              <a:t>- backend/services/interview_knowledge/catalog.json</a:t>
            </a:r>
          </a:p>
          <a:p xmlns:a="http://schemas.openxmlformats.org/drawingml/2006/main">
            <a:r>
              <a:t>- backend/services/interview_knowledge/vector_prototype/README.md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Cách trả lời 'nhóm train dữ liệu như thế nào?':</a:t>
            </a:r>
          </a:p>
          <a:p xmlns:a="http://schemas.openxmlformats.org/drawingml/2006/main">
            <a:r>
              <a:t>- Trả lời thẳng: nhóm không train hoặc fine-tune Gemini, Whisper hay VieNeu. Đây là các model pre-trained được gọi ở inference time.</a:t>
            </a:r>
          </a:p>
          <a:p xmlns:a="http://schemas.openxmlformats.org/drawingml/2006/main">
            <a:r>
              <a:t>- Công việc AI engineering của nhóm là prompt, schema validation, model routing, knowledge retrieval, orchestration, deterministic branching và evaluation harness.</a:t>
            </a:r>
          </a:p>
          <a:p xmlns:a="http://schemas.openxmlformats.org/drawingml/2006/main">
            <a:r>
              <a:t>- Không dùng CV/câu trả lời của người dùng để tự động train. Muốn fine-tune sau này phải có consent, de-identification, data retention policy và benchmark độc lập.</a:t>
            </a:r>
          </a:p>
          <a:p xmlns:a="http://schemas.openxmlformats.org/drawingml/2006/main">
            <a:r>
              <a:t>- Không dùng từ 'training accuracy'. Hãy nói extraction accuracy, retrieval quality, generation quality, evaluator agreement và speech error rate.</a:t>
            </a:r>
          </a:p>
          <a:p xmlns:a="http://schemas.openxmlformats.org/drawingml/2006/main">
            <a:r>
              <a:t/>
            </a:r>
          </a:p>
          <a:p xmlns:a="http://schemas.openxmlformats.org/drawingml/2006/main">
            <a:r>
              <a:t>[Sources]</a:t>
            </a:r>
          </a:p>
          <a:p xmlns:a="http://schemas.openxmlformats.org/drawingml/2006/main">
            <a:r>
              <a:t>- backend/infrastructure/llm/vertex_gemini.py</a:t>
            </a:r>
          </a:p>
          <a:p xmlns:a="http://schemas.openxmlformats.org/drawingml/2006/main">
            <a:r>
              <a:t>- backend/core/settings.py</a:t>
            </a:r>
          </a:p>
          <a:p xmlns:a="http://schemas.openxmlformats.org/drawingml/2006/main">
            <a:r>
              <a:t>- backend/services/profile_scanner/prompts.py</a:t>
            </a:r>
          </a:p>
          <a:p xmlns:a="http://schemas.openxmlformats.org/drawingml/2006/main">
            <a:r>
              <a:t>- backend/orchestrator/decision_service.py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Cách giải thích đánh giá độ chính xác:</a:t>
            </a:r>
          </a:p>
          <a:p xmlns:a="http://schemas.openxmlformats.org/drawingml/2006/main">
            <a:r>
              <a:t>- Không có một con số accuracy chung cho hệ thống nhiều module. Mỗi module có ground truth và metric khác nhau.</a:t>
            </a:r>
          </a:p>
          <a:p xmlns:a="http://schemas.openxmlformats.org/drawingml/2006/main">
            <a:r>
              <a:t>- CV extraction: so skills và field với profile do người chấm gán nhãn; tính precision, recall, F1 và field accuracy.</a:t>
            </a:r>
          </a:p>
          <a:p xmlns:a="http://schemas.openxmlformats.org/drawingml/2006/main">
            <a:r>
              <a:t>- Retrieval: với mỗi query cần danh sách chunk relevant do người đánh giá xác nhận; đo Recall@K, HitRate@K, MRR, context precision và latency.</a:t>
            </a:r>
          </a:p>
          <a:p xmlns:a="http://schemas.openxmlformats.org/drawingml/2006/main">
            <a:r>
              <a:t>- Question/evaluator: cần rubric chuyên gia và nhiều người chấm. Evaluator phải so MAE/correlation với human score và kiểm tra repeatability.</a:t>
            </a:r>
          </a:p>
          <a:p xmlns:a="http://schemas.openxmlformats.org/drawingml/2006/main">
            <a:r>
              <a:t>- Speech: WER/CER phải chia theo accent/noise/device, không chỉ báo một average đẹp.</a:t>
            </a:r>
          </a:p>
          <a:p xmlns:a="http://schemas.openxmlformats.org/drawingml/2006/main">
            <a:r>
              <a:t/>
            </a:r>
          </a:p>
          <a:p xmlns:a="http://schemas.openxmlformats.org/drawingml/2006/main">
            <a:r>
              <a:t>[Sources]</a:t>
            </a:r>
          </a:p>
          <a:p xmlns:a="http://schemas.openxmlformats.org/drawingml/2006/main">
            <a:r>
              <a:t>- backend/services/system_evaluation/evaluators.py</a:t>
            </a:r>
          </a:p>
          <a:p xmlns:a="http://schemas.openxmlformats.org/drawingml/2006/main">
            <a:r>
              <a:t>- backend/services/system_evaluation/metrics.py</a:t>
            </a:r>
          </a:p>
          <a:p xmlns:a="http://schemas.openxmlformats.org/drawingml/2006/main">
            <a:r>
              <a:t>- docs/SYSTEM_EVALUATION.md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Cách trình bày slide kết quả:</a:t>
            </a:r>
          </a:p>
          <a:p xmlns:a="http://schemas.openxmlformats.org/drawingml/2006/main">
            <a:r>
              <a:t>- Trước mỗi số phải nói evidence class và sample size. Pilot hiện tại có 10 synthetic groups, dùng LLM-as-judge và metric code-computed; không phải human benchmark.</a:t>
            </a:r>
          </a:p>
          <a:p xmlns:a="http://schemas.openxmlformats.org/drawingml/2006/main">
            <a:r>
              <a:t>- Context precision 0.815 và relevance 0.435 là của lexical retriever hiện tại. HitRate@8=1.0 là controlled synthetic result, không suy rộng thành accuracy production.</a:t>
            </a:r>
          </a:p>
          <a:p xmlns:a="http://schemas.openxmlformats.org/drawingml/2006/main">
            <a:r>
              <a:t>- Canonical backend/evaluation_report.json hiện status no_data. Vì vậy không nên tiếp tục dùng các số 235 CV/200 WAV như kết quả chính thức nếu không xuất trình được dataset, labels, script và raw outputs tương ứng.</a:t>
            </a:r>
          </a:p>
          <a:p xmlns:a="http://schemas.openxmlformats.org/drawingml/2006/main">
            <a:r>
              <a:t>- Answer evaluation pilot chưa có human MAE/correlation; controlled monotonicity cũng không hợp lệ. Hãy nói rõ giới hạn thay vì che giấu.</a:t>
            </a:r>
          </a:p>
          <a:p xmlns:a="http://schemas.openxmlformats.org/drawingml/2006/main">
            <a:r>
              <a:t>- Câu chốt khi bị hỏi: 'Đây là mức evidence hiện tại; nhóm đã có harness và metric contract, bước tiếp theo là dataset consented, labelled và reproducible.'</a:t>
            </a:r>
          </a:p>
          <a:p xmlns:a="http://schemas.openxmlformats.org/drawingml/2006/main">
            <a:r>
              <a:t/>
            </a:r>
          </a:p>
          <a:p xmlns:a="http://schemas.openxmlformats.org/drawingml/2006/main">
            <a:r>
              <a:t>[Sources]</a:t>
            </a:r>
          </a:p>
          <a:p xmlns:a="http://schemas.openxmlformats.org/drawingml/2006/main">
            <a:r>
              <a:t>- backend/evaluation_report.json</a:t>
            </a:r>
          </a:p>
          <a:p xmlns:a="http://schemas.openxmlformats.org/drawingml/2006/main">
            <a:r>
              <a:t>- evaluation/ragas_pilot/overall_summary.md</a:t>
            </a:r>
          </a:p>
          <a:p xmlns:a="http://schemas.openxmlformats.org/drawingml/2006/main">
            <a:r>
              <a:t>- evaluation/ragas_pilot/README.md</a:t>
            </a:r>
          </a:p>
          <a:p xmlns:a="http://schemas.openxmlformats.org/drawingml/2006/main">
            <a:r>
              <a:t>- evaluation/evidence/README.md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này trả lời câu hỏi CV có ảnh xử lý thế nào. Nhấn mạnh production hiện tại chưa có OCR. Luồng bên phải là đề xuất có điều kiện, không phải tính năng đã triển khai. Ví dụ số ký tự chỉ dùng để minh họa hiện tượng một CV vẫn qua ngưỡng 50 ký tự nhưng mất nội dung ở trang scan.</a:t>
            </a:r>
          </a:p>
          <a:p xmlns:a="http://schemas.openxmlformats.org/drawingml/2006/main">
            <a:r>
              <a:t/>
            </a:r>
          </a:p>
          <a:p xmlns:a="http://schemas.openxmlformats.org/drawingml/2006/main">
            <a:r>
              <a:t>[Sources]</a:t>
            </a:r>
          </a:p>
          <a:p xmlns:a="http://schemas.openxmlformats.org/drawingml/2006/main">
            <a:r>
              <a:t>- backend/infrastructure/document_extraction.py — current PDF/DOCX extraction and 50-character gate</a:t>
            </a:r>
          </a:p>
          <a:p xmlns:a="http://schemas.openxmlformats.org/drawingml/2006/main">
            <a:r>
              <a:t>- backend/services/resume_processing/ — current typed CandidateProfile extraction path</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sự khác nhau giữa giới hạn 12.000 ký tự của luồng parse CV hiện tại và chunk token cho knowledge base đề xuất. Ví dụ này cho thấy chunk theo heading/năng lực, không cắt giữa ý; phần overlap 50 token giúp bảo toàn ngữ cảnh chuyển tiếp. Các con số 250–500 và 50–80 cần được tune bằng benchmark retrieval.</a:t>
            </a:r>
          </a:p>
          <a:p xmlns:a="http://schemas.openxmlformats.org/drawingml/2006/main">
            <a:r>
              <a:t/>
            </a:r>
          </a:p>
          <a:p xmlns:a="http://schemas.openxmlformats.org/drawingml/2006/main">
            <a:r>
              <a:t>[Sources]</a:t>
            </a:r>
          </a:p>
          <a:p xmlns:a="http://schemas.openxmlformats.org/drawingml/2006/main">
            <a:r>
              <a:t>- backend/infrastructure/document_extraction.py — current 12,000-character extraction input boundary</a:t>
            </a:r>
          </a:p>
          <a:p xmlns:a="http://schemas.openxmlformats.org/drawingml/2006/main">
            <a:r>
              <a:t>- backend/knowledge/ — current Markdown knowledge sources</a:t>
            </a:r>
          </a:p>
          <a:p xmlns:a="http://schemas.openxmlformats.org/drawingml/2006/main">
            <a:r>
              <a:t>- backend/ai_lab/ — prototype retrieval experiments; not production vector indexing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schema đề xuất cho Firestore Vector Search: mỗi document tương ứng đúng một chunk. Chỉ phần text mang ý nghĩa được đưa vào embedding. Metadata được giữ riêng để filter, audit và cập nhật. Nhắc lại trước hội đồng rằng production hiện chưa có collection/vector index này.</a:t>
            </a:r>
          </a:p>
          <a:p xmlns:a="http://schemas.openxmlformats.org/drawingml/2006/main">
            <a:r>
              <a:t/>
            </a:r>
          </a:p>
          <a:p xmlns:a="http://schemas.openxmlformats.org/drawingml/2006/main">
            <a:r>
              <a:t>[Sources]</a:t>
            </a:r>
          </a:p>
          <a:p xmlns:a="http://schemas.openxmlformats.org/drawingml/2006/main">
            <a:r>
              <a:t>- backend/knowledge/ — source knowledge documents</a:t>
            </a:r>
          </a:p>
          <a:p xmlns:a="http://schemas.openxmlformats.org/drawingml/2006/main">
            <a:r>
              <a:t>- backend/infrastructure/repositories/ — current persistence abstractions</a:t>
            </a:r>
          </a:p>
          <a:p xmlns:a="http://schemas.openxmlformats.org/drawingml/2006/main">
            <a:r>
              <a:t>- backend/ai_lab/ — experimental retrieval implementations; proposed production schema derived from these seams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Dùng ví dụ 3 chiều để giải thích công thức cosine. Query gần Chunk A nên cosine khoảng 0,995; không gần Chunk B nên khoảng 0,229. Đây chỉ là phép tính minh họa, không phải độ chính xác đo trên hệ thống. Thiết kế đề xuất dùng vector 768 chiều và lọc metadata trước khi lấy Top-K.</a:t>
            </a:r>
          </a:p>
          <a:p xmlns:a="http://schemas.openxmlformats.org/drawingml/2006/main">
            <a:r>
              <a:t/>
            </a:r>
          </a:p>
          <a:p xmlns:a="http://schemas.openxmlformats.org/drawingml/2006/main">
            <a:r>
              <a:t>[Sources]</a:t>
            </a:r>
          </a:p>
          <a:p xmlns:a="http://schemas.openxmlformats.org/drawingml/2006/main">
            <a:r>
              <a:t>- backend/ai_lab/ — experimental retrieval and comparison code</a:t>
            </a:r>
          </a:p>
          <a:p xmlns:a="http://schemas.openxmlformats.org/drawingml/2006/main">
            <a:r>
              <a:t>- docs/presentation/FiPilot_Defense_Round1_Technical_Addendum.pptx — source technical claim boundary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Trả lời ‘dựa vào thông tin nào để search’: query lấy specialization, experience level, skills và evidence đã commit từ CandidateProfile. Sau đó filter domain/level/version rồi mới xếp hạng cosine Top-5 trong thiết kế đề xuất. Điểm hiển thị là ví dụ minh họa, chưa phải kết quả benchmark.</a:t>
            </a:r>
          </a:p>
          <a:p xmlns:a="http://schemas.openxmlformats.org/drawingml/2006/main">
            <a:r>
              <a:t/>
            </a:r>
          </a:p>
          <a:p xmlns:a="http://schemas.openxmlformats.org/drawingml/2006/main">
            <a:r>
              <a:t>[Sources]</a:t>
            </a:r>
          </a:p>
          <a:p xmlns:a="http://schemas.openxmlformats.org/drawingml/2006/main">
            <a:r>
              <a:t>- backend/shared/schemas/ — canonical CandidateProfile fields</a:t>
            </a:r>
          </a:p>
          <a:p xmlns:a="http://schemas.openxmlformats.org/drawingml/2006/main">
            <a:r>
              <a:t>- backend/services/interview_planner/ — current planner inputs and retrieval path</a:t>
            </a:r>
          </a:p>
          <a:p xmlns:a="http://schemas.openxmlformats.org/drawingml/2006/main">
            <a:r>
              <a:t>- backend/core/dependencies.py — ownership-bound current-user dependency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Trả lời ‘vector database có cập nhật không’: production hiện chưa có vector DB. Với thiết kế đề xuất, hash nội dung quyết định re-embed. Chunk không đổi tái sử dụng vector; nội dung đổi/new thì upsert; nguồn bị xóa chuyển active=false; đổi model/dimension/chunker phải re-index theo version và chỉ switch sau đánh giá.</a:t>
            </a:r>
          </a:p>
          <a:p xmlns:a="http://schemas.openxmlformats.org/drawingml/2006/main">
            <a:r>
              <a:t/>
            </a:r>
          </a:p>
          <a:p xmlns:a="http://schemas.openxmlformats.org/drawingml/2006/main">
            <a:r>
              <a:t>[Sources]</a:t>
            </a:r>
          </a:p>
          <a:p xmlns:a="http://schemas.openxmlformats.org/drawingml/2006/main">
            <a:r>
              <a:t>- backend/knowledge/ — proposed source-of-truth manifest inputs</a:t>
            </a:r>
          </a:p>
          <a:p xmlns:a="http://schemas.openxmlformats.org/drawingml/2006/main">
            <a:r>
              <a:t>- backend/ai_lab/ — prototype comparison seam</a:t>
            </a:r>
          </a:p>
          <a:p xmlns:a="http://schemas.openxmlformats.org/drawingml/2006/main">
            <a:r>
              <a:t>- docs/adr/ — repository versioning and atomic mutation principles used as design guidance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Nhóm không fine-tune mô hình; dùng model pretrained. Muốn báo độ chính xác phải có dữ liệu consented, ground truth, split cố định và metric phù hợp từng tầng. Hiện file evaluation_report.json chính thức ở trạng thái no_data. Pilot 10 nhóm là synthetic nên chỉ chứng minh pipeline chạy, không được gọi là accuracy của sản phẩm.</a:t>
            </a:r>
          </a:p>
          <a:p xmlns:a="http://schemas.openxmlformats.org/drawingml/2006/main">
            <a:r>
              <a:t/>
            </a:r>
          </a:p>
          <a:p xmlns:a="http://schemas.openxmlformats.org/drawingml/2006/main">
            <a:r>
              <a:t>[Sources]</a:t>
            </a:r>
          </a:p>
          <a:p xmlns:a="http://schemas.openxmlformats.org/drawingml/2006/main">
            <a:r>
              <a:t>- backend/evaluation_report.json — canonical current evaluation status: no_data</a:t>
            </a:r>
          </a:p>
          <a:p xmlns:a="http://schemas.openxmlformats.org/drawingml/2006/main">
            <a:r>
              <a:t>- backend/ai_lab/ — synthetic RAGAS-style pilot and experimental evaluation code</a:t>
            </a:r>
          </a:p>
          <a:p xmlns:a="http://schemas.openxmlformats.org/drawingml/2006/main">
            <a:r>
              <a:t>- backend/app/tests/ — behavioral test suite; regression evidence, not model-accuracy evidence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slide chốt để cả nhóm dùng cùng một cách trả lời. Mỗi câu bắt đầu bằng sự thật production, sau đó mới nêu proposed plan. Nếu hội đồng hỏi sâu, chuyển về slide 9–15 tương ứng. Không dùng các con số minh họa hoặc pilot synthetic để tuyên bố độ chính xác.</a:t>
            </a:r>
          </a:p>
          <a:p xmlns:a="http://schemas.openxmlformats.org/drawingml/2006/main">
            <a:r>
              <a:t/>
            </a:r>
          </a:p>
          <a:p xmlns:a="http://schemas.openxmlformats.org/drawingml/2006/main">
            <a:r>
              <a:t>[Sources]</a:t>
            </a:r>
          </a:p>
          <a:p xmlns:a="http://schemas.openxmlformats.org/drawingml/2006/main">
            <a:r>
              <a:t>- backend/infrastructure/document_extraction.py — parse/OCR boundary</a:t>
            </a:r>
          </a:p>
          <a:p xmlns:a="http://schemas.openxmlformats.org/drawingml/2006/main">
            <a:r>
              <a:t>- backend/services/interview_planner/ — current lexical retrieval</a:t>
            </a:r>
          </a:p>
          <a:p xmlns:a="http://schemas.openxmlformats.org/drawingml/2006/main">
            <a:r>
              <a:t>- backend/evaluation_report.json — current accuracy evidence boundary</a:t>
            </a:r>
          </a:p>
          <a:p xmlns:a="http://schemas.openxmlformats.org/drawingml/2006/main">
            <a:r>
              <a:t>- docs/presentation/FiPilot_Defense_Round1_Technical_Addendum.pptx — original technical addendum retained as slides 1–8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58deded8c2647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7c44635fe94203" /><Relationship Type="http://schemas.openxmlformats.org/officeDocument/2006/relationships/slideLayout" Target="/ppt/slideLayouts/slideLayout1.xml" Id="R73676129318940c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676129318940c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04f765b5610417a" /><Relationship Type="http://schemas.openxmlformats.org/officeDocument/2006/relationships/notesSlide" Target="/ppt/notesSlides/notesSlide1.xml" Id="Rd0157b47a3e34b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449f86374914b94" /><Relationship Type="http://schemas.openxmlformats.org/officeDocument/2006/relationships/notesSlide" Target="/ppt/notesSlides/notesSlide2.xml" Id="R42e6bed47ff642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eadb51f9eb5445c" /><Relationship Type="http://schemas.openxmlformats.org/officeDocument/2006/relationships/notesSlide" Target="/ppt/notesSlides/notesSlide3.xml" Id="R569f13ea9eb54ed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7f294bc15cc470e" /><Relationship Type="http://schemas.openxmlformats.org/officeDocument/2006/relationships/notesSlide" Target="/ppt/notesSlides/notesSlide4.xml" Id="Ra05219670359476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73c8b14b2814733" /><Relationship Type="http://schemas.openxmlformats.org/officeDocument/2006/relationships/notesSlide" Target="/ppt/notesSlides/notesSlide5.xml" Id="Rcb4e8f308f9341f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353918120c54bb9" /><Relationship Type="http://schemas.openxmlformats.org/officeDocument/2006/relationships/notesSlide" Target="/ppt/notesSlides/notesSlide6.xml" Id="Re24dd92b3746411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0efec96cab04879" /><Relationship Type="http://schemas.openxmlformats.org/officeDocument/2006/relationships/notesSlide" Target="/ppt/notesSlides/notesSlide7.xml" Id="Ra5d3b427f2964ff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eb716e8108f4b7b" /><Relationship Type="http://schemas.openxmlformats.org/officeDocument/2006/relationships/notesSlide" Target="/ppt/notesSlides/notesSlide8.xml" Id="R2dc693b8d024465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d7817d374104573" /><Relationship Type="http://schemas.openxmlformats.org/officeDocument/2006/relationships/notesSlide" Target="/ppt/notesSlides/notesSlide9.xml" Id="R3ff276b0c376482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de4604ada4f4a74" /><Relationship Type="http://schemas.openxmlformats.org/officeDocument/2006/relationships/notesSlide" Target="/ppt/notesSlides/notesSlide10.xml" Id="R45c1fc33dda8495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47008ea72124f67" /><Relationship Type="http://schemas.openxmlformats.org/officeDocument/2006/relationships/notesSlide" Target="/ppt/notesSlides/notesSlide11.xml" Id="R35e7fc654265490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8bfb60cce3048df" /><Relationship Type="http://schemas.openxmlformats.org/officeDocument/2006/relationships/notesSlide" Target="/ppt/notesSlides/notesSlide12.xml" Id="R74361647b99043f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9218e22ada44695" /><Relationship Type="http://schemas.openxmlformats.org/officeDocument/2006/relationships/notesSlide" Target="/ppt/notesSlides/notesSlide13.xml" Id="Ra927403225fe436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620862f9a6e4d09" /><Relationship Type="http://schemas.openxmlformats.org/officeDocument/2006/relationships/notesSlide" Target="/ppt/notesSlides/notesSlide14.xml" Id="Rf5115ba7a61d4a6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c544e2845604f54" /><Relationship Type="http://schemas.openxmlformats.org/officeDocument/2006/relationships/notesSlide" Target="/ppt/notesSlides/notesSlide15.xml" Id="R380f7288d4e844c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4f062fd38e9418b" /><Relationship Type="http://schemas.openxmlformats.org/officeDocument/2006/relationships/notesSlide" Target="/ppt/notesSlides/notesSlide16.xml" Id="R9653a2de944f4af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7823EBE3-962B-49D7-89B5-FA115278815F}"/>
              </a:ext>
            </a:extLst>
          </p:cNvPr>
          <p:cNvSpPr>
            <a:spLocks xmlns:a="http://schemas.openxmlformats.org/drawingml/2006/main" noGrp="1"/>
          </p:cNvSpPr>
          <p:nvPr/>
        </p:nvSpPr>
        <p:spPr>
          <a:xfrm xmlns:a="http://schemas.openxmlformats.org/drawingml/2006/main">
            <a:off x="400050" y="2857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1356F"/>
                </a:solidFill>
              </a:defRPr>
            </a:pPr>
            <a:r>
              <a:rPr sz="2025" b="1">
                <a:solidFill>
                  <a:srgbClr val="11356F"/>
                </a:solidFill>
              </a:rPr>
              <a:t>3. DATA &amp; RESUME PIPELINE</a:t>
            </a:r>
          </a:p>
        </p:txBody>
      </p:sp>
      <p:sp>
        <p:nvSpPr>
          <p:cNvPr id="2" name="">
            <a:extLst xmlns:a="http://schemas.openxmlformats.org/drawingml/2006/main">
              <a:ext uri="{FF2B5EF4-FFF2-40B4-BE49-F238E27FC236}">
                <a16:creationId xmlns:a16="http://schemas.microsoft.com/office/drawing/2014/main" id="{95148F34-5B08-485E-A22C-D909F79932CB}"/>
              </a:ext>
            </a:extLst>
          </p:cNvPr>
          <p:cNvSpPr>
            <a:spLocks xmlns:a="http://schemas.openxmlformats.org/drawingml/2006/main" noGrp="1"/>
          </p:cNvSpPr>
          <p:nvPr/>
        </p:nvSpPr>
        <p:spPr>
          <a:xfrm xmlns:a="http://schemas.openxmlformats.org/drawingml/2006/main">
            <a:off x="400050" y="723900"/>
            <a:ext cx="9715500" cy="9525"/>
          </a:xfrm>
          <a:prstGeom xmlns:a="http://schemas.openxmlformats.org/drawingml/2006/main" prst="line">
            <a:avLst/>
          </a:prstGeom>
          <a:noFill xmlns:a="http://schemas.openxmlformats.org/drawingml/2006/main"/>
          <a:ln xmlns:a="http://schemas.openxmlformats.org/drawingml/2006/main" w="9525">
            <a:solidFill>
              <a:srgbClr val="D8E6FF"/>
            </a:solidFill>
            <a:prstDash val="solid"/>
          </a:ln>
        </p:spPr>
      </p:sp>
      <p:sp>
        <p:nvSpPr>
          <p:cNvPr id="3" name="">
            <a:extLst xmlns:a="http://schemas.openxmlformats.org/drawingml/2006/main">
              <a:ext uri="{FF2B5EF4-FFF2-40B4-BE49-F238E27FC236}">
                <a16:creationId xmlns:a16="http://schemas.microsoft.com/office/drawing/2014/main" id="{5DA52FB4-C599-4BC1-9AEA-7E29D5D9786C}"/>
              </a:ext>
            </a:extLst>
          </p:cNvPr>
          <p:cNvSpPr>
            <a:spLocks xmlns:a="http://schemas.openxmlformats.org/drawingml/2006/main" noGrp="1"/>
          </p:cNvSpPr>
          <p:nvPr/>
        </p:nvSpPr>
        <p:spPr>
          <a:xfrm xmlns:a="http://schemas.openxmlformats.org/drawingml/2006/main">
            <a:off x="400050" y="838200"/>
            <a:ext cx="923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62C52"/>
                </a:solidFill>
              </a:defRPr>
            </a:pPr>
            <a:r>
              <a:rPr sz="1500" b="1">
                <a:solidFill>
                  <a:srgbClr val="162C52"/>
                </a:solidFill>
              </a:rPr>
              <a:t>CV Parsing: Native Text First, OCR as a Guarded Fallback</a:t>
            </a:r>
          </a:p>
        </p:txBody>
      </p:sp>
      <p:sp>
        <p:nvSpPr>
          <p:cNvPr id="4" name="">
            <a:extLst xmlns:a="http://schemas.openxmlformats.org/drawingml/2006/main">
              <a:ext uri="{FF2B5EF4-FFF2-40B4-BE49-F238E27FC236}">
                <a16:creationId xmlns:a16="http://schemas.microsoft.com/office/drawing/2014/main" id="{04C9B905-63D2-4777-BB16-8DD7A9877E9A}"/>
              </a:ext>
            </a:extLst>
          </p:cNvPr>
          <p:cNvSpPr>
            <a:spLocks xmlns:a="http://schemas.openxmlformats.org/drawingml/2006/main" noGrp="1"/>
          </p:cNvSpPr>
          <p:nvPr/>
        </p:nvSpPr>
        <p:spPr>
          <a:xfrm xmlns:a="http://schemas.openxmlformats.org/drawingml/2006/main">
            <a:off x="400050" y="1114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617391"/>
                </a:solidFill>
              </a:defRPr>
            </a:pPr>
            <a:r>
              <a:rPr sz="1050" b="0">
                <a:solidFill>
                  <a:srgbClr val="617391"/>
                </a:solidFill>
              </a:rPr>
              <a:t>The current implementation extracts machine-readable text; embedded images are not OCR-processed.</a:t>
            </a:r>
          </a:p>
        </p:txBody>
      </p:sp>
      <p:sp>
        <p:nvSpPr>
          <p:cNvPr id="5" name="">
            <a:extLst xmlns:a="http://schemas.openxmlformats.org/drawingml/2006/main">
              <a:ext uri="{FF2B5EF4-FFF2-40B4-BE49-F238E27FC236}">
                <a16:creationId xmlns:a16="http://schemas.microsoft.com/office/drawing/2014/main" id="{BB63E4F1-312E-47A5-BE7C-FF79AEFD8634}"/>
              </a:ext>
            </a:extLst>
          </p:cNvPr>
          <p:cNvSpPr>
            <a:spLocks xmlns:a="http://schemas.openxmlformats.org/drawingml/2006/main" noGrp="1"/>
          </p:cNvSpPr>
          <p:nvPr/>
        </p:nvSpPr>
        <p:spPr>
          <a:xfrm xmlns:a="http://schemas.openxmlformats.org/drawingml/2006/main">
            <a:off x="11001375" y="304800"/>
            <a:ext cx="228600" cy="228600"/>
          </a:xfrm>
          <a:prstGeom xmlns:a="http://schemas.openxmlformats.org/drawingml/2006/main" prst="rect">
            <a:avLst/>
          </a:prstGeom>
          <a:solidFill xmlns:a="http://schemas.openxmlformats.org/drawingml/2006/main">
            <a:srgbClr val="D9E5F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79082FA-796C-4FE9-8EF7-36987B70A9C5}"/>
              </a:ext>
            </a:extLst>
          </p:cNvPr>
          <p:cNvSpPr>
            <a:spLocks xmlns:a="http://schemas.openxmlformats.org/drawingml/2006/main" noGrp="1"/>
          </p:cNvSpPr>
          <p:nvPr/>
        </p:nvSpPr>
        <p:spPr>
          <a:xfrm xmlns:a="http://schemas.openxmlformats.org/drawingml/2006/main">
            <a:off x="11258550" y="304800"/>
            <a:ext cx="228600" cy="228600"/>
          </a:xfrm>
          <a:prstGeom xmlns:a="http://schemas.openxmlformats.org/drawingml/2006/main" prst="rect">
            <a:avLst/>
          </a:prstGeom>
          <a:solidFill xmlns:a="http://schemas.openxmlformats.org/drawingml/2006/main">
            <a:srgbClr val="AFC9F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D8455CD-2121-4A3C-965C-B1C6C6155B18}"/>
              </a:ext>
            </a:extLst>
          </p:cNvPr>
          <p:cNvSpPr>
            <a:spLocks xmlns:a="http://schemas.openxmlformats.org/drawingml/2006/main" noGrp="1"/>
          </p:cNvSpPr>
          <p:nvPr/>
        </p:nvSpPr>
        <p:spPr>
          <a:xfrm xmlns:a="http://schemas.openxmlformats.org/drawingml/2006/main">
            <a:off x="11515725" y="304800"/>
            <a:ext cx="228600" cy="228600"/>
          </a:xfrm>
          <a:prstGeom xmlns:a="http://schemas.openxmlformats.org/drawingml/2006/main" prst="rect">
            <a:avLst/>
          </a:prstGeom>
          <a:solidFill xmlns:a="http://schemas.openxmlformats.org/drawingml/2006/main">
            <a:srgbClr val="78A3F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93A6B4A-524D-419E-8BFC-145D547D97DD}"/>
              </a:ext>
            </a:extLst>
          </p:cNvPr>
          <p:cNvSpPr>
            <a:spLocks xmlns:a="http://schemas.openxmlformats.org/drawingml/2006/main" noGrp="1"/>
          </p:cNvSpPr>
          <p:nvPr/>
        </p:nvSpPr>
        <p:spPr>
          <a:xfrm xmlns:a="http://schemas.openxmlformats.org/drawingml/2006/main">
            <a:off x="40005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A98AE"/>
                </a:solidFill>
              </a:defRPr>
            </a:pPr>
            <a:r>
              <a:rPr sz="825" b="1">
                <a:solidFill>
                  <a:srgbClr val="8A98AE"/>
                </a:solidFill>
              </a:rPr>
              <a:t>FIPILOT  •  DEFENSE ROUND 1  •  1</a:t>
            </a:r>
          </a:p>
        </p:txBody>
      </p:sp>
      <p:sp>
        <p:nvSpPr>
          <p:cNvPr id="9" name="">
            <a:extLst xmlns:a="http://schemas.openxmlformats.org/drawingml/2006/main">
              <a:ext uri="{FF2B5EF4-FFF2-40B4-BE49-F238E27FC236}">
                <a16:creationId xmlns:a16="http://schemas.microsoft.com/office/drawing/2014/main" id="{672BCDD9-AEFF-4D1E-A072-B8635F9BD327}"/>
              </a:ext>
            </a:extLst>
          </p:cNvPr>
          <p:cNvSpPr>
            <a:spLocks xmlns:a="http://schemas.openxmlformats.org/drawingml/2006/main" noGrp="1"/>
          </p:cNvSpPr>
          <p:nvPr/>
        </p:nvSpPr>
        <p:spPr>
          <a:xfrm xmlns:a="http://schemas.openxmlformats.org/drawingml/2006/main">
            <a:off x="400050" y="1752600"/>
            <a:ext cx="1885950" cy="180975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12383">
            <a:solidFill>
              <a:srgbClr val="3269D4"/>
            </a:solidFill>
            <a:prstDash val="solid"/>
          </a:ln>
        </p:spPr>
      </p:sp>
      <p:sp>
        <p:nvSpPr>
          <p:cNvPr id="10" name="">
            <a:extLst xmlns:a="http://schemas.openxmlformats.org/drawingml/2006/main">
              <a:ext uri="{FF2B5EF4-FFF2-40B4-BE49-F238E27FC236}">
                <a16:creationId xmlns:a16="http://schemas.microsoft.com/office/drawing/2014/main" id="{4F4A6529-D31B-4844-9EF1-34BC172320B4}"/>
              </a:ext>
            </a:extLst>
          </p:cNvPr>
          <p:cNvSpPr>
            <a:spLocks xmlns:a="http://schemas.openxmlformats.org/drawingml/2006/main" noGrp="1"/>
          </p:cNvSpPr>
          <p:nvPr/>
        </p:nvSpPr>
        <p:spPr>
          <a:xfrm xmlns:a="http://schemas.openxmlformats.org/drawingml/2006/main">
            <a:off x="514350" y="1628775"/>
            <a:ext cx="266700" cy="266700"/>
          </a:xfrm>
          <a:prstGeom xmlns:a="http://schemas.openxmlformats.org/drawingml/2006/main" prst="ellipse">
            <a:avLst/>
          </a:prstGeom>
          <a:solidFill xmlns:a="http://schemas.openxmlformats.org/drawingml/2006/main">
            <a:srgbClr val="3269D4"/>
          </a:solidFill>
          <a:ln xmlns:a="http://schemas.openxmlformats.org/drawingml/2006/main" w="19050">
            <a:solidFill>
              <a:srgbClr val="FFFFFF"/>
            </a:solidFill>
            <a:prstDash val="solid"/>
          </a:ln>
        </p:spPr>
      </p:sp>
      <p:sp>
        <p:nvSpPr>
          <p:cNvPr id="11" name="">
            <a:extLst xmlns:a="http://schemas.openxmlformats.org/drawingml/2006/main">
              <a:ext uri="{FF2B5EF4-FFF2-40B4-BE49-F238E27FC236}">
                <a16:creationId xmlns:a16="http://schemas.microsoft.com/office/drawing/2014/main" id="{873B6B8D-0D6E-48A9-8EA3-BFB78CC9B77E}"/>
              </a:ext>
            </a:extLst>
          </p:cNvPr>
          <p:cNvSpPr>
            <a:spLocks xmlns:a="http://schemas.openxmlformats.org/drawingml/2006/main" noGrp="1"/>
          </p:cNvSpPr>
          <p:nvPr/>
        </p:nvSpPr>
        <p:spPr>
          <a:xfrm xmlns:a="http://schemas.openxmlformats.org/drawingml/2006/main">
            <a:off x="514350" y="1666875"/>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12" name="">
            <a:extLst xmlns:a="http://schemas.openxmlformats.org/drawingml/2006/main">
              <a:ext uri="{FF2B5EF4-FFF2-40B4-BE49-F238E27FC236}">
                <a16:creationId xmlns:a16="http://schemas.microsoft.com/office/drawing/2014/main" id="{0B9B3678-994F-4D32-A94B-7A5210F0F9A0}"/>
              </a:ext>
            </a:extLst>
          </p:cNvPr>
          <p:cNvSpPr>
            <a:spLocks xmlns:a="http://schemas.openxmlformats.org/drawingml/2006/main" noGrp="1"/>
          </p:cNvSpPr>
          <p:nvPr/>
        </p:nvSpPr>
        <p:spPr>
          <a:xfrm xmlns:a="http://schemas.openxmlformats.org/drawingml/2006/main">
            <a:off x="571500" y="1981200"/>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162C52"/>
                </a:solidFill>
              </a:defRPr>
            </a:pPr>
            <a:r>
              <a:rPr sz="1350" b="1">
                <a:solidFill>
                  <a:srgbClr val="162C52"/>
                </a:solidFill>
              </a:rPr>
              <a:t>File gate</a:t>
            </a:r>
          </a:p>
        </p:txBody>
      </p:sp>
      <p:sp>
        <p:nvSpPr>
          <p:cNvPr id="13" name="">
            <a:extLst xmlns:a="http://schemas.openxmlformats.org/drawingml/2006/main">
              <a:ext uri="{FF2B5EF4-FFF2-40B4-BE49-F238E27FC236}">
                <a16:creationId xmlns:a16="http://schemas.microsoft.com/office/drawing/2014/main" id="{45D952B0-E71A-4FE5-A6A4-7E0A132D46EC}"/>
              </a:ext>
            </a:extLst>
          </p:cNvPr>
          <p:cNvSpPr>
            <a:spLocks xmlns:a="http://schemas.openxmlformats.org/drawingml/2006/main" noGrp="1"/>
          </p:cNvSpPr>
          <p:nvPr/>
        </p:nvSpPr>
        <p:spPr>
          <a:xfrm xmlns:a="http://schemas.openxmlformats.org/drawingml/2006/main">
            <a:off x="552450" y="2381250"/>
            <a:ext cx="15811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0">
                <a:solidFill>
                  <a:srgbClr val="617391"/>
                </a:solidFill>
              </a:defRPr>
            </a:pPr>
            <a:r>
              <a:rPr sz="1125" b="0">
                <a:solidFill>
                  <a:srgbClr val="617391"/>
                </a:solidFill>
              </a:rPr>
              <a:t>PDF / DOCX</a:t>
            </a:r>
          </a:p>
          <a:p xmlns:a="http://schemas.openxmlformats.org/drawingml/2006/main">
            <a:pPr algn="ctr">
              <a:buNone/>
              <a:defRPr sz="1125" b="0">
                <a:solidFill>
                  <a:srgbClr val="617391"/>
                </a:solidFill>
              </a:defRPr>
            </a:pPr>
            <a:r>
              <a:rPr sz="1125" b="0">
                <a:solidFill>
                  <a:srgbClr val="617391"/>
                </a:solidFill>
              </a:rPr>
              <a:t>Maximum 10 MB</a:t>
            </a:r>
          </a:p>
        </p:txBody>
      </p:sp>
      <p:sp>
        <p:nvSpPr>
          <p:cNvPr id="14" name="">
            <a:extLst xmlns:a="http://schemas.openxmlformats.org/drawingml/2006/main">
              <a:ext uri="{FF2B5EF4-FFF2-40B4-BE49-F238E27FC236}">
                <a16:creationId xmlns:a16="http://schemas.microsoft.com/office/drawing/2014/main" id="{E7604DA7-AAC3-4081-BCEC-1F36E131290E}"/>
              </a:ext>
            </a:extLst>
          </p:cNvPr>
          <p:cNvSpPr>
            <a:spLocks xmlns:a="http://schemas.openxmlformats.org/drawingml/2006/main" noGrp="1"/>
          </p:cNvSpPr>
          <p:nvPr/>
        </p:nvSpPr>
        <p:spPr>
          <a:xfrm xmlns:a="http://schemas.openxmlformats.org/drawingml/2006/main">
            <a:off x="2352675" y="2409825"/>
            <a:ext cx="323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025" b="1">
                <a:solidFill>
                  <a:srgbClr val="3269D4"/>
                </a:solidFill>
              </a:defRPr>
            </a:pPr>
            <a:r>
              <a:rPr sz="2025" b="1">
                <a:solidFill>
                  <a:srgbClr val="3269D4"/>
                </a:solidFill>
              </a:rPr>
              <a:t>→</a:t>
            </a:r>
          </a:p>
        </p:txBody>
      </p:sp>
      <p:sp>
        <p:nvSpPr>
          <p:cNvPr id="15" name="">
            <a:extLst xmlns:a="http://schemas.openxmlformats.org/drawingml/2006/main">
              <a:ext uri="{FF2B5EF4-FFF2-40B4-BE49-F238E27FC236}">
                <a16:creationId xmlns:a16="http://schemas.microsoft.com/office/drawing/2014/main" id="{5291211A-1164-4D9F-AB4F-ADCB153A6F5A}"/>
              </a:ext>
            </a:extLst>
          </p:cNvPr>
          <p:cNvSpPr>
            <a:spLocks xmlns:a="http://schemas.openxmlformats.org/drawingml/2006/main" noGrp="1"/>
          </p:cNvSpPr>
          <p:nvPr/>
        </p:nvSpPr>
        <p:spPr>
          <a:xfrm xmlns:a="http://schemas.openxmlformats.org/drawingml/2006/main">
            <a:off x="2724150" y="1752600"/>
            <a:ext cx="1885950" cy="180975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12383">
            <a:solidFill>
              <a:srgbClr val="3269D4"/>
            </a:solidFill>
            <a:prstDash val="solid"/>
          </a:ln>
        </p:spPr>
      </p:sp>
      <p:sp>
        <p:nvSpPr>
          <p:cNvPr id="16" name="">
            <a:extLst xmlns:a="http://schemas.openxmlformats.org/drawingml/2006/main">
              <a:ext uri="{FF2B5EF4-FFF2-40B4-BE49-F238E27FC236}">
                <a16:creationId xmlns:a16="http://schemas.microsoft.com/office/drawing/2014/main" id="{57CAD633-EC47-4FC6-BE83-8082A7BE71D2}"/>
              </a:ext>
            </a:extLst>
          </p:cNvPr>
          <p:cNvSpPr>
            <a:spLocks xmlns:a="http://schemas.openxmlformats.org/drawingml/2006/main" noGrp="1"/>
          </p:cNvSpPr>
          <p:nvPr/>
        </p:nvSpPr>
        <p:spPr>
          <a:xfrm xmlns:a="http://schemas.openxmlformats.org/drawingml/2006/main">
            <a:off x="2838450" y="1628775"/>
            <a:ext cx="266700" cy="266700"/>
          </a:xfrm>
          <a:prstGeom xmlns:a="http://schemas.openxmlformats.org/drawingml/2006/main" prst="ellipse">
            <a:avLst/>
          </a:prstGeom>
          <a:solidFill xmlns:a="http://schemas.openxmlformats.org/drawingml/2006/main">
            <a:srgbClr val="3269D4"/>
          </a:solidFill>
          <a:ln xmlns:a="http://schemas.openxmlformats.org/drawingml/2006/main" w="19050">
            <a:solidFill>
              <a:srgbClr val="FFFFFF"/>
            </a:solidFill>
            <a:prstDash val="solid"/>
          </a:ln>
        </p:spPr>
      </p:sp>
      <p:sp>
        <p:nvSpPr>
          <p:cNvPr id="17" name="">
            <a:extLst xmlns:a="http://schemas.openxmlformats.org/drawingml/2006/main">
              <a:ext uri="{FF2B5EF4-FFF2-40B4-BE49-F238E27FC236}">
                <a16:creationId xmlns:a16="http://schemas.microsoft.com/office/drawing/2014/main" id="{F0509F36-96F5-4FA1-B024-1B98BD6AA6BF}"/>
              </a:ext>
            </a:extLst>
          </p:cNvPr>
          <p:cNvSpPr>
            <a:spLocks xmlns:a="http://schemas.openxmlformats.org/drawingml/2006/main" noGrp="1"/>
          </p:cNvSpPr>
          <p:nvPr/>
        </p:nvSpPr>
        <p:spPr>
          <a:xfrm xmlns:a="http://schemas.openxmlformats.org/drawingml/2006/main">
            <a:off x="2838450" y="1666875"/>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8" name="">
            <a:extLst xmlns:a="http://schemas.openxmlformats.org/drawingml/2006/main">
              <a:ext uri="{FF2B5EF4-FFF2-40B4-BE49-F238E27FC236}">
                <a16:creationId xmlns:a16="http://schemas.microsoft.com/office/drawing/2014/main" id="{5E761BD3-C925-482B-A3BE-7F361ABE2595}"/>
              </a:ext>
            </a:extLst>
          </p:cNvPr>
          <p:cNvSpPr>
            <a:spLocks xmlns:a="http://schemas.openxmlformats.org/drawingml/2006/main" noGrp="1"/>
          </p:cNvSpPr>
          <p:nvPr/>
        </p:nvSpPr>
        <p:spPr>
          <a:xfrm xmlns:a="http://schemas.openxmlformats.org/drawingml/2006/main">
            <a:off x="2895600" y="1981200"/>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162C52"/>
                </a:solidFill>
              </a:defRPr>
            </a:pPr>
            <a:r>
              <a:rPr sz="1350" b="1">
                <a:solidFill>
                  <a:srgbClr val="162C52"/>
                </a:solidFill>
              </a:rPr>
              <a:t>Direct extraction</a:t>
            </a:r>
          </a:p>
        </p:txBody>
      </p:sp>
      <p:sp>
        <p:nvSpPr>
          <p:cNvPr id="19" name="">
            <a:extLst xmlns:a="http://schemas.openxmlformats.org/drawingml/2006/main">
              <a:ext uri="{FF2B5EF4-FFF2-40B4-BE49-F238E27FC236}">
                <a16:creationId xmlns:a16="http://schemas.microsoft.com/office/drawing/2014/main" id="{24F57493-20E2-413D-A13F-3F24B9300216}"/>
              </a:ext>
            </a:extLst>
          </p:cNvPr>
          <p:cNvSpPr>
            <a:spLocks xmlns:a="http://schemas.openxmlformats.org/drawingml/2006/main" noGrp="1"/>
          </p:cNvSpPr>
          <p:nvPr/>
        </p:nvSpPr>
        <p:spPr>
          <a:xfrm xmlns:a="http://schemas.openxmlformats.org/drawingml/2006/main">
            <a:off x="2876550" y="2381250"/>
            <a:ext cx="15811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0">
                <a:solidFill>
                  <a:srgbClr val="617391"/>
                </a:solidFill>
              </a:defRPr>
            </a:pPr>
            <a:r>
              <a:rPr sz="1125" b="0">
                <a:solidFill>
                  <a:srgbClr val="617391"/>
                </a:solidFill>
              </a:rPr>
              <a:t>PDF: pypdf per page</a:t>
            </a:r>
          </a:p>
          <a:p xmlns:a="http://schemas.openxmlformats.org/drawingml/2006/main">
            <a:pPr algn="ctr">
              <a:buNone/>
              <a:defRPr sz="1125" b="0">
                <a:solidFill>
                  <a:srgbClr val="617391"/>
                </a:solidFill>
              </a:defRPr>
            </a:pPr>
            <a:r>
              <a:rPr sz="1125" b="0">
                <a:solidFill>
                  <a:srgbClr val="617391"/>
                </a:solidFill>
              </a:rPr>
              <a:t>DOCX: paragraphs + tables</a:t>
            </a:r>
          </a:p>
        </p:txBody>
      </p:sp>
      <p:sp>
        <p:nvSpPr>
          <p:cNvPr id="20" name="">
            <a:extLst xmlns:a="http://schemas.openxmlformats.org/drawingml/2006/main">
              <a:ext uri="{FF2B5EF4-FFF2-40B4-BE49-F238E27FC236}">
                <a16:creationId xmlns:a16="http://schemas.microsoft.com/office/drawing/2014/main" id="{6EB6C515-8BDE-4ECD-9024-21C3D6763957}"/>
              </a:ext>
            </a:extLst>
          </p:cNvPr>
          <p:cNvSpPr>
            <a:spLocks xmlns:a="http://schemas.openxmlformats.org/drawingml/2006/main" noGrp="1"/>
          </p:cNvSpPr>
          <p:nvPr/>
        </p:nvSpPr>
        <p:spPr>
          <a:xfrm xmlns:a="http://schemas.openxmlformats.org/drawingml/2006/main">
            <a:off x="4676775" y="2409825"/>
            <a:ext cx="323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025" b="1">
                <a:solidFill>
                  <a:srgbClr val="3269D4"/>
                </a:solidFill>
              </a:defRPr>
            </a:pPr>
            <a:r>
              <a:rPr sz="2025" b="1">
                <a:solidFill>
                  <a:srgbClr val="3269D4"/>
                </a:solidFill>
              </a:rPr>
              <a:t>→</a:t>
            </a:r>
          </a:p>
        </p:txBody>
      </p:sp>
      <p:sp>
        <p:nvSpPr>
          <p:cNvPr id="21" name="">
            <a:extLst xmlns:a="http://schemas.openxmlformats.org/drawingml/2006/main">
              <a:ext uri="{FF2B5EF4-FFF2-40B4-BE49-F238E27FC236}">
                <a16:creationId xmlns:a16="http://schemas.microsoft.com/office/drawing/2014/main" id="{C62EBA1F-836B-45F8-95AD-B8C54ADFF13B}"/>
              </a:ext>
            </a:extLst>
          </p:cNvPr>
          <p:cNvSpPr>
            <a:spLocks xmlns:a="http://schemas.openxmlformats.org/drawingml/2006/main" noGrp="1"/>
          </p:cNvSpPr>
          <p:nvPr/>
        </p:nvSpPr>
        <p:spPr>
          <a:xfrm xmlns:a="http://schemas.openxmlformats.org/drawingml/2006/main">
            <a:off x="5048250" y="1752600"/>
            <a:ext cx="1885950" cy="180975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12383">
            <a:solidFill>
              <a:srgbClr val="3269D4"/>
            </a:solidFill>
            <a:prstDash val="solid"/>
          </a:ln>
        </p:spPr>
      </p:sp>
      <p:sp>
        <p:nvSpPr>
          <p:cNvPr id="22" name="">
            <a:extLst xmlns:a="http://schemas.openxmlformats.org/drawingml/2006/main">
              <a:ext uri="{FF2B5EF4-FFF2-40B4-BE49-F238E27FC236}">
                <a16:creationId xmlns:a16="http://schemas.microsoft.com/office/drawing/2014/main" id="{7B042382-4118-4250-9DB5-9B7903ABC1FC}"/>
              </a:ext>
            </a:extLst>
          </p:cNvPr>
          <p:cNvSpPr>
            <a:spLocks xmlns:a="http://schemas.openxmlformats.org/drawingml/2006/main" noGrp="1"/>
          </p:cNvSpPr>
          <p:nvPr/>
        </p:nvSpPr>
        <p:spPr>
          <a:xfrm xmlns:a="http://schemas.openxmlformats.org/drawingml/2006/main">
            <a:off x="5162550" y="1628775"/>
            <a:ext cx="266700" cy="266700"/>
          </a:xfrm>
          <a:prstGeom xmlns:a="http://schemas.openxmlformats.org/drawingml/2006/main" prst="ellipse">
            <a:avLst/>
          </a:prstGeom>
          <a:solidFill xmlns:a="http://schemas.openxmlformats.org/drawingml/2006/main">
            <a:srgbClr val="3269D4"/>
          </a:solidFill>
          <a:ln xmlns:a="http://schemas.openxmlformats.org/drawingml/2006/main" w="19050">
            <a:solidFill>
              <a:srgbClr val="FFFFFF"/>
            </a:solidFill>
            <a:prstDash val="solid"/>
          </a:ln>
        </p:spPr>
      </p:sp>
      <p:sp>
        <p:nvSpPr>
          <p:cNvPr id="23" name="">
            <a:extLst xmlns:a="http://schemas.openxmlformats.org/drawingml/2006/main">
              <a:ext uri="{FF2B5EF4-FFF2-40B4-BE49-F238E27FC236}">
                <a16:creationId xmlns:a16="http://schemas.microsoft.com/office/drawing/2014/main" id="{53D5E71E-B4F5-49D7-BD9A-FDF1A5FB92C2}"/>
              </a:ext>
            </a:extLst>
          </p:cNvPr>
          <p:cNvSpPr>
            <a:spLocks xmlns:a="http://schemas.openxmlformats.org/drawingml/2006/main" noGrp="1"/>
          </p:cNvSpPr>
          <p:nvPr/>
        </p:nvSpPr>
        <p:spPr>
          <a:xfrm xmlns:a="http://schemas.openxmlformats.org/drawingml/2006/main">
            <a:off x="5162550" y="1666875"/>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24" name="">
            <a:extLst xmlns:a="http://schemas.openxmlformats.org/drawingml/2006/main">
              <a:ext uri="{FF2B5EF4-FFF2-40B4-BE49-F238E27FC236}">
                <a16:creationId xmlns:a16="http://schemas.microsoft.com/office/drawing/2014/main" id="{2A56D53F-656B-4DD6-94C9-EB183EC68569}"/>
              </a:ext>
            </a:extLst>
          </p:cNvPr>
          <p:cNvSpPr>
            <a:spLocks xmlns:a="http://schemas.openxmlformats.org/drawingml/2006/main" noGrp="1"/>
          </p:cNvSpPr>
          <p:nvPr/>
        </p:nvSpPr>
        <p:spPr>
          <a:xfrm xmlns:a="http://schemas.openxmlformats.org/drawingml/2006/main">
            <a:off x="5219700" y="1981200"/>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162C52"/>
                </a:solidFill>
              </a:defRPr>
            </a:pPr>
            <a:r>
              <a:rPr sz="1350" b="1">
                <a:solidFill>
                  <a:srgbClr val="162C52"/>
                </a:solidFill>
              </a:rPr>
              <a:t>Quality gate</a:t>
            </a:r>
          </a:p>
        </p:txBody>
      </p:sp>
      <p:sp>
        <p:nvSpPr>
          <p:cNvPr id="25" name="">
            <a:extLst xmlns:a="http://schemas.openxmlformats.org/drawingml/2006/main">
              <a:ext uri="{FF2B5EF4-FFF2-40B4-BE49-F238E27FC236}">
                <a16:creationId xmlns:a16="http://schemas.microsoft.com/office/drawing/2014/main" id="{32184868-5EF2-43D4-826B-1B41FD53CA14}"/>
              </a:ext>
            </a:extLst>
          </p:cNvPr>
          <p:cNvSpPr>
            <a:spLocks xmlns:a="http://schemas.openxmlformats.org/drawingml/2006/main" noGrp="1"/>
          </p:cNvSpPr>
          <p:nvPr/>
        </p:nvSpPr>
        <p:spPr>
          <a:xfrm xmlns:a="http://schemas.openxmlformats.org/drawingml/2006/main">
            <a:off x="5200650" y="2381250"/>
            <a:ext cx="15811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0">
                <a:solidFill>
                  <a:srgbClr val="617391"/>
                </a:solidFill>
              </a:defRPr>
            </a:pPr>
            <a:r>
              <a:rPr sz="1125" b="0">
                <a:solidFill>
                  <a:srgbClr val="617391"/>
                </a:solidFill>
              </a:rPr>
              <a:t>Require at least</a:t>
            </a:r>
          </a:p>
          <a:p xmlns:a="http://schemas.openxmlformats.org/drawingml/2006/main">
            <a:pPr algn="ctr">
              <a:buNone/>
              <a:defRPr sz="1125" b="0">
                <a:solidFill>
                  <a:srgbClr val="617391"/>
                </a:solidFill>
              </a:defRPr>
            </a:pPr>
            <a:r>
              <a:rPr sz="1125" b="0">
                <a:solidFill>
                  <a:srgbClr val="617391"/>
                </a:solidFill>
              </a:rPr>
              <a:t>50 extracted characters</a:t>
            </a:r>
          </a:p>
        </p:txBody>
      </p:sp>
      <p:sp>
        <p:nvSpPr>
          <p:cNvPr id="26" name="">
            <a:extLst xmlns:a="http://schemas.openxmlformats.org/drawingml/2006/main">
              <a:ext uri="{FF2B5EF4-FFF2-40B4-BE49-F238E27FC236}">
                <a16:creationId xmlns:a16="http://schemas.microsoft.com/office/drawing/2014/main" id="{1107EED6-EDFF-4BCE-B2D7-7F0A0881A09F}"/>
              </a:ext>
            </a:extLst>
          </p:cNvPr>
          <p:cNvSpPr>
            <a:spLocks xmlns:a="http://schemas.openxmlformats.org/drawingml/2006/main" noGrp="1"/>
          </p:cNvSpPr>
          <p:nvPr/>
        </p:nvSpPr>
        <p:spPr>
          <a:xfrm xmlns:a="http://schemas.openxmlformats.org/drawingml/2006/main">
            <a:off x="7000875" y="2409825"/>
            <a:ext cx="323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025" b="1">
                <a:solidFill>
                  <a:srgbClr val="3269D4"/>
                </a:solidFill>
              </a:defRPr>
            </a:pPr>
            <a:r>
              <a:rPr sz="2025" b="1">
                <a:solidFill>
                  <a:srgbClr val="3269D4"/>
                </a:solidFill>
              </a:rPr>
              <a:t>→</a:t>
            </a:r>
          </a:p>
        </p:txBody>
      </p:sp>
      <p:sp>
        <p:nvSpPr>
          <p:cNvPr id="27" name="">
            <a:extLst xmlns:a="http://schemas.openxmlformats.org/drawingml/2006/main">
              <a:ext uri="{FF2B5EF4-FFF2-40B4-BE49-F238E27FC236}">
                <a16:creationId xmlns:a16="http://schemas.microsoft.com/office/drawing/2014/main" id="{B118AB4A-AA9F-41E2-B2FF-C2236F570A38}"/>
              </a:ext>
            </a:extLst>
          </p:cNvPr>
          <p:cNvSpPr>
            <a:spLocks xmlns:a="http://schemas.openxmlformats.org/drawingml/2006/main" noGrp="1"/>
          </p:cNvSpPr>
          <p:nvPr/>
        </p:nvSpPr>
        <p:spPr>
          <a:xfrm xmlns:a="http://schemas.openxmlformats.org/drawingml/2006/main">
            <a:off x="7372350" y="1752600"/>
            <a:ext cx="1885950" cy="180975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12383">
            <a:solidFill>
              <a:srgbClr val="6737C4"/>
            </a:solidFill>
            <a:prstDash val="solid"/>
          </a:ln>
        </p:spPr>
      </p:sp>
      <p:sp>
        <p:nvSpPr>
          <p:cNvPr id="28" name="">
            <a:extLst xmlns:a="http://schemas.openxmlformats.org/drawingml/2006/main">
              <a:ext uri="{FF2B5EF4-FFF2-40B4-BE49-F238E27FC236}">
                <a16:creationId xmlns:a16="http://schemas.microsoft.com/office/drawing/2014/main" id="{5EE7FE0F-487C-48AE-BEBE-CA49554CDDAC}"/>
              </a:ext>
            </a:extLst>
          </p:cNvPr>
          <p:cNvSpPr>
            <a:spLocks xmlns:a="http://schemas.openxmlformats.org/drawingml/2006/main" noGrp="1"/>
          </p:cNvSpPr>
          <p:nvPr/>
        </p:nvSpPr>
        <p:spPr>
          <a:xfrm xmlns:a="http://schemas.openxmlformats.org/drawingml/2006/main">
            <a:off x="7486650" y="1628775"/>
            <a:ext cx="266700" cy="266700"/>
          </a:xfrm>
          <a:prstGeom xmlns:a="http://schemas.openxmlformats.org/drawingml/2006/main" prst="ellipse">
            <a:avLst/>
          </a:prstGeom>
          <a:solidFill xmlns:a="http://schemas.openxmlformats.org/drawingml/2006/main">
            <a:srgbClr val="6737C4"/>
          </a:solidFill>
          <a:ln xmlns:a="http://schemas.openxmlformats.org/drawingml/2006/main" w="19050">
            <a:solidFill>
              <a:srgbClr val="FFFFFF"/>
            </a:solidFill>
            <a:prstDash val="solid"/>
          </a:ln>
        </p:spPr>
      </p:sp>
      <p:sp>
        <p:nvSpPr>
          <p:cNvPr id="29" name="">
            <a:extLst xmlns:a="http://schemas.openxmlformats.org/drawingml/2006/main">
              <a:ext uri="{FF2B5EF4-FFF2-40B4-BE49-F238E27FC236}">
                <a16:creationId xmlns:a16="http://schemas.microsoft.com/office/drawing/2014/main" id="{18F8EFAE-FB27-45F3-8813-C0F4BC93CB7E}"/>
              </a:ext>
            </a:extLst>
          </p:cNvPr>
          <p:cNvSpPr>
            <a:spLocks xmlns:a="http://schemas.openxmlformats.org/drawingml/2006/main" noGrp="1"/>
          </p:cNvSpPr>
          <p:nvPr/>
        </p:nvSpPr>
        <p:spPr>
          <a:xfrm xmlns:a="http://schemas.openxmlformats.org/drawingml/2006/main">
            <a:off x="7486650" y="1666875"/>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30" name="">
            <a:extLst xmlns:a="http://schemas.openxmlformats.org/drawingml/2006/main">
              <a:ext uri="{FF2B5EF4-FFF2-40B4-BE49-F238E27FC236}">
                <a16:creationId xmlns:a16="http://schemas.microsoft.com/office/drawing/2014/main" id="{F028483A-7C26-4741-9214-58ED84A22D51}"/>
              </a:ext>
            </a:extLst>
          </p:cNvPr>
          <p:cNvSpPr>
            <a:spLocks xmlns:a="http://schemas.openxmlformats.org/drawingml/2006/main" noGrp="1"/>
          </p:cNvSpPr>
          <p:nvPr/>
        </p:nvSpPr>
        <p:spPr>
          <a:xfrm xmlns:a="http://schemas.openxmlformats.org/drawingml/2006/main">
            <a:off x="7543800" y="1981200"/>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162C52"/>
                </a:solidFill>
              </a:defRPr>
            </a:pPr>
            <a:r>
              <a:rPr sz="1350" b="1">
                <a:solidFill>
                  <a:srgbClr val="162C52"/>
                </a:solidFill>
              </a:rPr>
              <a:t>Typed extraction</a:t>
            </a:r>
          </a:p>
        </p:txBody>
      </p:sp>
      <p:sp>
        <p:nvSpPr>
          <p:cNvPr id="31" name="">
            <a:extLst xmlns:a="http://schemas.openxmlformats.org/drawingml/2006/main">
              <a:ext uri="{FF2B5EF4-FFF2-40B4-BE49-F238E27FC236}">
                <a16:creationId xmlns:a16="http://schemas.microsoft.com/office/drawing/2014/main" id="{3C8F4D27-B0E0-4B7A-BB72-33201924FA1B}"/>
              </a:ext>
            </a:extLst>
          </p:cNvPr>
          <p:cNvSpPr>
            <a:spLocks xmlns:a="http://schemas.openxmlformats.org/drawingml/2006/main" noGrp="1"/>
          </p:cNvSpPr>
          <p:nvPr/>
        </p:nvSpPr>
        <p:spPr>
          <a:xfrm xmlns:a="http://schemas.openxmlformats.org/drawingml/2006/main">
            <a:off x="7524750" y="2381250"/>
            <a:ext cx="15811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0">
                <a:solidFill>
                  <a:srgbClr val="617391"/>
                </a:solidFill>
              </a:defRPr>
            </a:pPr>
            <a:r>
              <a:rPr sz="1125" b="0">
                <a:solidFill>
                  <a:srgbClr val="617391"/>
                </a:solidFill>
              </a:rPr>
              <a:t>First 12,000 characters</a:t>
            </a:r>
          </a:p>
          <a:p xmlns:a="http://schemas.openxmlformats.org/drawingml/2006/main">
            <a:pPr algn="ctr">
              <a:buNone/>
              <a:defRPr sz="1125" b="0">
                <a:solidFill>
                  <a:srgbClr val="617391"/>
                </a:solidFill>
              </a:defRPr>
            </a:pPr>
            <a:r>
              <a:rPr sz="1125" b="0">
                <a:solidFill>
                  <a:srgbClr val="617391"/>
                </a:solidFill>
              </a:rPr>
              <a:t>Gemini → CandidateProfile</a:t>
            </a:r>
          </a:p>
        </p:txBody>
      </p:sp>
      <p:sp>
        <p:nvSpPr>
          <p:cNvPr id="32" name="">
            <a:extLst xmlns:a="http://schemas.openxmlformats.org/drawingml/2006/main">
              <a:ext uri="{FF2B5EF4-FFF2-40B4-BE49-F238E27FC236}">
                <a16:creationId xmlns:a16="http://schemas.microsoft.com/office/drawing/2014/main" id="{8C051848-5BE5-4836-B5DB-154A0C313CB7}"/>
              </a:ext>
            </a:extLst>
          </p:cNvPr>
          <p:cNvSpPr>
            <a:spLocks xmlns:a="http://schemas.openxmlformats.org/drawingml/2006/main" noGrp="1"/>
          </p:cNvSpPr>
          <p:nvPr/>
        </p:nvSpPr>
        <p:spPr>
          <a:xfrm xmlns:a="http://schemas.openxmlformats.org/drawingml/2006/main">
            <a:off x="9324975" y="2409825"/>
            <a:ext cx="323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025" b="1">
                <a:solidFill>
                  <a:srgbClr val="3269D4"/>
                </a:solidFill>
              </a:defRPr>
            </a:pPr>
            <a:r>
              <a:rPr sz="2025" b="1">
                <a:solidFill>
                  <a:srgbClr val="3269D4"/>
                </a:solidFill>
              </a:rPr>
              <a:t>→</a:t>
            </a:r>
          </a:p>
        </p:txBody>
      </p:sp>
      <p:sp>
        <p:nvSpPr>
          <p:cNvPr id="33" name="">
            <a:extLst xmlns:a="http://schemas.openxmlformats.org/drawingml/2006/main">
              <a:ext uri="{FF2B5EF4-FFF2-40B4-BE49-F238E27FC236}">
                <a16:creationId xmlns:a16="http://schemas.microsoft.com/office/drawing/2014/main" id="{B55D9209-638E-444D-995C-D4D9EBC2BB70}"/>
              </a:ext>
            </a:extLst>
          </p:cNvPr>
          <p:cNvSpPr>
            <a:spLocks xmlns:a="http://schemas.openxmlformats.org/drawingml/2006/main" noGrp="1"/>
          </p:cNvSpPr>
          <p:nvPr/>
        </p:nvSpPr>
        <p:spPr>
          <a:xfrm xmlns:a="http://schemas.openxmlformats.org/drawingml/2006/main">
            <a:off x="9696450" y="1752600"/>
            <a:ext cx="1885950" cy="180975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12383">
            <a:solidFill>
              <a:srgbClr val="17834D"/>
            </a:solidFill>
            <a:prstDash val="solid"/>
          </a:ln>
        </p:spPr>
      </p:sp>
      <p:sp>
        <p:nvSpPr>
          <p:cNvPr id="34" name="">
            <a:extLst xmlns:a="http://schemas.openxmlformats.org/drawingml/2006/main">
              <a:ext uri="{FF2B5EF4-FFF2-40B4-BE49-F238E27FC236}">
                <a16:creationId xmlns:a16="http://schemas.microsoft.com/office/drawing/2014/main" id="{122875A6-0AC0-44C7-9AB2-8E856E6289F7}"/>
              </a:ext>
            </a:extLst>
          </p:cNvPr>
          <p:cNvSpPr>
            <a:spLocks xmlns:a="http://schemas.openxmlformats.org/drawingml/2006/main" noGrp="1"/>
          </p:cNvSpPr>
          <p:nvPr/>
        </p:nvSpPr>
        <p:spPr>
          <a:xfrm xmlns:a="http://schemas.openxmlformats.org/drawingml/2006/main">
            <a:off x="9810750" y="1628775"/>
            <a:ext cx="266700" cy="266700"/>
          </a:xfrm>
          <a:prstGeom xmlns:a="http://schemas.openxmlformats.org/drawingml/2006/main" prst="ellipse">
            <a:avLst/>
          </a:prstGeom>
          <a:solidFill xmlns:a="http://schemas.openxmlformats.org/drawingml/2006/main">
            <a:srgbClr val="17834D"/>
          </a:solidFill>
          <a:ln xmlns:a="http://schemas.openxmlformats.org/drawingml/2006/main" w="19050">
            <a:solidFill>
              <a:srgbClr val="FFFFFF"/>
            </a:solidFill>
            <a:prstDash val="solid"/>
          </a:ln>
        </p:spPr>
      </p:sp>
      <p:sp>
        <p:nvSpPr>
          <p:cNvPr id="35" name="">
            <a:extLst xmlns:a="http://schemas.openxmlformats.org/drawingml/2006/main">
              <a:ext uri="{FF2B5EF4-FFF2-40B4-BE49-F238E27FC236}">
                <a16:creationId xmlns:a16="http://schemas.microsoft.com/office/drawing/2014/main" id="{9F7352F8-722F-4BE3-87F9-E6B96EE64F6F}"/>
              </a:ext>
            </a:extLst>
          </p:cNvPr>
          <p:cNvSpPr>
            <a:spLocks xmlns:a="http://schemas.openxmlformats.org/drawingml/2006/main" noGrp="1"/>
          </p:cNvSpPr>
          <p:nvPr/>
        </p:nvSpPr>
        <p:spPr>
          <a:xfrm xmlns:a="http://schemas.openxmlformats.org/drawingml/2006/main">
            <a:off x="9810750" y="1666875"/>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36" name="">
            <a:extLst xmlns:a="http://schemas.openxmlformats.org/drawingml/2006/main">
              <a:ext uri="{FF2B5EF4-FFF2-40B4-BE49-F238E27FC236}">
                <a16:creationId xmlns:a16="http://schemas.microsoft.com/office/drawing/2014/main" id="{8C8E06B7-16B7-4526-B53B-DF8DD2E6086E}"/>
              </a:ext>
            </a:extLst>
          </p:cNvPr>
          <p:cNvSpPr>
            <a:spLocks xmlns:a="http://schemas.openxmlformats.org/drawingml/2006/main" noGrp="1"/>
          </p:cNvSpPr>
          <p:nvPr/>
        </p:nvSpPr>
        <p:spPr>
          <a:xfrm xmlns:a="http://schemas.openxmlformats.org/drawingml/2006/main">
            <a:off x="9867900" y="1981200"/>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162C52"/>
                </a:solidFill>
              </a:defRPr>
            </a:pPr>
            <a:r>
              <a:rPr sz="1350" b="1">
                <a:solidFill>
                  <a:srgbClr val="162C52"/>
                </a:solidFill>
              </a:rPr>
              <a:t>Owned persistence</a:t>
            </a:r>
          </a:p>
        </p:txBody>
      </p:sp>
      <p:sp>
        <p:nvSpPr>
          <p:cNvPr id="37" name="">
            <a:extLst xmlns:a="http://schemas.openxmlformats.org/drawingml/2006/main">
              <a:ext uri="{FF2B5EF4-FFF2-40B4-BE49-F238E27FC236}">
                <a16:creationId xmlns:a16="http://schemas.microsoft.com/office/drawing/2014/main" id="{6024E594-357D-4C1F-AB30-5D4636E95C57}"/>
              </a:ext>
            </a:extLst>
          </p:cNvPr>
          <p:cNvSpPr>
            <a:spLocks xmlns:a="http://schemas.openxmlformats.org/drawingml/2006/main" noGrp="1"/>
          </p:cNvSpPr>
          <p:nvPr/>
        </p:nvSpPr>
        <p:spPr>
          <a:xfrm xmlns:a="http://schemas.openxmlformats.org/drawingml/2006/main">
            <a:off x="9848850" y="2381250"/>
            <a:ext cx="15811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0">
                <a:solidFill>
                  <a:srgbClr val="617391"/>
                </a:solidFill>
              </a:defRPr>
            </a:pPr>
            <a:r>
              <a:rPr sz="1125" b="0">
                <a:solidFill>
                  <a:srgbClr val="617391"/>
                </a:solidFill>
              </a:rPr>
              <a:t>Profile + raw text</a:t>
            </a:r>
          </a:p>
          <a:p xmlns:a="http://schemas.openxmlformats.org/drawingml/2006/main">
            <a:pPr algn="ctr">
              <a:buNone/>
              <a:defRPr sz="1125" b="0">
                <a:solidFill>
                  <a:srgbClr val="617391"/>
                </a:solidFill>
              </a:defRPr>
            </a:pPr>
            <a:r>
              <a:rPr sz="1125" b="0">
                <a:solidFill>
                  <a:srgbClr val="617391"/>
                </a:solidFill>
              </a:rPr>
              <a:t>Versioned extraction cache</a:t>
            </a:r>
          </a:p>
        </p:txBody>
      </p:sp>
      <p:sp>
        <p:nvSpPr>
          <p:cNvPr id="38" name="">
            <a:extLst xmlns:a="http://schemas.openxmlformats.org/drawingml/2006/main">
              <a:ext uri="{FF2B5EF4-FFF2-40B4-BE49-F238E27FC236}">
                <a16:creationId xmlns:a16="http://schemas.microsoft.com/office/drawing/2014/main" id="{B0E2A16C-19F1-4B80-90A3-E9DDB7ABD9EF}"/>
              </a:ext>
            </a:extLst>
          </p:cNvPr>
          <p:cNvSpPr>
            <a:spLocks xmlns:a="http://schemas.openxmlformats.org/drawingml/2006/main" noGrp="1"/>
          </p:cNvSpPr>
          <p:nvPr/>
        </p:nvSpPr>
        <p:spPr>
          <a:xfrm xmlns:a="http://schemas.openxmlformats.org/drawingml/2006/main">
            <a:off x="400050" y="3990975"/>
            <a:ext cx="11334750" cy="781050"/>
          </a:xfrm>
          <a:prstGeom xmlns:a="http://schemas.openxmlformats.org/drawingml/2006/main" prst="roundRect">
            <a:avLst>
              <a:gd name="adj" fmla="val 9756"/>
            </a:avLst>
          </a:prstGeom>
          <a:solidFill xmlns:a="http://schemas.openxmlformats.org/drawingml/2006/main">
            <a:srgbClr val="FFF5EA"/>
          </a:solidFill>
          <a:ln xmlns:a="http://schemas.openxmlformats.org/drawingml/2006/main" w="11430">
            <a:solidFill>
              <a:srgbClr val="D87319"/>
            </a:solidFill>
            <a:prstDash val="solid"/>
          </a:ln>
        </p:spPr>
      </p:sp>
      <p:sp>
        <p:nvSpPr>
          <p:cNvPr id="39" name="">
            <a:extLst xmlns:a="http://schemas.openxmlformats.org/drawingml/2006/main">
              <a:ext uri="{FF2B5EF4-FFF2-40B4-BE49-F238E27FC236}">
                <a16:creationId xmlns:a16="http://schemas.microsoft.com/office/drawing/2014/main" id="{F8669D90-B46D-4398-8C91-FAB56BE005BD}"/>
              </a:ext>
            </a:extLst>
          </p:cNvPr>
          <p:cNvSpPr>
            <a:spLocks xmlns:a="http://schemas.openxmlformats.org/drawingml/2006/main" noGrp="1"/>
          </p:cNvSpPr>
          <p:nvPr/>
        </p:nvSpPr>
        <p:spPr>
          <a:xfrm xmlns:a="http://schemas.openxmlformats.org/drawingml/2006/main">
            <a:off x="571500" y="4124325"/>
            <a:ext cx="176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D87319"/>
                </a:solidFill>
              </a:defRPr>
            </a:pPr>
            <a:r>
              <a:rPr sz="1200" b="1">
                <a:solidFill>
                  <a:srgbClr val="D87319"/>
                </a:solidFill>
              </a:rPr>
              <a:t>CURRENT BEHAVIOR</a:t>
            </a:r>
          </a:p>
        </p:txBody>
      </p:sp>
      <p:sp>
        <p:nvSpPr>
          <p:cNvPr id="40" name="">
            <a:extLst xmlns:a="http://schemas.openxmlformats.org/drawingml/2006/main">
              <a:ext uri="{FF2B5EF4-FFF2-40B4-BE49-F238E27FC236}">
                <a16:creationId xmlns:a16="http://schemas.microsoft.com/office/drawing/2014/main" id="{5FDF1130-45BF-4CF2-B46F-4C5828776BC1}"/>
              </a:ext>
            </a:extLst>
          </p:cNvPr>
          <p:cNvSpPr>
            <a:spLocks xmlns:a="http://schemas.openxmlformats.org/drawingml/2006/main" noGrp="1"/>
          </p:cNvSpPr>
          <p:nvPr/>
        </p:nvSpPr>
        <p:spPr>
          <a:xfrm xmlns:a="http://schemas.openxmlformats.org/drawingml/2006/main">
            <a:off x="2352675" y="4105275"/>
            <a:ext cx="9191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0">
                <a:solidFill>
                  <a:srgbClr val="162C52"/>
                </a:solidFill>
              </a:defRPr>
            </a:pPr>
            <a:r>
              <a:rPr sz="1200" b="0">
                <a:solidFill>
                  <a:srgbClr val="162C52"/>
                </a:solidFill>
              </a:rPr>
              <a:t>Scanned or image-only CVs usually fail the text gate because the system has no OCR/image extraction path.</a:t>
            </a:r>
          </a:p>
        </p:txBody>
      </p:sp>
      <p:sp>
        <p:nvSpPr>
          <p:cNvPr id="41" name="">
            <a:extLst xmlns:a="http://schemas.openxmlformats.org/drawingml/2006/main">
              <a:ext uri="{FF2B5EF4-FFF2-40B4-BE49-F238E27FC236}">
                <a16:creationId xmlns:a16="http://schemas.microsoft.com/office/drawing/2014/main" id="{A38B575F-960B-4867-B276-9CEC1201BF61}"/>
              </a:ext>
            </a:extLst>
          </p:cNvPr>
          <p:cNvSpPr>
            <a:spLocks xmlns:a="http://schemas.openxmlformats.org/drawingml/2006/main" noGrp="1"/>
          </p:cNvSpPr>
          <p:nvPr/>
        </p:nvSpPr>
        <p:spPr>
          <a:xfrm xmlns:a="http://schemas.openxmlformats.org/drawingml/2006/main">
            <a:off x="400050" y="4933950"/>
            <a:ext cx="11334750" cy="971550"/>
          </a:xfrm>
          <a:prstGeom xmlns:a="http://schemas.openxmlformats.org/drawingml/2006/main" prst="roundRect">
            <a:avLst>
              <a:gd name="adj" fmla="val 7843"/>
            </a:avLst>
          </a:prstGeom>
          <a:solidFill xmlns:a="http://schemas.openxmlformats.org/drawingml/2006/main">
            <a:srgbClr val="EEF9F3"/>
          </a:solidFill>
          <a:ln xmlns:a="http://schemas.openxmlformats.org/drawingml/2006/main" w="11430">
            <a:solidFill>
              <a:srgbClr val="17834D"/>
            </a:solidFill>
            <a:prstDash val="solid"/>
          </a:ln>
        </p:spPr>
      </p:sp>
      <p:sp>
        <p:nvSpPr>
          <p:cNvPr id="42" name="">
            <a:extLst xmlns:a="http://schemas.openxmlformats.org/drawingml/2006/main">
              <a:ext uri="{FF2B5EF4-FFF2-40B4-BE49-F238E27FC236}">
                <a16:creationId xmlns:a16="http://schemas.microsoft.com/office/drawing/2014/main" id="{DBAE6D98-6609-470B-A0F6-BCC7F50F8915}"/>
              </a:ext>
            </a:extLst>
          </p:cNvPr>
          <p:cNvSpPr>
            <a:spLocks xmlns:a="http://schemas.openxmlformats.org/drawingml/2006/main" noGrp="1"/>
          </p:cNvSpPr>
          <p:nvPr/>
        </p:nvSpPr>
        <p:spPr>
          <a:xfrm xmlns:a="http://schemas.openxmlformats.org/drawingml/2006/main">
            <a:off x="571500" y="5067300"/>
            <a:ext cx="17621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17834D"/>
                </a:solidFill>
              </a:defRPr>
            </a:pPr>
            <a:r>
              <a:rPr sz="1200" b="1">
                <a:solidFill>
                  <a:srgbClr val="17834D"/>
                </a:solidFill>
              </a:rPr>
              <a:t>PROPOSED FALLBACK</a:t>
            </a:r>
          </a:p>
        </p:txBody>
      </p:sp>
      <p:sp>
        <p:nvSpPr>
          <p:cNvPr id="43" name="">
            <a:extLst xmlns:a="http://schemas.openxmlformats.org/drawingml/2006/main">
              <a:ext uri="{FF2B5EF4-FFF2-40B4-BE49-F238E27FC236}">
                <a16:creationId xmlns:a16="http://schemas.microsoft.com/office/drawing/2014/main" id="{7071E5B4-923E-4EC2-986E-DB69D06CFCD5}"/>
              </a:ext>
            </a:extLst>
          </p:cNvPr>
          <p:cNvSpPr>
            <a:spLocks xmlns:a="http://schemas.openxmlformats.org/drawingml/2006/main" noGrp="1"/>
          </p:cNvSpPr>
          <p:nvPr/>
        </p:nvSpPr>
        <p:spPr>
          <a:xfrm xmlns:a="http://schemas.openxmlformats.org/drawingml/2006/main">
            <a:off x="2352675" y="5048250"/>
            <a:ext cx="9191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0">
                <a:solidFill>
                  <a:srgbClr val="162C52"/>
                </a:solidFill>
              </a:defRPr>
            </a:pPr>
            <a:r>
              <a:rPr sz="1200" b="0">
                <a:solidFill>
                  <a:srgbClr val="162C52"/>
                </a:solidFill>
              </a:rPr>
              <a:t>Low text coverage → render affected pages → OCR → confidence filtering → merge with native text → remove duplicate lines before extraction.</a:t>
            </a:r>
          </a:p>
        </p:txBody>
      </p:sp>
      <p:sp>
        <p:nvSpPr>
          <p:cNvPr id="44" name="header-cover-1">
            <a:extLst xmlns:a="http://schemas.openxmlformats.org/drawingml/2006/main">
              <a:ext uri="{FF2B5EF4-FFF2-40B4-BE49-F238E27FC236}">
                <a16:creationId xmlns:a16="http://schemas.microsoft.com/office/drawing/2014/main" id="{C938C83A-3B35-4103-BD3E-AD0070E61393}"/>
              </a:ext>
            </a:extLst>
          </p:cNvPr>
          <p:cNvSpPr>
            <a:spLocks xmlns:a="http://schemas.openxmlformats.org/drawingml/2006/main" noGrp="1"/>
          </p:cNvSpPr>
          <p:nvPr/>
        </p:nvSpPr>
        <p:spPr>
          <a:xfrm xmlns:a="http://schemas.openxmlformats.org/drawingml/2006/main">
            <a:off x="323850" y="190500"/>
            <a:ext cx="11525250" cy="6096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5" name="section-title-1">
            <a:extLst xmlns:a="http://schemas.openxmlformats.org/drawingml/2006/main">
              <a:ext uri="{FF2B5EF4-FFF2-40B4-BE49-F238E27FC236}">
                <a16:creationId xmlns:a16="http://schemas.microsoft.com/office/drawing/2014/main" id="{7A7EC7E9-40C8-4C75-853F-3E8B1A7A7D74}"/>
              </a:ext>
            </a:extLst>
          </p:cNvPr>
          <p:cNvSpPr>
            <a:spLocks xmlns:a="http://schemas.openxmlformats.org/drawingml/2006/main" noGrp="1"/>
          </p:cNvSpPr>
          <p:nvPr/>
        </p:nvSpPr>
        <p:spPr>
          <a:xfrm xmlns:a="http://schemas.openxmlformats.org/drawingml/2006/main">
            <a:off x="400050" y="2857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1356F"/>
                </a:solidFill>
              </a:defRPr>
            </a:pPr>
            <a:r>
              <a:rPr sz="2025" b="1">
                <a:solidFill>
                  <a:srgbClr val="11356F"/>
                </a:solidFill>
              </a:rPr>
              <a:t>3. DATA &amp; RESUME PIPELINE</a:t>
            </a:r>
          </a:p>
        </p:txBody>
      </p:sp>
      <p:sp>
        <p:nvSpPr>
          <p:cNvPr id="46" name="section-rule-1">
            <a:extLst xmlns:a="http://schemas.openxmlformats.org/drawingml/2006/main">
              <a:ext uri="{FF2B5EF4-FFF2-40B4-BE49-F238E27FC236}">
                <a16:creationId xmlns:a16="http://schemas.microsoft.com/office/drawing/2014/main" id="{BA4BF006-9BA6-455B-B6BE-E23F88209C54}"/>
              </a:ext>
            </a:extLst>
          </p:cNvPr>
          <p:cNvSpPr>
            <a:spLocks xmlns:a="http://schemas.openxmlformats.org/drawingml/2006/main" noGrp="1"/>
          </p:cNvSpPr>
          <p:nvPr/>
        </p:nvSpPr>
        <p:spPr>
          <a:xfrm xmlns:a="http://schemas.openxmlformats.org/drawingml/2006/main">
            <a:off x="400050" y="723900"/>
            <a:ext cx="9715500" cy="9525"/>
          </a:xfrm>
          <a:prstGeom xmlns:a="http://schemas.openxmlformats.org/drawingml/2006/main" prst="line">
            <a:avLst/>
          </a:prstGeom>
          <a:noFill xmlns:a="http://schemas.openxmlformats.org/drawingml/2006/main"/>
          <a:ln xmlns:a="http://schemas.openxmlformats.org/drawingml/2006/main" w="9525">
            <a:solidFill>
              <a:srgbClr val="D8E6FF"/>
            </a:solidFill>
            <a:prstDash val="solid"/>
          </a:ln>
        </p:spPr>
      </p:sp>
      <p:sp>
        <p:nvSpPr>
          <p:cNvPr id="47" name="brand-square-1-1">
            <a:extLst xmlns:a="http://schemas.openxmlformats.org/drawingml/2006/main">
              <a:ext uri="{FF2B5EF4-FFF2-40B4-BE49-F238E27FC236}">
                <a16:creationId xmlns:a16="http://schemas.microsoft.com/office/drawing/2014/main" id="{9ECAECBD-BC84-4E8C-821C-F1F51FDCB947}"/>
              </a:ext>
            </a:extLst>
          </p:cNvPr>
          <p:cNvSpPr>
            <a:spLocks xmlns:a="http://schemas.openxmlformats.org/drawingml/2006/main" noGrp="1"/>
          </p:cNvSpPr>
          <p:nvPr/>
        </p:nvSpPr>
        <p:spPr>
          <a:xfrm xmlns:a="http://schemas.openxmlformats.org/drawingml/2006/main">
            <a:off x="11001375" y="304800"/>
            <a:ext cx="228600" cy="228600"/>
          </a:xfrm>
          <a:prstGeom xmlns:a="http://schemas.openxmlformats.org/drawingml/2006/main" prst="rect">
            <a:avLst/>
          </a:prstGeom>
          <a:solidFill xmlns:a="http://schemas.openxmlformats.org/drawingml/2006/main">
            <a:srgbClr val="D9E5FB"/>
          </a:solidFill>
          <a:ln xmlns:a="http://schemas.openxmlformats.org/drawingml/2006/main" w="0">
            <a:noFill/>
            <a:prstDash val="solid"/>
          </a:ln>
        </p:spPr>
      </p:sp>
      <p:sp>
        <p:nvSpPr>
          <p:cNvPr id="48" name="brand-square-2-1">
            <a:extLst xmlns:a="http://schemas.openxmlformats.org/drawingml/2006/main">
              <a:ext uri="{FF2B5EF4-FFF2-40B4-BE49-F238E27FC236}">
                <a16:creationId xmlns:a16="http://schemas.microsoft.com/office/drawing/2014/main" id="{91DC9A5D-FE85-40D3-82C6-D682A5A844B0}"/>
              </a:ext>
            </a:extLst>
          </p:cNvPr>
          <p:cNvSpPr>
            <a:spLocks xmlns:a="http://schemas.openxmlformats.org/drawingml/2006/main" noGrp="1"/>
          </p:cNvSpPr>
          <p:nvPr/>
        </p:nvSpPr>
        <p:spPr>
          <a:xfrm xmlns:a="http://schemas.openxmlformats.org/drawingml/2006/main">
            <a:off x="11258550" y="304800"/>
            <a:ext cx="228600" cy="228600"/>
          </a:xfrm>
          <a:prstGeom xmlns:a="http://schemas.openxmlformats.org/drawingml/2006/main" prst="rect">
            <a:avLst/>
          </a:prstGeom>
          <a:solidFill xmlns:a="http://schemas.openxmlformats.org/drawingml/2006/main">
            <a:srgbClr val="AFC9F7"/>
          </a:solidFill>
          <a:ln xmlns:a="http://schemas.openxmlformats.org/drawingml/2006/main" w="0">
            <a:noFill/>
            <a:prstDash val="solid"/>
          </a:ln>
        </p:spPr>
      </p:sp>
      <p:sp>
        <p:nvSpPr>
          <p:cNvPr id="49" name="brand-square-3-1">
            <a:extLst xmlns:a="http://schemas.openxmlformats.org/drawingml/2006/main">
              <a:ext uri="{FF2B5EF4-FFF2-40B4-BE49-F238E27FC236}">
                <a16:creationId xmlns:a16="http://schemas.microsoft.com/office/drawing/2014/main" id="{BA56A268-FDEC-4BCE-9A1F-E978E7A89F81}"/>
              </a:ext>
            </a:extLst>
          </p:cNvPr>
          <p:cNvSpPr>
            <a:spLocks xmlns:a="http://schemas.openxmlformats.org/drawingml/2006/main" noGrp="1"/>
          </p:cNvSpPr>
          <p:nvPr/>
        </p:nvSpPr>
        <p:spPr>
          <a:xfrm xmlns:a="http://schemas.openxmlformats.org/drawingml/2006/main">
            <a:off x="11515725" y="304800"/>
            <a:ext cx="228600" cy="228600"/>
          </a:xfrm>
          <a:prstGeom xmlns:a="http://schemas.openxmlformats.org/drawingml/2006/main" prst="rect">
            <a:avLst/>
          </a:prstGeom>
          <a:solidFill xmlns:a="http://schemas.openxmlformats.org/drawingml/2006/main">
            <a:srgbClr val="78A3F1"/>
          </a:solidFill>
          <a:ln xmlns:a="http://schemas.openxmlformats.org/drawingml/2006/main" w="0">
            <a:noFill/>
            <a:prstDash val="solid"/>
          </a:ln>
        </p:spPr>
      </p:sp>
      <p:sp>
        <p:nvSpPr>
          <p:cNvPr id="50" name="footer-cover-1">
            <a:extLst xmlns:a="http://schemas.openxmlformats.org/drawingml/2006/main">
              <a:ext uri="{FF2B5EF4-FFF2-40B4-BE49-F238E27FC236}">
                <a16:creationId xmlns:a16="http://schemas.microsoft.com/office/drawing/2014/main" id="{FA75868D-35FC-4039-A250-EB53A2C779FB}"/>
              </a:ext>
            </a:extLst>
          </p:cNvPr>
          <p:cNvSpPr>
            <a:spLocks xmlns:a="http://schemas.openxmlformats.org/drawingml/2006/main" noGrp="1"/>
          </p:cNvSpPr>
          <p:nvPr/>
        </p:nvSpPr>
        <p:spPr>
          <a:xfrm xmlns:a="http://schemas.openxmlformats.org/drawingml/2006/main">
            <a:off x="323850" y="6438900"/>
            <a:ext cx="4191000" cy="2667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1" name="footer-1">
            <a:extLst xmlns:a="http://schemas.openxmlformats.org/drawingml/2006/main">
              <a:ext uri="{FF2B5EF4-FFF2-40B4-BE49-F238E27FC236}">
                <a16:creationId xmlns:a16="http://schemas.microsoft.com/office/drawing/2014/main" id="{B7B9356B-2CFC-49CF-AC51-E93BA5DC0869}"/>
              </a:ext>
            </a:extLst>
          </p:cNvPr>
          <p:cNvSpPr>
            <a:spLocks xmlns:a="http://schemas.openxmlformats.org/drawingml/2006/main" noGrp="1"/>
          </p:cNvSpPr>
          <p:nvPr/>
        </p:nvSpPr>
        <p:spPr>
          <a:xfrm xmlns:a="http://schemas.openxmlformats.org/drawingml/2006/main">
            <a:off x="40005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A98AE"/>
                </a:solidFill>
              </a:defRPr>
            </a:pPr>
            <a:r>
              <a:rPr sz="825" b="1">
                <a:solidFill>
                  <a:srgbClr val="8A98AE"/>
                </a:solidFill>
              </a:rPr>
              <a:t>FIPILOT  •  DEFENSE ROUND 1  •  1</a:t>
            </a:r>
          </a:p>
        </p:txBody>
      </p:sp>
    </p:spTree>
    <p:extLst>
      <p:ext uri="{BB962C8B-B14F-4D97-AF65-F5344CB8AC3E}">
        <p14:creationId xmlns:p14="http://schemas.microsoft.com/office/powerpoint/2010/main" val="68859550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7012F7F-C420-444B-A94D-FDC9725D04D7}"/>
              </a:ext>
            </a:extLst>
          </p:cNvPr>
          <p:cNvSpPr>
            <a:spLocks xmlns:a="http://schemas.openxmlformats.org/drawingml/2006/main" noGrp="1"/>
          </p:cNvSpPr>
          <p:nvPr/>
        </p:nvSpPr>
        <p:spPr>
          <a:xfrm xmlns:a="http://schemas.openxmlformats.org/drawingml/2006/main">
            <a:off x="400050" y="2857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1356F"/>
                </a:solidFill>
              </a:defRPr>
            </a:pPr>
            <a:r>
              <a:rPr sz="2025" b="1">
                <a:solidFill>
                  <a:srgbClr val="11356F"/>
                </a:solidFill>
              </a:rPr>
              <a:t>3. DATA &amp; RESUME PIPELINE</a:t>
            </a:r>
          </a:p>
        </p:txBody>
      </p:sp>
      <p:sp>
        <p:nvSpPr>
          <p:cNvPr id="2" name="">
            <a:extLst xmlns:a="http://schemas.openxmlformats.org/drawingml/2006/main">
              <a:ext uri="{FF2B5EF4-FFF2-40B4-BE49-F238E27FC236}">
                <a16:creationId xmlns:a16="http://schemas.microsoft.com/office/drawing/2014/main" id="{0B7190E9-D616-450A-A5D3-68FD77502DA7}"/>
              </a:ext>
            </a:extLst>
          </p:cNvPr>
          <p:cNvSpPr>
            <a:spLocks xmlns:a="http://schemas.openxmlformats.org/drawingml/2006/main" noGrp="1"/>
          </p:cNvSpPr>
          <p:nvPr/>
        </p:nvSpPr>
        <p:spPr>
          <a:xfrm xmlns:a="http://schemas.openxmlformats.org/drawingml/2006/main">
            <a:off x="400050" y="723900"/>
            <a:ext cx="9715500" cy="9525"/>
          </a:xfrm>
          <a:prstGeom xmlns:a="http://schemas.openxmlformats.org/drawingml/2006/main" prst="line">
            <a:avLst/>
          </a:prstGeom>
          <a:noFill xmlns:a="http://schemas.openxmlformats.org/drawingml/2006/main"/>
          <a:ln xmlns:a="http://schemas.openxmlformats.org/drawingml/2006/main" w="9525">
            <a:solidFill>
              <a:srgbClr val="D8E6FF"/>
            </a:solidFill>
            <a:prstDash val="solid"/>
          </a:ln>
        </p:spPr>
      </p:sp>
      <p:sp>
        <p:nvSpPr>
          <p:cNvPr id="3" name="">
            <a:extLst xmlns:a="http://schemas.openxmlformats.org/drawingml/2006/main">
              <a:ext uri="{FF2B5EF4-FFF2-40B4-BE49-F238E27FC236}">
                <a16:creationId xmlns:a16="http://schemas.microsoft.com/office/drawing/2014/main" id="{FDD05C5C-FFA2-421C-B2C3-91A869688BD5}"/>
              </a:ext>
            </a:extLst>
          </p:cNvPr>
          <p:cNvSpPr>
            <a:spLocks xmlns:a="http://schemas.openxmlformats.org/drawingml/2006/main" noGrp="1"/>
          </p:cNvSpPr>
          <p:nvPr/>
        </p:nvSpPr>
        <p:spPr>
          <a:xfrm xmlns:a="http://schemas.openxmlformats.org/drawingml/2006/main">
            <a:off x="400050" y="838200"/>
            <a:ext cx="923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62C52"/>
                </a:solidFill>
              </a:defRPr>
            </a:pPr>
            <a:r>
              <a:rPr sz="1500" b="1">
                <a:solidFill>
                  <a:srgbClr val="162C52"/>
                </a:solidFill>
              </a:rPr>
              <a:t>Character Limits and Vector Chunks Solve Different Problems</a:t>
            </a:r>
          </a:p>
        </p:txBody>
      </p:sp>
      <p:sp>
        <p:nvSpPr>
          <p:cNvPr id="4" name="">
            <a:extLst xmlns:a="http://schemas.openxmlformats.org/drawingml/2006/main">
              <a:ext uri="{FF2B5EF4-FFF2-40B4-BE49-F238E27FC236}">
                <a16:creationId xmlns:a16="http://schemas.microsoft.com/office/drawing/2014/main" id="{57C03D8B-0F9E-4334-9886-643D05E26F70}"/>
              </a:ext>
            </a:extLst>
          </p:cNvPr>
          <p:cNvSpPr>
            <a:spLocks xmlns:a="http://schemas.openxmlformats.org/drawingml/2006/main" noGrp="1"/>
          </p:cNvSpPr>
          <p:nvPr/>
        </p:nvSpPr>
        <p:spPr>
          <a:xfrm xmlns:a="http://schemas.openxmlformats.org/drawingml/2006/main">
            <a:off x="400050" y="1114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617391"/>
                </a:solidFill>
              </a:defRPr>
            </a:pPr>
            <a:r>
              <a:rPr sz="1050" b="0">
                <a:solidFill>
                  <a:srgbClr val="617391"/>
                </a:solidFill>
              </a:rPr>
              <a:t>Production CV extraction does not currently tokenize or embed the resume.</a:t>
            </a:r>
          </a:p>
        </p:txBody>
      </p:sp>
      <p:sp>
        <p:nvSpPr>
          <p:cNvPr id="5" name="">
            <a:extLst xmlns:a="http://schemas.openxmlformats.org/drawingml/2006/main">
              <a:ext uri="{FF2B5EF4-FFF2-40B4-BE49-F238E27FC236}">
                <a16:creationId xmlns:a16="http://schemas.microsoft.com/office/drawing/2014/main" id="{3A775D0D-C8FD-4859-9F23-2BE3AAD11256}"/>
              </a:ext>
            </a:extLst>
          </p:cNvPr>
          <p:cNvSpPr>
            <a:spLocks xmlns:a="http://schemas.openxmlformats.org/drawingml/2006/main" noGrp="1"/>
          </p:cNvSpPr>
          <p:nvPr/>
        </p:nvSpPr>
        <p:spPr>
          <a:xfrm xmlns:a="http://schemas.openxmlformats.org/drawingml/2006/main">
            <a:off x="11001375" y="304800"/>
            <a:ext cx="228600" cy="228600"/>
          </a:xfrm>
          <a:prstGeom xmlns:a="http://schemas.openxmlformats.org/drawingml/2006/main" prst="rect">
            <a:avLst/>
          </a:prstGeom>
          <a:solidFill xmlns:a="http://schemas.openxmlformats.org/drawingml/2006/main">
            <a:srgbClr val="D9E5F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A9A46E5-46D4-412D-864D-F1E32692EE96}"/>
              </a:ext>
            </a:extLst>
          </p:cNvPr>
          <p:cNvSpPr>
            <a:spLocks xmlns:a="http://schemas.openxmlformats.org/drawingml/2006/main" noGrp="1"/>
          </p:cNvSpPr>
          <p:nvPr/>
        </p:nvSpPr>
        <p:spPr>
          <a:xfrm xmlns:a="http://schemas.openxmlformats.org/drawingml/2006/main">
            <a:off x="11258550" y="304800"/>
            <a:ext cx="228600" cy="228600"/>
          </a:xfrm>
          <a:prstGeom xmlns:a="http://schemas.openxmlformats.org/drawingml/2006/main" prst="rect">
            <a:avLst/>
          </a:prstGeom>
          <a:solidFill xmlns:a="http://schemas.openxmlformats.org/drawingml/2006/main">
            <a:srgbClr val="AFC9F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4B1ADDC-3612-4AD1-956B-09A596F28941}"/>
              </a:ext>
            </a:extLst>
          </p:cNvPr>
          <p:cNvSpPr>
            <a:spLocks xmlns:a="http://schemas.openxmlformats.org/drawingml/2006/main" noGrp="1"/>
          </p:cNvSpPr>
          <p:nvPr/>
        </p:nvSpPr>
        <p:spPr>
          <a:xfrm xmlns:a="http://schemas.openxmlformats.org/drawingml/2006/main">
            <a:off x="11515725" y="304800"/>
            <a:ext cx="228600" cy="228600"/>
          </a:xfrm>
          <a:prstGeom xmlns:a="http://schemas.openxmlformats.org/drawingml/2006/main" prst="rect">
            <a:avLst/>
          </a:prstGeom>
          <a:solidFill xmlns:a="http://schemas.openxmlformats.org/drawingml/2006/main">
            <a:srgbClr val="78A3F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30FCE6C-CFD2-495C-8FF9-3AE6346D1024}"/>
              </a:ext>
            </a:extLst>
          </p:cNvPr>
          <p:cNvSpPr>
            <a:spLocks xmlns:a="http://schemas.openxmlformats.org/drawingml/2006/main" noGrp="1"/>
          </p:cNvSpPr>
          <p:nvPr/>
        </p:nvSpPr>
        <p:spPr>
          <a:xfrm xmlns:a="http://schemas.openxmlformats.org/drawingml/2006/main">
            <a:off x="40005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A98AE"/>
                </a:solidFill>
              </a:defRPr>
            </a:pPr>
            <a:r>
              <a:rPr sz="825" b="1">
                <a:solidFill>
                  <a:srgbClr val="8A98AE"/>
                </a:solidFill>
              </a:rPr>
              <a:t>FIPILOT  •  DEFENSE ROUND 1  •  2</a:t>
            </a:r>
          </a:p>
        </p:txBody>
      </p:sp>
      <p:sp>
        <p:nvSpPr>
          <p:cNvPr id="9" name="">
            <a:extLst xmlns:a="http://schemas.openxmlformats.org/drawingml/2006/main">
              <a:ext uri="{FF2B5EF4-FFF2-40B4-BE49-F238E27FC236}">
                <a16:creationId xmlns:a16="http://schemas.microsoft.com/office/drawing/2014/main" id="{9589DF21-9DF2-4462-89BE-B3E95E483DC4}"/>
              </a:ext>
            </a:extLst>
          </p:cNvPr>
          <p:cNvSpPr>
            <a:spLocks xmlns:a="http://schemas.openxmlformats.org/drawingml/2006/main" noGrp="1"/>
          </p:cNvSpPr>
          <p:nvPr/>
        </p:nvSpPr>
        <p:spPr>
          <a:xfrm xmlns:a="http://schemas.openxmlformats.org/drawingml/2006/main">
            <a:off x="400050" y="1619250"/>
            <a:ext cx="5334000" cy="3371850"/>
          </a:xfrm>
          <a:prstGeom xmlns:a="http://schemas.openxmlformats.org/drawingml/2006/main" prst="roundRect">
            <a:avLst>
              <a:gd name="adj" fmla="val 2825"/>
            </a:avLst>
          </a:prstGeom>
          <a:solidFill xmlns:a="http://schemas.openxmlformats.org/drawingml/2006/main">
            <a:srgbClr val="EDF4FF"/>
          </a:solidFill>
          <a:ln xmlns:a="http://schemas.openxmlformats.org/drawingml/2006/main" w="11430">
            <a:solidFill>
              <a:srgbClr val="3269D4"/>
            </a:solidFill>
            <a:prstDash val="solid"/>
          </a:ln>
        </p:spPr>
      </p:sp>
      <p:sp>
        <p:nvSpPr>
          <p:cNvPr id="10" name="">
            <a:extLst xmlns:a="http://schemas.openxmlformats.org/drawingml/2006/main">
              <a:ext uri="{FF2B5EF4-FFF2-40B4-BE49-F238E27FC236}">
                <a16:creationId xmlns:a16="http://schemas.microsoft.com/office/drawing/2014/main" id="{10B1CDE1-8C84-47A9-BFAE-A304A4831D52}"/>
              </a:ext>
            </a:extLst>
          </p:cNvPr>
          <p:cNvSpPr>
            <a:spLocks xmlns:a="http://schemas.openxmlformats.org/drawingml/2006/main" noGrp="1"/>
          </p:cNvSpPr>
          <p:nvPr/>
        </p:nvSpPr>
        <p:spPr>
          <a:xfrm xmlns:a="http://schemas.openxmlformats.org/drawingml/2006/main">
            <a:off x="647700" y="18573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a:solidFill>
                  <a:srgbClr val="3269D4"/>
                </a:solidFill>
              </a:defRPr>
            </a:pPr>
            <a:r>
              <a:rPr sz="1575" b="1">
                <a:solidFill>
                  <a:srgbClr val="3269D4"/>
                </a:solidFill>
              </a:rPr>
              <a:t>CURRENT — CV EXTRACTION</a:t>
            </a:r>
          </a:p>
        </p:txBody>
      </p:sp>
      <p:sp>
        <p:nvSpPr>
          <p:cNvPr id="11" name="">
            <a:extLst xmlns:a="http://schemas.openxmlformats.org/drawingml/2006/main">
              <a:ext uri="{FF2B5EF4-FFF2-40B4-BE49-F238E27FC236}">
                <a16:creationId xmlns:a16="http://schemas.microsoft.com/office/drawing/2014/main" id="{801BFCD3-BA44-47BF-8594-5D82E9923088}"/>
              </a:ext>
            </a:extLst>
          </p:cNvPr>
          <p:cNvSpPr>
            <a:spLocks xmlns:a="http://schemas.openxmlformats.org/drawingml/2006/main" noGrp="1"/>
          </p:cNvSpPr>
          <p:nvPr/>
        </p:nvSpPr>
        <p:spPr>
          <a:xfrm xmlns:a="http://schemas.openxmlformats.org/drawingml/2006/main">
            <a:off x="666750" y="2324100"/>
            <a:ext cx="466725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162C52"/>
                </a:solidFill>
              </a:defRPr>
            </a:pPr>
            <a:r>
              <a:rPr sz="1425" b="0">
                <a:solidFill>
                  <a:srgbClr val="162C52"/>
                </a:solidFill>
              </a:rPr>
              <a:t>• No token-based or semantic chunking</a:t>
            </a:r>
          </a:p>
          <a:p xmlns:a="http://schemas.openxmlformats.org/drawingml/2006/main">
            <a:pPr algn="l">
              <a:buNone/>
              <a:defRPr sz="1425" b="0">
                <a:solidFill>
                  <a:srgbClr val="162C52"/>
                </a:solidFill>
              </a:defRPr>
            </a:pPr>
            <a:r>
              <a:rPr sz="1425" b="0">
                <a:solidFill>
                  <a:srgbClr val="162C52"/>
                </a:solidFill>
              </a:rPr>
              <a:t>• The prompt receives the first 12,000 characters</a:t>
            </a:r>
          </a:p>
          <a:p xmlns:a="http://schemas.openxmlformats.org/drawingml/2006/main">
            <a:pPr algn="l">
              <a:buNone/>
              <a:defRPr sz="1425" b="0">
                <a:solidFill>
                  <a:srgbClr val="162C52"/>
                </a:solidFill>
              </a:defRPr>
            </a:pPr>
            <a:r>
              <a:rPr sz="1425" b="0">
                <a:solidFill>
                  <a:srgbClr val="162C52"/>
                </a:solidFill>
              </a:rPr>
              <a:t>• One typed extraction request produces CandidateProfile</a:t>
            </a:r>
          </a:p>
          <a:p xmlns:a="http://schemas.openxmlformats.org/drawingml/2006/main">
            <a:pPr algn="l">
              <a:buNone/>
              <a:defRPr sz="1425" b="0">
                <a:solidFill>
                  <a:srgbClr val="162C52"/>
                </a:solidFill>
              </a:defRPr>
            </a:pPr>
            <a:r>
              <a:rPr sz="1425" b="0">
                <a:solidFill>
                  <a:srgbClr val="162C52"/>
                </a:solidFill>
              </a:rPr>
              <a:t>• Raw resume text and the structured profile are stored</a:t>
            </a:r>
          </a:p>
          <a:p xmlns:a="http://schemas.openxmlformats.org/drawingml/2006/main">
            <a:pPr algn="l">
              <a:buNone/>
              <a:defRPr sz="1425" b="0">
                <a:solidFill>
                  <a:srgbClr val="162C52"/>
                </a:solidFill>
              </a:defRPr>
            </a:pPr>
            <a:r>
              <a:rPr sz="1425" b="0">
                <a:solidFill>
                  <a:srgbClr val="162C52"/>
                </a:solidFill>
              </a:rPr>
              <a:t>• No resume vector is created</a:t>
            </a:r>
          </a:p>
        </p:txBody>
      </p:sp>
      <p:sp>
        <p:nvSpPr>
          <p:cNvPr id="12" name="">
            <a:extLst xmlns:a="http://schemas.openxmlformats.org/drawingml/2006/main">
              <a:ext uri="{FF2B5EF4-FFF2-40B4-BE49-F238E27FC236}">
                <a16:creationId xmlns:a16="http://schemas.microsoft.com/office/drawing/2014/main" id="{AFBB35F7-0610-454D-B9AE-34E4A6D05642}"/>
              </a:ext>
            </a:extLst>
          </p:cNvPr>
          <p:cNvSpPr>
            <a:spLocks xmlns:a="http://schemas.openxmlformats.org/drawingml/2006/main" noGrp="1"/>
          </p:cNvSpPr>
          <p:nvPr/>
        </p:nvSpPr>
        <p:spPr>
          <a:xfrm xmlns:a="http://schemas.openxmlformats.org/drawingml/2006/main">
            <a:off x="5981700" y="1619250"/>
            <a:ext cx="5753100" cy="3371850"/>
          </a:xfrm>
          <a:prstGeom xmlns:a="http://schemas.openxmlformats.org/drawingml/2006/main" prst="roundRect">
            <a:avLst>
              <a:gd name="adj" fmla="val 2825"/>
            </a:avLst>
          </a:prstGeom>
          <a:solidFill xmlns:a="http://schemas.openxmlformats.org/drawingml/2006/main">
            <a:srgbClr val="F4EFFF"/>
          </a:solidFill>
          <a:ln xmlns:a="http://schemas.openxmlformats.org/drawingml/2006/main" w="11430">
            <a:solidFill>
              <a:srgbClr val="6737C4"/>
            </a:solidFill>
            <a:prstDash val="solid"/>
          </a:ln>
        </p:spPr>
      </p:sp>
      <p:sp>
        <p:nvSpPr>
          <p:cNvPr id="13" name="">
            <a:extLst xmlns:a="http://schemas.openxmlformats.org/drawingml/2006/main">
              <a:ext uri="{FF2B5EF4-FFF2-40B4-BE49-F238E27FC236}">
                <a16:creationId xmlns:a16="http://schemas.microsoft.com/office/drawing/2014/main" id="{2EDA6F7E-B3DE-4E31-9FB0-D8B7F5C6CEE7}"/>
              </a:ext>
            </a:extLst>
          </p:cNvPr>
          <p:cNvSpPr>
            <a:spLocks xmlns:a="http://schemas.openxmlformats.org/drawingml/2006/main" noGrp="1"/>
          </p:cNvSpPr>
          <p:nvPr/>
        </p:nvSpPr>
        <p:spPr>
          <a:xfrm xmlns:a="http://schemas.openxmlformats.org/drawingml/2006/main">
            <a:off x="6229350" y="1857375"/>
            <a:ext cx="521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a:solidFill>
                  <a:srgbClr val="6737C4"/>
                </a:solidFill>
              </a:defRPr>
            </a:pPr>
            <a:r>
              <a:rPr sz="1575" b="1">
                <a:solidFill>
                  <a:srgbClr val="6737C4"/>
                </a:solidFill>
              </a:rPr>
              <a:t>PROPOSED — KNOWLEDGE INDEX</a:t>
            </a:r>
          </a:p>
        </p:txBody>
      </p:sp>
      <p:sp>
        <p:nvSpPr>
          <p:cNvPr id="14" name="">
            <a:extLst xmlns:a="http://schemas.openxmlformats.org/drawingml/2006/main">
              <a:ext uri="{FF2B5EF4-FFF2-40B4-BE49-F238E27FC236}">
                <a16:creationId xmlns:a16="http://schemas.microsoft.com/office/drawing/2014/main" id="{FB116247-29FA-4A60-96CC-EDBF644BE662}"/>
              </a:ext>
            </a:extLst>
          </p:cNvPr>
          <p:cNvSpPr>
            <a:spLocks xmlns:a="http://schemas.openxmlformats.org/drawingml/2006/main" noGrp="1"/>
          </p:cNvSpPr>
          <p:nvPr/>
        </p:nvSpPr>
        <p:spPr>
          <a:xfrm xmlns:a="http://schemas.openxmlformats.org/drawingml/2006/main">
            <a:off x="6248400" y="2324100"/>
            <a:ext cx="504825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162C52"/>
                </a:solidFill>
              </a:defRPr>
            </a:pPr>
            <a:r>
              <a:rPr sz="1425" b="0">
                <a:solidFill>
                  <a:srgbClr val="162C52"/>
                </a:solidFill>
              </a:rPr>
              <a:t>• Split by Markdown heading and competency unit</a:t>
            </a:r>
          </a:p>
          <a:p xmlns:a="http://schemas.openxmlformats.org/drawingml/2006/main">
            <a:pPr algn="l">
              <a:buNone/>
              <a:defRPr sz="1425" b="0">
                <a:solidFill>
                  <a:srgbClr val="162C52"/>
                </a:solidFill>
              </a:defRPr>
            </a:pPr>
            <a:r>
              <a:rPr sz="1425" b="0">
                <a:solidFill>
                  <a:srgbClr val="162C52"/>
                </a:solidFill>
              </a:rPr>
              <a:t>• Initial target: 250–500 tokens per chunk</a:t>
            </a:r>
          </a:p>
          <a:p xmlns:a="http://schemas.openxmlformats.org/drawingml/2006/main">
            <a:pPr algn="l">
              <a:buNone/>
              <a:defRPr sz="1425" b="0">
                <a:solidFill>
                  <a:srgbClr val="162C52"/>
                </a:solidFill>
              </a:defRPr>
            </a:pPr>
            <a:r>
              <a:rPr sz="1425" b="0">
                <a:solidFill>
                  <a:srgbClr val="162C52"/>
                </a:solidFill>
              </a:rPr>
              <a:t>• Use 50–80-token overlap only for long sections</a:t>
            </a:r>
          </a:p>
          <a:p xmlns:a="http://schemas.openxmlformats.org/drawingml/2006/main">
            <a:pPr algn="l">
              <a:buNone/>
              <a:defRPr sz="1425" b="0">
                <a:solidFill>
                  <a:srgbClr val="162C52"/>
                </a:solidFill>
              </a:defRPr>
            </a:pPr>
            <a:r>
              <a:rPr sz="1425" b="0">
                <a:solidFill>
                  <a:srgbClr val="162C52"/>
                </a:solidFill>
              </a:rPr>
              <a:t>• Preserve code terms, tool names, and bilingual phrases</a:t>
            </a:r>
          </a:p>
          <a:p xmlns:a="http://schemas.openxmlformats.org/drawingml/2006/main">
            <a:pPr algn="l">
              <a:buNone/>
              <a:defRPr sz="1425" b="0">
                <a:solidFill>
                  <a:srgbClr val="162C52"/>
                </a:solidFill>
              </a:defRPr>
            </a:pPr>
            <a:r>
              <a:rPr sz="1425" b="0">
                <a:solidFill>
                  <a:srgbClr val="162C52"/>
                </a:solidFill>
              </a:rPr>
              <a:t>• Tune chunk size and overlap using retrieval metrics</a:t>
            </a:r>
          </a:p>
        </p:txBody>
      </p:sp>
      <p:sp>
        <p:nvSpPr>
          <p:cNvPr id="15" name="">
            <a:extLst xmlns:a="http://schemas.openxmlformats.org/drawingml/2006/main">
              <a:ext uri="{FF2B5EF4-FFF2-40B4-BE49-F238E27FC236}">
                <a16:creationId xmlns:a16="http://schemas.microsoft.com/office/drawing/2014/main" id="{FF2EF850-FE4E-4D76-B73A-28381749BFB2}"/>
              </a:ext>
            </a:extLst>
          </p:cNvPr>
          <p:cNvSpPr>
            <a:spLocks xmlns:a="http://schemas.openxmlformats.org/drawingml/2006/main" noGrp="1"/>
          </p:cNvSpPr>
          <p:nvPr/>
        </p:nvSpPr>
        <p:spPr>
          <a:xfrm xmlns:a="http://schemas.openxmlformats.org/drawingml/2006/main">
            <a:off x="400050" y="5219700"/>
            <a:ext cx="11334750" cy="742950"/>
          </a:xfrm>
          <a:prstGeom xmlns:a="http://schemas.openxmlformats.org/drawingml/2006/main" prst="roundRect">
            <a:avLst>
              <a:gd name="adj" fmla="val 10256"/>
            </a:avLst>
          </a:prstGeom>
          <a:solidFill xmlns:a="http://schemas.openxmlformats.org/drawingml/2006/main">
            <a:srgbClr val="EEF9F3"/>
          </a:solidFill>
          <a:ln xmlns:a="http://schemas.openxmlformats.org/drawingml/2006/main" w="11430">
            <a:solidFill>
              <a:srgbClr val="17834D"/>
            </a:solidFill>
            <a:prstDash val="solid"/>
          </a:ln>
        </p:spPr>
      </p:sp>
      <p:sp>
        <p:nvSpPr>
          <p:cNvPr id="16" name="">
            <a:extLst xmlns:a="http://schemas.openxmlformats.org/drawingml/2006/main">
              <a:ext uri="{FF2B5EF4-FFF2-40B4-BE49-F238E27FC236}">
                <a16:creationId xmlns:a16="http://schemas.microsoft.com/office/drawing/2014/main" id="{0623F910-EA97-4379-AC06-DFEFB50CF5BB}"/>
              </a:ext>
            </a:extLst>
          </p:cNvPr>
          <p:cNvSpPr>
            <a:spLocks xmlns:a="http://schemas.openxmlformats.org/drawingml/2006/main" noGrp="1"/>
          </p:cNvSpPr>
          <p:nvPr/>
        </p:nvSpPr>
        <p:spPr>
          <a:xfrm xmlns:a="http://schemas.openxmlformats.org/drawingml/2006/main">
            <a:off x="571500" y="5353050"/>
            <a:ext cx="1762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17834D"/>
                </a:solidFill>
              </a:defRPr>
            </a:pPr>
            <a:r>
              <a:rPr sz="1200" b="1">
                <a:solidFill>
                  <a:srgbClr val="17834D"/>
                </a:solidFill>
              </a:rPr>
              <a:t>EMBED</a:t>
            </a:r>
          </a:p>
        </p:txBody>
      </p:sp>
      <p:sp>
        <p:nvSpPr>
          <p:cNvPr id="17" name="">
            <a:extLst xmlns:a="http://schemas.openxmlformats.org/drawingml/2006/main">
              <a:ext uri="{FF2B5EF4-FFF2-40B4-BE49-F238E27FC236}">
                <a16:creationId xmlns:a16="http://schemas.microsoft.com/office/drawing/2014/main" id="{032D3F0D-6151-48E4-908E-D46953AE1086}"/>
              </a:ext>
            </a:extLst>
          </p:cNvPr>
          <p:cNvSpPr>
            <a:spLocks xmlns:a="http://schemas.openxmlformats.org/drawingml/2006/main" noGrp="1"/>
          </p:cNvSpPr>
          <p:nvPr/>
        </p:nvSpPr>
        <p:spPr>
          <a:xfrm xmlns:a="http://schemas.openxmlformats.org/drawingml/2006/main">
            <a:off x="2352675" y="5334000"/>
            <a:ext cx="9191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0">
                <a:solidFill>
                  <a:srgbClr val="162C52"/>
                </a:solidFill>
              </a:defRPr>
            </a:pPr>
            <a:r>
              <a:rPr sz="1200" b="0">
                <a:solidFill>
                  <a:srgbClr val="162C52"/>
                </a:solidFill>
              </a:rPr>
              <a:t>Title + competency explanation + anchors</a:t>
            </a:r>
          </a:p>
        </p:txBody>
      </p:sp>
      <p:sp>
        <p:nvSpPr>
          <p:cNvPr id="18" name="">
            <a:extLst xmlns:a="http://schemas.openxmlformats.org/drawingml/2006/main">
              <a:ext uri="{FF2B5EF4-FFF2-40B4-BE49-F238E27FC236}">
                <a16:creationId xmlns:a16="http://schemas.microsoft.com/office/drawing/2014/main" id="{76CFB41C-3525-4E8D-8501-82E203E55389}"/>
              </a:ext>
            </a:extLst>
          </p:cNvPr>
          <p:cNvSpPr>
            <a:spLocks xmlns:a="http://schemas.openxmlformats.org/drawingml/2006/main" noGrp="1"/>
          </p:cNvSpPr>
          <p:nvPr/>
        </p:nvSpPr>
        <p:spPr>
          <a:xfrm xmlns:a="http://schemas.openxmlformats.org/drawingml/2006/main">
            <a:off x="400050" y="6076950"/>
            <a:ext cx="1133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0">
                <a:solidFill>
                  <a:srgbClr val="617391"/>
                </a:solidFill>
              </a:defRPr>
            </a:pPr>
            <a:r>
              <a:rPr sz="1200" b="0">
                <a:solidFill>
                  <a:srgbClr val="617391"/>
                </a:solidFill>
              </a:rPr>
              <a:t>Keep chunk_id, domain, level, source, hash, model version and timestamps as filterable metadata — not embedded prose.</a:t>
            </a:r>
          </a:p>
        </p:txBody>
      </p:sp>
      <p:sp>
        <p:nvSpPr>
          <p:cNvPr id="19" name="header-cover-2">
            <a:extLst xmlns:a="http://schemas.openxmlformats.org/drawingml/2006/main">
              <a:ext uri="{FF2B5EF4-FFF2-40B4-BE49-F238E27FC236}">
                <a16:creationId xmlns:a16="http://schemas.microsoft.com/office/drawing/2014/main" id="{AB9A832A-3C50-44DE-9323-654F7563CAA4}"/>
              </a:ext>
            </a:extLst>
          </p:cNvPr>
          <p:cNvSpPr>
            <a:spLocks xmlns:a="http://schemas.openxmlformats.org/drawingml/2006/main" noGrp="1"/>
          </p:cNvSpPr>
          <p:nvPr/>
        </p:nvSpPr>
        <p:spPr>
          <a:xfrm xmlns:a="http://schemas.openxmlformats.org/drawingml/2006/main">
            <a:off x="323850" y="190500"/>
            <a:ext cx="11525250" cy="6096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 name="section-title-2">
            <a:extLst xmlns:a="http://schemas.openxmlformats.org/drawingml/2006/main">
              <a:ext uri="{FF2B5EF4-FFF2-40B4-BE49-F238E27FC236}">
                <a16:creationId xmlns:a16="http://schemas.microsoft.com/office/drawing/2014/main" id="{1AFC00CA-9A52-471B-AE83-99E207060B05}"/>
              </a:ext>
            </a:extLst>
          </p:cNvPr>
          <p:cNvSpPr>
            <a:spLocks xmlns:a="http://schemas.openxmlformats.org/drawingml/2006/main" noGrp="1"/>
          </p:cNvSpPr>
          <p:nvPr/>
        </p:nvSpPr>
        <p:spPr>
          <a:xfrm xmlns:a="http://schemas.openxmlformats.org/drawingml/2006/main">
            <a:off x="400050" y="2857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1356F"/>
                </a:solidFill>
              </a:defRPr>
            </a:pPr>
            <a:r>
              <a:rPr sz="2025" b="1">
                <a:solidFill>
                  <a:srgbClr val="11356F"/>
                </a:solidFill>
              </a:rPr>
              <a:t>3. DATA &amp; RESUME PIPELINE</a:t>
            </a:r>
          </a:p>
        </p:txBody>
      </p:sp>
      <p:sp>
        <p:nvSpPr>
          <p:cNvPr id="21" name="section-rule-2">
            <a:extLst xmlns:a="http://schemas.openxmlformats.org/drawingml/2006/main">
              <a:ext uri="{FF2B5EF4-FFF2-40B4-BE49-F238E27FC236}">
                <a16:creationId xmlns:a16="http://schemas.microsoft.com/office/drawing/2014/main" id="{9BD82AF2-8613-4B61-992C-4B2E06C75A67}"/>
              </a:ext>
            </a:extLst>
          </p:cNvPr>
          <p:cNvSpPr>
            <a:spLocks xmlns:a="http://schemas.openxmlformats.org/drawingml/2006/main" noGrp="1"/>
          </p:cNvSpPr>
          <p:nvPr/>
        </p:nvSpPr>
        <p:spPr>
          <a:xfrm xmlns:a="http://schemas.openxmlformats.org/drawingml/2006/main">
            <a:off x="400050" y="723900"/>
            <a:ext cx="9715500" cy="9525"/>
          </a:xfrm>
          <a:prstGeom xmlns:a="http://schemas.openxmlformats.org/drawingml/2006/main" prst="line">
            <a:avLst/>
          </a:prstGeom>
          <a:noFill xmlns:a="http://schemas.openxmlformats.org/drawingml/2006/main"/>
          <a:ln xmlns:a="http://schemas.openxmlformats.org/drawingml/2006/main" w="9525">
            <a:solidFill>
              <a:srgbClr val="D8E6FF"/>
            </a:solidFill>
            <a:prstDash val="solid"/>
          </a:ln>
        </p:spPr>
      </p:sp>
      <p:sp>
        <p:nvSpPr>
          <p:cNvPr id="22" name="brand-square-1-2">
            <a:extLst xmlns:a="http://schemas.openxmlformats.org/drawingml/2006/main">
              <a:ext uri="{FF2B5EF4-FFF2-40B4-BE49-F238E27FC236}">
                <a16:creationId xmlns:a16="http://schemas.microsoft.com/office/drawing/2014/main" id="{F6C5021A-85D6-4377-99A7-1F6322A02120}"/>
              </a:ext>
            </a:extLst>
          </p:cNvPr>
          <p:cNvSpPr>
            <a:spLocks xmlns:a="http://schemas.openxmlformats.org/drawingml/2006/main" noGrp="1"/>
          </p:cNvSpPr>
          <p:nvPr/>
        </p:nvSpPr>
        <p:spPr>
          <a:xfrm xmlns:a="http://schemas.openxmlformats.org/drawingml/2006/main">
            <a:off x="11001375" y="304800"/>
            <a:ext cx="228600" cy="228600"/>
          </a:xfrm>
          <a:prstGeom xmlns:a="http://schemas.openxmlformats.org/drawingml/2006/main" prst="rect">
            <a:avLst/>
          </a:prstGeom>
          <a:solidFill xmlns:a="http://schemas.openxmlformats.org/drawingml/2006/main">
            <a:srgbClr val="D9E5FB"/>
          </a:solidFill>
          <a:ln xmlns:a="http://schemas.openxmlformats.org/drawingml/2006/main" w="0">
            <a:noFill/>
            <a:prstDash val="solid"/>
          </a:ln>
        </p:spPr>
      </p:sp>
      <p:sp>
        <p:nvSpPr>
          <p:cNvPr id="23" name="brand-square-2-2">
            <a:extLst xmlns:a="http://schemas.openxmlformats.org/drawingml/2006/main">
              <a:ext uri="{FF2B5EF4-FFF2-40B4-BE49-F238E27FC236}">
                <a16:creationId xmlns:a16="http://schemas.microsoft.com/office/drawing/2014/main" id="{DE6BA0CA-7692-4DF5-84B0-0A3942C0EEFA}"/>
              </a:ext>
            </a:extLst>
          </p:cNvPr>
          <p:cNvSpPr>
            <a:spLocks xmlns:a="http://schemas.openxmlformats.org/drawingml/2006/main" noGrp="1"/>
          </p:cNvSpPr>
          <p:nvPr/>
        </p:nvSpPr>
        <p:spPr>
          <a:xfrm xmlns:a="http://schemas.openxmlformats.org/drawingml/2006/main">
            <a:off x="11258550" y="304800"/>
            <a:ext cx="228600" cy="228600"/>
          </a:xfrm>
          <a:prstGeom xmlns:a="http://schemas.openxmlformats.org/drawingml/2006/main" prst="rect">
            <a:avLst/>
          </a:prstGeom>
          <a:solidFill xmlns:a="http://schemas.openxmlformats.org/drawingml/2006/main">
            <a:srgbClr val="AFC9F7"/>
          </a:solidFill>
          <a:ln xmlns:a="http://schemas.openxmlformats.org/drawingml/2006/main" w="0">
            <a:noFill/>
            <a:prstDash val="solid"/>
          </a:ln>
        </p:spPr>
      </p:sp>
      <p:sp>
        <p:nvSpPr>
          <p:cNvPr id="24" name="brand-square-3-2">
            <a:extLst xmlns:a="http://schemas.openxmlformats.org/drawingml/2006/main">
              <a:ext uri="{FF2B5EF4-FFF2-40B4-BE49-F238E27FC236}">
                <a16:creationId xmlns:a16="http://schemas.microsoft.com/office/drawing/2014/main" id="{22494C12-A19E-4466-A141-1CB64CCB1B0C}"/>
              </a:ext>
            </a:extLst>
          </p:cNvPr>
          <p:cNvSpPr>
            <a:spLocks xmlns:a="http://schemas.openxmlformats.org/drawingml/2006/main" noGrp="1"/>
          </p:cNvSpPr>
          <p:nvPr/>
        </p:nvSpPr>
        <p:spPr>
          <a:xfrm xmlns:a="http://schemas.openxmlformats.org/drawingml/2006/main">
            <a:off x="11515725" y="304800"/>
            <a:ext cx="228600" cy="228600"/>
          </a:xfrm>
          <a:prstGeom xmlns:a="http://schemas.openxmlformats.org/drawingml/2006/main" prst="rect">
            <a:avLst/>
          </a:prstGeom>
          <a:solidFill xmlns:a="http://schemas.openxmlformats.org/drawingml/2006/main">
            <a:srgbClr val="78A3F1"/>
          </a:solidFill>
          <a:ln xmlns:a="http://schemas.openxmlformats.org/drawingml/2006/main" w="0">
            <a:noFill/>
            <a:prstDash val="solid"/>
          </a:ln>
        </p:spPr>
      </p:sp>
      <p:sp>
        <p:nvSpPr>
          <p:cNvPr id="25" name="footer-cover-2">
            <a:extLst xmlns:a="http://schemas.openxmlformats.org/drawingml/2006/main">
              <a:ext uri="{FF2B5EF4-FFF2-40B4-BE49-F238E27FC236}">
                <a16:creationId xmlns:a16="http://schemas.microsoft.com/office/drawing/2014/main" id="{6AD74D06-55B1-4D48-B7AA-ACE68586237E}"/>
              </a:ext>
            </a:extLst>
          </p:cNvPr>
          <p:cNvSpPr>
            <a:spLocks xmlns:a="http://schemas.openxmlformats.org/drawingml/2006/main" noGrp="1"/>
          </p:cNvSpPr>
          <p:nvPr/>
        </p:nvSpPr>
        <p:spPr>
          <a:xfrm xmlns:a="http://schemas.openxmlformats.org/drawingml/2006/main">
            <a:off x="323850" y="6438900"/>
            <a:ext cx="4191000" cy="2667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 name="footer-2">
            <a:extLst xmlns:a="http://schemas.openxmlformats.org/drawingml/2006/main">
              <a:ext uri="{FF2B5EF4-FFF2-40B4-BE49-F238E27FC236}">
                <a16:creationId xmlns:a16="http://schemas.microsoft.com/office/drawing/2014/main" id="{73432578-C207-4ED9-A386-802BBA3AD399}"/>
              </a:ext>
            </a:extLst>
          </p:cNvPr>
          <p:cNvSpPr>
            <a:spLocks xmlns:a="http://schemas.openxmlformats.org/drawingml/2006/main" noGrp="1"/>
          </p:cNvSpPr>
          <p:nvPr/>
        </p:nvSpPr>
        <p:spPr>
          <a:xfrm xmlns:a="http://schemas.openxmlformats.org/drawingml/2006/main">
            <a:off x="40005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A98AE"/>
                </a:solidFill>
              </a:defRPr>
            </a:pPr>
            <a:r>
              <a:rPr sz="825" b="1">
                <a:solidFill>
                  <a:srgbClr val="8A98AE"/>
                </a:solidFill>
              </a:rPr>
              <a:t>FIPILOT  •  DEFENSE ROUND 1  •  2</a:t>
            </a:r>
          </a:p>
        </p:txBody>
      </p:sp>
    </p:spTree>
    <p:extLst>
      <p:ext uri="{BB962C8B-B14F-4D97-AF65-F5344CB8AC3E}">
        <p14:creationId xmlns:p14="http://schemas.microsoft.com/office/powerpoint/2010/main" val="101987575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A0FA84C4-6D56-49A5-B992-E2C7E2CA6BAA}"/>
              </a:ext>
            </a:extLst>
          </p:cNvPr>
          <p:cNvSpPr>
            <a:spLocks xmlns:a="http://schemas.openxmlformats.org/drawingml/2006/main" noGrp="1"/>
          </p:cNvSpPr>
          <p:nvPr/>
        </p:nvSpPr>
        <p:spPr>
          <a:xfrm xmlns:a="http://schemas.openxmlformats.org/drawingml/2006/main">
            <a:off x="400050" y="2857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1356F"/>
                </a:solidFill>
              </a:defRPr>
            </a:pPr>
            <a:r>
              <a:rPr sz="2025" b="1">
                <a:solidFill>
                  <a:srgbClr val="11356F"/>
                </a:solidFill>
              </a:rPr>
              <a:t>3. DATA &amp; KNOWLEDGE PIPELINE</a:t>
            </a:r>
          </a:p>
        </p:txBody>
      </p:sp>
      <p:sp>
        <p:nvSpPr>
          <p:cNvPr id="2" name="">
            <a:extLst xmlns:a="http://schemas.openxmlformats.org/drawingml/2006/main">
              <a:ext uri="{FF2B5EF4-FFF2-40B4-BE49-F238E27FC236}">
                <a16:creationId xmlns:a16="http://schemas.microsoft.com/office/drawing/2014/main" id="{C4EC4226-ADF6-4B35-A367-A8FCBA4608B6}"/>
              </a:ext>
            </a:extLst>
          </p:cNvPr>
          <p:cNvSpPr>
            <a:spLocks xmlns:a="http://schemas.openxmlformats.org/drawingml/2006/main" noGrp="1"/>
          </p:cNvSpPr>
          <p:nvPr/>
        </p:nvSpPr>
        <p:spPr>
          <a:xfrm xmlns:a="http://schemas.openxmlformats.org/drawingml/2006/main">
            <a:off x="400050" y="723900"/>
            <a:ext cx="9715500" cy="9525"/>
          </a:xfrm>
          <a:prstGeom xmlns:a="http://schemas.openxmlformats.org/drawingml/2006/main" prst="line">
            <a:avLst/>
          </a:prstGeom>
          <a:noFill xmlns:a="http://schemas.openxmlformats.org/drawingml/2006/main"/>
          <a:ln xmlns:a="http://schemas.openxmlformats.org/drawingml/2006/main" w="9525">
            <a:solidFill>
              <a:srgbClr val="D8E6FF"/>
            </a:solidFill>
            <a:prstDash val="solid"/>
          </a:ln>
        </p:spPr>
      </p:sp>
      <p:sp>
        <p:nvSpPr>
          <p:cNvPr id="3" name="">
            <a:extLst xmlns:a="http://schemas.openxmlformats.org/drawingml/2006/main">
              <a:ext uri="{FF2B5EF4-FFF2-40B4-BE49-F238E27FC236}">
                <a16:creationId xmlns:a16="http://schemas.microsoft.com/office/drawing/2014/main" id="{7B775F88-E148-4190-B18E-72ECFA9F7B1F}"/>
              </a:ext>
            </a:extLst>
          </p:cNvPr>
          <p:cNvSpPr>
            <a:spLocks xmlns:a="http://schemas.openxmlformats.org/drawingml/2006/main" noGrp="1"/>
          </p:cNvSpPr>
          <p:nvPr/>
        </p:nvSpPr>
        <p:spPr>
          <a:xfrm xmlns:a="http://schemas.openxmlformats.org/drawingml/2006/main">
            <a:off x="400050" y="838200"/>
            <a:ext cx="923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62C52"/>
                </a:solidFill>
              </a:defRPr>
            </a:pPr>
            <a:r>
              <a:rPr sz="1500" b="1">
                <a:solidFill>
                  <a:srgbClr val="162C52"/>
                </a:solidFill>
              </a:rPr>
              <a:t>Production Retrieval Is Deterministic and Lexical</a:t>
            </a:r>
          </a:p>
        </p:txBody>
      </p:sp>
      <p:sp>
        <p:nvSpPr>
          <p:cNvPr id="4" name="">
            <a:extLst xmlns:a="http://schemas.openxmlformats.org/drawingml/2006/main">
              <a:ext uri="{FF2B5EF4-FFF2-40B4-BE49-F238E27FC236}">
                <a16:creationId xmlns:a16="http://schemas.microsoft.com/office/drawing/2014/main" id="{765338A5-DC9E-48AC-B62E-F735FB259E74}"/>
              </a:ext>
            </a:extLst>
          </p:cNvPr>
          <p:cNvSpPr>
            <a:spLocks xmlns:a="http://schemas.openxmlformats.org/drawingml/2006/main" noGrp="1"/>
          </p:cNvSpPr>
          <p:nvPr/>
        </p:nvSpPr>
        <p:spPr>
          <a:xfrm xmlns:a="http://schemas.openxmlformats.org/drawingml/2006/main">
            <a:off x="400050" y="1114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617391"/>
                </a:solidFill>
              </a:defRPr>
            </a:pPr>
            <a:r>
              <a:rPr sz="1050" b="0">
                <a:solidFill>
                  <a:srgbClr val="617391"/>
                </a:solidFill>
              </a:rPr>
              <a:t>Candidate evidence selects a domain, level guidance, and the eight highest-scoring catalog topics.</a:t>
            </a:r>
          </a:p>
        </p:txBody>
      </p:sp>
      <p:sp>
        <p:nvSpPr>
          <p:cNvPr id="5" name="">
            <a:extLst xmlns:a="http://schemas.openxmlformats.org/drawingml/2006/main">
              <a:ext uri="{FF2B5EF4-FFF2-40B4-BE49-F238E27FC236}">
                <a16:creationId xmlns:a16="http://schemas.microsoft.com/office/drawing/2014/main" id="{84131477-4336-450A-B28C-EBCDD42B843C}"/>
              </a:ext>
            </a:extLst>
          </p:cNvPr>
          <p:cNvSpPr>
            <a:spLocks xmlns:a="http://schemas.openxmlformats.org/drawingml/2006/main" noGrp="1"/>
          </p:cNvSpPr>
          <p:nvPr/>
        </p:nvSpPr>
        <p:spPr>
          <a:xfrm xmlns:a="http://schemas.openxmlformats.org/drawingml/2006/main">
            <a:off x="11001375" y="304800"/>
            <a:ext cx="228600" cy="228600"/>
          </a:xfrm>
          <a:prstGeom xmlns:a="http://schemas.openxmlformats.org/drawingml/2006/main" prst="rect">
            <a:avLst/>
          </a:prstGeom>
          <a:solidFill xmlns:a="http://schemas.openxmlformats.org/drawingml/2006/main">
            <a:srgbClr val="D9E5F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FB3F80E-ACEE-41E3-BF84-BD130FD3FF5C}"/>
              </a:ext>
            </a:extLst>
          </p:cNvPr>
          <p:cNvSpPr>
            <a:spLocks xmlns:a="http://schemas.openxmlformats.org/drawingml/2006/main" noGrp="1"/>
          </p:cNvSpPr>
          <p:nvPr/>
        </p:nvSpPr>
        <p:spPr>
          <a:xfrm xmlns:a="http://schemas.openxmlformats.org/drawingml/2006/main">
            <a:off x="11258550" y="304800"/>
            <a:ext cx="228600" cy="228600"/>
          </a:xfrm>
          <a:prstGeom xmlns:a="http://schemas.openxmlformats.org/drawingml/2006/main" prst="rect">
            <a:avLst/>
          </a:prstGeom>
          <a:solidFill xmlns:a="http://schemas.openxmlformats.org/drawingml/2006/main">
            <a:srgbClr val="AFC9F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1E944EB-6E64-456A-9A7C-457DE60B1644}"/>
              </a:ext>
            </a:extLst>
          </p:cNvPr>
          <p:cNvSpPr>
            <a:spLocks xmlns:a="http://schemas.openxmlformats.org/drawingml/2006/main" noGrp="1"/>
          </p:cNvSpPr>
          <p:nvPr/>
        </p:nvSpPr>
        <p:spPr>
          <a:xfrm xmlns:a="http://schemas.openxmlformats.org/drawingml/2006/main">
            <a:off x="11515725" y="304800"/>
            <a:ext cx="228600" cy="228600"/>
          </a:xfrm>
          <a:prstGeom xmlns:a="http://schemas.openxmlformats.org/drawingml/2006/main" prst="rect">
            <a:avLst/>
          </a:prstGeom>
          <a:solidFill xmlns:a="http://schemas.openxmlformats.org/drawingml/2006/main">
            <a:srgbClr val="78A3F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95F19F6-454C-4525-B9E0-2CDC68F7BA63}"/>
              </a:ext>
            </a:extLst>
          </p:cNvPr>
          <p:cNvSpPr>
            <a:spLocks xmlns:a="http://schemas.openxmlformats.org/drawingml/2006/main" noGrp="1"/>
          </p:cNvSpPr>
          <p:nvPr/>
        </p:nvSpPr>
        <p:spPr>
          <a:xfrm xmlns:a="http://schemas.openxmlformats.org/drawingml/2006/main">
            <a:off x="40005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A98AE"/>
                </a:solidFill>
              </a:defRPr>
            </a:pPr>
            <a:r>
              <a:rPr sz="825" b="1">
                <a:solidFill>
                  <a:srgbClr val="8A98AE"/>
                </a:solidFill>
              </a:rPr>
              <a:t>FIPILOT  •  DEFENSE ROUND 1  •  3</a:t>
            </a:r>
          </a:p>
        </p:txBody>
      </p:sp>
      <p:sp>
        <p:nvSpPr>
          <p:cNvPr id="9" name="">
            <a:extLst xmlns:a="http://schemas.openxmlformats.org/drawingml/2006/main">
              <a:ext uri="{FF2B5EF4-FFF2-40B4-BE49-F238E27FC236}">
                <a16:creationId xmlns:a16="http://schemas.microsoft.com/office/drawing/2014/main" id="{5B7B4AB2-DE6E-4BAD-9D8F-6DE235408C2D}"/>
              </a:ext>
            </a:extLst>
          </p:cNvPr>
          <p:cNvSpPr>
            <a:spLocks xmlns:a="http://schemas.openxmlformats.org/drawingml/2006/main" noGrp="1"/>
          </p:cNvSpPr>
          <p:nvPr/>
        </p:nvSpPr>
        <p:spPr>
          <a:xfrm xmlns:a="http://schemas.openxmlformats.org/drawingml/2006/main">
            <a:off x="457200" y="1714500"/>
            <a:ext cx="1828800" cy="17145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12383">
            <a:solidFill>
              <a:srgbClr val="3269D4"/>
            </a:solidFill>
            <a:prstDash val="solid"/>
          </a:ln>
        </p:spPr>
      </p:sp>
      <p:sp>
        <p:nvSpPr>
          <p:cNvPr id="10" name="">
            <a:extLst xmlns:a="http://schemas.openxmlformats.org/drawingml/2006/main">
              <a:ext uri="{FF2B5EF4-FFF2-40B4-BE49-F238E27FC236}">
                <a16:creationId xmlns:a16="http://schemas.microsoft.com/office/drawing/2014/main" id="{72F90AA6-71B4-4895-A7A5-6F37B42E8E52}"/>
              </a:ext>
            </a:extLst>
          </p:cNvPr>
          <p:cNvSpPr>
            <a:spLocks xmlns:a="http://schemas.openxmlformats.org/drawingml/2006/main" noGrp="1"/>
          </p:cNvSpPr>
          <p:nvPr/>
        </p:nvSpPr>
        <p:spPr>
          <a:xfrm xmlns:a="http://schemas.openxmlformats.org/drawingml/2006/main">
            <a:off x="571500" y="1590675"/>
            <a:ext cx="266700" cy="266700"/>
          </a:xfrm>
          <a:prstGeom xmlns:a="http://schemas.openxmlformats.org/drawingml/2006/main" prst="ellipse">
            <a:avLst/>
          </a:prstGeom>
          <a:solidFill xmlns:a="http://schemas.openxmlformats.org/drawingml/2006/main">
            <a:srgbClr val="3269D4"/>
          </a:solidFill>
          <a:ln xmlns:a="http://schemas.openxmlformats.org/drawingml/2006/main" w="19050">
            <a:solidFill>
              <a:srgbClr val="FFFFFF"/>
            </a:solidFill>
            <a:prstDash val="solid"/>
          </a:ln>
        </p:spPr>
      </p:sp>
      <p:sp>
        <p:nvSpPr>
          <p:cNvPr id="11" name="">
            <a:extLst xmlns:a="http://schemas.openxmlformats.org/drawingml/2006/main">
              <a:ext uri="{FF2B5EF4-FFF2-40B4-BE49-F238E27FC236}">
                <a16:creationId xmlns:a16="http://schemas.microsoft.com/office/drawing/2014/main" id="{5E1B996B-7877-471D-BE35-12C2653F6442}"/>
              </a:ext>
            </a:extLst>
          </p:cNvPr>
          <p:cNvSpPr>
            <a:spLocks xmlns:a="http://schemas.openxmlformats.org/drawingml/2006/main" noGrp="1"/>
          </p:cNvSpPr>
          <p:nvPr/>
        </p:nvSpPr>
        <p:spPr>
          <a:xfrm xmlns:a="http://schemas.openxmlformats.org/drawingml/2006/main">
            <a:off x="571500" y="1628775"/>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12" name="">
            <a:extLst xmlns:a="http://schemas.openxmlformats.org/drawingml/2006/main">
              <a:ext uri="{FF2B5EF4-FFF2-40B4-BE49-F238E27FC236}">
                <a16:creationId xmlns:a16="http://schemas.microsoft.com/office/drawing/2014/main" id="{F194692A-EE1D-4D1A-9970-81BA8E213D58}"/>
              </a:ext>
            </a:extLst>
          </p:cNvPr>
          <p:cNvSpPr>
            <a:spLocks xmlns:a="http://schemas.openxmlformats.org/drawingml/2006/main" noGrp="1"/>
          </p:cNvSpPr>
          <p:nvPr/>
        </p:nvSpPr>
        <p:spPr>
          <a:xfrm xmlns:a="http://schemas.openxmlformats.org/drawingml/2006/main">
            <a:off x="628650" y="194310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162C52"/>
                </a:solidFill>
              </a:defRPr>
            </a:pPr>
            <a:r>
              <a:rPr sz="1350" b="1">
                <a:solidFill>
                  <a:srgbClr val="162C52"/>
                </a:solidFill>
              </a:rPr>
              <a:t>Profile query</a:t>
            </a:r>
          </a:p>
        </p:txBody>
      </p:sp>
      <p:sp>
        <p:nvSpPr>
          <p:cNvPr id="13" name="">
            <a:extLst xmlns:a="http://schemas.openxmlformats.org/drawingml/2006/main">
              <a:ext uri="{FF2B5EF4-FFF2-40B4-BE49-F238E27FC236}">
                <a16:creationId xmlns:a16="http://schemas.microsoft.com/office/drawing/2014/main" id="{FFCFCBF6-9B58-44AF-92CF-A227F2904781}"/>
              </a:ext>
            </a:extLst>
          </p:cNvPr>
          <p:cNvSpPr>
            <a:spLocks xmlns:a="http://schemas.openxmlformats.org/drawingml/2006/main" noGrp="1"/>
          </p:cNvSpPr>
          <p:nvPr/>
        </p:nvSpPr>
        <p:spPr>
          <a:xfrm xmlns:a="http://schemas.openxmlformats.org/drawingml/2006/main">
            <a:off x="609600" y="2343150"/>
            <a:ext cx="152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0">
                <a:solidFill>
                  <a:srgbClr val="617391"/>
                </a:solidFill>
              </a:defRPr>
            </a:pPr>
            <a:r>
              <a:rPr sz="1125" b="0">
                <a:solidFill>
                  <a:srgbClr val="617391"/>
                </a:solidFill>
              </a:rPr>
              <a:t>Skills + evidence</a:t>
            </a:r>
          </a:p>
          <a:p xmlns:a="http://schemas.openxmlformats.org/drawingml/2006/main">
            <a:pPr algn="ctr">
              <a:buNone/>
              <a:defRPr sz="1125" b="0">
                <a:solidFill>
                  <a:srgbClr val="617391"/>
                </a:solidFill>
              </a:defRPr>
            </a:pPr>
            <a:r>
              <a:rPr sz="1125" b="0">
                <a:solidFill>
                  <a:srgbClr val="617391"/>
                </a:solidFill>
              </a:rPr>
              <a:t>Projects + experience</a:t>
            </a:r>
          </a:p>
          <a:p xmlns:a="http://schemas.openxmlformats.org/drawingml/2006/main">
            <a:pPr algn="ctr">
              <a:buNone/>
              <a:defRPr sz="1125" b="0">
                <a:solidFill>
                  <a:srgbClr val="617391"/>
                </a:solidFill>
              </a:defRPr>
            </a:pPr>
            <a:r>
              <a:rPr sz="1125" b="0">
                <a:solidFill>
                  <a:srgbClr val="617391"/>
                </a:solidFill>
              </a:rPr>
              <a:t>Education + specialization</a:t>
            </a:r>
          </a:p>
        </p:txBody>
      </p:sp>
      <p:sp>
        <p:nvSpPr>
          <p:cNvPr id="14" name="">
            <a:extLst xmlns:a="http://schemas.openxmlformats.org/drawingml/2006/main">
              <a:ext uri="{FF2B5EF4-FFF2-40B4-BE49-F238E27FC236}">
                <a16:creationId xmlns:a16="http://schemas.microsoft.com/office/drawing/2014/main" id="{835B03E4-5ED0-4854-A430-4B24912F35FB}"/>
              </a:ext>
            </a:extLst>
          </p:cNvPr>
          <p:cNvSpPr>
            <a:spLocks xmlns:a="http://schemas.openxmlformats.org/drawingml/2006/main" noGrp="1"/>
          </p:cNvSpPr>
          <p:nvPr/>
        </p:nvSpPr>
        <p:spPr>
          <a:xfrm xmlns:a="http://schemas.openxmlformats.org/drawingml/2006/main">
            <a:off x="2333625" y="2333625"/>
            <a:ext cx="323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025" b="1">
                <a:solidFill>
                  <a:srgbClr val="3269D4"/>
                </a:solidFill>
              </a:defRPr>
            </a:pPr>
            <a:r>
              <a:rPr sz="2025" b="1">
                <a:solidFill>
                  <a:srgbClr val="3269D4"/>
                </a:solidFill>
              </a:rPr>
              <a:t>→</a:t>
            </a:r>
          </a:p>
        </p:txBody>
      </p:sp>
      <p:sp>
        <p:nvSpPr>
          <p:cNvPr id="15" name="">
            <a:extLst xmlns:a="http://schemas.openxmlformats.org/drawingml/2006/main">
              <a:ext uri="{FF2B5EF4-FFF2-40B4-BE49-F238E27FC236}">
                <a16:creationId xmlns:a16="http://schemas.microsoft.com/office/drawing/2014/main" id="{6EA68279-C971-48B7-8F09-9F246973DC91}"/>
              </a:ext>
            </a:extLst>
          </p:cNvPr>
          <p:cNvSpPr>
            <a:spLocks xmlns:a="http://schemas.openxmlformats.org/drawingml/2006/main" noGrp="1"/>
          </p:cNvSpPr>
          <p:nvPr/>
        </p:nvSpPr>
        <p:spPr>
          <a:xfrm xmlns:a="http://schemas.openxmlformats.org/drawingml/2006/main">
            <a:off x="2724150" y="1714500"/>
            <a:ext cx="1828800" cy="17145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12383">
            <a:solidFill>
              <a:srgbClr val="3269D4"/>
            </a:solidFill>
            <a:prstDash val="solid"/>
          </a:ln>
        </p:spPr>
      </p:sp>
      <p:sp>
        <p:nvSpPr>
          <p:cNvPr id="16" name="">
            <a:extLst xmlns:a="http://schemas.openxmlformats.org/drawingml/2006/main">
              <a:ext uri="{FF2B5EF4-FFF2-40B4-BE49-F238E27FC236}">
                <a16:creationId xmlns:a16="http://schemas.microsoft.com/office/drawing/2014/main" id="{FA1BC24C-6CA4-4CBC-B786-422B3F789B0F}"/>
              </a:ext>
            </a:extLst>
          </p:cNvPr>
          <p:cNvSpPr>
            <a:spLocks xmlns:a="http://schemas.openxmlformats.org/drawingml/2006/main" noGrp="1"/>
          </p:cNvSpPr>
          <p:nvPr/>
        </p:nvSpPr>
        <p:spPr>
          <a:xfrm xmlns:a="http://schemas.openxmlformats.org/drawingml/2006/main">
            <a:off x="2838450" y="1590675"/>
            <a:ext cx="266700" cy="266700"/>
          </a:xfrm>
          <a:prstGeom xmlns:a="http://schemas.openxmlformats.org/drawingml/2006/main" prst="ellipse">
            <a:avLst/>
          </a:prstGeom>
          <a:solidFill xmlns:a="http://schemas.openxmlformats.org/drawingml/2006/main">
            <a:srgbClr val="3269D4"/>
          </a:solidFill>
          <a:ln xmlns:a="http://schemas.openxmlformats.org/drawingml/2006/main" w="19050">
            <a:solidFill>
              <a:srgbClr val="FFFFFF"/>
            </a:solidFill>
            <a:prstDash val="solid"/>
          </a:ln>
        </p:spPr>
      </p:sp>
      <p:sp>
        <p:nvSpPr>
          <p:cNvPr id="17" name="">
            <a:extLst xmlns:a="http://schemas.openxmlformats.org/drawingml/2006/main">
              <a:ext uri="{FF2B5EF4-FFF2-40B4-BE49-F238E27FC236}">
                <a16:creationId xmlns:a16="http://schemas.microsoft.com/office/drawing/2014/main" id="{3799EE4E-EF45-4EC8-BD16-B565D4F7D8D5}"/>
              </a:ext>
            </a:extLst>
          </p:cNvPr>
          <p:cNvSpPr>
            <a:spLocks xmlns:a="http://schemas.openxmlformats.org/drawingml/2006/main" noGrp="1"/>
          </p:cNvSpPr>
          <p:nvPr/>
        </p:nvSpPr>
        <p:spPr>
          <a:xfrm xmlns:a="http://schemas.openxmlformats.org/drawingml/2006/main">
            <a:off x="2838450" y="1628775"/>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8" name="">
            <a:extLst xmlns:a="http://schemas.openxmlformats.org/drawingml/2006/main">
              <a:ext uri="{FF2B5EF4-FFF2-40B4-BE49-F238E27FC236}">
                <a16:creationId xmlns:a16="http://schemas.microsoft.com/office/drawing/2014/main" id="{24E6037C-3F45-4FAE-A4EF-441ADAFE705C}"/>
              </a:ext>
            </a:extLst>
          </p:cNvPr>
          <p:cNvSpPr>
            <a:spLocks xmlns:a="http://schemas.openxmlformats.org/drawingml/2006/main" noGrp="1"/>
          </p:cNvSpPr>
          <p:nvPr/>
        </p:nvSpPr>
        <p:spPr>
          <a:xfrm xmlns:a="http://schemas.openxmlformats.org/drawingml/2006/main">
            <a:off x="2895600" y="194310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162C52"/>
                </a:solidFill>
              </a:defRPr>
            </a:pPr>
            <a:r>
              <a:rPr sz="1350" b="1">
                <a:solidFill>
                  <a:srgbClr val="162C52"/>
                </a:solidFill>
              </a:rPr>
              <a:t>Normalize</a:t>
            </a:r>
          </a:p>
        </p:txBody>
      </p:sp>
      <p:sp>
        <p:nvSpPr>
          <p:cNvPr id="19" name="">
            <a:extLst xmlns:a="http://schemas.openxmlformats.org/drawingml/2006/main">
              <a:ext uri="{FF2B5EF4-FFF2-40B4-BE49-F238E27FC236}">
                <a16:creationId xmlns:a16="http://schemas.microsoft.com/office/drawing/2014/main" id="{E8B156EC-C5EA-4121-9455-BD30DB10CCCC}"/>
              </a:ext>
            </a:extLst>
          </p:cNvPr>
          <p:cNvSpPr>
            <a:spLocks xmlns:a="http://schemas.openxmlformats.org/drawingml/2006/main" noGrp="1"/>
          </p:cNvSpPr>
          <p:nvPr/>
        </p:nvSpPr>
        <p:spPr>
          <a:xfrm xmlns:a="http://schemas.openxmlformats.org/drawingml/2006/main">
            <a:off x="2876550" y="2343150"/>
            <a:ext cx="152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0">
                <a:solidFill>
                  <a:srgbClr val="617391"/>
                </a:solidFill>
              </a:defRPr>
            </a:pPr>
            <a:r>
              <a:rPr sz="1125" b="0">
                <a:solidFill>
                  <a:srgbClr val="617391"/>
                </a:solidFill>
              </a:rPr>
              <a:t>Lowercase regex tokens</a:t>
            </a:r>
          </a:p>
          <a:p xmlns:a="http://schemas.openxmlformats.org/drawingml/2006/main">
            <a:pPr algn="ctr">
              <a:buNone/>
              <a:defRPr sz="1125" b="0">
                <a:solidFill>
                  <a:srgbClr val="617391"/>
                </a:solidFill>
              </a:defRPr>
            </a:pPr>
            <a:r>
              <a:rPr sz="1125" b="0">
                <a:solidFill>
                  <a:srgbClr val="617391"/>
                </a:solidFill>
              </a:rPr>
              <a:t>Remove stop words</a:t>
            </a:r>
          </a:p>
          <a:p xmlns:a="http://schemas.openxmlformats.org/drawingml/2006/main">
            <a:pPr algn="ctr">
              <a:buNone/>
              <a:defRPr sz="1125" b="0">
                <a:solidFill>
                  <a:srgbClr val="617391"/>
                </a:solidFill>
              </a:defRPr>
            </a:pPr>
            <a:r>
              <a:rPr sz="1125" b="0">
                <a:solidFill>
                  <a:srgbClr val="617391"/>
                </a:solidFill>
              </a:rPr>
              <a:t>Ignore tokens &lt; 2 chars</a:t>
            </a:r>
          </a:p>
        </p:txBody>
      </p:sp>
      <p:sp>
        <p:nvSpPr>
          <p:cNvPr id="20" name="">
            <a:extLst xmlns:a="http://schemas.openxmlformats.org/drawingml/2006/main">
              <a:ext uri="{FF2B5EF4-FFF2-40B4-BE49-F238E27FC236}">
                <a16:creationId xmlns:a16="http://schemas.microsoft.com/office/drawing/2014/main" id="{1570F19A-617A-4981-9FF6-5F4F62246F9E}"/>
              </a:ext>
            </a:extLst>
          </p:cNvPr>
          <p:cNvSpPr>
            <a:spLocks xmlns:a="http://schemas.openxmlformats.org/drawingml/2006/main" noGrp="1"/>
          </p:cNvSpPr>
          <p:nvPr/>
        </p:nvSpPr>
        <p:spPr>
          <a:xfrm xmlns:a="http://schemas.openxmlformats.org/drawingml/2006/main">
            <a:off x="4600575" y="2333625"/>
            <a:ext cx="323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025" b="1">
                <a:solidFill>
                  <a:srgbClr val="3269D4"/>
                </a:solidFill>
              </a:defRPr>
            </a:pPr>
            <a:r>
              <a:rPr sz="2025" b="1">
                <a:solidFill>
                  <a:srgbClr val="3269D4"/>
                </a:solidFill>
              </a:rPr>
              <a:t>→</a:t>
            </a:r>
          </a:p>
        </p:txBody>
      </p:sp>
      <p:sp>
        <p:nvSpPr>
          <p:cNvPr id="21" name="">
            <a:extLst xmlns:a="http://schemas.openxmlformats.org/drawingml/2006/main">
              <a:ext uri="{FF2B5EF4-FFF2-40B4-BE49-F238E27FC236}">
                <a16:creationId xmlns:a16="http://schemas.microsoft.com/office/drawing/2014/main" id="{549145BB-5CAB-4502-AA39-95F682A789F1}"/>
              </a:ext>
            </a:extLst>
          </p:cNvPr>
          <p:cNvSpPr>
            <a:spLocks xmlns:a="http://schemas.openxmlformats.org/drawingml/2006/main" noGrp="1"/>
          </p:cNvSpPr>
          <p:nvPr/>
        </p:nvSpPr>
        <p:spPr>
          <a:xfrm xmlns:a="http://schemas.openxmlformats.org/drawingml/2006/main">
            <a:off x="4991100" y="1714500"/>
            <a:ext cx="1828800" cy="17145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12383">
            <a:solidFill>
              <a:srgbClr val="3269D4"/>
            </a:solidFill>
            <a:prstDash val="solid"/>
          </a:ln>
        </p:spPr>
      </p:sp>
      <p:sp>
        <p:nvSpPr>
          <p:cNvPr id="22" name="">
            <a:extLst xmlns:a="http://schemas.openxmlformats.org/drawingml/2006/main">
              <a:ext uri="{FF2B5EF4-FFF2-40B4-BE49-F238E27FC236}">
                <a16:creationId xmlns:a16="http://schemas.microsoft.com/office/drawing/2014/main" id="{1B1BDAAE-03BE-47E0-8801-66A57FCC48AC}"/>
              </a:ext>
            </a:extLst>
          </p:cNvPr>
          <p:cNvSpPr>
            <a:spLocks xmlns:a="http://schemas.openxmlformats.org/drawingml/2006/main" noGrp="1"/>
          </p:cNvSpPr>
          <p:nvPr/>
        </p:nvSpPr>
        <p:spPr>
          <a:xfrm xmlns:a="http://schemas.openxmlformats.org/drawingml/2006/main">
            <a:off x="5105400" y="1590675"/>
            <a:ext cx="266700" cy="266700"/>
          </a:xfrm>
          <a:prstGeom xmlns:a="http://schemas.openxmlformats.org/drawingml/2006/main" prst="ellipse">
            <a:avLst/>
          </a:prstGeom>
          <a:solidFill xmlns:a="http://schemas.openxmlformats.org/drawingml/2006/main">
            <a:srgbClr val="3269D4"/>
          </a:solidFill>
          <a:ln xmlns:a="http://schemas.openxmlformats.org/drawingml/2006/main" w="19050">
            <a:solidFill>
              <a:srgbClr val="FFFFFF"/>
            </a:solidFill>
            <a:prstDash val="solid"/>
          </a:ln>
        </p:spPr>
      </p:sp>
      <p:sp>
        <p:nvSpPr>
          <p:cNvPr id="23" name="">
            <a:extLst xmlns:a="http://schemas.openxmlformats.org/drawingml/2006/main">
              <a:ext uri="{FF2B5EF4-FFF2-40B4-BE49-F238E27FC236}">
                <a16:creationId xmlns:a16="http://schemas.microsoft.com/office/drawing/2014/main" id="{CBB783B2-DC1B-4716-9AF3-0362DF335B23}"/>
              </a:ext>
            </a:extLst>
          </p:cNvPr>
          <p:cNvSpPr>
            <a:spLocks xmlns:a="http://schemas.openxmlformats.org/drawingml/2006/main" noGrp="1"/>
          </p:cNvSpPr>
          <p:nvPr/>
        </p:nvSpPr>
        <p:spPr>
          <a:xfrm xmlns:a="http://schemas.openxmlformats.org/drawingml/2006/main">
            <a:off x="5105400" y="1628775"/>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24" name="">
            <a:extLst xmlns:a="http://schemas.openxmlformats.org/drawingml/2006/main">
              <a:ext uri="{FF2B5EF4-FFF2-40B4-BE49-F238E27FC236}">
                <a16:creationId xmlns:a16="http://schemas.microsoft.com/office/drawing/2014/main" id="{CECBCCF6-951D-477C-A1DB-441CE4AF06E2}"/>
              </a:ext>
            </a:extLst>
          </p:cNvPr>
          <p:cNvSpPr>
            <a:spLocks xmlns:a="http://schemas.openxmlformats.org/drawingml/2006/main" noGrp="1"/>
          </p:cNvSpPr>
          <p:nvPr/>
        </p:nvSpPr>
        <p:spPr>
          <a:xfrm xmlns:a="http://schemas.openxmlformats.org/drawingml/2006/main">
            <a:off x="5162550" y="194310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162C52"/>
                </a:solidFill>
              </a:defRPr>
            </a:pPr>
            <a:r>
              <a:rPr sz="1350" b="1">
                <a:solidFill>
                  <a:srgbClr val="162C52"/>
                </a:solidFill>
              </a:rPr>
              <a:t>Select domain</a:t>
            </a:r>
          </a:p>
        </p:txBody>
      </p:sp>
      <p:sp>
        <p:nvSpPr>
          <p:cNvPr id="25" name="">
            <a:extLst xmlns:a="http://schemas.openxmlformats.org/drawingml/2006/main">
              <a:ext uri="{FF2B5EF4-FFF2-40B4-BE49-F238E27FC236}">
                <a16:creationId xmlns:a16="http://schemas.microsoft.com/office/drawing/2014/main" id="{47798EF9-4D54-4C56-B265-FDADD75537AF}"/>
              </a:ext>
            </a:extLst>
          </p:cNvPr>
          <p:cNvSpPr>
            <a:spLocks xmlns:a="http://schemas.openxmlformats.org/drawingml/2006/main" noGrp="1"/>
          </p:cNvSpPr>
          <p:nvPr/>
        </p:nvSpPr>
        <p:spPr>
          <a:xfrm xmlns:a="http://schemas.openxmlformats.org/drawingml/2006/main">
            <a:off x="5143500" y="2343150"/>
            <a:ext cx="152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0">
                <a:solidFill>
                  <a:srgbClr val="617391"/>
                </a:solidFill>
              </a:defRPr>
            </a:pPr>
            <a:r>
              <a:rPr sz="1125" b="0">
                <a:solidFill>
                  <a:srgbClr val="617391"/>
                </a:solidFill>
              </a:rPr>
              <a:t>Label match + overlap</a:t>
            </a:r>
          </a:p>
          <a:p xmlns:a="http://schemas.openxmlformats.org/drawingml/2006/main">
            <a:pPr algn="ctr">
              <a:buNone/>
              <a:defRPr sz="1125" b="0">
                <a:solidFill>
                  <a:srgbClr val="617391"/>
                </a:solidFill>
              </a:defRPr>
            </a:pPr>
            <a:r>
              <a:rPr sz="1125" b="0">
                <a:solidFill>
                  <a:srgbClr val="617391"/>
                </a:solidFill>
              </a:rPr>
              <a:t>with domain term dictionary</a:t>
            </a:r>
          </a:p>
        </p:txBody>
      </p:sp>
      <p:sp>
        <p:nvSpPr>
          <p:cNvPr id="26" name="">
            <a:extLst xmlns:a="http://schemas.openxmlformats.org/drawingml/2006/main">
              <a:ext uri="{FF2B5EF4-FFF2-40B4-BE49-F238E27FC236}">
                <a16:creationId xmlns:a16="http://schemas.microsoft.com/office/drawing/2014/main" id="{DB3B10B7-3199-4D6C-9ADD-27B66A253549}"/>
              </a:ext>
            </a:extLst>
          </p:cNvPr>
          <p:cNvSpPr>
            <a:spLocks xmlns:a="http://schemas.openxmlformats.org/drawingml/2006/main" noGrp="1"/>
          </p:cNvSpPr>
          <p:nvPr/>
        </p:nvSpPr>
        <p:spPr>
          <a:xfrm xmlns:a="http://schemas.openxmlformats.org/drawingml/2006/main">
            <a:off x="6867525" y="2333625"/>
            <a:ext cx="323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025" b="1">
                <a:solidFill>
                  <a:srgbClr val="3269D4"/>
                </a:solidFill>
              </a:defRPr>
            </a:pPr>
            <a:r>
              <a:rPr sz="2025" b="1">
                <a:solidFill>
                  <a:srgbClr val="3269D4"/>
                </a:solidFill>
              </a:rPr>
              <a:t>→</a:t>
            </a:r>
          </a:p>
        </p:txBody>
      </p:sp>
      <p:sp>
        <p:nvSpPr>
          <p:cNvPr id="27" name="">
            <a:extLst xmlns:a="http://schemas.openxmlformats.org/drawingml/2006/main">
              <a:ext uri="{FF2B5EF4-FFF2-40B4-BE49-F238E27FC236}">
                <a16:creationId xmlns:a16="http://schemas.microsoft.com/office/drawing/2014/main" id="{28AD570F-1D75-47D3-90D8-23760DFB4BFF}"/>
              </a:ext>
            </a:extLst>
          </p:cNvPr>
          <p:cNvSpPr>
            <a:spLocks xmlns:a="http://schemas.openxmlformats.org/drawingml/2006/main" noGrp="1"/>
          </p:cNvSpPr>
          <p:nvPr/>
        </p:nvSpPr>
        <p:spPr>
          <a:xfrm xmlns:a="http://schemas.openxmlformats.org/drawingml/2006/main">
            <a:off x="7258050" y="1714500"/>
            <a:ext cx="1828800" cy="17145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12383">
            <a:solidFill>
              <a:srgbClr val="3269D4"/>
            </a:solidFill>
            <a:prstDash val="solid"/>
          </a:ln>
        </p:spPr>
      </p:sp>
      <p:sp>
        <p:nvSpPr>
          <p:cNvPr id="28" name="">
            <a:extLst xmlns:a="http://schemas.openxmlformats.org/drawingml/2006/main">
              <a:ext uri="{FF2B5EF4-FFF2-40B4-BE49-F238E27FC236}">
                <a16:creationId xmlns:a16="http://schemas.microsoft.com/office/drawing/2014/main" id="{E8CA8A06-53D6-49EE-9E96-C590CFC5E741}"/>
              </a:ext>
            </a:extLst>
          </p:cNvPr>
          <p:cNvSpPr>
            <a:spLocks xmlns:a="http://schemas.openxmlformats.org/drawingml/2006/main" noGrp="1"/>
          </p:cNvSpPr>
          <p:nvPr/>
        </p:nvSpPr>
        <p:spPr>
          <a:xfrm xmlns:a="http://schemas.openxmlformats.org/drawingml/2006/main">
            <a:off x="7372350" y="1590675"/>
            <a:ext cx="266700" cy="266700"/>
          </a:xfrm>
          <a:prstGeom xmlns:a="http://schemas.openxmlformats.org/drawingml/2006/main" prst="ellipse">
            <a:avLst/>
          </a:prstGeom>
          <a:solidFill xmlns:a="http://schemas.openxmlformats.org/drawingml/2006/main">
            <a:srgbClr val="3269D4"/>
          </a:solidFill>
          <a:ln xmlns:a="http://schemas.openxmlformats.org/drawingml/2006/main" w="19050">
            <a:solidFill>
              <a:srgbClr val="FFFFFF"/>
            </a:solidFill>
            <a:prstDash val="solid"/>
          </a:ln>
        </p:spPr>
      </p:sp>
      <p:sp>
        <p:nvSpPr>
          <p:cNvPr id="29" name="">
            <a:extLst xmlns:a="http://schemas.openxmlformats.org/drawingml/2006/main">
              <a:ext uri="{FF2B5EF4-FFF2-40B4-BE49-F238E27FC236}">
                <a16:creationId xmlns:a16="http://schemas.microsoft.com/office/drawing/2014/main" id="{7D71515B-541C-4F18-B4AE-96F4536DA914}"/>
              </a:ext>
            </a:extLst>
          </p:cNvPr>
          <p:cNvSpPr>
            <a:spLocks xmlns:a="http://schemas.openxmlformats.org/drawingml/2006/main" noGrp="1"/>
          </p:cNvSpPr>
          <p:nvPr/>
        </p:nvSpPr>
        <p:spPr>
          <a:xfrm xmlns:a="http://schemas.openxmlformats.org/drawingml/2006/main">
            <a:off x="7372350" y="1628775"/>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30" name="">
            <a:extLst xmlns:a="http://schemas.openxmlformats.org/drawingml/2006/main">
              <a:ext uri="{FF2B5EF4-FFF2-40B4-BE49-F238E27FC236}">
                <a16:creationId xmlns:a16="http://schemas.microsoft.com/office/drawing/2014/main" id="{6FAF8520-742C-4BA9-8325-E5DAE0E87DB1}"/>
              </a:ext>
            </a:extLst>
          </p:cNvPr>
          <p:cNvSpPr>
            <a:spLocks xmlns:a="http://schemas.openxmlformats.org/drawingml/2006/main" noGrp="1"/>
          </p:cNvSpPr>
          <p:nvPr/>
        </p:nvSpPr>
        <p:spPr>
          <a:xfrm xmlns:a="http://schemas.openxmlformats.org/drawingml/2006/main">
            <a:off x="7429500" y="194310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162C52"/>
                </a:solidFill>
              </a:defRPr>
            </a:pPr>
            <a:r>
              <a:rPr sz="1350" b="1">
                <a:solidFill>
                  <a:srgbClr val="162C52"/>
                </a:solidFill>
              </a:rPr>
              <a:t>Score topics</a:t>
            </a:r>
          </a:p>
        </p:txBody>
      </p:sp>
      <p:sp>
        <p:nvSpPr>
          <p:cNvPr id="31" name="">
            <a:extLst xmlns:a="http://schemas.openxmlformats.org/drawingml/2006/main">
              <a:ext uri="{FF2B5EF4-FFF2-40B4-BE49-F238E27FC236}">
                <a16:creationId xmlns:a16="http://schemas.microsoft.com/office/drawing/2014/main" id="{456EA236-CD83-42C3-A400-61A91A757362}"/>
              </a:ext>
            </a:extLst>
          </p:cNvPr>
          <p:cNvSpPr>
            <a:spLocks xmlns:a="http://schemas.openxmlformats.org/drawingml/2006/main" noGrp="1"/>
          </p:cNvSpPr>
          <p:nvPr/>
        </p:nvSpPr>
        <p:spPr>
          <a:xfrm xmlns:a="http://schemas.openxmlformats.org/drawingml/2006/main">
            <a:off x="7410450" y="2343150"/>
            <a:ext cx="152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0">
                <a:solidFill>
                  <a:srgbClr val="617391"/>
                </a:solidFill>
              </a:defRPr>
            </a:pPr>
            <a:r>
              <a:rPr sz="1125" b="0">
                <a:solidFill>
                  <a:srgbClr val="617391"/>
                </a:solidFill>
              </a:rPr>
              <a:t>Weighted token overlap</a:t>
            </a:r>
          </a:p>
          <a:p xmlns:a="http://schemas.openxmlformats.org/drawingml/2006/main">
            <a:pPr algn="ctr">
              <a:buNone/>
              <a:defRPr sz="1125" b="0">
                <a:solidFill>
                  <a:srgbClr val="617391"/>
                </a:solidFill>
              </a:defRPr>
            </a:pPr>
            <a:r>
              <a:rPr sz="1125" b="0">
                <a:solidFill>
                  <a:srgbClr val="617391"/>
                </a:solidFill>
              </a:rPr>
              <a:t>+ exact title bonus</a:t>
            </a:r>
          </a:p>
        </p:txBody>
      </p:sp>
      <p:sp>
        <p:nvSpPr>
          <p:cNvPr id="32" name="">
            <a:extLst xmlns:a="http://schemas.openxmlformats.org/drawingml/2006/main">
              <a:ext uri="{FF2B5EF4-FFF2-40B4-BE49-F238E27FC236}">
                <a16:creationId xmlns:a16="http://schemas.microsoft.com/office/drawing/2014/main" id="{E45303F4-B6CF-40D1-834E-96E2EB31C94C}"/>
              </a:ext>
            </a:extLst>
          </p:cNvPr>
          <p:cNvSpPr>
            <a:spLocks xmlns:a="http://schemas.openxmlformats.org/drawingml/2006/main" noGrp="1"/>
          </p:cNvSpPr>
          <p:nvPr/>
        </p:nvSpPr>
        <p:spPr>
          <a:xfrm xmlns:a="http://schemas.openxmlformats.org/drawingml/2006/main">
            <a:off x="9134475" y="2333625"/>
            <a:ext cx="323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025" b="1">
                <a:solidFill>
                  <a:srgbClr val="3269D4"/>
                </a:solidFill>
              </a:defRPr>
            </a:pPr>
            <a:r>
              <a:rPr sz="2025" b="1">
                <a:solidFill>
                  <a:srgbClr val="3269D4"/>
                </a:solidFill>
              </a:rPr>
              <a:t>→</a:t>
            </a:r>
          </a:p>
        </p:txBody>
      </p:sp>
      <p:sp>
        <p:nvSpPr>
          <p:cNvPr id="33" name="">
            <a:extLst xmlns:a="http://schemas.openxmlformats.org/drawingml/2006/main">
              <a:ext uri="{FF2B5EF4-FFF2-40B4-BE49-F238E27FC236}">
                <a16:creationId xmlns:a16="http://schemas.microsoft.com/office/drawing/2014/main" id="{035B4C2F-4434-40CE-90CC-283F41C8514C}"/>
              </a:ext>
            </a:extLst>
          </p:cNvPr>
          <p:cNvSpPr>
            <a:spLocks xmlns:a="http://schemas.openxmlformats.org/drawingml/2006/main" noGrp="1"/>
          </p:cNvSpPr>
          <p:nvPr/>
        </p:nvSpPr>
        <p:spPr>
          <a:xfrm xmlns:a="http://schemas.openxmlformats.org/drawingml/2006/main">
            <a:off x="9525000" y="1714500"/>
            <a:ext cx="1828800" cy="17145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12383">
            <a:solidFill>
              <a:srgbClr val="17834D"/>
            </a:solidFill>
            <a:prstDash val="solid"/>
          </a:ln>
        </p:spPr>
      </p:sp>
      <p:sp>
        <p:nvSpPr>
          <p:cNvPr id="34" name="">
            <a:extLst xmlns:a="http://schemas.openxmlformats.org/drawingml/2006/main">
              <a:ext uri="{FF2B5EF4-FFF2-40B4-BE49-F238E27FC236}">
                <a16:creationId xmlns:a16="http://schemas.microsoft.com/office/drawing/2014/main" id="{DAFE7F0A-7B39-40D5-8ACE-A3D3B2134258}"/>
              </a:ext>
            </a:extLst>
          </p:cNvPr>
          <p:cNvSpPr>
            <a:spLocks xmlns:a="http://schemas.openxmlformats.org/drawingml/2006/main" noGrp="1"/>
          </p:cNvSpPr>
          <p:nvPr/>
        </p:nvSpPr>
        <p:spPr>
          <a:xfrm xmlns:a="http://schemas.openxmlformats.org/drawingml/2006/main">
            <a:off x="9639300" y="1590675"/>
            <a:ext cx="266700" cy="266700"/>
          </a:xfrm>
          <a:prstGeom xmlns:a="http://schemas.openxmlformats.org/drawingml/2006/main" prst="ellipse">
            <a:avLst/>
          </a:prstGeom>
          <a:solidFill xmlns:a="http://schemas.openxmlformats.org/drawingml/2006/main">
            <a:srgbClr val="17834D"/>
          </a:solidFill>
          <a:ln xmlns:a="http://schemas.openxmlformats.org/drawingml/2006/main" w="19050">
            <a:solidFill>
              <a:srgbClr val="FFFFFF"/>
            </a:solidFill>
            <a:prstDash val="solid"/>
          </a:ln>
        </p:spPr>
      </p:sp>
      <p:sp>
        <p:nvSpPr>
          <p:cNvPr id="35" name="">
            <a:extLst xmlns:a="http://schemas.openxmlformats.org/drawingml/2006/main">
              <a:ext uri="{FF2B5EF4-FFF2-40B4-BE49-F238E27FC236}">
                <a16:creationId xmlns:a16="http://schemas.microsoft.com/office/drawing/2014/main" id="{B23E3EC7-35DB-4FC0-B5FB-A9110D72E5B8}"/>
              </a:ext>
            </a:extLst>
          </p:cNvPr>
          <p:cNvSpPr>
            <a:spLocks xmlns:a="http://schemas.openxmlformats.org/drawingml/2006/main" noGrp="1"/>
          </p:cNvSpPr>
          <p:nvPr/>
        </p:nvSpPr>
        <p:spPr>
          <a:xfrm xmlns:a="http://schemas.openxmlformats.org/drawingml/2006/main">
            <a:off x="9639300" y="1628775"/>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36" name="">
            <a:extLst xmlns:a="http://schemas.openxmlformats.org/drawingml/2006/main">
              <a:ext uri="{FF2B5EF4-FFF2-40B4-BE49-F238E27FC236}">
                <a16:creationId xmlns:a16="http://schemas.microsoft.com/office/drawing/2014/main" id="{9B5EF68F-D87C-458E-99ED-AB19AF0DF5A0}"/>
              </a:ext>
            </a:extLst>
          </p:cNvPr>
          <p:cNvSpPr>
            <a:spLocks xmlns:a="http://schemas.openxmlformats.org/drawingml/2006/main" noGrp="1"/>
          </p:cNvSpPr>
          <p:nvPr/>
        </p:nvSpPr>
        <p:spPr>
          <a:xfrm xmlns:a="http://schemas.openxmlformats.org/drawingml/2006/main">
            <a:off x="9696450" y="194310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162C52"/>
                </a:solidFill>
              </a:defRPr>
            </a:pPr>
            <a:r>
              <a:rPr sz="1350" b="1">
                <a:solidFill>
                  <a:srgbClr val="162C52"/>
                </a:solidFill>
              </a:rPr>
              <a:t>Planner context</a:t>
            </a:r>
          </a:p>
        </p:txBody>
      </p:sp>
      <p:sp>
        <p:nvSpPr>
          <p:cNvPr id="37" name="">
            <a:extLst xmlns:a="http://schemas.openxmlformats.org/drawingml/2006/main">
              <a:ext uri="{FF2B5EF4-FFF2-40B4-BE49-F238E27FC236}">
                <a16:creationId xmlns:a16="http://schemas.microsoft.com/office/drawing/2014/main" id="{2481521B-1734-4E72-9809-93A95B863567}"/>
              </a:ext>
            </a:extLst>
          </p:cNvPr>
          <p:cNvSpPr>
            <a:spLocks xmlns:a="http://schemas.openxmlformats.org/drawingml/2006/main" noGrp="1"/>
          </p:cNvSpPr>
          <p:nvPr/>
        </p:nvSpPr>
        <p:spPr>
          <a:xfrm xmlns:a="http://schemas.openxmlformats.org/drawingml/2006/main">
            <a:off x="9677400" y="2343150"/>
            <a:ext cx="152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0">
                <a:solidFill>
                  <a:srgbClr val="617391"/>
                </a:solidFill>
              </a:defRPr>
            </a:pPr>
            <a:r>
              <a:rPr sz="1125" b="0">
                <a:solidFill>
                  <a:srgbClr val="617391"/>
                </a:solidFill>
              </a:rPr>
              <a:t>Domain + level guidance</a:t>
            </a:r>
          </a:p>
          <a:p xmlns:a="http://schemas.openxmlformats.org/drawingml/2006/main">
            <a:pPr algn="ctr">
              <a:buNone/>
              <a:defRPr sz="1125" b="0">
                <a:solidFill>
                  <a:srgbClr val="617391"/>
                </a:solidFill>
              </a:defRPr>
            </a:pPr>
            <a:r>
              <a:rPr sz="1125" b="0">
                <a:solidFill>
                  <a:srgbClr val="617391"/>
                </a:solidFill>
              </a:rPr>
              <a:t>+ Top-8 topics</a:t>
            </a:r>
          </a:p>
        </p:txBody>
      </p:sp>
      <p:sp>
        <p:nvSpPr>
          <p:cNvPr id="38" name="">
            <a:extLst xmlns:a="http://schemas.openxmlformats.org/drawingml/2006/main">
              <a:ext uri="{FF2B5EF4-FFF2-40B4-BE49-F238E27FC236}">
                <a16:creationId xmlns:a16="http://schemas.microsoft.com/office/drawing/2014/main" id="{6185BA8D-1916-4E6F-AE4E-E06401CBB20C}"/>
              </a:ext>
            </a:extLst>
          </p:cNvPr>
          <p:cNvSpPr>
            <a:spLocks xmlns:a="http://schemas.openxmlformats.org/drawingml/2006/main" noGrp="1"/>
          </p:cNvSpPr>
          <p:nvPr/>
        </p:nvSpPr>
        <p:spPr>
          <a:xfrm xmlns:a="http://schemas.openxmlformats.org/drawingml/2006/main">
            <a:off x="457200" y="3781425"/>
            <a:ext cx="7067550" cy="1743075"/>
          </a:xfrm>
          <a:prstGeom xmlns:a="http://schemas.openxmlformats.org/drawingml/2006/main" prst="roundRect">
            <a:avLst>
              <a:gd name="adj" fmla="val 4372"/>
            </a:avLst>
          </a:prstGeom>
          <a:solidFill xmlns:a="http://schemas.openxmlformats.org/drawingml/2006/main">
            <a:srgbClr val="F7F9FC"/>
          </a:solidFill>
          <a:ln xmlns:a="http://schemas.openxmlformats.org/drawingml/2006/main" w="9525">
            <a:solidFill>
              <a:srgbClr val="D8E2F0"/>
            </a:solidFill>
            <a:prstDash val="solid"/>
          </a:ln>
        </p:spPr>
      </p:sp>
      <p:sp>
        <p:nvSpPr>
          <p:cNvPr id="39" name="">
            <a:extLst xmlns:a="http://schemas.openxmlformats.org/drawingml/2006/main">
              <a:ext uri="{FF2B5EF4-FFF2-40B4-BE49-F238E27FC236}">
                <a16:creationId xmlns:a16="http://schemas.microsoft.com/office/drawing/2014/main" id="{17251F54-E491-460C-AF27-9937147B6AD9}"/>
              </a:ext>
            </a:extLst>
          </p:cNvPr>
          <p:cNvSpPr>
            <a:spLocks xmlns:a="http://schemas.openxmlformats.org/drawingml/2006/main" noGrp="1"/>
          </p:cNvSpPr>
          <p:nvPr/>
        </p:nvSpPr>
        <p:spPr>
          <a:xfrm xmlns:a="http://schemas.openxmlformats.org/drawingml/2006/main">
            <a:off x="685800" y="40005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1356F"/>
                </a:solidFill>
              </a:defRPr>
            </a:pPr>
            <a:r>
              <a:rPr sz="1500" b="1">
                <a:solidFill>
                  <a:srgbClr val="11356F"/>
                </a:solidFill>
              </a:rPr>
              <a:t>Current scoring rule</a:t>
            </a:r>
          </a:p>
        </p:txBody>
      </p:sp>
      <p:sp>
        <p:nvSpPr>
          <p:cNvPr id="40" name="">
            <a:extLst xmlns:a="http://schemas.openxmlformats.org/drawingml/2006/main">
              <a:ext uri="{FF2B5EF4-FFF2-40B4-BE49-F238E27FC236}">
                <a16:creationId xmlns:a16="http://schemas.microsoft.com/office/drawing/2014/main" id="{FA2C4781-B445-4497-BD19-4D4B4B158DDB}"/>
              </a:ext>
            </a:extLst>
          </p:cNvPr>
          <p:cNvSpPr>
            <a:spLocks xmlns:a="http://schemas.openxmlformats.org/drawingml/2006/main" noGrp="1"/>
          </p:cNvSpPr>
          <p:nvPr/>
        </p:nvSpPr>
        <p:spPr>
          <a:xfrm xmlns:a="http://schemas.openxmlformats.org/drawingml/2006/main">
            <a:off x="685800" y="4410075"/>
            <a:ext cx="63817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162C52"/>
                </a:solidFill>
              </a:defRPr>
            </a:pPr>
            <a:r>
              <a:rPr sz="1425" b="0">
                <a:solidFill>
                  <a:srgbClr val="162C52"/>
                </a:solidFill>
              </a:rPr>
              <a:t>score(topic) = Σ overlap_weight(token) + exact_title_bonus</a:t>
            </a:r>
          </a:p>
          <a:p xmlns:a="http://schemas.openxmlformats.org/drawingml/2006/main">
            <a:r>
              <a:t/>
            </a:r>
          </a:p>
          <a:p xmlns:a="http://schemas.openxmlformats.org/drawingml/2006/main">
            <a:pPr algn="l">
              <a:buNone/>
              <a:defRPr sz="1425" b="0">
                <a:solidFill>
                  <a:srgbClr val="162C52"/>
                </a:solidFill>
              </a:defRPr>
            </a:pPr>
            <a:r>
              <a:rPr sz="1425" b="0">
                <a:solidFill>
                  <a:srgbClr val="162C52"/>
                </a:solidFill>
              </a:rPr>
              <a:t>overlap_weight = 3 when token length ≥ 5; otherwise 1</a:t>
            </a:r>
          </a:p>
          <a:p xmlns:a="http://schemas.openxmlformats.org/drawingml/2006/main">
            <a:pPr algn="l">
              <a:buNone/>
              <a:defRPr sz="1425" b="0">
                <a:solidFill>
                  <a:srgbClr val="162C52"/>
                </a:solidFill>
              </a:defRPr>
            </a:pPr>
            <a:r>
              <a:rPr sz="1425" b="0">
                <a:solidFill>
                  <a:srgbClr val="162C52"/>
                </a:solidFill>
              </a:rPr>
              <a:t>exact_title_bonus = +12</a:t>
            </a:r>
          </a:p>
        </p:txBody>
      </p:sp>
      <p:sp>
        <p:nvSpPr>
          <p:cNvPr id="41" name="">
            <a:extLst xmlns:a="http://schemas.openxmlformats.org/drawingml/2006/main">
              <a:ext uri="{FF2B5EF4-FFF2-40B4-BE49-F238E27FC236}">
                <a16:creationId xmlns:a16="http://schemas.microsoft.com/office/drawing/2014/main" id="{DF3B3E5C-8B8E-49EF-B0DE-DCEDA7C23BFB}"/>
              </a:ext>
            </a:extLst>
          </p:cNvPr>
          <p:cNvSpPr>
            <a:spLocks xmlns:a="http://schemas.openxmlformats.org/drawingml/2006/main" noGrp="1"/>
          </p:cNvSpPr>
          <p:nvPr/>
        </p:nvSpPr>
        <p:spPr>
          <a:xfrm xmlns:a="http://schemas.openxmlformats.org/drawingml/2006/main">
            <a:off x="7791450" y="3781425"/>
            <a:ext cx="3943350" cy="1743075"/>
          </a:xfrm>
          <a:prstGeom xmlns:a="http://schemas.openxmlformats.org/drawingml/2006/main" prst="roundRect">
            <a:avLst>
              <a:gd name="adj" fmla="val 4372"/>
            </a:avLst>
          </a:prstGeom>
          <a:solidFill xmlns:a="http://schemas.openxmlformats.org/drawingml/2006/main">
            <a:srgbClr val="FFF5EA"/>
          </a:solidFill>
          <a:ln xmlns:a="http://schemas.openxmlformats.org/drawingml/2006/main" w="11430">
            <a:solidFill>
              <a:srgbClr val="D87319"/>
            </a:solidFill>
            <a:prstDash val="solid"/>
          </a:ln>
        </p:spPr>
      </p:sp>
      <p:sp>
        <p:nvSpPr>
          <p:cNvPr id="42" name="">
            <a:extLst xmlns:a="http://schemas.openxmlformats.org/drawingml/2006/main">
              <a:ext uri="{FF2B5EF4-FFF2-40B4-BE49-F238E27FC236}">
                <a16:creationId xmlns:a16="http://schemas.microsoft.com/office/drawing/2014/main" id="{B719286D-6DA1-4A51-9EE1-31D357D7B3FF}"/>
              </a:ext>
            </a:extLst>
          </p:cNvPr>
          <p:cNvSpPr>
            <a:spLocks xmlns:a="http://schemas.openxmlformats.org/drawingml/2006/main" noGrp="1"/>
          </p:cNvSpPr>
          <p:nvPr/>
        </p:nvSpPr>
        <p:spPr>
          <a:xfrm xmlns:a="http://schemas.openxmlformats.org/drawingml/2006/main">
            <a:off x="8039100" y="40005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D87319"/>
                </a:solidFill>
              </a:defRPr>
            </a:pPr>
            <a:r>
              <a:rPr sz="1500" b="1">
                <a:solidFill>
                  <a:srgbClr val="D87319"/>
                </a:solidFill>
              </a:rPr>
              <a:t>Claim boundary</a:t>
            </a:r>
          </a:p>
        </p:txBody>
      </p:sp>
      <p:sp>
        <p:nvSpPr>
          <p:cNvPr id="43" name="">
            <a:extLst xmlns:a="http://schemas.openxmlformats.org/drawingml/2006/main">
              <a:ext uri="{FF2B5EF4-FFF2-40B4-BE49-F238E27FC236}">
                <a16:creationId xmlns:a16="http://schemas.microsoft.com/office/drawing/2014/main" id="{4854A766-0B66-4CB5-9D16-96351C6FE8F0}"/>
              </a:ext>
            </a:extLst>
          </p:cNvPr>
          <p:cNvSpPr>
            <a:spLocks xmlns:a="http://schemas.openxmlformats.org/drawingml/2006/main" noGrp="1"/>
          </p:cNvSpPr>
          <p:nvPr/>
        </p:nvSpPr>
        <p:spPr>
          <a:xfrm xmlns:a="http://schemas.openxmlformats.org/drawingml/2006/main">
            <a:off x="8039100" y="4400550"/>
            <a:ext cx="3238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162C52"/>
                </a:solidFill>
              </a:defRPr>
            </a:pPr>
            <a:r>
              <a:rPr sz="1500" b="1">
                <a:solidFill>
                  <a:srgbClr val="162C52"/>
                </a:solidFill>
              </a:rPr>
              <a:t>No embeddings</a:t>
            </a:r>
          </a:p>
          <a:p xmlns:a="http://schemas.openxmlformats.org/drawingml/2006/main">
            <a:pPr algn="ctr">
              <a:buNone/>
              <a:defRPr sz="1500" b="1">
                <a:solidFill>
                  <a:srgbClr val="162C52"/>
                </a:solidFill>
              </a:defRPr>
            </a:pPr>
            <a:r>
              <a:rPr sz="1500" b="1">
                <a:solidFill>
                  <a:srgbClr val="162C52"/>
                </a:solidFill>
              </a:rPr>
              <a:t>No vector database</a:t>
            </a:r>
          </a:p>
          <a:p xmlns:a="http://schemas.openxmlformats.org/drawingml/2006/main">
            <a:pPr algn="ctr">
              <a:buNone/>
              <a:defRPr sz="1500" b="1">
                <a:solidFill>
                  <a:srgbClr val="162C52"/>
                </a:solidFill>
              </a:defRPr>
            </a:pPr>
            <a:r>
              <a:rPr sz="1500" b="1">
                <a:solidFill>
                  <a:srgbClr val="162C52"/>
                </a:solidFill>
              </a:rPr>
              <a:t>No cosine similarity</a:t>
            </a:r>
          </a:p>
          <a:p xmlns:a="http://schemas.openxmlformats.org/drawingml/2006/main">
            <a:pPr algn="ctr">
              <a:buNone/>
              <a:defRPr sz="1500" b="1">
                <a:solidFill>
                  <a:srgbClr val="162C52"/>
                </a:solidFill>
              </a:defRPr>
            </a:pPr>
            <a:r>
              <a:rPr sz="1500" b="1">
                <a:solidFill>
                  <a:srgbClr val="162C52"/>
                </a:solidFill>
              </a:rPr>
              <a:t>on the active production path</a:t>
            </a:r>
          </a:p>
        </p:txBody>
      </p:sp>
      <p:sp>
        <p:nvSpPr>
          <p:cNvPr id="44" name="header-cover-3">
            <a:extLst xmlns:a="http://schemas.openxmlformats.org/drawingml/2006/main">
              <a:ext uri="{FF2B5EF4-FFF2-40B4-BE49-F238E27FC236}">
                <a16:creationId xmlns:a16="http://schemas.microsoft.com/office/drawing/2014/main" id="{6A5A59DA-414C-4856-A8E0-317FB9CD0A42}"/>
              </a:ext>
            </a:extLst>
          </p:cNvPr>
          <p:cNvSpPr>
            <a:spLocks xmlns:a="http://schemas.openxmlformats.org/drawingml/2006/main" noGrp="1"/>
          </p:cNvSpPr>
          <p:nvPr/>
        </p:nvSpPr>
        <p:spPr>
          <a:xfrm xmlns:a="http://schemas.openxmlformats.org/drawingml/2006/main">
            <a:off x="323850" y="190500"/>
            <a:ext cx="11525250" cy="6096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5" name="section-title-3">
            <a:extLst xmlns:a="http://schemas.openxmlformats.org/drawingml/2006/main">
              <a:ext uri="{FF2B5EF4-FFF2-40B4-BE49-F238E27FC236}">
                <a16:creationId xmlns:a16="http://schemas.microsoft.com/office/drawing/2014/main" id="{06A8C362-930D-4F5C-B2F9-F3488EF8B506}"/>
              </a:ext>
            </a:extLst>
          </p:cNvPr>
          <p:cNvSpPr>
            <a:spLocks xmlns:a="http://schemas.openxmlformats.org/drawingml/2006/main" noGrp="1"/>
          </p:cNvSpPr>
          <p:nvPr/>
        </p:nvSpPr>
        <p:spPr>
          <a:xfrm xmlns:a="http://schemas.openxmlformats.org/drawingml/2006/main">
            <a:off x="400050" y="2857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1356F"/>
                </a:solidFill>
              </a:defRPr>
            </a:pPr>
            <a:r>
              <a:rPr sz="2025" b="1">
                <a:solidFill>
                  <a:srgbClr val="11356F"/>
                </a:solidFill>
              </a:rPr>
              <a:t>3. DATA &amp; KNOWLEDGE PIPELINE</a:t>
            </a:r>
          </a:p>
        </p:txBody>
      </p:sp>
      <p:sp>
        <p:nvSpPr>
          <p:cNvPr id="46" name="section-rule-3">
            <a:extLst xmlns:a="http://schemas.openxmlformats.org/drawingml/2006/main">
              <a:ext uri="{FF2B5EF4-FFF2-40B4-BE49-F238E27FC236}">
                <a16:creationId xmlns:a16="http://schemas.microsoft.com/office/drawing/2014/main" id="{95DE4CC3-A856-4C2C-BB50-08032CB56BDD}"/>
              </a:ext>
            </a:extLst>
          </p:cNvPr>
          <p:cNvSpPr>
            <a:spLocks xmlns:a="http://schemas.openxmlformats.org/drawingml/2006/main" noGrp="1"/>
          </p:cNvSpPr>
          <p:nvPr/>
        </p:nvSpPr>
        <p:spPr>
          <a:xfrm xmlns:a="http://schemas.openxmlformats.org/drawingml/2006/main">
            <a:off x="400050" y="723900"/>
            <a:ext cx="9715500" cy="9525"/>
          </a:xfrm>
          <a:prstGeom xmlns:a="http://schemas.openxmlformats.org/drawingml/2006/main" prst="line">
            <a:avLst/>
          </a:prstGeom>
          <a:noFill xmlns:a="http://schemas.openxmlformats.org/drawingml/2006/main"/>
          <a:ln xmlns:a="http://schemas.openxmlformats.org/drawingml/2006/main" w="9525">
            <a:solidFill>
              <a:srgbClr val="D8E6FF"/>
            </a:solidFill>
            <a:prstDash val="solid"/>
          </a:ln>
        </p:spPr>
      </p:sp>
      <p:sp>
        <p:nvSpPr>
          <p:cNvPr id="47" name="brand-square-1-3">
            <a:extLst xmlns:a="http://schemas.openxmlformats.org/drawingml/2006/main">
              <a:ext uri="{FF2B5EF4-FFF2-40B4-BE49-F238E27FC236}">
                <a16:creationId xmlns:a16="http://schemas.microsoft.com/office/drawing/2014/main" id="{5C98C187-5A57-451D-8C81-1F85220D2AC7}"/>
              </a:ext>
            </a:extLst>
          </p:cNvPr>
          <p:cNvSpPr>
            <a:spLocks xmlns:a="http://schemas.openxmlformats.org/drawingml/2006/main" noGrp="1"/>
          </p:cNvSpPr>
          <p:nvPr/>
        </p:nvSpPr>
        <p:spPr>
          <a:xfrm xmlns:a="http://schemas.openxmlformats.org/drawingml/2006/main">
            <a:off x="11001375" y="304800"/>
            <a:ext cx="228600" cy="228600"/>
          </a:xfrm>
          <a:prstGeom xmlns:a="http://schemas.openxmlformats.org/drawingml/2006/main" prst="rect">
            <a:avLst/>
          </a:prstGeom>
          <a:solidFill xmlns:a="http://schemas.openxmlformats.org/drawingml/2006/main">
            <a:srgbClr val="D9E5FB"/>
          </a:solidFill>
          <a:ln xmlns:a="http://schemas.openxmlformats.org/drawingml/2006/main" w="0">
            <a:noFill/>
            <a:prstDash val="solid"/>
          </a:ln>
        </p:spPr>
      </p:sp>
      <p:sp>
        <p:nvSpPr>
          <p:cNvPr id="48" name="brand-square-2-3">
            <a:extLst xmlns:a="http://schemas.openxmlformats.org/drawingml/2006/main">
              <a:ext uri="{FF2B5EF4-FFF2-40B4-BE49-F238E27FC236}">
                <a16:creationId xmlns:a16="http://schemas.microsoft.com/office/drawing/2014/main" id="{0BE5B794-C6F4-4753-8605-268E942FC194}"/>
              </a:ext>
            </a:extLst>
          </p:cNvPr>
          <p:cNvSpPr>
            <a:spLocks xmlns:a="http://schemas.openxmlformats.org/drawingml/2006/main" noGrp="1"/>
          </p:cNvSpPr>
          <p:nvPr/>
        </p:nvSpPr>
        <p:spPr>
          <a:xfrm xmlns:a="http://schemas.openxmlformats.org/drawingml/2006/main">
            <a:off x="11258550" y="304800"/>
            <a:ext cx="228600" cy="228600"/>
          </a:xfrm>
          <a:prstGeom xmlns:a="http://schemas.openxmlformats.org/drawingml/2006/main" prst="rect">
            <a:avLst/>
          </a:prstGeom>
          <a:solidFill xmlns:a="http://schemas.openxmlformats.org/drawingml/2006/main">
            <a:srgbClr val="AFC9F7"/>
          </a:solidFill>
          <a:ln xmlns:a="http://schemas.openxmlformats.org/drawingml/2006/main" w="0">
            <a:noFill/>
            <a:prstDash val="solid"/>
          </a:ln>
        </p:spPr>
      </p:sp>
      <p:sp>
        <p:nvSpPr>
          <p:cNvPr id="49" name="brand-square-3-3">
            <a:extLst xmlns:a="http://schemas.openxmlformats.org/drawingml/2006/main">
              <a:ext uri="{FF2B5EF4-FFF2-40B4-BE49-F238E27FC236}">
                <a16:creationId xmlns:a16="http://schemas.microsoft.com/office/drawing/2014/main" id="{12F86765-BE6C-46AB-A815-6ABBD9E787D2}"/>
              </a:ext>
            </a:extLst>
          </p:cNvPr>
          <p:cNvSpPr>
            <a:spLocks xmlns:a="http://schemas.openxmlformats.org/drawingml/2006/main" noGrp="1"/>
          </p:cNvSpPr>
          <p:nvPr/>
        </p:nvSpPr>
        <p:spPr>
          <a:xfrm xmlns:a="http://schemas.openxmlformats.org/drawingml/2006/main">
            <a:off x="11515725" y="304800"/>
            <a:ext cx="228600" cy="228600"/>
          </a:xfrm>
          <a:prstGeom xmlns:a="http://schemas.openxmlformats.org/drawingml/2006/main" prst="rect">
            <a:avLst/>
          </a:prstGeom>
          <a:solidFill xmlns:a="http://schemas.openxmlformats.org/drawingml/2006/main">
            <a:srgbClr val="78A3F1"/>
          </a:solidFill>
          <a:ln xmlns:a="http://schemas.openxmlformats.org/drawingml/2006/main" w="0">
            <a:noFill/>
            <a:prstDash val="solid"/>
          </a:ln>
        </p:spPr>
      </p:sp>
      <p:sp>
        <p:nvSpPr>
          <p:cNvPr id="50" name="footer-cover-3">
            <a:extLst xmlns:a="http://schemas.openxmlformats.org/drawingml/2006/main">
              <a:ext uri="{FF2B5EF4-FFF2-40B4-BE49-F238E27FC236}">
                <a16:creationId xmlns:a16="http://schemas.microsoft.com/office/drawing/2014/main" id="{D6777E20-D174-424B-98CC-BEB044B1CC22}"/>
              </a:ext>
            </a:extLst>
          </p:cNvPr>
          <p:cNvSpPr>
            <a:spLocks xmlns:a="http://schemas.openxmlformats.org/drawingml/2006/main" noGrp="1"/>
          </p:cNvSpPr>
          <p:nvPr/>
        </p:nvSpPr>
        <p:spPr>
          <a:xfrm xmlns:a="http://schemas.openxmlformats.org/drawingml/2006/main">
            <a:off x="323850" y="6438900"/>
            <a:ext cx="4191000" cy="2667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1" name="footer-3">
            <a:extLst xmlns:a="http://schemas.openxmlformats.org/drawingml/2006/main">
              <a:ext uri="{FF2B5EF4-FFF2-40B4-BE49-F238E27FC236}">
                <a16:creationId xmlns:a16="http://schemas.microsoft.com/office/drawing/2014/main" id="{D88565E7-0D9E-4A95-B9D6-E3C6D715B650}"/>
              </a:ext>
            </a:extLst>
          </p:cNvPr>
          <p:cNvSpPr>
            <a:spLocks xmlns:a="http://schemas.openxmlformats.org/drawingml/2006/main" noGrp="1"/>
          </p:cNvSpPr>
          <p:nvPr/>
        </p:nvSpPr>
        <p:spPr>
          <a:xfrm xmlns:a="http://schemas.openxmlformats.org/drawingml/2006/main">
            <a:off x="40005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A98AE"/>
                </a:solidFill>
              </a:defRPr>
            </a:pPr>
            <a:r>
              <a:rPr sz="825" b="1">
                <a:solidFill>
                  <a:srgbClr val="8A98AE"/>
                </a:solidFill>
              </a:rPr>
              <a:t>FIPILOT  •  DEFENSE ROUND 1  •  3</a:t>
            </a:r>
          </a:p>
        </p:txBody>
      </p:sp>
    </p:spTree>
    <p:extLst>
      <p:ext uri="{BB962C8B-B14F-4D97-AF65-F5344CB8AC3E}">
        <p14:creationId xmlns:p14="http://schemas.microsoft.com/office/powerpoint/2010/main" val="189607418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 name="">
            <a:extLst xmlns:a="http://schemas.openxmlformats.org/drawingml/2006/main">
              <a:ext uri="{FF2B5EF4-FFF2-40B4-BE49-F238E27FC236}">
                <a16:creationId xmlns:a16="http://schemas.microsoft.com/office/drawing/2014/main" id="{AA3F8621-F04E-4F8D-97E9-A53F04938E5C}"/>
              </a:ext>
            </a:extLst>
          </p:cNvPr>
          <p:cNvSpPr>
            <a:spLocks xmlns:a="http://schemas.openxmlformats.org/drawingml/2006/main" noGrp="1"/>
          </p:cNvSpPr>
          <p:nvPr/>
        </p:nvSpPr>
        <p:spPr>
          <a:xfrm xmlns:a="http://schemas.openxmlformats.org/drawingml/2006/main">
            <a:off x="400050" y="2857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1356F"/>
                </a:solidFill>
              </a:defRPr>
            </a:pPr>
            <a:r>
              <a:rPr sz="2025" b="1">
                <a:solidFill>
                  <a:srgbClr val="11356F"/>
                </a:solidFill>
              </a:rPr>
              <a:t>3. DATA &amp; KNOWLEDGE PIPELINE</a:t>
            </a:r>
          </a:p>
        </p:txBody>
      </p:sp>
      <p:sp>
        <p:nvSpPr>
          <p:cNvPr id="2" name="">
            <a:extLst xmlns:a="http://schemas.openxmlformats.org/drawingml/2006/main">
              <a:ext uri="{FF2B5EF4-FFF2-40B4-BE49-F238E27FC236}">
                <a16:creationId xmlns:a16="http://schemas.microsoft.com/office/drawing/2014/main" id="{22ABD73C-D41E-4471-B6FE-F82F14FDF2D8}"/>
              </a:ext>
            </a:extLst>
          </p:cNvPr>
          <p:cNvSpPr>
            <a:spLocks xmlns:a="http://schemas.openxmlformats.org/drawingml/2006/main" noGrp="1"/>
          </p:cNvSpPr>
          <p:nvPr/>
        </p:nvSpPr>
        <p:spPr>
          <a:xfrm xmlns:a="http://schemas.openxmlformats.org/drawingml/2006/main">
            <a:off x="400050" y="723900"/>
            <a:ext cx="9715500" cy="9525"/>
          </a:xfrm>
          <a:prstGeom xmlns:a="http://schemas.openxmlformats.org/drawingml/2006/main" prst="line">
            <a:avLst/>
          </a:prstGeom>
          <a:noFill xmlns:a="http://schemas.openxmlformats.org/drawingml/2006/main"/>
          <a:ln xmlns:a="http://schemas.openxmlformats.org/drawingml/2006/main" w="9525">
            <a:solidFill>
              <a:srgbClr val="D8E6FF"/>
            </a:solidFill>
            <a:prstDash val="solid"/>
          </a:ln>
        </p:spPr>
      </p:sp>
      <p:sp>
        <p:nvSpPr>
          <p:cNvPr id="3" name="">
            <a:extLst xmlns:a="http://schemas.openxmlformats.org/drawingml/2006/main">
              <a:ext uri="{FF2B5EF4-FFF2-40B4-BE49-F238E27FC236}">
                <a16:creationId xmlns:a16="http://schemas.microsoft.com/office/drawing/2014/main" id="{5985A23D-9B0E-4C3D-A905-4C7908EE1184}"/>
              </a:ext>
            </a:extLst>
          </p:cNvPr>
          <p:cNvSpPr>
            <a:spLocks xmlns:a="http://schemas.openxmlformats.org/drawingml/2006/main" noGrp="1"/>
          </p:cNvSpPr>
          <p:nvPr/>
        </p:nvSpPr>
        <p:spPr>
          <a:xfrm xmlns:a="http://schemas.openxmlformats.org/drawingml/2006/main">
            <a:off x="400050" y="838200"/>
            <a:ext cx="923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62C52"/>
                </a:solidFill>
              </a:defRPr>
            </a:pPr>
            <a:r>
              <a:rPr sz="1500" b="1">
                <a:solidFill>
                  <a:srgbClr val="162C52"/>
                </a:solidFill>
              </a:rPr>
              <a:t>Vector Search Is a Proposed Upgrade, Not a Current Claim</a:t>
            </a:r>
          </a:p>
        </p:txBody>
      </p:sp>
      <p:sp>
        <p:nvSpPr>
          <p:cNvPr id="4" name="">
            <a:extLst xmlns:a="http://schemas.openxmlformats.org/drawingml/2006/main">
              <a:ext uri="{FF2B5EF4-FFF2-40B4-BE49-F238E27FC236}">
                <a16:creationId xmlns:a16="http://schemas.microsoft.com/office/drawing/2014/main" id="{7016A2B9-6551-4884-884D-BD1D37EED7BB}"/>
              </a:ext>
            </a:extLst>
          </p:cNvPr>
          <p:cNvSpPr>
            <a:spLocks xmlns:a="http://schemas.openxmlformats.org/drawingml/2006/main" noGrp="1"/>
          </p:cNvSpPr>
          <p:nvPr/>
        </p:nvSpPr>
        <p:spPr>
          <a:xfrm xmlns:a="http://schemas.openxmlformats.org/drawingml/2006/main">
            <a:off x="400050" y="1114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617391"/>
                </a:solidFill>
              </a:defRPr>
            </a:pPr>
            <a:r>
              <a:rPr sz="1050" b="0">
                <a:solidFill>
                  <a:srgbClr val="617391"/>
                </a:solidFill>
              </a:rPr>
              <a:t>A production-shaped design can reuse Firestore while keeping every vector traceable to its source chunk.</a:t>
            </a:r>
          </a:p>
        </p:txBody>
      </p:sp>
      <p:sp>
        <p:nvSpPr>
          <p:cNvPr id="5" name="">
            <a:extLst xmlns:a="http://schemas.openxmlformats.org/drawingml/2006/main">
              <a:ext uri="{FF2B5EF4-FFF2-40B4-BE49-F238E27FC236}">
                <a16:creationId xmlns:a16="http://schemas.microsoft.com/office/drawing/2014/main" id="{8B2F03E5-5963-4C01-BA99-FEF46567262D}"/>
              </a:ext>
            </a:extLst>
          </p:cNvPr>
          <p:cNvSpPr>
            <a:spLocks xmlns:a="http://schemas.openxmlformats.org/drawingml/2006/main" noGrp="1"/>
          </p:cNvSpPr>
          <p:nvPr/>
        </p:nvSpPr>
        <p:spPr>
          <a:xfrm xmlns:a="http://schemas.openxmlformats.org/drawingml/2006/main">
            <a:off x="11001375" y="304800"/>
            <a:ext cx="228600" cy="228600"/>
          </a:xfrm>
          <a:prstGeom xmlns:a="http://schemas.openxmlformats.org/drawingml/2006/main" prst="rect">
            <a:avLst/>
          </a:prstGeom>
          <a:solidFill xmlns:a="http://schemas.openxmlformats.org/drawingml/2006/main">
            <a:srgbClr val="D9E5F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6BAC9B8-82E5-4160-A028-362E30904C7D}"/>
              </a:ext>
            </a:extLst>
          </p:cNvPr>
          <p:cNvSpPr>
            <a:spLocks xmlns:a="http://schemas.openxmlformats.org/drawingml/2006/main" noGrp="1"/>
          </p:cNvSpPr>
          <p:nvPr/>
        </p:nvSpPr>
        <p:spPr>
          <a:xfrm xmlns:a="http://schemas.openxmlformats.org/drawingml/2006/main">
            <a:off x="11258550" y="304800"/>
            <a:ext cx="228600" cy="228600"/>
          </a:xfrm>
          <a:prstGeom xmlns:a="http://schemas.openxmlformats.org/drawingml/2006/main" prst="rect">
            <a:avLst/>
          </a:prstGeom>
          <a:solidFill xmlns:a="http://schemas.openxmlformats.org/drawingml/2006/main">
            <a:srgbClr val="AFC9F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C4D620C-820D-4597-9F19-84C898BB22C7}"/>
              </a:ext>
            </a:extLst>
          </p:cNvPr>
          <p:cNvSpPr>
            <a:spLocks xmlns:a="http://schemas.openxmlformats.org/drawingml/2006/main" noGrp="1"/>
          </p:cNvSpPr>
          <p:nvPr/>
        </p:nvSpPr>
        <p:spPr>
          <a:xfrm xmlns:a="http://schemas.openxmlformats.org/drawingml/2006/main">
            <a:off x="11515725" y="304800"/>
            <a:ext cx="228600" cy="228600"/>
          </a:xfrm>
          <a:prstGeom xmlns:a="http://schemas.openxmlformats.org/drawingml/2006/main" prst="rect">
            <a:avLst/>
          </a:prstGeom>
          <a:solidFill xmlns:a="http://schemas.openxmlformats.org/drawingml/2006/main">
            <a:srgbClr val="78A3F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E9F106B-AFE5-4CC0-9475-55C4DA126E7F}"/>
              </a:ext>
            </a:extLst>
          </p:cNvPr>
          <p:cNvSpPr>
            <a:spLocks xmlns:a="http://schemas.openxmlformats.org/drawingml/2006/main" noGrp="1"/>
          </p:cNvSpPr>
          <p:nvPr/>
        </p:nvSpPr>
        <p:spPr>
          <a:xfrm xmlns:a="http://schemas.openxmlformats.org/drawingml/2006/main">
            <a:off x="40005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A98AE"/>
                </a:solidFill>
              </a:defRPr>
            </a:pPr>
            <a:r>
              <a:rPr sz="825" b="1">
                <a:solidFill>
                  <a:srgbClr val="8A98AE"/>
                </a:solidFill>
              </a:rPr>
              <a:t>FIPILOT  •  DEFENSE ROUND 1  •  4</a:t>
            </a:r>
          </a:p>
        </p:txBody>
      </p:sp>
      <p:sp>
        <p:nvSpPr>
          <p:cNvPr id="9" name="">
            <a:extLst xmlns:a="http://schemas.openxmlformats.org/drawingml/2006/main">
              <a:ext uri="{FF2B5EF4-FFF2-40B4-BE49-F238E27FC236}">
                <a16:creationId xmlns:a16="http://schemas.microsoft.com/office/drawing/2014/main" id="{6BCF6F28-BC5C-4EA3-A3B2-3BDE06DF2A77}"/>
              </a:ext>
            </a:extLst>
          </p:cNvPr>
          <p:cNvSpPr>
            <a:spLocks xmlns:a="http://schemas.openxmlformats.org/drawingml/2006/main" noGrp="1"/>
          </p:cNvSpPr>
          <p:nvPr/>
        </p:nvSpPr>
        <p:spPr>
          <a:xfrm xmlns:a="http://schemas.openxmlformats.org/drawingml/2006/main">
            <a:off x="400050" y="1504950"/>
            <a:ext cx="11334750" cy="552450"/>
          </a:xfrm>
          <a:prstGeom xmlns:a="http://schemas.openxmlformats.org/drawingml/2006/main" prst="roundRect">
            <a:avLst>
              <a:gd name="adj" fmla="val 13793"/>
            </a:avLst>
          </a:prstGeom>
          <a:solidFill xmlns:a="http://schemas.openxmlformats.org/drawingml/2006/main">
            <a:srgbClr val="FFF5EA"/>
          </a:solidFill>
          <a:ln xmlns:a="http://schemas.openxmlformats.org/drawingml/2006/main" w="11430">
            <a:solidFill>
              <a:srgbClr val="D87319"/>
            </a:solidFill>
            <a:prstDash val="solid"/>
          </a:ln>
        </p:spPr>
      </p:sp>
      <p:sp>
        <p:nvSpPr>
          <p:cNvPr id="10" name="">
            <a:extLst xmlns:a="http://schemas.openxmlformats.org/drawingml/2006/main">
              <a:ext uri="{FF2B5EF4-FFF2-40B4-BE49-F238E27FC236}">
                <a16:creationId xmlns:a16="http://schemas.microsoft.com/office/drawing/2014/main" id="{58644A0F-CDB7-4D30-9520-60F1F54D4584}"/>
              </a:ext>
            </a:extLst>
          </p:cNvPr>
          <p:cNvSpPr>
            <a:spLocks xmlns:a="http://schemas.openxmlformats.org/drawingml/2006/main" noGrp="1"/>
          </p:cNvSpPr>
          <p:nvPr/>
        </p:nvSpPr>
        <p:spPr>
          <a:xfrm xmlns:a="http://schemas.openxmlformats.org/drawingml/2006/main">
            <a:off x="571500" y="1638300"/>
            <a:ext cx="1762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D87319"/>
                </a:solidFill>
              </a:defRPr>
            </a:pPr>
            <a:r>
              <a:rPr sz="1200" b="1">
                <a:solidFill>
                  <a:srgbClr val="D87319"/>
                </a:solidFill>
              </a:rPr>
              <a:t>STATUS</a:t>
            </a:r>
          </a:p>
        </p:txBody>
      </p:sp>
      <p:sp>
        <p:nvSpPr>
          <p:cNvPr id="11" name="">
            <a:extLst xmlns:a="http://schemas.openxmlformats.org/drawingml/2006/main">
              <a:ext uri="{FF2B5EF4-FFF2-40B4-BE49-F238E27FC236}">
                <a16:creationId xmlns:a16="http://schemas.microsoft.com/office/drawing/2014/main" id="{F8AF2640-44F8-449E-A9D9-8F6212A0E055}"/>
              </a:ext>
            </a:extLst>
          </p:cNvPr>
          <p:cNvSpPr>
            <a:spLocks xmlns:a="http://schemas.openxmlformats.org/drawingml/2006/main" noGrp="1"/>
          </p:cNvSpPr>
          <p:nvPr/>
        </p:nvSpPr>
        <p:spPr>
          <a:xfrm xmlns:a="http://schemas.openxmlformats.org/drawingml/2006/main">
            <a:off x="2352675" y="1619250"/>
            <a:ext cx="919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0">
                <a:solidFill>
                  <a:srgbClr val="162C52"/>
                </a:solidFill>
              </a:defRPr>
            </a:pPr>
            <a:r>
              <a:rPr sz="1200" b="0">
                <a:solidFill>
                  <a:srgbClr val="162C52"/>
                </a:solidFill>
              </a:rPr>
              <a:t>PROPOSED ARCHITECTURE — the existing prototype is deterministic, in-memory, and intentionally fake.</a:t>
            </a:r>
          </a:p>
        </p:txBody>
      </p:sp>
      <p:sp>
        <p:nvSpPr>
          <p:cNvPr id="12" name="">
            <a:extLst xmlns:a="http://schemas.openxmlformats.org/drawingml/2006/main">
              <a:ext uri="{FF2B5EF4-FFF2-40B4-BE49-F238E27FC236}">
                <a16:creationId xmlns:a16="http://schemas.microsoft.com/office/drawing/2014/main" id="{1B355C0A-0FC9-4F79-AD4B-6354890D3236}"/>
              </a:ext>
            </a:extLst>
          </p:cNvPr>
          <p:cNvSpPr>
            <a:spLocks xmlns:a="http://schemas.openxmlformats.org/drawingml/2006/main" noGrp="1"/>
          </p:cNvSpPr>
          <p:nvPr/>
        </p:nvSpPr>
        <p:spPr>
          <a:xfrm xmlns:a="http://schemas.openxmlformats.org/drawingml/2006/main">
            <a:off x="457200" y="2409825"/>
            <a:ext cx="1657350" cy="15240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12383">
            <a:solidFill>
              <a:srgbClr val="3269D4"/>
            </a:solidFill>
            <a:prstDash val="solid"/>
          </a:ln>
        </p:spPr>
      </p:sp>
      <p:sp>
        <p:nvSpPr>
          <p:cNvPr id="13" name="">
            <a:extLst xmlns:a="http://schemas.openxmlformats.org/drawingml/2006/main">
              <a:ext uri="{FF2B5EF4-FFF2-40B4-BE49-F238E27FC236}">
                <a16:creationId xmlns:a16="http://schemas.microsoft.com/office/drawing/2014/main" id="{315E27D5-396B-4056-B34F-1D57DC78A96F}"/>
              </a:ext>
            </a:extLst>
          </p:cNvPr>
          <p:cNvSpPr>
            <a:spLocks xmlns:a="http://schemas.openxmlformats.org/drawingml/2006/main" noGrp="1"/>
          </p:cNvSpPr>
          <p:nvPr/>
        </p:nvSpPr>
        <p:spPr>
          <a:xfrm xmlns:a="http://schemas.openxmlformats.org/drawingml/2006/main">
            <a:off x="571500" y="2286000"/>
            <a:ext cx="266700" cy="266700"/>
          </a:xfrm>
          <a:prstGeom xmlns:a="http://schemas.openxmlformats.org/drawingml/2006/main" prst="ellipse">
            <a:avLst/>
          </a:prstGeom>
          <a:solidFill xmlns:a="http://schemas.openxmlformats.org/drawingml/2006/main">
            <a:srgbClr val="3269D4"/>
          </a:solidFill>
          <a:ln xmlns:a="http://schemas.openxmlformats.org/drawingml/2006/main" w="19050">
            <a:solidFill>
              <a:srgbClr val="FFFFFF"/>
            </a:solidFill>
            <a:prstDash val="solid"/>
          </a:ln>
        </p:spPr>
      </p:sp>
      <p:sp>
        <p:nvSpPr>
          <p:cNvPr id="14" name="">
            <a:extLst xmlns:a="http://schemas.openxmlformats.org/drawingml/2006/main">
              <a:ext uri="{FF2B5EF4-FFF2-40B4-BE49-F238E27FC236}">
                <a16:creationId xmlns:a16="http://schemas.microsoft.com/office/drawing/2014/main" id="{9D669BC5-C56A-454B-B8E1-926EC959050A}"/>
              </a:ext>
            </a:extLst>
          </p:cNvPr>
          <p:cNvSpPr>
            <a:spLocks xmlns:a="http://schemas.openxmlformats.org/drawingml/2006/main" noGrp="1"/>
          </p:cNvSpPr>
          <p:nvPr/>
        </p:nvSpPr>
        <p:spPr>
          <a:xfrm xmlns:a="http://schemas.openxmlformats.org/drawingml/2006/main">
            <a:off x="571500" y="232410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15" name="">
            <a:extLst xmlns:a="http://schemas.openxmlformats.org/drawingml/2006/main">
              <a:ext uri="{FF2B5EF4-FFF2-40B4-BE49-F238E27FC236}">
                <a16:creationId xmlns:a16="http://schemas.microsoft.com/office/drawing/2014/main" id="{D748ECE9-3596-4F32-B2D1-500722789C54}"/>
              </a:ext>
            </a:extLst>
          </p:cNvPr>
          <p:cNvSpPr>
            <a:spLocks xmlns:a="http://schemas.openxmlformats.org/drawingml/2006/main" noGrp="1"/>
          </p:cNvSpPr>
          <p:nvPr/>
        </p:nvSpPr>
        <p:spPr>
          <a:xfrm xmlns:a="http://schemas.openxmlformats.org/drawingml/2006/main">
            <a:off x="628650" y="2638425"/>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162C52"/>
                </a:solidFill>
              </a:defRPr>
            </a:pPr>
            <a:r>
              <a:rPr sz="1350" b="1">
                <a:solidFill>
                  <a:srgbClr val="162C52"/>
                </a:solidFill>
              </a:rPr>
              <a:t>Knowledge Markdown</a:t>
            </a:r>
          </a:p>
        </p:txBody>
      </p:sp>
      <p:sp>
        <p:nvSpPr>
          <p:cNvPr id="16" name="">
            <a:extLst xmlns:a="http://schemas.openxmlformats.org/drawingml/2006/main">
              <a:ext uri="{FF2B5EF4-FFF2-40B4-BE49-F238E27FC236}">
                <a16:creationId xmlns:a16="http://schemas.microsoft.com/office/drawing/2014/main" id="{6D53A5FC-4962-44E6-839B-9BAB33048678}"/>
              </a:ext>
            </a:extLst>
          </p:cNvPr>
          <p:cNvSpPr>
            <a:spLocks xmlns:a="http://schemas.openxmlformats.org/drawingml/2006/main" noGrp="1"/>
          </p:cNvSpPr>
          <p:nvPr/>
        </p:nvSpPr>
        <p:spPr>
          <a:xfrm xmlns:a="http://schemas.openxmlformats.org/drawingml/2006/main">
            <a:off x="609600" y="3038475"/>
            <a:ext cx="13525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0">
                <a:solidFill>
                  <a:srgbClr val="617391"/>
                </a:solidFill>
              </a:defRPr>
            </a:pPr>
            <a:r>
              <a:rPr sz="1125" b="0">
                <a:solidFill>
                  <a:srgbClr val="617391"/>
                </a:solidFill>
              </a:rPr>
              <a:t>Domain / level</a:t>
            </a:r>
          </a:p>
          <a:p xmlns:a="http://schemas.openxmlformats.org/drawingml/2006/main">
            <a:pPr algn="ctr">
              <a:buNone/>
              <a:defRPr sz="1125" b="0">
                <a:solidFill>
                  <a:srgbClr val="617391"/>
                </a:solidFill>
              </a:defRPr>
            </a:pPr>
            <a:r>
              <a:rPr sz="1125" b="0">
                <a:solidFill>
                  <a:srgbClr val="617391"/>
                </a:solidFill>
              </a:rPr>
              <a:t>competencies</a:t>
            </a:r>
          </a:p>
        </p:txBody>
      </p:sp>
      <p:sp>
        <p:nvSpPr>
          <p:cNvPr id="17" name="">
            <a:extLst xmlns:a="http://schemas.openxmlformats.org/drawingml/2006/main">
              <a:ext uri="{FF2B5EF4-FFF2-40B4-BE49-F238E27FC236}">
                <a16:creationId xmlns:a16="http://schemas.microsoft.com/office/drawing/2014/main" id="{CBD36E0A-8439-4DF5-80A0-FD855D01F03D}"/>
              </a:ext>
            </a:extLst>
          </p:cNvPr>
          <p:cNvSpPr>
            <a:spLocks xmlns:a="http://schemas.openxmlformats.org/drawingml/2006/main" noGrp="1"/>
          </p:cNvSpPr>
          <p:nvPr/>
        </p:nvSpPr>
        <p:spPr>
          <a:xfrm xmlns:a="http://schemas.openxmlformats.org/drawingml/2006/main">
            <a:off x="2162175" y="2962275"/>
            <a:ext cx="323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950" b="1">
                <a:solidFill>
                  <a:srgbClr val="3269D4"/>
                </a:solidFill>
              </a:defRPr>
            </a:pPr>
            <a:r>
              <a:rPr sz="1950" b="1">
                <a:solidFill>
                  <a:srgbClr val="3269D4"/>
                </a:solidFill>
              </a:rPr>
              <a:t>→</a:t>
            </a:r>
          </a:p>
        </p:txBody>
      </p:sp>
      <p:sp>
        <p:nvSpPr>
          <p:cNvPr id="18" name="">
            <a:extLst xmlns:a="http://schemas.openxmlformats.org/drawingml/2006/main">
              <a:ext uri="{FF2B5EF4-FFF2-40B4-BE49-F238E27FC236}">
                <a16:creationId xmlns:a16="http://schemas.microsoft.com/office/drawing/2014/main" id="{74E2959F-DA7C-4CBA-B598-BD89015D269F}"/>
              </a:ext>
            </a:extLst>
          </p:cNvPr>
          <p:cNvSpPr>
            <a:spLocks xmlns:a="http://schemas.openxmlformats.org/drawingml/2006/main" noGrp="1"/>
          </p:cNvSpPr>
          <p:nvPr/>
        </p:nvSpPr>
        <p:spPr>
          <a:xfrm xmlns:a="http://schemas.openxmlformats.org/drawingml/2006/main">
            <a:off x="2571750" y="2409825"/>
            <a:ext cx="1657350" cy="15240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12383">
            <a:solidFill>
              <a:srgbClr val="3269D4"/>
            </a:solidFill>
            <a:prstDash val="solid"/>
          </a:ln>
        </p:spPr>
      </p:sp>
      <p:sp>
        <p:nvSpPr>
          <p:cNvPr id="19" name="">
            <a:extLst xmlns:a="http://schemas.openxmlformats.org/drawingml/2006/main">
              <a:ext uri="{FF2B5EF4-FFF2-40B4-BE49-F238E27FC236}">
                <a16:creationId xmlns:a16="http://schemas.microsoft.com/office/drawing/2014/main" id="{03DC58B5-20B5-4C36-9805-7AA3D87E5C18}"/>
              </a:ext>
            </a:extLst>
          </p:cNvPr>
          <p:cNvSpPr>
            <a:spLocks xmlns:a="http://schemas.openxmlformats.org/drawingml/2006/main" noGrp="1"/>
          </p:cNvSpPr>
          <p:nvPr/>
        </p:nvSpPr>
        <p:spPr>
          <a:xfrm xmlns:a="http://schemas.openxmlformats.org/drawingml/2006/main">
            <a:off x="2686050" y="2286000"/>
            <a:ext cx="266700" cy="266700"/>
          </a:xfrm>
          <a:prstGeom xmlns:a="http://schemas.openxmlformats.org/drawingml/2006/main" prst="ellipse">
            <a:avLst/>
          </a:prstGeom>
          <a:solidFill xmlns:a="http://schemas.openxmlformats.org/drawingml/2006/main">
            <a:srgbClr val="3269D4"/>
          </a:solidFill>
          <a:ln xmlns:a="http://schemas.openxmlformats.org/drawingml/2006/main" w="19050">
            <a:solidFill>
              <a:srgbClr val="FFFFFF"/>
            </a:solidFill>
            <a:prstDash val="solid"/>
          </a:ln>
        </p:spPr>
      </p:sp>
      <p:sp>
        <p:nvSpPr>
          <p:cNvPr id="20" name="">
            <a:extLst xmlns:a="http://schemas.openxmlformats.org/drawingml/2006/main">
              <a:ext uri="{FF2B5EF4-FFF2-40B4-BE49-F238E27FC236}">
                <a16:creationId xmlns:a16="http://schemas.microsoft.com/office/drawing/2014/main" id="{4FC5F93D-01F1-4913-B3B7-0477AE4AFEF5}"/>
              </a:ext>
            </a:extLst>
          </p:cNvPr>
          <p:cNvSpPr>
            <a:spLocks xmlns:a="http://schemas.openxmlformats.org/drawingml/2006/main" noGrp="1"/>
          </p:cNvSpPr>
          <p:nvPr/>
        </p:nvSpPr>
        <p:spPr>
          <a:xfrm xmlns:a="http://schemas.openxmlformats.org/drawingml/2006/main">
            <a:off x="2686050" y="232410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21" name="">
            <a:extLst xmlns:a="http://schemas.openxmlformats.org/drawingml/2006/main">
              <a:ext uri="{FF2B5EF4-FFF2-40B4-BE49-F238E27FC236}">
                <a16:creationId xmlns:a16="http://schemas.microsoft.com/office/drawing/2014/main" id="{64B30C29-BB6C-41EA-A4D3-7AA0C882DD20}"/>
              </a:ext>
            </a:extLst>
          </p:cNvPr>
          <p:cNvSpPr>
            <a:spLocks xmlns:a="http://schemas.openxmlformats.org/drawingml/2006/main" noGrp="1"/>
          </p:cNvSpPr>
          <p:nvPr/>
        </p:nvSpPr>
        <p:spPr>
          <a:xfrm xmlns:a="http://schemas.openxmlformats.org/drawingml/2006/main">
            <a:off x="2743200" y="2638425"/>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162C52"/>
                </a:solidFill>
              </a:defRPr>
            </a:pPr>
            <a:r>
              <a:rPr sz="1350" b="1">
                <a:solidFill>
                  <a:srgbClr val="162C52"/>
                </a:solidFill>
              </a:rPr>
              <a:t>Semantic chunks</a:t>
            </a:r>
          </a:p>
        </p:txBody>
      </p:sp>
      <p:sp>
        <p:nvSpPr>
          <p:cNvPr id="22" name="">
            <a:extLst xmlns:a="http://schemas.openxmlformats.org/drawingml/2006/main">
              <a:ext uri="{FF2B5EF4-FFF2-40B4-BE49-F238E27FC236}">
                <a16:creationId xmlns:a16="http://schemas.microsoft.com/office/drawing/2014/main" id="{E4A4C6BD-57D6-4348-9A4A-C028C32627DF}"/>
              </a:ext>
            </a:extLst>
          </p:cNvPr>
          <p:cNvSpPr>
            <a:spLocks xmlns:a="http://schemas.openxmlformats.org/drawingml/2006/main" noGrp="1"/>
          </p:cNvSpPr>
          <p:nvPr/>
        </p:nvSpPr>
        <p:spPr>
          <a:xfrm xmlns:a="http://schemas.openxmlformats.org/drawingml/2006/main">
            <a:off x="2724150" y="3038475"/>
            <a:ext cx="13525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0">
                <a:solidFill>
                  <a:srgbClr val="617391"/>
                </a:solidFill>
              </a:defRPr>
            </a:pPr>
            <a:r>
              <a:rPr sz="1125" b="0">
                <a:solidFill>
                  <a:srgbClr val="617391"/>
                </a:solidFill>
              </a:rPr>
              <a:t>250–500 tokens</a:t>
            </a:r>
          </a:p>
          <a:p xmlns:a="http://schemas.openxmlformats.org/drawingml/2006/main">
            <a:pPr algn="ctr">
              <a:buNone/>
              <a:defRPr sz="1125" b="0">
                <a:solidFill>
                  <a:srgbClr val="617391"/>
                </a:solidFill>
              </a:defRPr>
            </a:pPr>
            <a:r>
              <a:rPr sz="1125" b="0">
                <a:solidFill>
                  <a:srgbClr val="617391"/>
                </a:solidFill>
              </a:rPr>
              <a:t>+ metadata</a:t>
            </a:r>
          </a:p>
        </p:txBody>
      </p:sp>
      <p:sp>
        <p:nvSpPr>
          <p:cNvPr id="23" name="">
            <a:extLst xmlns:a="http://schemas.openxmlformats.org/drawingml/2006/main">
              <a:ext uri="{FF2B5EF4-FFF2-40B4-BE49-F238E27FC236}">
                <a16:creationId xmlns:a16="http://schemas.microsoft.com/office/drawing/2014/main" id="{71BB6A90-7765-48D0-B186-4A07B08D5714}"/>
              </a:ext>
            </a:extLst>
          </p:cNvPr>
          <p:cNvSpPr>
            <a:spLocks xmlns:a="http://schemas.openxmlformats.org/drawingml/2006/main" noGrp="1"/>
          </p:cNvSpPr>
          <p:nvPr/>
        </p:nvSpPr>
        <p:spPr>
          <a:xfrm xmlns:a="http://schemas.openxmlformats.org/drawingml/2006/main">
            <a:off x="4276725" y="2962275"/>
            <a:ext cx="323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950" b="1">
                <a:solidFill>
                  <a:srgbClr val="3269D4"/>
                </a:solidFill>
              </a:defRPr>
            </a:pPr>
            <a:r>
              <a:rPr sz="1950" b="1">
                <a:solidFill>
                  <a:srgbClr val="3269D4"/>
                </a:solidFill>
              </a:rPr>
              <a:t>→</a:t>
            </a:r>
          </a:p>
        </p:txBody>
      </p:sp>
      <p:sp>
        <p:nvSpPr>
          <p:cNvPr id="24" name="">
            <a:extLst xmlns:a="http://schemas.openxmlformats.org/drawingml/2006/main">
              <a:ext uri="{FF2B5EF4-FFF2-40B4-BE49-F238E27FC236}">
                <a16:creationId xmlns:a16="http://schemas.microsoft.com/office/drawing/2014/main" id="{14F29B18-5D7A-4A90-8CDF-3B75C39EB389}"/>
              </a:ext>
            </a:extLst>
          </p:cNvPr>
          <p:cNvSpPr>
            <a:spLocks xmlns:a="http://schemas.openxmlformats.org/drawingml/2006/main" noGrp="1"/>
          </p:cNvSpPr>
          <p:nvPr/>
        </p:nvSpPr>
        <p:spPr>
          <a:xfrm xmlns:a="http://schemas.openxmlformats.org/drawingml/2006/main">
            <a:off x="4686300" y="2409825"/>
            <a:ext cx="1657350" cy="15240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12383">
            <a:solidFill>
              <a:srgbClr val="6737C4"/>
            </a:solidFill>
            <a:prstDash val="solid"/>
          </a:ln>
        </p:spPr>
      </p:sp>
      <p:sp>
        <p:nvSpPr>
          <p:cNvPr id="25" name="">
            <a:extLst xmlns:a="http://schemas.openxmlformats.org/drawingml/2006/main">
              <a:ext uri="{FF2B5EF4-FFF2-40B4-BE49-F238E27FC236}">
                <a16:creationId xmlns:a16="http://schemas.microsoft.com/office/drawing/2014/main" id="{50F1F3E4-11EB-4551-98E7-D535F744D21E}"/>
              </a:ext>
            </a:extLst>
          </p:cNvPr>
          <p:cNvSpPr>
            <a:spLocks xmlns:a="http://schemas.openxmlformats.org/drawingml/2006/main" noGrp="1"/>
          </p:cNvSpPr>
          <p:nvPr/>
        </p:nvSpPr>
        <p:spPr>
          <a:xfrm xmlns:a="http://schemas.openxmlformats.org/drawingml/2006/main">
            <a:off x="4800600" y="2286000"/>
            <a:ext cx="266700" cy="266700"/>
          </a:xfrm>
          <a:prstGeom xmlns:a="http://schemas.openxmlformats.org/drawingml/2006/main" prst="ellipse">
            <a:avLst/>
          </a:prstGeom>
          <a:solidFill xmlns:a="http://schemas.openxmlformats.org/drawingml/2006/main">
            <a:srgbClr val="6737C4"/>
          </a:solidFill>
          <a:ln xmlns:a="http://schemas.openxmlformats.org/drawingml/2006/main" w="19050">
            <a:solidFill>
              <a:srgbClr val="FFFFFF"/>
            </a:solidFill>
            <a:prstDash val="solid"/>
          </a:ln>
        </p:spPr>
      </p:sp>
      <p:sp>
        <p:nvSpPr>
          <p:cNvPr id="26" name="">
            <a:extLst xmlns:a="http://schemas.openxmlformats.org/drawingml/2006/main">
              <a:ext uri="{FF2B5EF4-FFF2-40B4-BE49-F238E27FC236}">
                <a16:creationId xmlns:a16="http://schemas.microsoft.com/office/drawing/2014/main" id="{DE90534E-8E9A-4739-8462-4E31A9322137}"/>
              </a:ext>
            </a:extLst>
          </p:cNvPr>
          <p:cNvSpPr>
            <a:spLocks xmlns:a="http://schemas.openxmlformats.org/drawingml/2006/main" noGrp="1"/>
          </p:cNvSpPr>
          <p:nvPr/>
        </p:nvSpPr>
        <p:spPr>
          <a:xfrm xmlns:a="http://schemas.openxmlformats.org/drawingml/2006/main">
            <a:off x="4800600" y="232410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27" name="">
            <a:extLst xmlns:a="http://schemas.openxmlformats.org/drawingml/2006/main">
              <a:ext uri="{FF2B5EF4-FFF2-40B4-BE49-F238E27FC236}">
                <a16:creationId xmlns:a16="http://schemas.microsoft.com/office/drawing/2014/main" id="{6F4ED14A-144A-475A-B43F-89A72E84A03D}"/>
              </a:ext>
            </a:extLst>
          </p:cNvPr>
          <p:cNvSpPr>
            <a:spLocks xmlns:a="http://schemas.openxmlformats.org/drawingml/2006/main" noGrp="1"/>
          </p:cNvSpPr>
          <p:nvPr/>
        </p:nvSpPr>
        <p:spPr>
          <a:xfrm xmlns:a="http://schemas.openxmlformats.org/drawingml/2006/main">
            <a:off x="4857750" y="2638425"/>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162C52"/>
                </a:solidFill>
              </a:defRPr>
            </a:pPr>
            <a:r>
              <a:rPr sz="1350" b="1">
                <a:solidFill>
                  <a:srgbClr val="162C52"/>
                </a:solidFill>
              </a:rPr>
              <a:t>Embedding</a:t>
            </a:r>
          </a:p>
        </p:txBody>
      </p:sp>
      <p:sp>
        <p:nvSpPr>
          <p:cNvPr id="28" name="">
            <a:extLst xmlns:a="http://schemas.openxmlformats.org/drawingml/2006/main">
              <a:ext uri="{FF2B5EF4-FFF2-40B4-BE49-F238E27FC236}">
                <a16:creationId xmlns:a16="http://schemas.microsoft.com/office/drawing/2014/main" id="{E3691183-3E1D-4E26-A938-48AF3DC039BA}"/>
              </a:ext>
            </a:extLst>
          </p:cNvPr>
          <p:cNvSpPr>
            <a:spLocks xmlns:a="http://schemas.openxmlformats.org/drawingml/2006/main" noGrp="1"/>
          </p:cNvSpPr>
          <p:nvPr/>
        </p:nvSpPr>
        <p:spPr>
          <a:xfrm xmlns:a="http://schemas.openxmlformats.org/drawingml/2006/main">
            <a:off x="4838700" y="3038475"/>
            <a:ext cx="13525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0">
                <a:solidFill>
                  <a:srgbClr val="617391"/>
                </a:solidFill>
              </a:defRPr>
            </a:pPr>
            <a:r>
              <a:rPr sz="1125" b="0">
                <a:solidFill>
                  <a:srgbClr val="617391"/>
                </a:solidFill>
              </a:rPr>
              <a:t>Gemini embedding-001</a:t>
            </a:r>
          </a:p>
          <a:p xmlns:a="http://schemas.openxmlformats.org/drawingml/2006/main">
            <a:pPr algn="ctr">
              <a:buNone/>
              <a:defRPr sz="1125" b="0">
                <a:solidFill>
                  <a:srgbClr val="617391"/>
                </a:solidFill>
              </a:defRPr>
            </a:pPr>
            <a:r>
              <a:rPr sz="1125" b="0">
                <a:solidFill>
                  <a:srgbClr val="617391"/>
                </a:solidFill>
              </a:rPr>
              <a:t>768 dimensions</a:t>
            </a:r>
          </a:p>
        </p:txBody>
      </p:sp>
      <p:sp>
        <p:nvSpPr>
          <p:cNvPr id="29" name="">
            <a:extLst xmlns:a="http://schemas.openxmlformats.org/drawingml/2006/main">
              <a:ext uri="{FF2B5EF4-FFF2-40B4-BE49-F238E27FC236}">
                <a16:creationId xmlns:a16="http://schemas.microsoft.com/office/drawing/2014/main" id="{BACEFB30-A8A2-495A-85E0-DC7EC1744B0D}"/>
              </a:ext>
            </a:extLst>
          </p:cNvPr>
          <p:cNvSpPr>
            <a:spLocks xmlns:a="http://schemas.openxmlformats.org/drawingml/2006/main" noGrp="1"/>
          </p:cNvSpPr>
          <p:nvPr/>
        </p:nvSpPr>
        <p:spPr>
          <a:xfrm xmlns:a="http://schemas.openxmlformats.org/drawingml/2006/main">
            <a:off x="6391275" y="2962275"/>
            <a:ext cx="323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950" b="1">
                <a:solidFill>
                  <a:srgbClr val="3269D4"/>
                </a:solidFill>
              </a:defRPr>
            </a:pPr>
            <a:r>
              <a:rPr sz="1950" b="1">
                <a:solidFill>
                  <a:srgbClr val="3269D4"/>
                </a:solidFill>
              </a:rPr>
              <a:t>→</a:t>
            </a:r>
          </a:p>
        </p:txBody>
      </p:sp>
      <p:sp>
        <p:nvSpPr>
          <p:cNvPr id="30" name="">
            <a:extLst xmlns:a="http://schemas.openxmlformats.org/drawingml/2006/main">
              <a:ext uri="{FF2B5EF4-FFF2-40B4-BE49-F238E27FC236}">
                <a16:creationId xmlns:a16="http://schemas.microsoft.com/office/drawing/2014/main" id="{CCB834E6-F2E3-4E33-891B-CA2A8CB56ABF}"/>
              </a:ext>
            </a:extLst>
          </p:cNvPr>
          <p:cNvSpPr>
            <a:spLocks xmlns:a="http://schemas.openxmlformats.org/drawingml/2006/main" noGrp="1"/>
          </p:cNvSpPr>
          <p:nvPr/>
        </p:nvSpPr>
        <p:spPr>
          <a:xfrm xmlns:a="http://schemas.openxmlformats.org/drawingml/2006/main">
            <a:off x="6800850" y="2409825"/>
            <a:ext cx="1657350" cy="15240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12383">
            <a:solidFill>
              <a:srgbClr val="17834D"/>
            </a:solidFill>
            <a:prstDash val="solid"/>
          </a:ln>
        </p:spPr>
      </p:sp>
      <p:sp>
        <p:nvSpPr>
          <p:cNvPr id="31" name="">
            <a:extLst xmlns:a="http://schemas.openxmlformats.org/drawingml/2006/main">
              <a:ext uri="{FF2B5EF4-FFF2-40B4-BE49-F238E27FC236}">
                <a16:creationId xmlns:a16="http://schemas.microsoft.com/office/drawing/2014/main" id="{D598726F-B592-45FA-A1B1-A0F7BD2F7986}"/>
              </a:ext>
            </a:extLst>
          </p:cNvPr>
          <p:cNvSpPr>
            <a:spLocks xmlns:a="http://schemas.openxmlformats.org/drawingml/2006/main" noGrp="1"/>
          </p:cNvSpPr>
          <p:nvPr/>
        </p:nvSpPr>
        <p:spPr>
          <a:xfrm xmlns:a="http://schemas.openxmlformats.org/drawingml/2006/main">
            <a:off x="6915150" y="2286000"/>
            <a:ext cx="266700" cy="266700"/>
          </a:xfrm>
          <a:prstGeom xmlns:a="http://schemas.openxmlformats.org/drawingml/2006/main" prst="ellipse">
            <a:avLst/>
          </a:prstGeom>
          <a:solidFill xmlns:a="http://schemas.openxmlformats.org/drawingml/2006/main">
            <a:srgbClr val="17834D"/>
          </a:solidFill>
          <a:ln xmlns:a="http://schemas.openxmlformats.org/drawingml/2006/main" w="19050">
            <a:solidFill>
              <a:srgbClr val="FFFFFF"/>
            </a:solidFill>
            <a:prstDash val="solid"/>
          </a:ln>
        </p:spPr>
      </p:sp>
      <p:sp>
        <p:nvSpPr>
          <p:cNvPr id="32" name="">
            <a:extLst xmlns:a="http://schemas.openxmlformats.org/drawingml/2006/main">
              <a:ext uri="{FF2B5EF4-FFF2-40B4-BE49-F238E27FC236}">
                <a16:creationId xmlns:a16="http://schemas.microsoft.com/office/drawing/2014/main" id="{FA106FD3-4875-4909-9C03-E83A74A74BBD}"/>
              </a:ext>
            </a:extLst>
          </p:cNvPr>
          <p:cNvSpPr>
            <a:spLocks xmlns:a="http://schemas.openxmlformats.org/drawingml/2006/main" noGrp="1"/>
          </p:cNvSpPr>
          <p:nvPr/>
        </p:nvSpPr>
        <p:spPr>
          <a:xfrm xmlns:a="http://schemas.openxmlformats.org/drawingml/2006/main">
            <a:off x="6915150" y="232410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33" name="">
            <a:extLst xmlns:a="http://schemas.openxmlformats.org/drawingml/2006/main">
              <a:ext uri="{FF2B5EF4-FFF2-40B4-BE49-F238E27FC236}">
                <a16:creationId xmlns:a16="http://schemas.microsoft.com/office/drawing/2014/main" id="{F363CEBF-C416-4277-92AF-281273D4B441}"/>
              </a:ext>
            </a:extLst>
          </p:cNvPr>
          <p:cNvSpPr>
            <a:spLocks xmlns:a="http://schemas.openxmlformats.org/drawingml/2006/main" noGrp="1"/>
          </p:cNvSpPr>
          <p:nvPr/>
        </p:nvSpPr>
        <p:spPr>
          <a:xfrm xmlns:a="http://schemas.openxmlformats.org/drawingml/2006/main">
            <a:off x="6972300" y="2638425"/>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162C52"/>
                </a:solidFill>
              </a:defRPr>
            </a:pPr>
            <a:r>
              <a:rPr sz="1350" b="1">
                <a:solidFill>
                  <a:srgbClr val="162C52"/>
                </a:solidFill>
              </a:rPr>
              <a:t>Vector index</a:t>
            </a:r>
          </a:p>
        </p:txBody>
      </p:sp>
      <p:sp>
        <p:nvSpPr>
          <p:cNvPr id="34" name="">
            <a:extLst xmlns:a="http://schemas.openxmlformats.org/drawingml/2006/main">
              <a:ext uri="{FF2B5EF4-FFF2-40B4-BE49-F238E27FC236}">
                <a16:creationId xmlns:a16="http://schemas.microsoft.com/office/drawing/2014/main" id="{325CD8A4-ABB6-4442-9440-5CFF6C947480}"/>
              </a:ext>
            </a:extLst>
          </p:cNvPr>
          <p:cNvSpPr>
            <a:spLocks xmlns:a="http://schemas.openxmlformats.org/drawingml/2006/main" noGrp="1"/>
          </p:cNvSpPr>
          <p:nvPr/>
        </p:nvSpPr>
        <p:spPr>
          <a:xfrm xmlns:a="http://schemas.openxmlformats.org/drawingml/2006/main">
            <a:off x="6953250" y="3038475"/>
            <a:ext cx="13525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0">
                <a:solidFill>
                  <a:srgbClr val="617391"/>
                </a:solidFill>
              </a:defRPr>
            </a:pPr>
            <a:r>
              <a:rPr sz="1125" b="0">
                <a:solidFill>
                  <a:srgbClr val="617391"/>
                </a:solidFill>
              </a:rPr>
              <a:t>Firestore Vector Search</a:t>
            </a:r>
          </a:p>
          <a:p xmlns:a="http://schemas.openxmlformats.org/drawingml/2006/main">
            <a:pPr algn="ctr">
              <a:buNone/>
              <a:defRPr sz="1125" b="0">
                <a:solidFill>
                  <a:srgbClr val="617391"/>
                </a:solidFill>
              </a:defRPr>
            </a:pPr>
            <a:r>
              <a:rPr sz="1125" b="0">
                <a:solidFill>
                  <a:srgbClr val="617391"/>
                </a:solidFill>
              </a:rPr>
              <a:t>COSINE</a:t>
            </a:r>
          </a:p>
        </p:txBody>
      </p:sp>
      <p:sp>
        <p:nvSpPr>
          <p:cNvPr id="35" name="">
            <a:extLst xmlns:a="http://schemas.openxmlformats.org/drawingml/2006/main">
              <a:ext uri="{FF2B5EF4-FFF2-40B4-BE49-F238E27FC236}">
                <a16:creationId xmlns:a16="http://schemas.microsoft.com/office/drawing/2014/main" id="{DC88D725-177B-40D7-AA86-0F3280598D03}"/>
              </a:ext>
            </a:extLst>
          </p:cNvPr>
          <p:cNvSpPr>
            <a:spLocks xmlns:a="http://schemas.openxmlformats.org/drawingml/2006/main" noGrp="1"/>
          </p:cNvSpPr>
          <p:nvPr/>
        </p:nvSpPr>
        <p:spPr>
          <a:xfrm xmlns:a="http://schemas.openxmlformats.org/drawingml/2006/main">
            <a:off x="8505825" y="2962275"/>
            <a:ext cx="323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950" b="1">
                <a:solidFill>
                  <a:srgbClr val="3269D4"/>
                </a:solidFill>
              </a:defRPr>
            </a:pPr>
            <a:r>
              <a:rPr sz="1950" b="1">
                <a:solidFill>
                  <a:srgbClr val="3269D4"/>
                </a:solidFill>
              </a:rPr>
              <a:t>→</a:t>
            </a:r>
          </a:p>
        </p:txBody>
      </p:sp>
      <p:sp>
        <p:nvSpPr>
          <p:cNvPr id="36" name="">
            <a:extLst xmlns:a="http://schemas.openxmlformats.org/drawingml/2006/main">
              <a:ext uri="{FF2B5EF4-FFF2-40B4-BE49-F238E27FC236}">
                <a16:creationId xmlns:a16="http://schemas.microsoft.com/office/drawing/2014/main" id="{362FC396-CC39-435F-8E85-D494DC341912}"/>
              </a:ext>
            </a:extLst>
          </p:cNvPr>
          <p:cNvSpPr>
            <a:spLocks xmlns:a="http://schemas.openxmlformats.org/drawingml/2006/main" noGrp="1"/>
          </p:cNvSpPr>
          <p:nvPr/>
        </p:nvSpPr>
        <p:spPr>
          <a:xfrm xmlns:a="http://schemas.openxmlformats.org/drawingml/2006/main">
            <a:off x="8915400" y="2409825"/>
            <a:ext cx="1657350" cy="15240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12383">
            <a:solidFill>
              <a:srgbClr val="3269D4"/>
            </a:solidFill>
            <a:prstDash val="solid"/>
          </a:ln>
        </p:spPr>
      </p:sp>
      <p:sp>
        <p:nvSpPr>
          <p:cNvPr id="37" name="">
            <a:extLst xmlns:a="http://schemas.openxmlformats.org/drawingml/2006/main">
              <a:ext uri="{FF2B5EF4-FFF2-40B4-BE49-F238E27FC236}">
                <a16:creationId xmlns:a16="http://schemas.microsoft.com/office/drawing/2014/main" id="{B9EECEAD-897C-4384-9DF2-2A73CB2F131F}"/>
              </a:ext>
            </a:extLst>
          </p:cNvPr>
          <p:cNvSpPr>
            <a:spLocks xmlns:a="http://schemas.openxmlformats.org/drawingml/2006/main" noGrp="1"/>
          </p:cNvSpPr>
          <p:nvPr/>
        </p:nvSpPr>
        <p:spPr>
          <a:xfrm xmlns:a="http://schemas.openxmlformats.org/drawingml/2006/main">
            <a:off x="9029700" y="2286000"/>
            <a:ext cx="266700" cy="266700"/>
          </a:xfrm>
          <a:prstGeom xmlns:a="http://schemas.openxmlformats.org/drawingml/2006/main" prst="ellipse">
            <a:avLst/>
          </a:prstGeom>
          <a:solidFill xmlns:a="http://schemas.openxmlformats.org/drawingml/2006/main">
            <a:srgbClr val="3269D4"/>
          </a:solidFill>
          <a:ln xmlns:a="http://schemas.openxmlformats.org/drawingml/2006/main" w="19050">
            <a:solidFill>
              <a:srgbClr val="FFFFFF"/>
            </a:solidFill>
            <a:prstDash val="solid"/>
          </a:ln>
        </p:spPr>
      </p:sp>
      <p:sp>
        <p:nvSpPr>
          <p:cNvPr id="38" name="">
            <a:extLst xmlns:a="http://schemas.openxmlformats.org/drawingml/2006/main">
              <a:ext uri="{FF2B5EF4-FFF2-40B4-BE49-F238E27FC236}">
                <a16:creationId xmlns:a16="http://schemas.microsoft.com/office/drawing/2014/main" id="{2E193EE5-2BC9-499C-A136-A52A7AE83EFA}"/>
              </a:ext>
            </a:extLst>
          </p:cNvPr>
          <p:cNvSpPr>
            <a:spLocks xmlns:a="http://schemas.openxmlformats.org/drawingml/2006/main" noGrp="1"/>
          </p:cNvSpPr>
          <p:nvPr/>
        </p:nvSpPr>
        <p:spPr>
          <a:xfrm xmlns:a="http://schemas.openxmlformats.org/drawingml/2006/main">
            <a:off x="9029700" y="232410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39" name="">
            <a:extLst xmlns:a="http://schemas.openxmlformats.org/drawingml/2006/main">
              <a:ext uri="{FF2B5EF4-FFF2-40B4-BE49-F238E27FC236}">
                <a16:creationId xmlns:a16="http://schemas.microsoft.com/office/drawing/2014/main" id="{C6AFE48B-1AB4-46B1-B9A2-AA7B8BA4A94C}"/>
              </a:ext>
            </a:extLst>
          </p:cNvPr>
          <p:cNvSpPr>
            <a:spLocks xmlns:a="http://schemas.openxmlformats.org/drawingml/2006/main" noGrp="1"/>
          </p:cNvSpPr>
          <p:nvPr/>
        </p:nvSpPr>
        <p:spPr>
          <a:xfrm xmlns:a="http://schemas.openxmlformats.org/drawingml/2006/main">
            <a:off x="9086850" y="2638425"/>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162C52"/>
                </a:solidFill>
              </a:defRPr>
            </a:pPr>
            <a:r>
              <a:rPr sz="1350" b="1">
                <a:solidFill>
                  <a:srgbClr val="162C52"/>
                </a:solidFill>
              </a:rPr>
              <a:t>Top-K context</a:t>
            </a:r>
          </a:p>
        </p:txBody>
      </p:sp>
      <p:sp>
        <p:nvSpPr>
          <p:cNvPr id="40" name="">
            <a:extLst xmlns:a="http://schemas.openxmlformats.org/drawingml/2006/main">
              <a:ext uri="{FF2B5EF4-FFF2-40B4-BE49-F238E27FC236}">
                <a16:creationId xmlns:a16="http://schemas.microsoft.com/office/drawing/2014/main" id="{97C979CF-9D8E-4CF2-90F9-068CBC8F8FBD}"/>
              </a:ext>
            </a:extLst>
          </p:cNvPr>
          <p:cNvSpPr>
            <a:spLocks xmlns:a="http://schemas.openxmlformats.org/drawingml/2006/main" noGrp="1"/>
          </p:cNvSpPr>
          <p:nvPr/>
        </p:nvSpPr>
        <p:spPr>
          <a:xfrm xmlns:a="http://schemas.openxmlformats.org/drawingml/2006/main">
            <a:off x="9067800" y="3038475"/>
            <a:ext cx="13525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0">
                <a:solidFill>
                  <a:srgbClr val="617391"/>
                </a:solidFill>
              </a:defRPr>
            </a:pPr>
            <a:r>
              <a:rPr sz="1125" b="0">
                <a:solidFill>
                  <a:srgbClr val="617391"/>
                </a:solidFill>
              </a:rPr>
              <a:t>Top-5 proposed</a:t>
            </a:r>
          </a:p>
          <a:p xmlns:a="http://schemas.openxmlformats.org/drawingml/2006/main">
            <a:pPr algn="ctr">
              <a:buNone/>
              <a:defRPr sz="1125" b="0">
                <a:solidFill>
                  <a:srgbClr val="617391"/>
                </a:solidFill>
              </a:defRPr>
            </a:pPr>
            <a:r>
              <a:rPr sz="1125" b="0">
                <a:solidFill>
                  <a:srgbClr val="617391"/>
                </a:solidFill>
              </a:rPr>
              <a:t>→ Planner</a:t>
            </a:r>
          </a:p>
        </p:txBody>
      </p:sp>
      <p:sp>
        <p:nvSpPr>
          <p:cNvPr id="41" name="">
            <a:extLst xmlns:a="http://schemas.openxmlformats.org/drawingml/2006/main">
              <a:ext uri="{FF2B5EF4-FFF2-40B4-BE49-F238E27FC236}">
                <a16:creationId xmlns:a16="http://schemas.microsoft.com/office/drawing/2014/main" id="{721D419F-E079-490E-8E6D-883525988C19}"/>
              </a:ext>
            </a:extLst>
          </p:cNvPr>
          <p:cNvSpPr>
            <a:spLocks xmlns:a="http://schemas.openxmlformats.org/drawingml/2006/main" noGrp="1"/>
          </p:cNvSpPr>
          <p:nvPr/>
        </p:nvSpPr>
        <p:spPr>
          <a:xfrm xmlns:a="http://schemas.openxmlformats.org/drawingml/2006/main">
            <a:off x="457200" y="4267200"/>
            <a:ext cx="5219700" cy="1714500"/>
          </a:xfrm>
          <a:prstGeom xmlns:a="http://schemas.openxmlformats.org/drawingml/2006/main" prst="roundRect">
            <a:avLst>
              <a:gd name="adj" fmla="val 4444"/>
            </a:avLst>
          </a:prstGeom>
          <a:solidFill xmlns:a="http://schemas.openxmlformats.org/drawingml/2006/main">
            <a:srgbClr val="F7F9FC"/>
          </a:solidFill>
          <a:ln xmlns:a="http://schemas.openxmlformats.org/drawingml/2006/main" w="9525">
            <a:solidFill>
              <a:srgbClr val="D8E2F0"/>
            </a:solidFill>
            <a:prstDash val="solid"/>
          </a:ln>
        </p:spPr>
      </p:sp>
      <p:sp>
        <p:nvSpPr>
          <p:cNvPr id="42" name="">
            <a:extLst xmlns:a="http://schemas.openxmlformats.org/drawingml/2006/main">
              <a:ext uri="{FF2B5EF4-FFF2-40B4-BE49-F238E27FC236}">
                <a16:creationId xmlns:a16="http://schemas.microsoft.com/office/drawing/2014/main" id="{F302CD89-0E5A-4064-989D-5701A8CEB42C}"/>
              </a:ext>
            </a:extLst>
          </p:cNvPr>
          <p:cNvSpPr>
            <a:spLocks xmlns:a="http://schemas.openxmlformats.org/drawingml/2006/main" noGrp="1"/>
          </p:cNvSpPr>
          <p:nvPr/>
        </p:nvSpPr>
        <p:spPr>
          <a:xfrm xmlns:a="http://schemas.openxmlformats.org/drawingml/2006/main">
            <a:off x="666750" y="44767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1356F"/>
                </a:solidFill>
              </a:defRPr>
            </a:pPr>
            <a:r>
              <a:rPr sz="1500" b="1">
                <a:solidFill>
                  <a:srgbClr val="11356F"/>
                </a:solidFill>
              </a:rPr>
              <a:t>Search query composition</a:t>
            </a:r>
          </a:p>
        </p:txBody>
      </p:sp>
      <p:sp>
        <p:nvSpPr>
          <p:cNvPr id="43" name="">
            <a:extLst xmlns:a="http://schemas.openxmlformats.org/drawingml/2006/main">
              <a:ext uri="{FF2B5EF4-FFF2-40B4-BE49-F238E27FC236}">
                <a16:creationId xmlns:a16="http://schemas.microsoft.com/office/drawing/2014/main" id="{4E5B2804-E699-4AAF-ABC0-332099C63C04}"/>
              </a:ext>
            </a:extLst>
          </p:cNvPr>
          <p:cNvSpPr>
            <a:spLocks xmlns:a="http://schemas.openxmlformats.org/drawingml/2006/main" noGrp="1"/>
          </p:cNvSpPr>
          <p:nvPr/>
        </p:nvSpPr>
        <p:spPr>
          <a:xfrm xmlns:a="http://schemas.openxmlformats.org/drawingml/2006/main">
            <a:off x="666750" y="4857750"/>
            <a:ext cx="4667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162C52"/>
                </a:solidFill>
              </a:defRPr>
            </a:pPr>
            <a:r>
              <a:rPr sz="1350" b="0">
                <a:solidFill>
                  <a:srgbClr val="162C52"/>
                </a:solidFill>
              </a:rPr>
              <a:t>Profile summary + specialization + experience level</a:t>
            </a:r>
          </a:p>
          <a:p xmlns:a="http://schemas.openxmlformats.org/drawingml/2006/main">
            <a:pPr algn="l">
              <a:buNone/>
              <a:defRPr sz="1350" b="0">
                <a:solidFill>
                  <a:srgbClr val="162C52"/>
                </a:solidFill>
              </a:defRPr>
            </a:pPr>
            <a:r>
              <a:rPr sz="1350" b="0">
                <a:solidFill>
                  <a:srgbClr val="162C52"/>
                </a:solidFill>
              </a:rPr>
              <a:t>+ strongest skills and evidence</a:t>
            </a:r>
          </a:p>
          <a:p xmlns:a="http://schemas.openxmlformats.org/drawingml/2006/main">
            <a:r>
              <a:t/>
            </a:r>
          </a:p>
          <a:p xmlns:a="http://schemas.openxmlformats.org/drawingml/2006/main">
            <a:pPr algn="l">
              <a:buNone/>
              <a:defRPr sz="1350" b="0">
                <a:solidFill>
                  <a:srgbClr val="162C52"/>
                </a:solidFill>
              </a:defRPr>
            </a:pPr>
            <a:r>
              <a:rPr sz="1350" b="0">
                <a:solidFill>
                  <a:srgbClr val="162C52"/>
                </a:solidFill>
              </a:rPr>
              <a:t>Pre-filter: domain / level / active version</a:t>
            </a:r>
          </a:p>
        </p:txBody>
      </p:sp>
      <p:sp>
        <p:nvSpPr>
          <p:cNvPr id="44" name="">
            <a:extLst xmlns:a="http://schemas.openxmlformats.org/drawingml/2006/main">
              <a:ext uri="{FF2B5EF4-FFF2-40B4-BE49-F238E27FC236}">
                <a16:creationId xmlns:a16="http://schemas.microsoft.com/office/drawing/2014/main" id="{33B5D062-033F-49BD-8CAF-0B023F2FAF48}"/>
              </a:ext>
            </a:extLst>
          </p:cNvPr>
          <p:cNvSpPr>
            <a:spLocks xmlns:a="http://schemas.openxmlformats.org/drawingml/2006/main" noGrp="1"/>
          </p:cNvSpPr>
          <p:nvPr/>
        </p:nvSpPr>
        <p:spPr>
          <a:xfrm xmlns:a="http://schemas.openxmlformats.org/drawingml/2006/main">
            <a:off x="5905500" y="4267200"/>
            <a:ext cx="5829300" cy="1714500"/>
          </a:xfrm>
          <a:prstGeom xmlns:a="http://schemas.openxmlformats.org/drawingml/2006/main" prst="roundRect">
            <a:avLst>
              <a:gd name="adj" fmla="val 4444"/>
            </a:avLst>
          </a:prstGeom>
          <a:solidFill xmlns:a="http://schemas.openxmlformats.org/drawingml/2006/main">
            <a:srgbClr val="F4EFFF"/>
          </a:solidFill>
          <a:ln xmlns:a="http://schemas.openxmlformats.org/drawingml/2006/main" w="9525">
            <a:solidFill>
              <a:srgbClr val="6737C4"/>
            </a:solidFill>
            <a:prstDash val="solid"/>
          </a:ln>
        </p:spPr>
      </p:sp>
      <p:sp>
        <p:nvSpPr>
          <p:cNvPr id="45" name="">
            <a:extLst xmlns:a="http://schemas.openxmlformats.org/drawingml/2006/main">
              <a:ext uri="{FF2B5EF4-FFF2-40B4-BE49-F238E27FC236}">
                <a16:creationId xmlns:a16="http://schemas.microsoft.com/office/drawing/2014/main" id="{6B5744A7-DEE4-49CB-9044-307AEB86E959}"/>
              </a:ext>
            </a:extLst>
          </p:cNvPr>
          <p:cNvSpPr>
            <a:spLocks xmlns:a="http://schemas.openxmlformats.org/drawingml/2006/main" noGrp="1"/>
          </p:cNvSpPr>
          <p:nvPr/>
        </p:nvSpPr>
        <p:spPr>
          <a:xfrm xmlns:a="http://schemas.openxmlformats.org/drawingml/2006/main">
            <a:off x="6134100" y="4476750"/>
            <a:ext cx="523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6737C4"/>
                </a:solidFill>
              </a:defRPr>
            </a:pPr>
            <a:r>
              <a:rPr sz="1500" b="1">
                <a:solidFill>
                  <a:srgbClr val="6737C4"/>
                </a:solidFill>
              </a:rPr>
              <a:t>Stored document and similarity</a:t>
            </a:r>
          </a:p>
        </p:txBody>
      </p:sp>
      <p:sp>
        <p:nvSpPr>
          <p:cNvPr id="46" name="">
            <a:extLst xmlns:a="http://schemas.openxmlformats.org/drawingml/2006/main">
              <a:ext uri="{FF2B5EF4-FFF2-40B4-BE49-F238E27FC236}">
                <a16:creationId xmlns:a16="http://schemas.microsoft.com/office/drawing/2014/main" id="{E15BDA54-2AF2-4EE8-B3E3-275F8CB73D31}"/>
              </a:ext>
            </a:extLst>
          </p:cNvPr>
          <p:cNvSpPr>
            <a:spLocks xmlns:a="http://schemas.openxmlformats.org/drawingml/2006/main" noGrp="1"/>
          </p:cNvSpPr>
          <p:nvPr/>
        </p:nvSpPr>
        <p:spPr>
          <a:xfrm xmlns:a="http://schemas.openxmlformats.org/drawingml/2006/main">
            <a:off x="6134100" y="4838700"/>
            <a:ext cx="52197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162C52"/>
                </a:solidFill>
              </a:defRPr>
            </a:pPr>
            <a:r>
              <a:rPr sz="1275" b="0">
                <a:solidFill>
                  <a:srgbClr val="162C52"/>
                </a:solidFill>
              </a:rPr>
              <a:t>chunk_id • text • domain • level • source_path</a:t>
            </a:r>
          </a:p>
          <a:p xmlns:a="http://schemas.openxmlformats.org/drawingml/2006/main">
            <a:pPr algn="l">
              <a:buNone/>
              <a:defRPr sz="1275" b="0">
                <a:solidFill>
                  <a:srgbClr val="162C52"/>
                </a:solidFill>
              </a:defRPr>
            </a:pPr>
            <a:r>
              <a:rPr sz="1275" b="0">
                <a:solidFill>
                  <a:srgbClr val="162C52"/>
                </a:solidFill>
              </a:rPr>
              <a:t>content_hash • embedding_model • embedding_version • active</a:t>
            </a:r>
          </a:p>
          <a:p xmlns:a="http://schemas.openxmlformats.org/drawingml/2006/main">
            <a:r>
              <a:t/>
            </a:r>
          </a:p>
          <a:p xmlns:a="http://schemas.openxmlformats.org/drawingml/2006/main">
            <a:pPr algn="l">
              <a:buNone/>
              <a:defRPr sz="1275" b="0">
                <a:solidFill>
                  <a:srgbClr val="162C52"/>
                </a:solidFill>
              </a:defRPr>
            </a:pPr>
            <a:r>
              <a:rPr sz="1275" b="0">
                <a:solidFill>
                  <a:srgbClr val="162C52"/>
                </a:solidFill>
              </a:rPr>
              <a:t>cos(q,d) = (q · d) / (‖q‖ ‖d‖)    score = 1 − cosine_distance</a:t>
            </a:r>
          </a:p>
        </p:txBody>
      </p:sp>
      <p:sp>
        <p:nvSpPr>
          <p:cNvPr id="47" name="header-cover-4">
            <a:extLst xmlns:a="http://schemas.openxmlformats.org/drawingml/2006/main">
              <a:ext uri="{FF2B5EF4-FFF2-40B4-BE49-F238E27FC236}">
                <a16:creationId xmlns:a16="http://schemas.microsoft.com/office/drawing/2014/main" id="{84AB1E49-77A2-4FF8-B420-1F19352968A7}"/>
              </a:ext>
            </a:extLst>
          </p:cNvPr>
          <p:cNvSpPr>
            <a:spLocks xmlns:a="http://schemas.openxmlformats.org/drawingml/2006/main" noGrp="1"/>
          </p:cNvSpPr>
          <p:nvPr/>
        </p:nvSpPr>
        <p:spPr>
          <a:xfrm xmlns:a="http://schemas.openxmlformats.org/drawingml/2006/main">
            <a:off x="323850" y="190500"/>
            <a:ext cx="11525250" cy="6096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8" name="section-title-4">
            <a:extLst xmlns:a="http://schemas.openxmlformats.org/drawingml/2006/main">
              <a:ext uri="{FF2B5EF4-FFF2-40B4-BE49-F238E27FC236}">
                <a16:creationId xmlns:a16="http://schemas.microsoft.com/office/drawing/2014/main" id="{33128DAE-87EB-479D-8952-7A7C97CDB02F}"/>
              </a:ext>
            </a:extLst>
          </p:cNvPr>
          <p:cNvSpPr>
            <a:spLocks xmlns:a="http://schemas.openxmlformats.org/drawingml/2006/main" noGrp="1"/>
          </p:cNvSpPr>
          <p:nvPr/>
        </p:nvSpPr>
        <p:spPr>
          <a:xfrm xmlns:a="http://schemas.openxmlformats.org/drawingml/2006/main">
            <a:off x="400050" y="2857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1356F"/>
                </a:solidFill>
              </a:defRPr>
            </a:pPr>
            <a:r>
              <a:rPr sz="2025" b="1">
                <a:solidFill>
                  <a:srgbClr val="11356F"/>
                </a:solidFill>
              </a:rPr>
              <a:t>3. DATA &amp; KNOWLEDGE PIPELINE</a:t>
            </a:r>
          </a:p>
        </p:txBody>
      </p:sp>
      <p:sp>
        <p:nvSpPr>
          <p:cNvPr id="49" name="section-rule-4">
            <a:extLst xmlns:a="http://schemas.openxmlformats.org/drawingml/2006/main">
              <a:ext uri="{FF2B5EF4-FFF2-40B4-BE49-F238E27FC236}">
                <a16:creationId xmlns:a16="http://schemas.microsoft.com/office/drawing/2014/main" id="{2EFCB5A5-A6DA-4726-ABED-488502693AC1}"/>
              </a:ext>
            </a:extLst>
          </p:cNvPr>
          <p:cNvSpPr>
            <a:spLocks xmlns:a="http://schemas.openxmlformats.org/drawingml/2006/main" noGrp="1"/>
          </p:cNvSpPr>
          <p:nvPr/>
        </p:nvSpPr>
        <p:spPr>
          <a:xfrm xmlns:a="http://schemas.openxmlformats.org/drawingml/2006/main">
            <a:off x="400050" y="723900"/>
            <a:ext cx="9715500" cy="9525"/>
          </a:xfrm>
          <a:prstGeom xmlns:a="http://schemas.openxmlformats.org/drawingml/2006/main" prst="line">
            <a:avLst/>
          </a:prstGeom>
          <a:noFill xmlns:a="http://schemas.openxmlformats.org/drawingml/2006/main"/>
          <a:ln xmlns:a="http://schemas.openxmlformats.org/drawingml/2006/main" w="9525">
            <a:solidFill>
              <a:srgbClr val="D8E6FF"/>
            </a:solidFill>
            <a:prstDash val="solid"/>
          </a:ln>
        </p:spPr>
      </p:sp>
      <p:sp>
        <p:nvSpPr>
          <p:cNvPr id="50" name="brand-square-1-4">
            <a:extLst xmlns:a="http://schemas.openxmlformats.org/drawingml/2006/main">
              <a:ext uri="{FF2B5EF4-FFF2-40B4-BE49-F238E27FC236}">
                <a16:creationId xmlns:a16="http://schemas.microsoft.com/office/drawing/2014/main" id="{06FE1893-8210-45E3-8578-D82174268A7C}"/>
              </a:ext>
            </a:extLst>
          </p:cNvPr>
          <p:cNvSpPr>
            <a:spLocks xmlns:a="http://schemas.openxmlformats.org/drawingml/2006/main" noGrp="1"/>
          </p:cNvSpPr>
          <p:nvPr/>
        </p:nvSpPr>
        <p:spPr>
          <a:xfrm xmlns:a="http://schemas.openxmlformats.org/drawingml/2006/main">
            <a:off x="11001375" y="304800"/>
            <a:ext cx="228600" cy="228600"/>
          </a:xfrm>
          <a:prstGeom xmlns:a="http://schemas.openxmlformats.org/drawingml/2006/main" prst="rect">
            <a:avLst/>
          </a:prstGeom>
          <a:solidFill xmlns:a="http://schemas.openxmlformats.org/drawingml/2006/main">
            <a:srgbClr val="D9E5FB"/>
          </a:solidFill>
          <a:ln xmlns:a="http://schemas.openxmlformats.org/drawingml/2006/main" w="0">
            <a:noFill/>
            <a:prstDash val="solid"/>
          </a:ln>
        </p:spPr>
      </p:sp>
      <p:sp>
        <p:nvSpPr>
          <p:cNvPr id="51" name="brand-square-2-4">
            <a:extLst xmlns:a="http://schemas.openxmlformats.org/drawingml/2006/main">
              <a:ext uri="{FF2B5EF4-FFF2-40B4-BE49-F238E27FC236}">
                <a16:creationId xmlns:a16="http://schemas.microsoft.com/office/drawing/2014/main" id="{4388A234-FF8B-4A15-9317-07D899398544}"/>
              </a:ext>
            </a:extLst>
          </p:cNvPr>
          <p:cNvSpPr>
            <a:spLocks xmlns:a="http://schemas.openxmlformats.org/drawingml/2006/main" noGrp="1"/>
          </p:cNvSpPr>
          <p:nvPr/>
        </p:nvSpPr>
        <p:spPr>
          <a:xfrm xmlns:a="http://schemas.openxmlformats.org/drawingml/2006/main">
            <a:off x="11258550" y="304800"/>
            <a:ext cx="228600" cy="228600"/>
          </a:xfrm>
          <a:prstGeom xmlns:a="http://schemas.openxmlformats.org/drawingml/2006/main" prst="rect">
            <a:avLst/>
          </a:prstGeom>
          <a:solidFill xmlns:a="http://schemas.openxmlformats.org/drawingml/2006/main">
            <a:srgbClr val="AFC9F7"/>
          </a:solidFill>
          <a:ln xmlns:a="http://schemas.openxmlformats.org/drawingml/2006/main" w="0">
            <a:noFill/>
            <a:prstDash val="solid"/>
          </a:ln>
        </p:spPr>
      </p:sp>
      <p:sp>
        <p:nvSpPr>
          <p:cNvPr id="52" name="brand-square-3-4">
            <a:extLst xmlns:a="http://schemas.openxmlformats.org/drawingml/2006/main">
              <a:ext uri="{FF2B5EF4-FFF2-40B4-BE49-F238E27FC236}">
                <a16:creationId xmlns:a16="http://schemas.microsoft.com/office/drawing/2014/main" id="{66DD80C4-1146-4857-A5E3-277A31633C76}"/>
              </a:ext>
            </a:extLst>
          </p:cNvPr>
          <p:cNvSpPr>
            <a:spLocks xmlns:a="http://schemas.openxmlformats.org/drawingml/2006/main" noGrp="1"/>
          </p:cNvSpPr>
          <p:nvPr/>
        </p:nvSpPr>
        <p:spPr>
          <a:xfrm xmlns:a="http://schemas.openxmlformats.org/drawingml/2006/main">
            <a:off x="11515725" y="304800"/>
            <a:ext cx="228600" cy="228600"/>
          </a:xfrm>
          <a:prstGeom xmlns:a="http://schemas.openxmlformats.org/drawingml/2006/main" prst="rect">
            <a:avLst/>
          </a:prstGeom>
          <a:solidFill xmlns:a="http://schemas.openxmlformats.org/drawingml/2006/main">
            <a:srgbClr val="78A3F1"/>
          </a:solidFill>
          <a:ln xmlns:a="http://schemas.openxmlformats.org/drawingml/2006/main" w="0">
            <a:noFill/>
            <a:prstDash val="solid"/>
          </a:ln>
        </p:spPr>
      </p:sp>
      <p:sp>
        <p:nvSpPr>
          <p:cNvPr id="53" name="footer-cover-4">
            <a:extLst xmlns:a="http://schemas.openxmlformats.org/drawingml/2006/main">
              <a:ext uri="{FF2B5EF4-FFF2-40B4-BE49-F238E27FC236}">
                <a16:creationId xmlns:a16="http://schemas.microsoft.com/office/drawing/2014/main" id="{0167442A-BD69-4D4D-9E3A-7E02B3828F3E}"/>
              </a:ext>
            </a:extLst>
          </p:cNvPr>
          <p:cNvSpPr>
            <a:spLocks xmlns:a="http://schemas.openxmlformats.org/drawingml/2006/main" noGrp="1"/>
          </p:cNvSpPr>
          <p:nvPr/>
        </p:nvSpPr>
        <p:spPr>
          <a:xfrm xmlns:a="http://schemas.openxmlformats.org/drawingml/2006/main">
            <a:off x="323850" y="6438900"/>
            <a:ext cx="4191000" cy="2667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4" name="footer-4">
            <a:extLst xmlns:a="http://schemas.openxmlformats.org/drawingml/2006/main">
              <a:ext uri="{FF2B5EF4-FFF2-40B4-BE49-F238E27FC236}">
                <a16:creationId xmlns:a16="http://schemas.microsoft.com/office/drawing/2014/main" id="{CA510900-5C0F-4177-A41D-C4BE9E9FC6AA}"/>
              </a:ext>
            </a:extLst>
          </p:cNvPr>
          <p:cNvSpPr>
            <a:spLocks xmlns:a="http://schemas.openxmlformats.org/drawingml/2006/main" noGrp="1"/>
          </p:cNvSpPr>
          <p:nvPr/>
        </p:nvSpPr>
        <p:spPr>
          <a:xfrm xmlns:a="http://schemas.openxmlformats.org/drawingml/2006/main">
            <a:off x="40005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A98AE"/>
                </a:solidFill>
              </a:defRPr>
            </a:pPr>
            <a:r>
              <a:rPr sz="825" b="1">
                <a:solidFill>
                  <a:srgbClr val="8A98AE"/>
                </a:solidFill>
              </a:rPr>
              <a:t>FIPILOT  •  DEFENSE ROUND 1  •  4</a:t>
            </a:r>
          </a:p>
        </p:txBody>
      </p:sp>
      <p:sp>
        <p:nvSpPr>
          <p:cNvPr id="55" name="vector-header-reset">
            <a:extLst xmlns:a="http://schemas.openxmlformats.org/drawingml/2006/main">
              <a:ext uri="{FF2B5EF4-FFF2-40B4-BE49-F238E27FC236}">
                <a16:creationId xmlns:a16="http://schemas.microsoft.com/office/drawing/2014/main" id="{7554C84E-030F-48C8-A3B9-B1E64D62A1DD}"/>
              </a:ext>
            </a:extLst>
          </p:cNvPr>
          <p:cNvSpPr>
            <a:spLocks xmlns:a="http://schemas.openxmlformats.org/drawingml/2006/main" noGrp="1"/>
          </p:cNvSpPr>
          <p:nvPr/>
        </p:nvSpPr>
        <p:spPr>
          <a:xfrm xmlns:a="http://schemas.openxmlformats.org/drawingml/2006/main">
            <a:off x="0" y="0"/>
            <a:ext cx="12192000" cy="8001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6" name="vector-section-banner">
            <a:extLst xmlns:a="http://schemas.openxmlformats.org/drawingml/2006/main">
              <a:ext uri="{FF2B5EF4-FFF2-40B4-BE49-F238E27FC236}">
                <a16:creationId xmlns:a16="http://schemas.microsoft.com/office/drawing/2014/main" id="{7994A2A8-56A6-4A50-AA3E-87953A0EC266}"/>
              </a:ext>
            </a:extLst>
          </p:cNvPr>
          <p:cNvSpPr>
            <a:spLocks xmlns:a="http://schemas.openxmlformats.org/drawingml/2006/main" noGrp="1"/>
          </p:cNvSpPr>
          <p:nvPr/>
        </p:nvSpPr>
        <p:spPr>
          <a:xfrm xmlns:a="http://schemas.openxmlformats.org/drawingml/2006/main">
            <a:off x="400050" y="247650"/>
            <a:ext cx="4762500" cy="400050"/>
          </a:xfrm>
          <a:prstGeom xmlns:a="http://schemas.openxmlformats.org/drawingml/2006/main" prst="rect">
            <a:avLst/>
          </a:prstGeom>
          <a:solidFill xmlns:a="http://schemas.openxmlformats.org/drawingml/2006/main">
            <a:srgbClr val="11356F"/>
          </a:solidFill>
          <a:ln xmlns:a="http://schemas.openxmlformats.org/drawingml/2006/main" w="9525">
            <a:solidFill>
              <a:srgbClr val="11356F"/>
            </a:solid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FFFFFF"/>
                </a:solidFill>
              </a:defRPr>
            </a:pPr>
            <a:r>
              <a:rPr sz="1650" b="1">
                <a:solidFill>
                  <a:srgbClr val="FFFFFF"/>
                </a:solidFill>
              </a:rPr>
              <a:t>3. DATA &amp; KNOWLEDGE PIPELINE</a:t>
            </a:r>
          </a:p>
        </p:txBody>
      </p:sp>
      <p:sp>
        <p:nvSpPr>
          <p:cNvPr id="57" name="vector-footer-reset">
            <a:extLst xmlns:a="http://schemas.openxmlformats.org/drawingml/2006/main">
              <a:ext uri="{FF2B5EF4-FFF2-40B4-BE49-F238E27FC236}">
                <a16:creationId xmlns:a16="http://schemas.microsoft.com/office/drawing/2014/main" id="{7F769F11-72BE-4B23-8769-6F35F4EE1053}"/>
              </a:ext>
            </a:extLst>
          </p:cNvPr>
          <p:cNvSpPr>
            <a:spLocks xmlns:a="http://schemas.openxmlformats.org/drawingml/2006/main" noGrp="1"/>
          </p:cNvSpPr>
          <p:nvPr/>
        </p:nvSpPr>
        <p:spPr>
          <a:xfrm xmlns:a="http://schemas.openxmlformats.org/drawingml/2006/main">
            <a:off x="323850" y="6419850"/>
            <a:ext cx="4191000" cy="3048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8" name="vector-footer">
            <a:extLst xmlns:a="http://schemas.openxmlformats.org/drawingml/2006/main">
              <a:ext uri="{FF2B5EF4-FFF2-40B4-BE49-F238E27FC236}">
                <a16:creationId xmlns:a16="http://schemas.microsoft.com/office/drawing/2014/main" id="{2E1B71A8-6109-4B3D-AC5F-DA942070FCDB}"/>
              </a:ext>
            </a:extLst>
          </p:cNvPr>
          <p:cNvSpPr>
            <a:spLocks xmlns:a="http://schemas.openxmlformats.org/drawingml/2006/main" noGrp="1"/>
          </p:cNvSpPr>
          <p:nvPr/>
        </p:nvSpPr>
        <p:spPr>
          <a:xfrm xmlns:a="http://schemas.openxmlformats.org/drawingml/2006/main">
            <a:off x="400050" y="6486525"/>
            <a:ext cx="876300" cy="171450"/>
          </a:xfrm>
          <a:prstGeom xmlns:a="http://schemas.openxmlformats.org/drawingml/2006/main" prst="rect">
            <a:avLst/>
          </a:prstGeom>
          <a:solidFill xmlns:a="http://schemas.openxmlformats.org/drawingml/2006/main">
            <a:srgbClr val="11356F"/>
          </a:solidFill>
          <a:ln xmlns:a="http://schemas.openxmlformats.org/drawingml/2006/main" w="9525">
            <a:solidFill>
              <a:srgbClr val="11356F"/>
            </a:solidFill>
            <a:prstDash val="solid"/>
          </a:ln>
        </p:spPr>
        <p:txBody>
          <a:bodyPr xmlns:a="http://schemas.openxmlformats.org/drawingml/2006/main" anchor="ctr"/>
          <a:lstStyle xmlns:a="http://schemas.openxmlformats.org/drawingml/2006/main"/>
          <a:p xmlns:a="http://schemas.openxmlformats.org/drawingml/2006/main">
            <a:pPr algn="ctr">
              <a:buNone/>
              <a:defRPr sz="750" b="1">
                <a:solidFill>
                  <a:srgbClr val="FFFFFF"/>
                </a:solidFill>
              </a:defRPr>
            </a:pPr>
            <a:r>
              <a:rPr sz="750" b="1">
                <a:solidFill>
                  <a:srgbClr val="FFFFFF"/>
                </a:solidFill>
              </a:rPr>
              <a:t>FIPILOT • 4</a:t>
            </a:r>
          </a:p>
        </p:txBody>
      </p:sp>
    </p:spTree>
    <p:extLst>
      <p:ext uri="{BB962C8B-B14F-4D97-AF65-F5344CB8AC3E}">
        <p14:creationId xmlns:p14="http://schemas.microsoft.com/office/powerpoint/2010/main" val="178053844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602A92C6-1659-474D-A6D0-9EA921E94118}"/>
              </a:ext>
            </a:extLst>
          </p:cNvPr>
          <p:cNvSpPr>
            <a:spLocks xmlns:a="http://schemas.openxmlformats.org/drawingml/2006/main" noGrp="1"/>
          </p:cNvSpPr>
          <p:nvPr/>
        </p:nvSpPr>
        <p:spPr>
          <a:xfrm xmlns:a="http://schemas.openxmlformats.org/drawingml/2006/main">
            <a:off x="400050" y="2857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1356F"/>
                </a:solidFill>
              </a:defRPr>
            </a:pPr>
            <a:r>
              <a:rPr sz="2025" b="1">
                <a:solidFill>
                  <a:srgbClr val="11356F"/>
                </a:solidFill>
              </a:rPr>
              <a:t>3. DATA &amp; KNOWLEDGE PIPELINE</a:t>
            </a:r>
          </a:p>
        </p:txBody>
      </p:sp>
      <p:sp>
        <p:nvSpPr>
          <p:cNvPr id="2" name="">
            <a:extLst xmlns:a="http://schemas.openxmlformats.org/drawingml/2006/main">
              <a:ext uri="{FF2B5EF4-FFF2-40B4-BE49-F238E27FC236}">
                <a16:creationId xmlns:a16="http://schemas.microsoft.com/office/drawing/2014/main" id="{8CE21B15-4A1C-43F0-8AE6-E0A91091AE84}"/>
              </a:ext>
            </a:extLst>
          </p:cNvPr>
          <p:cNvSpPr>
            <a:spLocks xmlns:a="http://schemas.openxmlformats.org/drawingml/2006/main" noGrp="1"/>
          </p:cNvSpPr>
          <p:nvPr/>
        </p:nvSpPr>
        <p:spPr>
          <a:xfrm xmlns:a="http://schemas.openxmlformats.org/drawingml/2006/main">
            <a:off x="400050" y="723900"/>
            <a:ext cx="9715500" cy="9525"/>
          </a:xfrm>
          <a:prstGeom xmlns:a="http://schemas.openxmlformats.org/drawingml/2006/main" prst="line">
            <a:avLst/>
          </a:prstGeom>
          <a:noFill xmlns:a="http://schemas.openxmlformats.org/drawingml/2006/main"/>
          <a:ln xmlns:a="http://schemas.openxmlformats.org/drawingml/2006/main" w="9525">
            <a:solidFill>
              <a:srgbClr val="D8E6FF"/>
            </a:solidFill>
            <a:prstDash val="solid"/>
          </a:ln>
        </p:spPr>
      </p:sp>
      <p:sp>
        <p:nvSpPr>
          <p:cNvPr id="3" name="">
            <a:extLst xmlns:a="http://schemas.openxmlformats.org/drawingml/2006/main">
              <a:ext uri="{FF2B5EF4-FFF2-40B4-BE49-F238E27FC236}">
                <a16:creationId xmlns:a16="http://schemas.microsoft.com/office/drawing/2014/main" id="{828B0063-C9B3-4F9C-B493-6501BBFEFACB}"/>
              </a:ext>
            </a:extLst>
          </p:cNvPr>
          <p:cNvSpPr>
            <a:spLocks xmlns:a="http://schemas.openxmlformats.org/drawingml/2006/main" noGrp="1"/>
          </p:cNvSpPr>
          <p:nvPr/>
        </p:nvSpPr>
        <p:spPr>
          <a:xfrm xmlns:a="http://schemas.openxmlformats.org/drawingml/2006/main">
            <a:off x="400050" y="838200"/>
            <a:ext cx="923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62C52"/>
                </a:solidFill>
              </a:defRPr>
            </a:pPr>
            <a:r>
              <a:rPr sz="1500" b="1">
                <a:solidFill>
                  <a:srgbClr val="162C52"/>
                </a:solidFill>
              </a:rPr>
              <a:t>Knowledge Updates Are Versioned and Reproducible</a:t>
            </a:r>
          </a:p>
        </p:txBody>
      </p:sp>
      <p:sp>
        <p:nvSpPr>
          <p:cNvPr id="4" name="">
            <a:extLst xmlns:a="http://schemas.openxmlformats.org/drawingml/2006/main">
              <a:ext uri="{FF2B5EF4-FFF2-40B4-BE49-F238E27FC236}">
                <a16:creationId xmlns:a16="http://schemas.microsoft.com/office/drawing/2014/main" id="{8A11F4FA-A7EB-4B15-A791-D31EAFBF64C9}"/>
              </a:ext>
            </a:extLst>
          </p:cNvPr>
          <p:cNvSpPr>
            <a:spLocks xmlns:a="http://schemas.openxmlformats.org/drawingml/2006/main" noGrp="1"/>
          </p:cNvSpPr>
          <p:nvPr/>
        </p:nvSpPr>
        <p:spPr>
          <a:xfrm xmlns:a="http://schemas.openxmlformats.org/drawingml/2006/main">
            <a:off x="400050" y="1114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617391"/>
                </a:solidFill>
              </a:defRPr>
            </a:pPr>
            <a:r>
              <a:rPr sz="1050" b="0">
                <a:solidFill>
                  <a:srgbClr val="617391"/>
                </a:solidFill>
              </a:rPr>
              <a:t>Today the packaged catalog changes only after a rebuild and deployment; a future vector index should update by content hash.</a:t>
            </a:r>
          </a:p>
        </p:txBody>
      </p:sp>
      <p:sp>
        <p:nvSpPr>
          <p:cNvPr id="5" name="">
            <a:extLst xmlns:a="http://schemas.openxmlformats.org/drawingml/2006/main">
              <a:ext uri="{FF2B5EF4-FFF2-40B4-BE49-F238E27FC236}">
                <a16:creationId xmlns:a16="http://schemas.microsoft.com/office/drawing/2014/main" id="{6F4CEC6B-9E95-4063-9502-23FE29B802FB}"/>
              </a:ext>
            </a:extLst>
          </p:cNvPr>
          <p:cNvSpPr>
            <a:spLocks xmlns:a="http://schemas.openxmlformats.org/drawingml/2006/main" noGrp="1"/>
          </p:cNvSpPr>
          <p:nvPr/>
        </p:nvSpPr>
        <p:spPr>
          <a:xfrm xmlns:a="http://schemas.openxmlformats.org/drawingml/2006/main">
            <a:off x="11001375" y="304800"/>
            <a:ext cx="228600" cy="228600"/>
          </a:xfrm>
          <a:prstGeom xmlns:a="http://schemas.openxmlformats.org/drawingml/2006/main" prst="rect">
            <a:avLst/>
          </a:prstGeom>
          <a:solidFill xmlns:a="http://schemas.openxmlformats.org/drawingml/2006/main">
            <a:srgbClr val="D9E5F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78A4498-20D2-4D1B-8C49-6B00EC450925}"/>
              </a:ext>
            </a:extLst>
          </p:cNvPr>
          <p:cNvSpPr>
            <a:spLocks xmlns:a="http://schemas.openxmlformats.org/drawingml/2006/main" noGrp="1"/>
          </p:cNvSpPr>
          <p:nvPr/>
        </p:nvSpPr>
        <p:spPr>
          <a:xfrm xmlns:a="http://schemas.openxmlformats.org/drawingml/2006/main">
            <a:off x="11258550" y="304800"/>
            <a:ext cx="228600" cy="228600"/>
          </a:xfrm>
          <a:prstGeom xmlns:a="http://schemas.openxmlformats.org/drawingml/2006/main" prst="rect">
            <a:avLst/>
          </a:prstGeom>
          <a:solidFill xmlns:a="http://schemas.openxmlformats.org/drawingml/2006/main">
            <a:srgbClr val="AFC9F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51E77B8-9A3F-4D0A-A279-C4DD3065B9BF}"/>
              </a:ext>
            </a:extLst>
          </p:cNvPr>
          <p:cNvSpPr>
            <a:spLocks xmlns:a="http://schemas.openxmlformats.org/drawingml/2006/main" noGrp="1"/>
          </p:cNvSpPr>
          <p:nvPr/>
        </p:nvSpPr>
        <p:spPr>
          <a:xfrm xmlns:a="http://schemas.openxmlformats.org/drawingml/2006/main">
            <a:off x="11515725" y="304800"/>
            <a:ext cx="228600" cy="228600"/>
          </a:xfrm>
          <a:prstGeom xmlns:a="http://schemas.openxmlformats.org/drawingml/2006/main" prst="rect">
            <a:avLst/>
          </a:prstGeom>
          <a:solidFill xmlns:a="http://schemas.openxmlformats.org/drawingml/2006/main">
            <a:srgbClr val="78A3F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0223A00-CC8E-4AB0-8CBA-C1FA08FC2ADA}"/>
              </a:ext>
            </a:extLst>
          </p:cNvPr>
          <p:cNvSpPr>
            <a:spLocks xmlns:a="http://schemas.openxmlformats.org/drawingml/2006/main" noGrp="1"/>
          </p:cNvSpPr>
          <p:nvPr/>
        </p:nvSpPr>
        <p:spPr>
          <a:xfrm xmlns:a="http://schemas.openxmlformats.org/drawingml/2006/main">
            <a:off x="40005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A98AE"/>
                </a:solidFill>
              </a:defRPr>
            </a:pPr>
            <a:r>
              <a:rPr sz="825" b="1">
                <a:solidFill>
                  <a:srgbClr val="8A98AE"/>
                </a:solidFill>
              </a:rPr>
              <a:t>FIPILOT  •  DEFENSE ROUND 1  •  5</a:t>
            </a:r>
          </a:p>
        </p:txBody>
      </p:sp>
      <p:sp>
        <p:nvSpPr>
          <p:cNvPr id="9" name="">
            <a:extLst xmlns:a="http://schemas.openxmlformats.org/drawingml/2006/main">
              <a:ext uri="{FF2B5EF4-FFF2-40B4-BE49-F238E27FC236}">
                <a16:creationId xmlns:a16="http://schemas.microsoft.com/office/drawing/2014/main" id="{1119DE67-E151-40EC-9911-EC8341978F89}"/>
              </a:ext>
            </a:extLst>
          </p:cNvPr>
          <p:cNvSpPr>
            <a:spLocks xmlns:a="http://schemas.openxmlformats.org/drawingml/2006/main" noGrp="1"/>
          </p:cNvSpPr>
          <p:nvPr/>
        </p:nvSpPr>
        <p:spPr>
          <a:xfrm xmlns:a="http://schemas.openxmlformats.org/drawingml/2006/main">
            <a:off x="457200" y="1619250"/>
            <a:ext cx="519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a:solidFill>
                  <a:srgbClr val="3269D4"/>
                </a:solidFill>
              </a:defRPr>
            </a:pPr>
            <a:r>
              <a:rPr sz="1575" b="1">
                <a:solidFill>
                  <a:srgbClr val="3269D4"/>
                </a:solidFill>
              </a:rPr>
              <a:t>CURRENT CATALOG</a:t>
            </a:r>
          </a:p>
        </p:txBody>
      </p:sp>
      <p:sp>
        <p:nvSpPr>
          <p:cNvPr id="10" name="">
            <a:extLst xmlns:a="http://schemas.openxmlformats.org/drawingml/2006/main">
              <a:ext uri="{FF2B5EF4-FFF2-40B4-BE49-F238E27FC236}">
                <a16:creationId xmlns:a16="http://schemas.microsoft.com/office/drawing/2014/main" id="{CAFB89A3-9636-445B-9F2F-6CC40F1D37A8}"/>
              </a:ext>
            </a:extLst>
          </p:cNvPr>
          <p:cNvSpPr>
            <a:spLocks xmlns:a="http://schemas.openxmlformats.org/drawingml/2006/main" noGrp="1"/>
          </p:cNvSpPr>
          <p:nvPr/>
        </p:nvSpPr>
        <p:spPr>
          <a:xfrm xmlns:a="http://schemas.openxmlformats.org/drawingml/2006/main">
            <a:off x="457200" y="2076450"/>
            <a:ext cx="4953000" cy="495300"/>
          </a:xfrm>
          <a:prstGeom xmlns:a="http://schemas.openxmlformats.org/drawingml/2006/main" prst="roundRect">
            <a:avLst>
              <a:gd name="adj" fmla="val 13462"/>
            </a:avLst>
          </a:prstGeom>
          <a:solidFill xmlns:a="http://schemas.openxmlformats.org/drawingml/2006/main">
            <a:srgbClr val="EDF4FF"/>
          </a:solidFill>
          <a:ln xmlns:a="http://schemas.openxmlformats.org/drawingml/2006/main" w="9525">
            <a:solidFill>
              <a:srgbClr val="3269D4"/>
            </a:solidFill>
            <a:prstDash val="solid"/>
          </a:ln>
        </p:spPr>
      </p:sp>
      <p:sp>
        <p:nvSpPr>
          <p:cNvPr id="11" name="">
            <a:extLst xmlns:a="http://schemas.openxmlformats.org/drawingml/2006/main">
              <a:ext uri="{FF2B5EF4-FFF2-40B4-BE49-F238E27FC236}">
                <a16:creationId xmlns:a16="http://schemas.microsoft.com/office/drawing/2014/main" id="{F0E01662-2AF2-4605-8D66-490A51D54BF6}"/>
              </a:ext>
            </a:extLst>
          </p:cNvPr>
          <p:cNvSpPr>
            <a:spLocks xmlns:a="http://schemas.openxmlformats.org/drawingml/2006/main" noGrp="1"/>
          </p:cNvSpPr>
          <p:nvPr/>
        </p:nvSpPr>
        <p:spPr>
          <a:xfrm xmlns:a="http://schemas.openxmlformats.org/drawingml/2006/main">
            <a:off x="590550" y="2181225"/>
            <a:ext cx="28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a:solidFill>
                  <a:srgbClr val="3269D4"/>
                </a:solidFill>
              </a:defRPr>
            </a:pPr>
            <a:r>
              <a:rPr sz="1275" b="1">
                <a:solidFill>
                  <a:srgbClr val="3269D4"/>
                </a:solidFill>
              </a:rPr>
              <a:t>1</a:t>
            </a:r>
          </a:p>
        </p:txBody>
      </p:sp>
      <p:sp>
        <p:nvSpPr>
          <p:cNvPr id="12" name="">
            <a:extLst xmlns:a="http://schemas.openxmlformats.org/drawingml/2006/main">
              <a:ext uri="{FF2B5EF4-FFF2-40B4-BE49-F238E27FC236}">
                <a16:creationId xmlns:a16="http://schemas.microsoft.com/office/drawing/2014/main" id="{E81059EE-0CAC-4F77-B686-DFEBE6289049}"/>
              </a:ext>
            </a:extLst>
          </p:cNvPr>
          <p:cNvSpPr>
            <a:spLocks xmlns:a="http://schemas.openxmlformats.org/drawingml/2006/main" noGrp="1"/>
          </p:cNvSpPr>
          <p:nvPr/>
        </p:nvSpPr>
        <p:spPr>
          <a:xfrm xmlns:a="http://schemas.openxmlformats.org/drawingml/2006/main">
            <a:off x="990600" y="21717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162C52"/>
                </a:solidFill>
              </a:defRPr>
            </a:pPr>
            <a:r>
              <a:rPr sz="1350" b="0">
                <a:solidFill>
                  <a:srgbClr val="162C52"/>
                </a:solidFill>
              </a:rPr>
              <a:t>Edit Knowledge/*.md</a:t>
            </a:r>
          </a:p>
        </p:txBody>
      </p:sp>
      <p:sp>
        <p:nvSpPr>
          <p:cNvPr id="13" name="">
            <a:extLst xmlns:a="http://schemas.openxmlformats.org/drawingml/2006/main">
              <a:ext uri="{FF2B5EF4-FFF2-40B4-BE49-F238E27FC236}">
                <a16:creationId xmlns:a16="http://schemas.microsoft.com/office/drawing/2014/main" id="{7BFA0056-B1BB-414A-8B14-2CBD497B51D7}"/>
              </a:ext>
            </a:extLst>
          </p:cNvPr>
          <p:cNvSpPr>
            <a:spLocks xmlns:a="http://schemas.openxmlformats.org/drawingml/2006/main" noGrp="1"/>
          </p:cNvSpPr>
          <p:nvPr/>
        </p:nvSpPr>
        <p:spPr>
          <a:xfrm xmlns:a="http://schemas.openxmlformats.org/drawingml/2006/main">
            <a:off x="457200" y="2762250"/>
            <a:ext cx="4953000" cy="495300"/>
          </a:xfrm>
          <a:prstGeom xmlns:a="http://schemas.openxmlformats.org/drawingml/2006/main" prst="roundRect">
            <a:avLst>
              <a:gd name="adj" fmla="val 13462"/>
            </a:avLst>
          </a:prstGeom>
          <a:solidFill xmlns:a="http://schemas.openxmlformats.org/drawingml/2006/main">
            <a:srgbClr val="EDF4FF"/>
          </a:solidFill>
          <a:ln xmlns:a="http://schemas.openxmlformats.org/drawingml/2006/main" w="9525">
            <a:solidFill>
              <a:srgbClr val="3269D4"/>
            </a:solidFill>
            <a:prstDash val="solid"/>
          </a:ln>
        </p:spPr>
      </p:sp>
      <p:sp>
        <p:nvSpPr>
          <p:cNvPr id="14" name="">
            <a:extLst xmlns:a="http://schemas.openxmlformats.org/drawingml/2006/main">
              <a:ext uri="{FF2B5EF4-FFF2-40B4-BE49-F238E27FC236}">
                <a16:creationId xmlns:a16="http://schemas.microsoft.com/office/drawing/2014/main" id="{E39B1DD7-15CE-4B59-B3D6-239E86B74013}"/>
              </a:ext>
            </a:extLst>
          </p:cNvPr>
          <p:cNvSpPr>
            <a:spLocks xmlns:a="http://schemas.openxmlformats.org/drawingml/2006/main" noGrp="1"/>
          </p:cNvSpPr>
          <p:nvPr/>
        </p:nvSpPr>
        <p:spPr>
          <a:xfrm xmlns:a="http://schemas.openxmlformats.org/drawingml/2006/main">
            <a:off x="590550" y="2867025"/>
            <a:ext cx="28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a:solidFill>
                  <a:srgbClr val="3269D4"/>
                </a:solidFill>
              </a:defRPr>
            </a:pPr>
            <a:r>
              <a:rPr sz="1275" b="1">
                <a:solidFill>
                  <a:srgbClr val="3269D4"/>
                </a:solidFill>
              </a:rPr>
              <a:t>2</a:t>
            </a:r>
          </a:p>
        </p:txBody>
      </p:sp>
      <p:sp>
        <p:nvSpPr>
          <p:cNvPr id="15" name="">
            <a:extLst xmlns:a="http://schemas.openxmlformats.org/drawingml/2006/main">
              <a:ext uri="{FF2B5EF4-FFF2-40B4-BE49-F238E27FC236}">
                <a16:creationId xmlns:a16="http://schemas.microsoft.com/office/drawing/2014/main" id="{67BC17DF-8A37-42EC-99F9-5F1A4ED746E8}"/>
              </a:ext>
            </a:extLst>
          </p:cNvPr>
          <p:cNvSpPr>
            <a:spLocks xmlns:a="http://schemas.openxmlformats.org/drawingml/2006/main" noGrp="1"/>
          </p:cNvSpPr>
          <p:nvPr/>
        </p:nvSpPr>
        <p:spPr>
          <a:xfrm xmlns:a="http://schemas.openxmlformats.org/drawingml/2006/main">
            <a:off x="990600" y="28575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162C52"/>
                </a:solidFill>
              </a:defRPr>
            </a:pPr>
            <a:r>
              <a:rPr sz="1350" b="0">
                <a:solidFill>
                  <a:srgbClr val="162C52"/>
                </a:solidFill>
              </a:rPr>
              <a:t>Run catalog builder</a:t>
            </a:r>
          </a:p>
        </p:txBody>
      </p:sp>
      <p:sp>
        <p:nvSpPr>
          <p:cNvPr id="16" name="">
            <a:extLst xmlns:a="http://schemas.openxmlformats.org/drawingml/2006/main">
              <a:ext uri="{FF2B5EF4-FFF2-40B4-BE49-F238E27FC236}">
                <a16:creationId xmlns:a16="http://schemas.microsoft.com/office/drawing/2014/main" id="{CE40AA84-CC2B-49B0-9394-0B5AB91C2708}"/>
              </a:ext>
            </a:extLst>
          </p:cNvPr>
          <p:cNvSpPr>
            <a:spLocks xmlns:a="http://schemas.openxmlformats.org/drawingml/2006/main" noGrp="1"/>
          </p:cNvSpPr>
          <p:nvPr/>
        </p:nvSpPr>
        <p:spPr>
          <a:xfrm xmlns:a="http://schemas.openxmlformats.org/drawingml/2006/main">
            <a:off x="457200" y="3448050"/>
            <a:ext cx="4953000" cy="495300"/>
          </a:xfrm>
          <a:prstGeom xmlns:a="http://schemas.openxmlformats.org/drawingml/2006/main" prst="roundRect">
            <a:avLst>
              <a:gd name="adj" fmla="val 13462"/>
            </a:avLst>
          </a:prstGeom>
          <a:solidFill xmlns:a="http://schemas.openxmlformats.org/drawingml/2006/main">
            <a:srgbClr val="EDF4FF"/>
          </a:solidFill>
          <a:ln xmlns:a="http://schemas.openxmlformats.org/drawingml/2006/main" w="9525">
            <a:solidFill>
              <a:srgbClr val="3269D4"/>
            </a:solidFill>
            <a:prstDash val="solid"/>
          </a:ln>
        </p:spPr>
      </p:sp>
      <p:sp>
        <p:nvSpPr>
          <p:cNvPr id="17" name="">
            <a:extLst xmlns:a="http://schemas.openxmlformats.org/drawingml/2006/main">
              <a:ext uri="{FF2B5EF4-FFF2-40B4-BE49-F238E27FC236}">
                <a16:creationId xmlns:a16="http://schemas.microsoft.com/office/drawing/2014/main" id="{5A7F20FB-C57F-4FB6-BC6B-850E29513F37}"/>
              </a:ext>
            </a:extLst>
          </p:cNvPr>
          <p:cNvSpPr>
            <a:spLocks xmlns:a="http://schemas.openxmlformats.org/drawingml/2006/main" noGrp="1"/>
          </p:cNvSpPr>
          <p:nvPr/>
        </p:nvSpPr>
        <p:spPr>
          <a:xfrm xmlns:a="http://schemas.openxmlformats.org/drawingml/2006/main">
            <a:off x="590550" y="3552825"/>
            <a:ext cx="28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a:solidFill>
                  <a:srgbClr val="3269D4"/>
                </a:solidFill>
              </a:defRPr>
            </a:pPr>
            <a:r>
              <a:rPr sz="1275" b="1">
                <a:solidFill>
                  <a:srgbClr val="3269D4"/>
                </a:solidFill>
              </a:rPr>
              <a:t>3</a:t>
            </a:r>
          </a:p>
        </p:txBody>
      </p:sp>
      <p:sp>
        <p:nvSpPr>
          <p:cNvPr id="18" name="">
            <a:extLst xmlns:a="http://schemas.openxmlformats.org/drawingml/2006/main">
              <a:ext uri="{FF2B5EF4-FFF2-40B4-BE49-F238E27FC236}">
                <a16:creationId xmlns:a16="http://schemas.microsoft.com/office/drawing/2014/main" id="{4AB102EB-0B14-4E29-8B6E-3FB9709DEB46}"/>
              </a:ext>
            </a:extLst>
          </p:cNvPr>
          <p:cNvSpPr>
            <a:spLocks xmlns:a="http://schemas.openxmlformats.org/drawingml/2006/main" noGrp="1"/>
          </p:cNvSpPr>
          <p:nvPr/>
        </p:nvSpPr>
        <p:spPr>
          <a:xfrm xmlns:a="http://schemas.openxmlformats.org/drawingml/2006/main">
            <a:off x="990600" y="35433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162C52"/>
                </a:solidFill>
              </a:defRPr>
            </a:pPr>
            <a:r>
              <a:rPr sz="1350" b="0">
                <a:solidFill>
                  <a:srgbClr val="162C52"/>
                </a:solidFill>
              </a:rPr>
              <a:t>Generate catalog.json</a:t>
            </a:r>
          </a:p>
        </p:txBody>
      </p:sp>
      <p:sp>
        <p:nvSpPr>
          <p:cNvPr id="19" name="">
            <a:extLst xmlns:a="http://schemas.openxmlformats.org/drawingml/2006/main">
              <a:ext uri="{FF2B5EF4-FFF2-40B4-BE49-F238E27FC236}">
                <a16:creationId xmlns:a16="http://schemas.microsoft.com/office/drawing/2014/main" id="{241FF843-F607-485B-8E58-D0F5A80F17C2}"/>
              </a:ext>
            </a:extLst>
          </p:cNvPr>
          <p:cNvSpPr>
            <a:spLocks xmlns:a="http://schemas.openxmlformats.org/drawingml/2006/main" noGrp="1"/>
          </p:cNvSpPr>
          <p:nvPr/>
        </p:nvSpPr>
        <p:spPr>
          <a:xfrm xmlns:a="http://schemas.openxmlformats.org/drawingml/2006/main">
            <a:off x="457200" y="4133850"/>
            <a:ext cx="4953000" cy="495300"/>
          </a:xfrm>
          <a:prstGeom xmlns:a="http://schemas.openxmlformats.org/drawingml/2006/main" prst="roundRect">
            <a:avLst>
              <a:gd name="adj" fmla="val 13462"/>
            </a:avLst>
          </a:prstGeom>
          <a:solidFill xmlns:a="http://schemas.openxmlformats.org/drawingml/2006/main">
            <a:srgbClr val="EDF4FF"/>
          </a:solidFill>
          <a:ln xmlns:a="http://schemas.openxmlformats.org/drawingml/2006/main" w="9525">
            <a:solidFill>
              <a:srgbClr val="3269D4"/>
            </a:solidFill>
            <a:prstDash val="solid"/>
          </a:ln>
        </p:spPr>
      </p:sp>
      <p:sp>
        <p:nvSpPr>
          <p:cNvPr id="20" name="">
            <a:extLst xmlns:a="http://schemas.openxmlformats.org/drawingml/2006/main">
              <a:ext uri="{FF2B5EF4-FFF2-40B4-BE49-F238E27FC236}">
                <a16:creationId xmlns:a16="http://schemas.microsoft.com/office/drawing/2014/main" id="{8AD02A9E-01C5-41C3-B85A-930CE19E8F53}"/>
              </a:ext>
            </a:extLst>
          </p:cNvPr>
          <p:cNvSpPr>
            <a:spLocks xmlns:a="http://schemas.openxmlformats.org/drawingml/2006/main" noGrp="1"/>
          </p:cNvSpPr>
          <p:nvPr/>
        </p:nvSpPr>
        <p:spPr>
          <a:xfrm xmlns:a="http://schemas.openxmlformats.org/drawingml/2006/main">
            <a:off x="590550" y="4238625"/>
            <a:ext cx="28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a:solidFill>
                  <a:srgbClr val="3269D4"/>
                </a:solidFill>
              </a:defRPr>
            </a:pPr>
            <a:r>
              <a:rPr sz="1275" b="1">
                <a:solidFill>
                  <a:srgbClr val="3269D4"/>
                </a:solidFill>
              </a:rPr>
              <a:t>4</a:t>
            </a:r>
          </a:p>
        </p:txBody>
      </p:sp>
      <p:sp>
        <p:nvSpPr>
          <p:cNvPr id="21" name="">
            <a:extLst xmlns:a="http://schemas.openxmlformats.org/drawingml/2006/main">
              <a:ext uri="{FF2B5EF4-FFF2-40B4-BE49-F238E27FC236}">
                <a16:creationId xmlns:a16="http://schemas.microsoft.com/office/drawing/2014/main" id="{495C6C13-9CC5-4C41-9D8A-08EB064E5C7C}"/>
              </a:ext>
            </a:extLst>
          </p:cNvPr>
          <p:cNvSpPr>
            <a:spLocks xmlns:a="http://schemas.openxmlformats.org/drawingml/2006/main" noGrp="1"/>
          </p:cNvSpPr>
          <p:nvPr/>
        </p:nvSpPr>
        <p:spPr>
          <a:xfrm xmlns:a="http://schemas.openxmlformats.org/drawingml/2006/main">
            <a:off x="990600" y="42291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162C52"/>
                </a:solidFill>
              </a:defRPr>
            </a:pPr>
            <a:r>
              <a:rPr sz="1350" b="0">
                <a:solidFill>
                  <a:srgbClr val="162C52"/>
                </a:solidFill>
              </a:rPr>
              <a:t>Test and deploy application</a:t>
            </a:r>
          </a:p>
        </p:txBody>
      </p:sp>
      <p:sp>
        <p:nvSpPr>
          <p:cNvPr id="22" name="">
            <a:extLst xmlns:a="http://schemas.openxmlformats.org/drawingml/2006/main">
              <a:ext uri="{FF2B5EF4-FFF2-40B4-BE49-F238E27FC236}">
                <a16:creationId xmlns:a16="http://schemas.microsoft.com/office/drawing/2014/main" id="{E7E533C8-76FE-43A1-8B7C-734432FA37D7}"/>
              </a:ext>
            </a:extLst>
          </p:cNvPr>
          <p:cNvSpPr>
            <a:spLocks xmlns:a="http://schemas.openxmlformats.org/drawingml/2006/main" noGrp="1"/>
          </p:cNvSpPr>
          <p:nvPr/>
        </p:nvSpPr>
        <p:spPr>
          <a:xfrm xmlns:a="http://schemas.openxmlformats.org/drawingml/2006/main">
            <a:off x="457200" y="4972050"/>
            <a:ext cx="4953000" cy="552450"/>
          </a:xfrm>
          <a:prstGeom xmlns:a="http://schemas.openxmlformats.org/drawingml/2006/main" prst="roundRect">
            <a:avLst>
              <a:gd name="adj" fmla="val 12069"/>
            </a:avLst>
          </a:prstGeom>
          <a:solidFill xmlns:a="http://schemas.openxmlformats.org/drawingml/2006/main">
            <a:srgbClr val="FFF5EA"/>
          </a:solidFill>
          <a:ln xmlns:a="http://schemas.openxmlformats.org/drawingml/2006/main" w="9525">
            <a:solidFill>
              <a:srgbClr val="D87319"/>
            </a:solid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D87319"/>
                </a:solidFill>
              </a:defRPr>
            </a:pPr>
            <a:r>
              <a:rPr sz="1425" b="1">
                <a:solidFill>
                  <a:srgbClr val="D87319"/>
                </a:solidFill>
              </a:rPr>
              <a:t>There is no live vector index, so no vector update currently occurs.</a:t>
            </a:r>
          </a:p>
        </p:txBody>
      </p:sp>
      <p:sp>
        <p:nvSpPr>
          <p:cNvPr id="23" name="">
            <a:extLst xmlns:a="http://schemas.openxmlformats.org/drawingml/2006/main">
              <a:ext uri="{FF2B5EF4-FFF2-40B4-BE49-F238E27FC236}">
                <a16:creationId xmlns:a16="http://schemas.microsoft.com/office/drawing/2014/main" id="{E97A3052-953A-453C-B4E0-A767796F8C5B}"/>
              </a:ext>
            </a:extLst>
          </p:cNvPr>
          <p:cNvSpPr>
            <a:spLocks xmlns:a="http://schemas.openxmlformats.org/drawingml/2006/main" noGrp="1"/>
          </p:cNvSpPr>
          <p:nvPr/>
        </p:nvSpPr>
        <p:spPr>
          <a:xfrm xmlns:a="http://schemas.openxmlformats.org/drawingml/2006/main">
            <a:off x="6153150" y="1619250"/>
            <a:ext cx="558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a:solidFill>
                  <a:srgbClr val="17834D"/>
                </a:solidFill>
              </a:defRPr>
            </a:pPr>
            <a:r>
              <a:rPr sz="1575" b="1">
                <a:solidFill>
                  <a:srgbClr val="17834D"/>
                </a:solidFill>
              </a:rPr>
              <a:t>PROPOSED VECTOR INDEX</a:t>
            </a:r>
          </a:p>
        </p:txBody>
      </p:sp>
      <p:sp>
        <p:nvSpPr>
          <p:cNvPr id="24" name="">
            <a:extLst xmlns:a="http://schemas.openxmlformats.org/drawingml/2006/main">
              <a:ext uri="{FF2B5EF4-FFF2-40B4-BE49-F238E27FC236}">
                <a16:creationId xmlns:a16="http://schemas.microsoft.com/office/drawing/2014/main" id="{D2D8B096-35BB-4F1C-8A5E-1043D7C64888}"/>
              </a:ext>
            </a:extLst>
          </p:cNvPr>
          <p:cNvSpPr>
            <a:spLocks xmlns:a="http://schemas.openxmlformats.org/drawingml/2006/main" noGrp="1"/>
          </p:cNvSpPr>
          <p:nvPr/>
        </p:nvSpPr>
        <p:spPr>
          <a:xfrm xmlns:a="http://schemas.openxmlformats.org/drawingml/2006/main">
            <a:off x="6153150" y="2076450"/>
            <a:ext cx="5581650" cy="457200"/>
          </a:xfrm>
          <a:prstGeom xmlns:a="http://schemas.openxmlformats.org/drawingml/2006/main" prst="roundRect">
            <a:avLst>
              <a:gd name="adj" fmla="val 14583"/>
            </a:avLst>
          </a:prstGeom>
          <a:solidFill xmlns:a="http://schemas.openxmlformats.org/drawingml/2006/main">
            <a:srgbClr val="EEF9F3"/>
          </a:solidFill>
          <a:ln xmlns:a="http://schemas.openxmlformats.org/drawingml/2006/main" w="9525">
            <a:solidFill>
              <a:srgbClr val="17834D"/>
            </a:solidFill>
            <a:prstDash val="solid"/>
          </a:ln>
        </p:spPr>
      </p:sp>
      <p:sp>
        <p:nvSpPr>
          <p:cNvPr id="25" name="">
            <a:extLst xmlns:a="http://schemas.openxmlformats.org/drawingml/2006/main">
              <a:ext uri="{FF2B5EF4-FFF2-40B4-BE49-F238E27FC236}">
                <a16:creationId xmlns:a16="http://schemas.microsoft.com/office/drawing/2014/main" id="{9ED658CB-DA1F-47BB-80CD-57AB773F17C6}"/>
              </a:ext>
            </a:extLst>
          </p:cNvPr>
          <p:cNvSpPr>
            <a:spLocks xmlns:a="http://schemas.openxmlformats.org/drawingml/2006/main" noGrp="1"/>
          </p:cNvSpPr>
          <p:nvPr/>
        </p:nvSpPr>
        <p:spPr>
          <a:xfrm xmlns:a="http://schemas.openxmlformats.org/drawingml/2006/main">
            <a:off x="6286500" y="21717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a:solidFill>
                  <a:srgbClr val="17834D"/>
                </a:solidFill>
              </a:defRPr>
            </a:pPr>
            <a:r>
              <a:rPr sz="1275" b="1">
                <a:solidFill>
                  <a:srgbClr val="17834D"/>
                </a:solidFill>
              </a:rPr>
              <a:t>1</a:t>
            </a:r>
          </a:p>
        </p:txBody>
      </p:sp>
      <p:sp>
        <p:nvSpPr>
          <p:cNvPr id="26" name="">
            <a:extLst xmlns:a="http://schemas.openxmlformats.org/drawingml/2006/main">
              <a:ext uri="{FF2B5EF4-FFF2-40B4-BE49-F238E27FC236}">
                <a16:creationId xmlns:a16="http://schemas.microsoft.com/office/drawing/2014/main" id="{BF8BC3A6-7A38-4C60-B6EF-DEF77153D8F6}"/>
              </a:ext>
            </a:extLst>
          </p:cNvPr>
          <p:cNvSpPr>
            <a:spLocks xmlns:a="http://schemas.openxmlformats.org/drawingml/2006/main" noGrp="1"/>
          </p:cNvSpPr>
          <p:nvPr/>
        </p:nvSpPr>
        <p:spPr>
          <a:xfrm xmlns:a="http://schemas.openxmlformats.org/drawingml/2006/main">
            <a:off x="6705600" y="2152650"/>
            <a:ext cx="4705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0">
                <a:solidFill>
                  <a:srgbClr val="162C52"/>
                </a:solidFill>
              </a:defRPr>
            </a:pPr>
            <a:r>
              <a:rPr sz="1275" b="0">
                <a:solidFill>
                  <a:srgbClr val="162C52"/>
                </a:solidFill>
              </a:rPr>
              <a:t>Normalize and semantic-chunk approved source</a:t>
            </a:r>
          </a:p>
        </p:txBody>
      </p:sp>
      <p:sp>
        <p:nvSpPr>
          <p:cNvPr id="27" name="">
            <a:extLst xmlns:a="http://schemas.openxmlformats.org/drawingml/2006/main">
              <a:ext uri="{FF2B5EF4-FFF2-40B4-BE49-F238E27FC236}">
                <a16:creationId xmlns:a16="http://schemas.microsoft.com/office/drawing/2014/main" id="{89392E54-DEC1-4A16-97BE-B52184C4B721}"/>
              </a:ext>
            </a:extLst>
          </p:cNvPr>
          <p:cNvSpPr>
            <a:spLocks xmlns:a="http://schemas.openxmlformats.org/drawingml/2006/main" noGrp="1"/>
          </p:cNvSpPr>
          <p:nvPr/>
        </p:nvSpPr>
        <p:spPr>
          <a:xfrm xmlns:a="http://schemas.openxmlformats.org/drawingml/2006/main">
            <a:off x="6153150" y="2695575"/>
            <a:ext cx="5581650" cy="457200"/>
          </a:xfrm>
          <a:prstGeom xmlns:a="http://schemas.openxmlformats.org/drawingml/2006/main" prst="roundRect">
            <a:avLst>
              <a:gd name="adj" fmla="val 14583"/>
            </a:avLst>
          </a:prstGeom>
          <a:solidFill xmlns:a="http://schemas.openxmlformats.org/drawingml/2006/main">
            <a:srgbClr val="EEF9F3"/>
          </a:solidFill>
          <a:ln xmlns:a="http://schemas.openxmlformats.org/drawingml/2006/main" w="9525">
            <a:solidFill>
              <a:srgbClr val="17834D"/>
            </a:solidFill>
            <a:prstDash val="solid"/>
          </a:ln>
        </p:spPr>
      </p:sp>
      <p:sp>
        <p:nvSpPr>
          <p:cNvPr id="28" name="">
            <a:extLst xmlns:a="http://schemas.openxmlformats.org/drawingml/2006/main">
              <a:ext uri="{FF2B5EF4-FFF2-40B4-BE49-F238E27FC236}">
                <a16:creationId xmlns:a16="http://schemas.microsoft.com/office/drawing/2014/main" id="{58A681F6-ACFB-4FE3-B7A8-790B633038AD}"/>
              </a:ext>
            </a:extLst>
          </p:cNvPr>
          <p:cNvSpPr>
            <a:spLocks xmlns:a="http://schemas.openxmlformats.org/drawingml/2006/main" noGrp="1"/>
          </p:cNvSpPr>
          <p:nvPr/>
        </p:nvSpPr>
        <p:spPr>
          <a:xfrm xmlns:a="http://schemas.openxmlformats.org/drawingml/2006/main">
            <a:off x="6286500" y="2790825"/>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a:solidFill>
                  <a:srgbClr val="17834D"/>
                </a:solidFill>
              </a:defRPr>
            </a:pPr>
            <a:r>
              <a:rPr sz="1275" b="1">
                <a:solidFill>
                  <a:srgbClr val="17834D"/>
                </a:solidFill>
              </a:rPr>
              <a:t>2</a:t>
            </a:r>
          </a:p>
        </p:txBody>
      </p:sp>
      <p:sp>
        <p:nvSpPr>
          <p:cNvPr id="29" name="">
            <a:extLst xmlns:a="http://schemas.openxmlformats.org/drawingml/2006/main">
              <a:ext uri="{FF2B5EF4-FFF2-40B4-BE49-F238E27FC236}">
                <a16:creationId xmlns:a16="http://schemas.microsoft.com/office/drawing/2014/main" id="{275E6989-9E15-439C-8524-7B39A3C02F7A}"/>
              </a:ext>
            </a:extLst>
          </p:cNvPr>
          <p:cNvSpPr>
            <a:spLocks xmlns:a="http://schemas.openxmlformats.org/drawingml/2006/main" noGrp="1"/>
          </p:cNvSpPr>
          <p:nvPr/>
        </p:nvSpPr>
        <p:spPr>
          <a:xfrm xmlns:a="http://schemas.openxmlformats.org/drawingml/2006/main">
            <a:off x="6705600" y="2771775"/>
            <a:ext cx="4705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0">
                <a:solidFill>
                  <a:srgbClr val="162C52"/>
                </a:solidFill>
              </a:defRPr>
            </a:pPr>
            <a:r>
              <a:rPr sz="1275" b="0">
                <a:solidFill>
                  <a:srgbClr val="162C52"/>
                </a:solidFill>
              </a:rPr>
              <a:t>Compare content_hash with active index version</a:t>
            </a:r>
          </a:p>
        </p:txBody>
      </p:sp>
      <p:sp>
        <p:nvSpPr>
          <p:cNvPr id="30" name="">
            <a:extLst xmlns:a="http://schemas.openxmlformats.org/drawingml/2006/main">
              <a:ext uri="{FF2B5EF4-FFF2-40B4-BE49-F238E27FC236}">
                <a16:creationId xmlns:a16="http://schemas.microsoft.com/office/drawing/2014/main" id="{D6150964-6C09-4A97-A7C1-8F75D8B4A159}"/>
              </a:ext>
            </a:extLst>
          </p:cNvPr>
          <p:cNvSpPr>
            <a:spLocks xmlns:a="http://schemas.openxmlformats.org/drawingml/2006/main" noGrp="1"/>
          </p:cNvSpPr>
          <p:nvPr/>
        </p:nvSpPr>
        <p:spPr>
          <a:xfrm xmlns:a="http://schemas.openxmlformats.org/drawingml/2006/main">
            <a:off x="6153150" y="3314700"/>
            <a:ext cx="5581650" cy="457200"/>
          </a:xfrm>
          <a:prstGeom xmlns:a="http://schemas.openxmlformats.org/drawingml/2006/main" prst="roundRect">
            <a:avLst>
              <a:gd name="adj" fmla="val 14583"/>
            </a:avLst>
          </a:prstGeom>
          <a:solidFill xmlns:a="http://schemas.openxmlformats.org/drawingml/2006/main">
            <a:srgbClr val="EEF9F3"/>
          </a:solidFill>
          <a:ln xmlns:a="http://schemas.openxmlformats.org/drawingml/2006/main" w="9525">
            <a:solidFill>
              <a:srgbClr val="17834D"/>
            </a:solidFill>
            <a:prstDash val="solid"/>
          </a:ln>
        </p:spPr>
      </p:sp>
      <p:sp>
        <p:nvSpPr>
          <p:cNvPr id="31" name="">
            <a:extLst xmlns:a="http://schemas.openxmlformats.org/drawingml/2006/main">
              <a:ext uri="{FF2B5EF4-FFF2-40B4-BE49-F238E27FC236}">
                <a16:creationId xmlns:a16="http://schemas.microsoft.com/office/drawing/2014/main" id="{F0E24165-DAE6-4370-9A30-C780A26ACFCE}"/>
              </a:ext>
            </a:extLst>
          </p:cNvPr>
          <p:cNvSpPr>
            <a:spLocks xmlns:a="http://schemas.openxmlformats.org/drawingml/2006/main" noGrp="1"/>
          </p:cNvSpPr>
          <p:nvPr/>
        </p:nvSpPr>
        <p:spPr>
          <a:xfrm xmlns:a="http://schemas.openxmlformats.org/drawingml/2006/main">
            <a:off x="6286500" y="34099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a:solidFill>
                  <a:srgbClr val="17834D"/>
                </a:solidFill>
              </a:defRPr>
            </a:pPr>
            <a:r>
              <a:rPr sz="1275" b="1">
                <a:solidFill>
                  <a:srgbClr val="17834D"/>
                </a:solidFill>
              </a:rPr>
              <a:t>3</a:t>
            </a:r>
          </a:p>
        </p:txBody>
      </p:sp>
      <p:sp>
        <p:nvSpPr>
          <p:cNvPr id="32" name="">
            <a:extLst xmlns:a="http://schemas.openxmlformats.org/drawingml/2006/main">
              <a:ext uri="{FF2B5EF4-FFF2-40B4-BE49-F238E27FC236}">
                <a16:creationId xmlns:a16="http://schemas.microsoft.com/office/drawing/2014/main" id="{C2C7EB16-28CC-4F11-A44C-2BB59C156C7A}"/>
              </a:ext>
            </a:extLst>
          </p:cNvPr>
          <p:cNvSpPr>
            <a:spLocks xmlns:a="http://schemas.openxmlformats.org/drawingml/2006/main" noGrp="1"/>
          </p:cNvSpPr>
          <p:nvPr/>
        </p:nvSpPr>
        <p:spPr>
          <a:xfrm xmlns:a="http://schemas.openxmlformats.org/drawingml/2006/main">
            <a:off x="6705600" y="3390900"/>
            <a:ext cx="4705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0">
                <a:solidFill>
                  <a:srgbClr val="162C52"/>
                </a:solidFill>
              </a:defRPr>
            </a:pPr>
            <a:r>
              <a:rPr sz="1275" b="0">
                <a:solidFill>
                  <a:srgbClr val="162C52"/>
                </a:solidFill>
              </a:rPr>
              <a:t>Embed only new or changed chunks</a:t>
            </a:r>
          </a:p>
        </p:txBody>
      </p:sp>
      <p:sp>
        <p:nvSpPr>
          <p:cNvPr id="33" name="">
            <a:extLst xmlns:a="http://schemas.openxmlformats.org/drawingml/2006/main">
              <a:ext uri="{FF2B5EF4-FFF2-40B4-BE49-F238E27FC236}">
                <a16:creationId xmlns:a16="http://schemas.microsoft.com/office/drawing/2014/main" id="{5334D4E2-8FE1-434E-B231-EC242C2A9EEF}"/>
              </a:ext>
            </a:extLst>
          </p:cNvPr>
          <p:cNvSpPr>
            <a:spLocks xmlns:a="http://schemas.openxmlformats.org/drawingml/2006/main" noGrp="1"/>
          </p:cNvSpPr>
          <p:nvPr/>
        </p:nvSpPr>
        <p:spPr>
          <a:xfrm xmlns:a="http://schemas.openxmlformats.org/drawingml/2006/main">
            <a:off x="6153150" y="3933825"/>
            <a:ext cx="5581650" cy="457200"/>
          </a:xfrm>
          <a:prstGeom xmlns:a="http://schemas.openxmlformats.org/drawingml/2006/main" prst="roundRect">
            <a:avLst>
              <a:gd name="adj" fmla="val 14583"/>
            </a:avLst>
          </a:prstGeom>
          <a:solidFill xmlns:a="http://schemas.openxmlformats.org/drawingml/2006/main">
            <a:srgbClr val="EEF9F3"/>
          </a:solidFill>
          <a:ln xmlns:a="http://schemas.openxmlformats.org/drawingml/2006/main" w="9525">
            <a:solidFill>
              <a:srgbClr val="17834D"/>
            </a:solidFill>
            <a:prstDash val="solid"/>
          </a:ln>
        </p:spPr>
      </p:sp>
      <p:sp>
        <p:nvSpPr>
          <p:cNvPr id="34" name="">
            <a:extLst xmlns:a="http://schemas.openxmlformats.org/drawingml/2006/main">
              <a:ext uri="{FF2B5EF4-FFF2-40B4-BE49-F238E27FC236}">
                <a16:creationId xmlns:a16="http://schemas.microsoft.com/office/drawing/2014/main" id="{C3E248F8-46DD-4A67-9293-D43CFA4BF67E}"/>
              </a:ext>
            </a:extLst>
          </p:cNvPr>
          <p:cNvSpPr>
            <a:spLocks xmlns:a="http://schemas.openxmlformats.org/drawingml/2006/main" noGrp="1"/>
          </p:cNvSpPr>
          <p:nvPr/>
        </p:nvSpPr>
        <p:spPr>
          <a:xfrm xmlns:a="http://schemas.openxmlformats.org/drawingml/2006/main">
            <a:off x="6286500" y="4029075"/>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a:solidFill>
                  <a:srgbClr val="17834D"/>
                </a:solidFill>
              </a:defRPr>
            </a:pPr>
            <a:r>
              <a:rPr sz="1275" b="1">
                <a:solidFill>
                  <a:srgbClr val="17834D"/>
                </a:solidFill>
              </a:rPr>
              <a:t>4</a:t>
            </a:r>
          </a:p>
        </p:txBody>
      </p:sp>
      <p:sp>
        <p:nvSpPr>
          <p:cNvPr id="35" name="">
            <a:extLst xmlns:a="http://schemas.openxmlformats.org/drawingml/2006/main">
              <a:ext uri="{FF2B5EF4-FFF2-40B4-BE49-F238E27FC236}">
                <a16:creationId xmlns:a16="http://schemas.microsoft.com/office/drawing/2014/main" id="{627FC1C8-185B-4633-A8F7-6C5E751E2266}"/>
              </a:ext>
            </a:extLst>
          </p:cNvPr>
          <p:cNvSpPr>
            <a:spLocks xmlns:a="http://schemas.openxmlformats.org/drawingml/2006/main" noGrp="1"/>
          </p:cNvSpPr>
          <p:nvPr/>
        </p:nvSpPr>
        <p:spPr>
          <a:xfrm xmlns:a="http://schemas.openxmlformats.org/drawingml/2006/main">
            <a:off x="6705600" y="4010025"/>
            <a:ext cx="4705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0">
                <a:solidFill>
                  <a:srgbClr val="162C52"/>
                </a:solidFill>
              </a:defRPr>
            </a:pPr>
            <a:r>
              <a:rPr sz="1275" b="0">
                <a:solidFill>
                  <a:srgbClr val="162C52"/>
                </a:solidFill>
              </a:rPr>
              <a:t>Batch upsert; mark removed chunks inactive</a:t>
            </a:r>
          </a:p>
        </p:txBody>
      </p:sp>
      <p:sp>
        <p:nvSpPr>
          <p:cNvPr id="36" name="">
            <a:extLst xmlns:a="http://schemas.openxmlformats.org/drawingml/2006/main">
              <a:ext uri="{FF2B5EF4-FFF2-40B4-BE49-F238E27FC236}">
                <a16:creationId xmlns:a16="http://schemas.microsoft.com/office/drawing/2014/main" id="{CB785A4B-D020-4657-A1B8-9FA486BA08CF}"/>
              </a:ext>
            </a:extLst>
          </p:cNvPr>
          <p:cNvSpPr>
            <a:spLocks xmlns:a="http://schemas.openxmlformats.org/drawingml/2006/main" noGrp="1"/>
          </p:cNvSpPr>
          <p:nvPr/>
        </p:nvSpPr>
        <p:spPr>
          <a:xfrm xmlns:a="http://schemas.openxmlformats.org/drawingml/2006/main">
            <a:off x="6153150" y="4552950"/>
            <a:ext cx="5581650" cy="457200"/>
          </a:xfrm>
          <a:prstGeom xmlns:a="http://schemas.openxmlformats.org/drawingml/2006/main" prst="roundRect">
            <a:avLst>
              <a:gd name="adj" fmla="val 14583"/>
            </a:avLst>
          </a:prstGeom>
          <a:solidFill xmlns:a="http://schemas.openxmlformats.org/drawingml/2006/main">
            <a:srgbClr val="EEF9F3"/>
          </a:solidFill>
          <a:ln xmlns:a="http://schemas.openxmlformats.org/drawingml/2006/main" w="9525">
            <a:solidFill>
              <a:srgbClr val="17834D"/>
            </a:solidFill>
            <a:prstDash val="solid"/>
          </a:ln>
        </p:spPr>
      </p:sp>
      <p:sp>
        <p:nvSpPr>
          <p:cNvPr id="37" name="">
            <a:extLst xmlns:a="http://schemas.openxmlformats.org/drawingml/2006/main">
              <a:ext uri="{FF2B5EF4-FFF2-40B4-BE49-F238E27FC236}">
                <a16:creationId xmlns:a16="http://schemas.microsoft.com/office/drawing/2014/main" id="{EF82D540-BEB3-4C2E-A6DA-18DC14BFD5CC}"/>
              </a:ext>
            </a:extLst>
          </p:cNvPr>
          <p:cNvSpPr>
            <a:spLocks xmlns:a="http://schemas.openxmlformats.org/drawingml/2006/main" noGrp="1"/>
          </p:cNvSpPr>
          <p:nvPr/>
        </p:nvSpPr>
        <p:spPr>
          <a:xfrm xmlns:a="http://schemas.openxmlformats.org/drawingml/2006/main">
            <a:off x="6286500" y="46482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a:solidFill>
                  <a:srgbClr val="17834D"/>
                </a:solidFill>
              </a:defRPr>
            </a:pPr>
            <a:r>
              <a:rPr sz="1275" b="1">
                <a:solidFill>
                  <a:srgbClr val="17834D"/>
                </a:solidFill>
              </a:rPr>
              <a:t>5</a:t>
            </a:r>
          </a:p>
        </p:txBody>
      </p:sp>
      <p:sp>
        <p:nvSpPr>
          <p:cNvPr id="38" name="">
            <a:extLst xmlns:a="http://schemas.openxmlformats.org/drawingml/2006/main">
              <a:ext uri="{FF2B5EF4-FFF2-40B4-BE49-F238E27FC236}">
                <a16:creationId xmlns:a16="http://schemas.microsoft.com/office/drawing/2014/main" id="{5FBD0A98-835D-43C2-9AAC-ECCAB0CD4F33}"/>
              </a:ext>
            </a:extLst>
          </p:cNvPr>
          <p:cNvSpPr>
            <a:spLocks xmlns:a="http://schemas.openxmlformats.org/drawingml/2006/main" noGrp="1"/>
          </p:cNvSpPr>
          <p:nvPr/>
        </p:nvSpPr>
        <p:spPr>
          <a:xfrm xmlns:a="http://schemas.openxmlformats.org/drawingml/2006/main">
            <a:off x="6705600" y="4629150"/>
            <a:ext cx="4705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0">
                <a:solidFill>
                  <a:srgbClr val="162C52"/>
                </a:solidFill>
              </a:defRPr>
            </a:pPr>
            <a:r>
              <a:rPr sz="1275" b="0">
                <a:solidFill>
                  <a:srgbClr val="162C52"/>
                </a:solidFill>
              </a:rPr>
              <a:t>Publish index_version after validation</a:t>
            </a:r>
          </a:p>
        </p:txBody>
      </p:sp>
      <p:sp>
        <p:nvSpPr>
          <p:cNvPr id="39" name="">
            <a:extLst xmlns:a="http://schemas.openxmlformats.org/drawingml/2006/main">
              <a:ext uri="{FF2B5EF4-FFF2-40B4-BE49-F238E27FC236}">
                <a16:creationId xmlns:a16="http://schemas.microsoft.com/office/drawing/2014/main" id="{338D1D23-D2D2-420C-ABA1-EBD8F6AF7520}"/>
              </a:ext>
            </a:extLst>
          </p:cNvPr>
          <p:cNvSpPr>
            <a:spLocks xmlns:a="http://schemas.openxmlformats.org/drawingml/2006/main" noGrp="1"/>
          </p:cNvSpPr>
          <p:nvPr/>
        </p:nvSpPr>
        <p:spPr>
          <a:xfrm xmlns:a="http://schemas.openxmlformats.org/drawingml/2006/main">
            <a:off x="6153150" y="5334000"/>
            <a:ext cx="5581650" cy="571500"/>
          </a:xfrm>
          <a:prstGeom xmlns:a="http://schemas.openxmlformats.org/drawingml/2006/main" prst="roundRect">
            <a:avLst>
              <a:gd name="adj" fmla="val 11667"/>
            </a:avLst>
          </a:prstGeom>
          <a:solidFill xmlns:a="http://schemas.openxmlformats.org/drawingml/2006/main">
            <a:srgbClr val="F4EFFF"/>
          </a:solidFill>
          <a:ln xmlns:a="http://schemas.openxmlformats.org/drawingml/2006/main" w="9525">
            <a:solidFill>
              <a:srgbClr val="6737C4"/>
            </a:solid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6737C4"/>
                </a:solidFill>
              </a:defRPr>
            </a:pPr>
            <a:r>
              <a:rPr sz="1275" b="1">
                <a:solidFill>
                  <a:srgbClr val="6737C4"/>
                </a:solidFill>
              </a:rPr>
              <a:t>Full re-embed when the model, dimensions, chunking policy, or normalization version changes.</a:t>
            </a:r>
          </a:p>
        </p:txBody>
      </p:sp>
      <p:sp>
        <p:nvSpPr>
          <p:cNvPr id="40" name="header-cover-5">
            <a:extLst xmlns:a="http://schemas.openxmlformats.org/drawingml/2006/main">
              <a:ext uri="{FF2B5EF4-FFF2-40B4-BE49-F238E27FC236}">
                <a16:creationId xmlns:a16="http://schemas.microsoft.com/office/drawing/2014/main" id="{AA3A5937-4A6A-41D9-AD53-47F4B82AA7AD}"/>
              </a:ext>
            </a:extLst>
          </p:cNvPr>
          <p:cNvSpPr>
            <a:spLocks xmlns:a="http://schemas.openxmlformats.org/drawingml/2006/main" noGrp="1"/>
          </p:cNvSpPr>
          <p:nvPr/>
        </p:nvSpPr>
        <p:spPr>
          <a:xfrm xmlns:a="http://schemas.openxmlformats.org/drawingml/2006/main">
            <a:off x="323850" y="190500"/>
            <a:ext cx="11525250" cy="6096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1" name="section-title-5">
            <a:extLst xmlns:a="http://schemas.openxmlformats.org/drawingml/2006/main">
              <a:ext uri="{FF2B5EF4-FFF2-40B4-BE49-F238E27FC236}">
                <a16:creationId xmlns:a16="http://schemas.microsoft.com/office/drawing/2014/main" id="{89470C99-5924-4912-B91D-B249C54DF30C}"/>
              </a:ext>
            </a:extLst>
          </p:cNvPr>
          <p:cNvSpPr>
            <a:spLocks xmlns:a="http://schemas.openxmlformats.org/drawingml/2006/main" noGrp="1"/>
          </p:cNvSpPr>
          <p:nvPr/>
        </p:nvSpPr>
        <p:spPr>
          <a:xfrm xmlns:a="http://schemas.openxmlformats.org/drawingml/2006/main">
            <a:off x="400050" y="2857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1356F"/>
                </a:solidFill>
              </a:defRPr>
            </a:pPr>
            <a:r>
              <a:rPr sz="2025" b="1">
                <a:solidFill>
                  <a:srgbClr val="11356F"/>
                </a:solidFill>
              </a:rPr>
              <a:t>3. DATA &amp; KNOWLEDGE PIPELINE</a:t>
            </a:r>
          </a:p>
        </p:txBody>
      </p:sp>
      <p:sp>
        <p:nvSpPr>
          <p:cNvPr id="42" name="section-rule-5">
            <a:extLst xmlns:a="http://schemas.openxmlformats.org/drawingml/2006/main">
              <a:ext uri="{FF2B5EF4-FFF2-40B4-BE49-F238E27FC236}">
                <a16:creationId xmlns:a16="http://schemas.microsoft.com/office/drawing/2014/main" id="{EBA3D0D5-6FEA-4151-B1B7-1BA07205BE88}"/>
              </a:ext>
            </a:extLst>
          </p:cNvPr>
          <p:cNvSpPr>
            <a:spLocks xmlns:a="http://schemas.openxmlformats.org/drawingml/2006/main" noGrp="1"/>
          </p:cNvSpPr>
          <p:nvPr/>
        </p:nvSpPr>
        <p:spPr>
          <a:xfrm xmlns:a="http://schemas.openxmlformats.org/drawingml/2006/main">
            <a:off x="400050" y="723900"/>
            <a:ext cx="9715500" cy="9525"/>
          </a:xfrm>
          <a:prstGeom xmlns:a="http://schemas.openxmlformats.org/drawingml/2006/main" prst="line">
            <a:avLst/>
          </a:prstGeom>
          <a:noFill xmlns:a="http://schemas.openxmlformats.org/drawingml/2006/main"/>
          <a:ln xmlns:a="http://schemas.openxmlformats.org/drawingml/2006/main" w="9525">
            <a:solidFill>
              <a:srgbClr val="D8E6FF"/>
            </a:solidFill>
            <a:prstDash val="solid"/>
          </a:ln>
        </p:spPr>
      </p:sp>
      <p:sp>
        <p:nvSpPr>
          <p:cNvPr id="43" name="brand-square-1-5">
            <a:extLst xmlns:a="http://schemas.openxmlformats.org/drawingml/2006/main">
              <a:ext uri="{FF2B5EF4-FFF2-40B4-BE49-F238E27FC236}">
                <a16:creationId xmlns:a16="http://schemas.microsoft.com/office/drawing/2014/main" id="{05AFE7B6-17E3-409E-A032-730C790577A8}"/>
              </a:ext>
            </a:extLst>
          </p:cNvPr>
          <p:cNvSpPr>
            <a:spLocks xmlns:a="http://schemas.openxmlformats.org/drawingml/2006/main" noGrp="1"/>
          </p:cNvSpPr>
          <p:nvPr/>
        </p:nvSpPr>
        <p:spPr>
          <a:xfrm xmlns:a="http://schemas.openxmlformats.org/drawingml/2006/main">
            <a:off x="11001375" y="304800"/>
            <a:ext cx="228600" cy="228600"/>
          </a:xfrm>
          <a:prstGeom xmlns:a="http://schemas.openxmlformats.org/drawingml/2006/main" prst="rect">
            <a:avLst/>
          </a:prstGeom>
          <a:solidFill xmlns:a="http://schemas.openxmlformats.org/drawingml/2006/main">
            <a:srgbClr val="D9E5FB"/>
          </a:solidFill>
          <a:ln xmlns:a="http://schemas.openxmlformats.org/drawingml/2006/main" w="0">
            <a:noFill/>
            <a:prstDash val="solid"/>
          </a:ln>
        </p:spPr>
      </p:sp>
      <p:sp>
        <p:nvSpPr>
          <p:cNvPr id="44" name="brand-square-2-5">
            <a:extLst xmlns:a="http://schemas.openxmlformats.org/drawingml/2006/main">
              <a:ext uri="{FF2B5EF4-FFF2-40B4-BE49-F238E27FC236}">
                <a16:creationId xmlns:a16="http://schemas.microsoft.com/office/drawing/2014/main" id="{EFCF3719-2A0C-4445-AF21-E022A6CFA78A}"/>
              </a:ext>
            </a:extLst>
          </p:cNvPr>
          <p:cNvSpPr>
            <a:spLocks xmlns:a="http://schemas.openxmlformats.org/drawingml/2006/main" noGrp="1"/>
          </p:cNvSpPr>
          <p:nvPr/>
        </p:nvSpPr>
        <p:spPr>
          <a:xfrm xmlns:a="http://schemas.openxmlformats.org/drawingml/2006/main">
            <a:off x="11258550" y="304800"/>
            <a:ext cx="228600" cy="228600"/>
          </a:xfrm>
          <a:prstGeom xmlns:a="http://schemas.openxmlformats.org/drawingml/2006/main" prst="rect">
            <a:avLst/>
          </a:prstGeom>
          <a:solidFill xmlns:a="http://schemas.openxmlformats.org/drawingml/2006/main">
            <a:srgbClr val="AFC9F7"/>
          </a:solidFill>
          <a:ln xmlns:a="http://schemas.openxmlformats.org/drawingml/2006/main" w="0">
            <a:noFill/>
            <a:prstDash val="solid"/>
          </a:ln>
        </p:spPr>
      </p:sp>
      <p:sp>
        <p:nvSpPr>
          <p:cNvPr id="45" name="brand-square-3-5">
            <a:extLst xmlns:a="http://schemas.openxmlformats.org/drawingml/2006/main">
              <a:ext uri="{FF2B5EF4-FFF2-40B4-BE49-F238E27FC236}">
                <a16:creationId xmlns:a16="http://schemas.microsoft.com/office/drawing/2014/main" id="{3D324D35-A907-4DE6-AF07-70ADFE3D1F44}"/>
              </a:ext>
            </a:extLst>
          </p:cNvPr>
          <p:cNvSpPr>
            <a:spLocks xmlns:a="http://schemas.openxmlformats.org/drawingml/2006/main" noGrp="1"/>
          </p:cNvSpPr>
          <p:nvPr/>
        </p:nvSpPr>
        <p:spPr>
          <a:xfrm xmlns:a="http://schemas.openxmlformats.org/drawingml/2006/main">
            <a:off x="11515725" y="304800"/>
            <a:ext cx="228600" cy="228600"/>
          </a:xfrm>
          <a:prstGeom xmlns:a="http://schemas.openxmlformats.org/drawingml/2006/main" prst="rect">
            <a:avLst/>
          </a:prstGeom>
          <a:solidFill xmlns:a="http://schemas.openxmlformats.org/drawingml/2006/main">
            <a:srgbClr val="78A3F1"/>
          </a:solidFill>
          <a:ln xmlns:a="http://schemas.openxmlformats.org/drawingml/2006/main" w="0">
            <a:noFill/>
            <a:prstDash val="solid"/>
          </a:ln>
        </p:spPr>
      </p:sp>
      <p:sp>
        <p:nvSpPr>
          <p:cNvPr id="46" name="footer-cover-5">
            <a:extLst xmlns:a="http://schemas.openxmlformats.org/drawingml/2006/main">
              <a:ext uri="{FF2B5EF4-FFF2-40B4-BE49-F238E27FC236}">
                <a16:creationId xmlns:a16="http://schemas.microsoft.com/office/drawing/2014/main" id="{CB7A4E34-83CE-47A5-AFB9-C300A991FE17}"/>
              </a:ext>
            </a:extLst>
          </p:cNvPr>
          <p:cNvSpPr>
            <a:spLocks xmlns:a="http://schemas.openxmlformats.org/drawingml/2006/main" noGrp="1"/>
          </p:cNvSpPr>
          <p:nvPr/>
        </p:nvSpPr>
        <p:spPr>
          <a:xfrm xmlns:a="http://schemas.openxmlformats.org/drawingml/2006/main">
            <a:off x="323850" y="6438900"/>
            <a:ext cx="4191000" cy="2667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7" name="footer-5">
            <a:extLst xmlns:a="http://schemas.openxmlformats.org/drawingml/2006/main">
              <a:ext uri="{FF2B5EF4-FFF2-40B4-BE49-F238E27FC236}">
                <a16:creationId xmlns:a16="http://schemas.microsoft.com/office/drawing/2014/main" id="{260144A8-19FB-4611-8048-DADF751878EF}"/>
              </a:ext>
            </a:extLst>
          </p:cNvPr>
          <p:cNvSpPr>
            <a:spLocks xmlns:a="http://schemas.openxmlformats.org/drawingml/2006/main" noGrp="1"/>
          </p:cNvSpPr>
          <p:nvPr/>
        </p:nvSpPr>
        <p:spPr>
          <a:xfrm xmlns:a="http://schemas.openxmlformats.org/drawingml/2006/main">
            <a:off x="40005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A98AE"/>
                </a:solidFill>
              </a:defRPr>
            </a:pPr>
            <a:r>
              <a:rPr sz="825" b="1">
                <a:solidFill>
                  <a:srgbClr val="8A98AE"/>
                </a:solidFill>
              </a:rPr>
              <a:t>FIPILOT  •  DEFENSE ROUND 1  •  5</a:t>
            </a:r>
          </a:p>
        </p:txBody>
      </p:sp>
    </p:spTree>
    <p:extLst>
      <p:ext uri="{BB962C8B-B14F-4D97-AF65-F5344CB8AC3E}">
        <p14:creationId xmlns:p14="http://schemas.microsoft.com/office/powerpoint/2010/main" val="118509177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AD4F2103-001C-49E9-B5FA-BAFD40B00793}"/>
              </a:ext>
            </a:extLst>
          </p:cNvPr>
          <p:cNvSpPr>
            <a:spLocks xmlns:a="http://schemas.openxmlformats.org/drawingml/2006/main" noGrp="1"/>
          </p:cNvSpPr>
          <p:nvPr/>
        </p:nvSpPr>
        <p:spPr>
          <a:xfrm xmlns:a="http://schemas.openxmlformats.org/drawingml/2006/main">
            <a:off x="400050" y="2857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1356F"/>
                </a:solidFill>
              </a:defRPr>
            </a:pPr>
            <a:r>
              <a:rPr sz="2025" b="1">
                <a:solidFill>
                  <a:srgbClr val="11356F"/>
                </a:solidFill>
              </a:rPr>
              <a:t>4. AI METHODOLOGY &amp; INTERVIEW INTELLIGENCE</a:t>
            </a:r>
          </a:p>
        </p:txBody>
      </p:sp>
      <p:sp>
        <p:nvSpPr>
          <p:cNvPr id="2" name="">
            <a:extLst xmlns:a="http://schemas.openxmlformats.org/drawingml/2006/main">
              <a:ext uri="{FF2B5EF4-FFF2-40B4-BE49-F238E27FC236}">
                <a16:creationId xmlns:a16="http://schemas.microsoft.com/office/drawing/2014/main" id="{1748DB75-FCCB-40B3-B791-9B3095C4BB38}"/>
              </a:ext>
            </a:extLst>
          </p:cNvPr>
          <p:cNvSpPr>
            <a:spLocks xmlns:a="http://schemas.openxmlformats.org/drawingml/2006/main" noGrp="1"/>
          </p:cNvSpPr>
          <p:nvPr/>
        </p:nvSpPr>
        <p:spPr>
          <a:xfrm xmlns:a="http://schemas.openxmlformats.org/drawingml/2006/main">
            <a:off x="400050" y="723900"/>
            <a:ext cx="9715500" cy="9525"/>
          </a:xfrm>
          <a:prstGeom xmlns:a="http://schemas.openxmlformats.org/drawingml/2006/main" prst="line">
            <a:avLst/>
          </a:prstGeom>
          <a:noFill xmlns:a="http://schemas.openxmlformats.org/drawingml/2006/main"/>
          <a:ln xmlns:a="http://schemas.openxmlformats.org/drawingml/2006/main" w="9525">
            <a:solidFill>
              <a:srgbClr val="D8E6FF"/>
            </a:solidFill>
            <a:prstDash val="solid"/>
          </a:ln>
        </p:spPr>
      </p:sp>
      <p:sp>
        <p:nvSpPr>
          <p:cNvPr id="3" name="">
            <a:extLst xmlns:a="http://schemas.openxmlformats.org/drawingml/2006/main">
              <a:ext uri="{FF2B5EF4-FFF2-40B4-BE49-F238E27FC236}">
                <a16:creationId xmlns:a16="http://schemas.microsoft.com/office/drawing/2014/main" id="{A4D9DEFF-130E-46EC-8FE8-4DEEA03C9A77}"/>
              </a:ext>
            </a:extLst>
          </p:cNvPr>
          <p:cNvSpPr>
            <a:spLocks xmlns:a="http://schemas.openxmlformats.org/drawingml/2006/main" noGrp="1"/>
          </p:cNvSpPr>
          <p:nvPr/>
        </p:nvSpPr>
        <p:spPr>
          <a:xfrm xmlns:a="http://schemas.openxmlformats.org/drawingml/2006/main">
            <a:off x="400050" y="838200"/>
            <a:ext cx="923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62C52"/>
                </a:solidFill>
              </a:defRPr>
            </a:pPr>
            <a:r>
              <a:rPr sz="1500" b="1">
                <a:solidFill>
                  <a:srgbClr val="162C52"/>
                </a:solidFill>
              </a:rPr>
              <a:t>FiPilot Uses Pre-Trained Models; the Team Does Not Train an LLM</a:t>
            </a:r>
          </a:p>
        </p:txBody>
      </p:sp>
      <p:sp>
        <p:nvSpPr>
          <p:cNvPr id="4" name="">
            <a:extLst xmlns:a="http://schemas.openxmlformats.org/drawingml/2006/main">
              <a:ext uri="{FF2B5EF4-FFF2-40B4-BE49-F238E27FC236}">
                <a16:creationId xmlns:a16="http://schemas.microsoft.com/office/drawing/2014/main" id="{6D4AEF3F-DFA8-4AF2-AD4C-DFF17B872809}"/>
              </a:ext>
            </a:extLst>
          </p:cNvPr>
          <p:cNvSpPr>
            <a:spLocks xmlns:a="http://schemas.openxmlformats.org/drawingml/2006/main" noGrp="1"/>
          </p:cNvSpPr>
          <p:nvPr/>
        </p:nvSpPr>
        <p:spPr>
          <a:xfrm xmlns:a="http://schemas.openxmlformats.org/drawingml/2006/main">
            <a:off x="400050" y="1114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617391"/>
                </a:solidFill>
              </a:defRPr>
            </a:pPr>
            <a:r>
              <a:rPr sz="1050" b="0">
                <a:solidFill>
                  <a:srgbClr val="617391"/>
                </a:solidFill>
              </a:rPr>
              <a:t>The engineering contribution is controlled inference, retrieval, schemas, orchestration, and evaluation.</a:t>
            </a:r>
          </a:p>
        </p:txBody>
      </p:sp>
      <p:sp>
        <p:nvSpPr>
          <p:cNvPr id="5" name="">
            <a:extLst xmlns:a="http://schemas.openxmlformats.org/drawingml/2006/main">
              <a:ext uri="{FF2B5EF4-FFF2-40B4-BE49-F238E27FC236}">
                <a16:creationId xmlns:a16="http://schemas.microsoft.com/office/drawing/2014/main" id="{1363FE9F-F456-40EE-AD8D-3FFE9F173EE5}"/>
              </a:ext>
            </a:extLst>
          </p:cNvPr>
          <p:cNvSpPr>
            <a:spLocks xmlns:a="http://schemas.openxmlformats.org/drawingml/2006/main" noGrp="1"/>
          </p:cNvSpPr>
          <p:nvPr/>
        </p:nvSpPr>
        <p:spPr>
          <a:xfrm xmlns:a="http://schemas.openxmlformats.org/drawingml/2006/main">
            <a:off x="11001375" y="304800"/>
            <a:ext cx="228600" cy="228600"/>
          </a:xfrm>
          <a:prstGeom xmlns:a="http://schemas.openxmlformats.org/drawingml/2006/main" prst="rect">
            <a:avLst/>
          </a:prstGeom>
          <a:solidFill xmlns:a="http://schemas.openxmlformats.org/drawingml/2006/main">
            <a:srgbClr val="D9E5F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8A4F44E-1F07-4429-B54B-C1FC538B5259}"/>
              </a:ext>
            </a:extLst>
          </p:cNvPr>
          <p:cNvSpPr>
            <a:spLocks xmlns:a="http://schemas.openxmlformats.org/drawingml/2006/main" noGrp="1"/>
          </p:cNvSpPr>
          <p:nvPr/>
        </p:nvSpPr>
        <p:spPr>
          <a:xfrm xmlns:a="http://schemas.openxmlformats.org/drawingml/2006/main">
            <a:off x="11258550" y="304800"/>
            <a:ext cx="228600" cy="228600"/>
          </a:xfrm>
          <a:prstGeom xmlns:a="http://schemas.openxmlformats.org/drawingml/2006/main" prst="rect">
            <a:avLst/>
          </a:prstGeom>
          <a:solidFill xmlns:a="http://schemas.openxmlformats.org/drawingml/2006/main">
            <a:srgbClr val="AFC9F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AF12487-9AF4-4745-A972-B89934698AF3}"/>
              </a:ext>
            </a:extLst>
          </p:cNvPr>
          <p:cNvSpPr>
            <a:spLocks xmlns:a="http://schemas.openxmlformats.org/drawingml/2006/main" noGrp="1"/>
          </p:cNvSpPr>
          <p:nvPr/>
        </p:nvSpPr>
        <p:spPr>
          <a:xfrm xmlns:a="http://schemas.openxmlformats.org/drawingml/2006/main">
            <a:off x="11515725" y="304800"/>
            <a:ext cx="228600" cy="228600"/>
          </a:xfrm>
          <a:prstGeom xmlns:a="http://schemas.openxmlformats.org/drawingml/2006/main" prst="rect">
            <a:avLst/>
          </a:prstGeom>
          <a:solidFill xmlns:a="http://schemas.openxmlformats.org/drawingml/2006/main">
            <a:srgbClr val="78A3F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EE45333-88D1-4F3F-9E12-0E8BA91C74B7}"/>
              </a:ext>
            </a:extLst>
          </p:cNvPr>
          <p:cNvSpPr>
            <a:spLocks xmlns:a="http://schemas.openxmlformats.org/drawingml/2006/main" noGrp="1"/>
          </p:cNvSpPr>
          <p:nvPr/>
        </p:nvSpPr>
        <p:spPr>
          <a:xfrm xmlns:a="http://schemas.openxmlformats.org/drawingml/2006/main">
            <a:off x="40005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A98AE"/>
                </a:solidFill>
              </a:defRPr>
            </a:pPr>
            <a:r>
              <a:rPr sz="825" b="1">
                <a:solidFill>
                  <a:srgbClr val="8A98AE"/>
                </a:solidFill>
              </a:rPr>
              <a:t>FIPILOT  •  DEFENSE ROUND 1  •  6</a:t>
            </a:r>
          </a:p>
        </p:txBody>
      </p:sp>
      <p:sp>
        <p:nvSpPr>
          <p:cNvPr id="9" name="">
            <a:extLst xmlns:a="http://schemas.openxmlformats.org/drawingml/2006/main">
              <a:ext uri="{FF2B5EF4-FFF2-40B4-BE49-F238E27FC236}">
                <a16:creationId xmlns:a16="http://schemas.microsoft.com/office/drawing/2014/main" id="{AB00AD9A-C9C5-4D26-B70A-095BEDD757F8}"/>
              </a:ext>
            </a:extLst>
          </p:cNvPr>
          <p:cNvSpPr>
            <a:spLocks xmlns:a="http://schemas.openxmlformats.org/drawingml/2006/main" noGrp="1"/>
          </p:cNvSpPr>
          <p:nvPr/>
        </p:nvSpPr>
        <p:spPr>
          <a:xfrm xmlns:a="http://schemas.openxmlformats.org/drawingml/2006/main">
            <a:off x="400050" y="1657350"/>
            <a:ext cx="4095750" cy="4000500"/>
          </a:xfrm>
          <a:prstGeom xmlns:a="http://schemas.openxmlformats.org/drawingml/2006/main" prst="roundRect">
            <a:avLst>
              <a:gd name="adj" fmla="val 2381"/>
            </a:avLst>
          </a:prstGeom>
          <a:solidFill xmlns:a="http://schemas.openxmlformats.org/drawingml/2006/main">
            <a:srgbClr val="11356F"/>
          </a:solidFill>
          <a:ln xmlns:a="http://schemas.openxmlformats.org/drawingml/2006/main" w="9525">
            <a:solidFill>
              <a:srgbClr val="11356F"/>
            </a:solidFill>
            <a:prstDash val="solid"/>
          </a:ln>
        </p:spPr>
      </p:sp>
      <p:sp>
        <p:nvSpPr>
          <p:cNvPr id="10" name="">
            <a:extLst xmlns:a="http://schemas.openxmlformats.org/drawingml/2006/main">
              <a:ext uri="{FF2B5EF4-FFF2-40B4-BE49-F238E27FC236}">
                <a16:creationId xmlns:a16="http://schemas.microsoft.com/office/drawing/2014/main" id="{8EC97616-EDEF-4AD8-A5C8-A1058EA172D9}"/>
              </a:ext>
            </a:extLst>
          </p:cNvPr>
          <p:cNvSpPr>
            <a:spLocks xmlns:a="http://schemas.openxmlformats.org/drawingml/2006/main" noGrp="1"/>
          </p:cNvSpPr>
          <p:nvPr/>
        </p:nvSpPr>
        <p:spPr>
          <a:xfrm xmlns:a="http://schemas.openxmlformats.org/drawingml/2006/main">
            <a:off x="723900" y="2143125"/>
            <a:ext cx="3429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850" b="1">
                <a:solidFill>
                  <a:srgbClr val="FFFFFF"/>
                </a:solidFill>
              </a:defRPr>
            </a:pPr>
            <a:r>
              <a:rPr sz="2850" b="1">
                <a:solidFill>
                  <a:srgbClr val="FFFFFF"/>
                </a:solidFill>
              </a:rPr>
              <a:t>NO FINE-TUNED</a:t>
            </a:r>
          </a:p>
          <a:p xmlns:a="http://schemas.openxmlformats.org/drawingml/2006/main">
            <a:pPr algn="ctr">
              <a:buNone/>
              <a:defRPr sz="2850" b="1">
                <a:solidFill>
                  <a:srgbClr val="FFFFFF"/>
                </a:solidFill>
              </a:defRPr>
            </a:pPr>
            <a:r>
              <a:rPr sz="2850" b="1">
                <a:solidFill>
                  <a:srgbClr val="FFFFFF"/>
                </a:solidFill>
              </a:rPr>
              <a:t>CHECKPOINT</a:t>
            </a:r>
          </a:p>
        </p:txBody>
      </p:sp>
      <p:sp>
        <p:nvSpPr>
          <p:cNvPr id="11" name="">
            <a:extLst xmlns:a="http://schemas.openxmlformats.org/drawingml/2006/main">
              <a:ext uri="{FF2B5EF4-FFF2-40B4-BE49-F238E27FC236}">
                <a16:creationId xmlns:a16="http://schemas.microsoft.com/office/drawing/2014/main" id="{BE23A712-F78D-4199-AE5F-F91AD0FAA09E}"/>
              </a:ext>
            </a:extLst>
          </p:cNvPr>
          <p:cNvSpPr>
            <a:spLocks xmlns:a="http://schemas.openxmlformats.org/drawingml/2006/main" noGrp="1"/>
          </p:cNvSpPr>
          <p:nvPr/>
        </p:nvSpPr>
        <p:spPr>
          <a:xfrm xmlns:a="http://schemas.openxmlformats.org/drawingml/2006/main">
            <a:off x="723900" y="3619500"/>
            <a:ext cx="3429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DDE8FF"/>
                </a:solidFill>
              </a:defRPr>
            </a:pPr>
            <a:r>
              <a:rPr sz="1500" b="0">
                <a:solidFill>
                  <a:srgbClr val="DDE8FF"/>
                </a:solidFill>
              </a:rPr>
              <a:t>No training epochs</a:t>
            </a:r>
          </a:p>
          <a:p xmlns:a="http://schemas.openxmlformats.org/drawingml/2006/main">
            <a:pPr algn="ctr">
              <a:buNone/>
              <a:defRPr sz="1500" b="0">
                <a:solidFill>
                  <a:srgbClr val="DDE8FF"/>
                </a:solidFill>
              </a:defRPr>
            </a:pPr>
            <a:r>
              <a:rPr sz="1500" b="0">
                <a:solidFill>
                  <a:srgbClr val="DDE8FF"/>
                </a:solidFill>
              </a:rPr>
              <a:t>No train/validation split for an LLM</a:t>
            </a:r>
          </a:p>
          <a:p xmlns:a="http://schemas.openxmlformats.org/drawingml/2006/main">
            <a:pPr algn="ctr">
              <a:buNone/>
              <a:defRPr sz="1500" b="0">
                <a:solidFill>
                  <a:srgbClr val="DDE8FF"/>
                </a:solidFill>
              </a:defRPr>
            </a:pPr>
            <a:r>
              <a:rPr sz="1500" b="0">
                <a:solidFill>
                  <a:srgbClr val="DDE8FF"/>
                </a:solidFill>
              </a:rPr>
              <a:t>No production data feedback loop</a:t>
            </a:r>
          </a:p>
        </p:txBody>
      </p:sp>
      <p:sp>
        <p:nvSpPr>
          <p:cNvPr id="12" name="">
            <a:extLst xmlns:a="http://schemas.openxmlformats.org/drawingml/2006/main">
              <a:ext uri="{FF2B5EF4-FFF2-40B4-BE49-F238E27FC236}">
                <a16:creationId xmlns:a16="http://schemas.microsoft.com/office/drawing/2014/main" id="{3FBBABA8-10CF-4D56-9408-CAC837AE28D2}"/>
              </a:ext>
            </a:extLst>
          </p:cNvPr>
          <p:cNvSpPr>
            <a:spLocks xmlns:a="http://schemas.openxmlformats.org/drawingml/2006/main" noGrp="1"/>
          </p:cNvSpPr>
          <p:nvPr/>
        </p:nvSpPr>
        <p:spPr>
          <a:xfrm xmlns:a="http://schemas.openxmlformats.org/drawingml/2006/main">
            <a:off x="4933950" y="1685925"/>
            <a:ext cx="647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3269D4"/>
                </a:solidFill>
              </a:defRPr>
            </a:pPr>
            <a:r>
              <a:rPr sz="1650" b="1">
                <a:solidFill>
                  <a:srgbClr val="3269D4"/>
                </a:solidFill>
              </a:rPr>
              <a:t>What the team builds</a:t>
            </a:r>
          </a:p>
        </p:txBody>
      </p:sp>
      <p:sp>
        <p:nvSpPr>
          <p:cNvPr id="13" name="">
            <a:extLst xmlns:a="http://schemas.openxmlformats.org/drawingml/2006/main">
              <a:ext uri="{FF2B5EF4-FFF2-40B4-BE49-F238E27FC236}">
                <a16:creationId xmlns:a16="http://schemas.microsoft.com/office/drawing/2014/main" id="{9C5410BA-64E0-4E18-AFFF-9C754B90D0F9}"/>
              </a:ext>
            </a:extLst>
          </p:cNvPr>
          <p:cNvSpPr>
            <a:spLocks xmlns:a="http://schemas.openxmlformats.org/drawingml/2006/main" noGrp="1"/>
          </p:cNvSpPr>
          <p:nvPr/>
        </p:nvSpPr>
        <p:spPr>
          <a:xfrm xmlns:a="http://schemas.openxmlformats.org/drawingml/2006/main">
            <a:off x="4953000" y="2133600"/>
            <a:ext cx="628650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162C52"/>
                </a:solidFill>
              </a:defRPr>
            </a:pPr>
            <a:r>
              <a:rPr sz="1500" b="0">
                <a:solidFill>
                  <a:srgbClr val="162C52"/>
                </a:solidFill>
              </a:rPr>
              <a:t>• Vertex model routing and bounded generation settings</a:t>
            </a:r>
          </a:p>
          <a:p xmlns:a="http://schemas.openxmlformats.org/drawingml/2006/main">
            <a:pPr algn="l">
              <a:buNone/>
              <a:defRPr sz="1500" b="0">
                <a:solidFill>
                  <a:srgbClr val="162C52"/>
                </a:solidFill>
              </a:defRPr>
            </a:pPr>
            <a:r>
              <a:rPr sz="1500" b="0">
                <a:solidFill>
                  <a:srgbClr val="162C52"/>
                </a:solidFill>
              </a:rPr>
              <a:t>• System prompts and strict Pydantic output schemas</a:t>
            </a:r>
          </a:p>
          <a:p xmlns:a="http://schemas.openxmlformats.org/drawingml/2006/main">
            <a:pPr algn="l">
              <a:buNone/>
              <a:defRPr sz="1500" b="0">
                <a:solidFill>
                  <a:srgbClr val="162C52"/>
                </a:solidFill>
              </a:defRPr>
            </a:pPr>
            <a:r>
              <a:rPr sz="1500" b="0">
                <a:solidFill>
                  <a:srgbClr val="162C52"/>
                </a:solidFill>
              </a:rPr>
              <a:t>• Curated role/level knowledge catalog</a:t>
            </a:r>
          </a:p>
          <a:p xmlns:a="http://schemas.openxmlformats.org/drawingml/2006/main">
            <a:pPr algn="l">
              <a:buNone/>
              <a:defRPr sz="1500" b="0">
                <a:solidFill>
                  <a:srgbClr val="162C52"/>
                </a:solidFill>
              </a:defRPr>
            </a:pPr>
            <a:r>
              <a:rPr sz="1500" b="0">
                <a:solidFill>
                  <a:srgbClr val="162C52"/>
                </a:solidFill>
              </a:rPr>
              <a:t>• Deterministic interview decision logic</a:t>
            </a:r>
          </a:p>
          <a:p xmlns:a="http://schemas.openxmlformats.org/drawingml/2006/main">
            <a:pPr algn="l">
              <a:buNone/>
              <a:defRPr sz="1500" b="0">
                <a:solidFill>
                  <a:srgbClr val="162C52"/>
                </a:solidFill>
              </a:defRPr>
            </a:pPr>
            <a:r>
              <a:rPr sz="1500" b="0">
                <a:solidFill>
                  <a:srgbClr val="162C52"/>
                </a:solidFill>
              </a:rPr>
              <a:t>• Speech and LLM inference pipelines</a:t>
            </a:r>
          </a:p>
        </p:txBody>
      </p:sp>
      <p:sp>
        <p:nvSpPr>
          <p:cNvPr id="14" name="">
            <a:extLst xmlns:a="http://schemas.openxmlformats.org/drawingml/2006/main">
              <a:ext uri="{FF2B5EF4-FFF2-40B4-BE49-F238E27FC236}">
                <a16:creationId xmlns:a16="http://schemas.microsoft.com/office/drawing/2014/main" id="{19E24BE5-D89B-4541-A829-62167F3357F4}"/>
              </a:ext>
            </a:extLst>
          </p:cNvPr>
          <p:cNvSpPr>
            <a:spLocks xmlns:a="http://schemas.openxmlformats.org/drawingml/2006/main" noGrp="1"/>
          </p:cNvSpPr>
          <p:nvPr/>
        </p:nvSpPr>
        <p:spPr>
          <a:xfrm xmlns:a="http://schemas.openxmlformats.org/drawingml/2006/main">
            <a:off x="4933950" y="4038600"/>
            <a:ext cx="647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7834D"/>
                </a:solidFill>
              </a:defRPr>
            </a:pPr>
            <a:r>
              <a:rPr sz="1650" b="1">
                <a:solidFill>
                  <a:srgbClr val="17834D"/>
                </a:solidFill>
              </a:rPr>
              <a:t>Data governance boundary</a:t>
            </a:r>
          </a:p>
        </p:txBody>
      </p:sp>
      <p:sp>
        <p:nvSpPr>
          <p:cNvPr id="15" name="">
            <a:extLst xmlns:a="http://schemas.openxmlformats.org/drawingml/2006/main">
              <a:ext uri="{FF2B5EF4-FFF2-40B4-BE49-F238E27FC236}">
                <a16:creationId xmlns:a16="http://schemas.microsoft.com/office/drawing/2014/main" id="{CB3F6482-3FBB-41F1-AB7D-6AD986B7D278}"/>
              </a:ext>
            </a:extLst>
          </p:cNvPr>
          <p:cNvSpPr>
            <a:spLocks xmlns:a="http://schemas.openxmlformats.org/drawingml/2006/main" noGrp="1"/>
          </p:cNvSpPr>
          <p:nvPr/>
        </p:nvSpPr>
        <p:spPr>
          <a:xfrm xmlns:a="http://schemas.openxmlformats.org/drawingml/2006/main">
            <a:off x="4953000" y="4476750"/>
            <a:ext cx="6286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162C52"/>
                </a:solidFill>
              </a:defRPr>
            </a:pPr>
            <a:r>
              <a:rPr sz="1425" b="0">
                <a:solidFill>
                  <a:srgbClr val="162C52"/>
                </a:solidFill>
              </a:rPr>
              <a:t>Candidate CVs and answers are owner-scoped operational inputs. They are not automatically added to a training corpus. Evaluation data must be consented, de-identified, labelled, and stored separately.</a:t>
            </a:r>
          </a:p>
        </p:txBody>
      </p:sp>
      <p:sp>
        <p:nvSpPr>
          <p:cNvPr id="16" name="">
            <a:extLst xmlns:a="http://schemas.openxmlformats.org/drawingml/2006/main">
              <a:ext uri="{FF2B5EF4-FFF2-40B4-BE49-F238E27FC236}">
                <a16:creationId xmlns:a16="http://schemas.microsoft.com/office/drawing/2014/main" id="{A779D1BB-0626-4293-8655-8B3371DE0D0E}"/>
              </a:ext>
            </a:extLst>
          </p:cNvPr>
          <p:cNvSpPr>
            <a:spLocks xmlns:a="http://schemas.openxmlformats.org/drawingml/2006/main" noGrp="1"/>
          </p:cNvSpPr>
          <p:nvPr/>
        </p:nvSpPr>
        <p:spPr>
          <a:xfrm xmlns:a="http://schemas.openxmlformats.org/drawingml/2006/main">
            <a:off x="400050" y="5838825"/>
            <a:ext cx="11334750" cy="523875"/>
          </a:xfrm>
          <a:prstGeom xmlns:a="http://schemas.openxmlformats.org/drawingml/2006/main" prst="roundRect">
            <a:avLst>
              <a:gd name="adj" fmla="val 14545"/>
            </a:avLst>
          </a:prstGeom>
          <a:solidFill xmlns:a="http://schemas.openxmlformats.org/drawingml/2006/main">
            <a:srgbClr val="F4EFFF"/>
          </a:solidFill>
          <a:ln xmlns:a="http://schemas.openxmlformats.org/drawingml/2006/main" w="11430">
            <a:solidFill>
              <a:srgbClr val="6737C4"/>
            </a:solidFill>
            <a:prstDash val="solid"/>
          </a:ln>
        </p:spPr>
      </p:sp>
      <p:sp>
        <p:nvSpPr>
          <p:cNvPr id="17" name="">
            <a:extLst xmlns:a="http://schemas.openxmlformats.org/drawingml/2006/main">
              <a:ext uri="{FF2B5EF4-FFF2-40B4-BE49-F238E27FC236}">
                <a16:creationId xmlns:a16="http://schemas.microsoft.com/office/drawing/2014/main" id="{3CFEF403-564B-4D5E-A16F-DA77753D35F6}"/>
              </a:ext>
            </a:extLst>
          </p:cNvPr>
          <p:cNvSpPr>
            <a:spLocks xmlns:a="http://schemas.openxmlformats.org/drawingml/2006/main" noGrp="1"/>
          </p:cNvSpPr>
          <p:nvPr/>
        </p:nvSpPr>
        <p:spPr>
          <a:xfrm xmlns:a="http://schemas.openxmlformats.org/drawingml/2006/main">
            <a:off x="571500" y="5972175"/>
            <a:ext cx="1762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6737C4"/>
                </a:solidFill>
              </a:defRPr>
            </a:pPr>
            <a:r>
              <a:rPr sz="1200" b="1">
                <a:solidFill>
                  <a:srgbClr val="6737C4"/>
                </a:solidFill>
              </a:rPr>
              <a:t>DEFENSE WORDING</a:t>
            </a:r>
          </a:p>
        </p:txBody>
      </p:sp>
      <p:sp>
        <p:nvSpPr>
          <p:cNvPr id="18" name="">
            <a:extLst xmlns:a="http://schemas.openxmlformats.org/drawingml/2006/main">
              <a:ext uri="{FF2B5EF4-FFF2-40B4-BE49-F238E27FC236}">
                <a16:creationId xmlns:a16="http://schemas.microsoft.com/office/drawing/2014/main" id="{B39A3B2D-AA44-462F-A64E-91DFF8372EF8}"/>
              </a:ext>
            </a:extLst>
          </p:cNvPr>
          <p:cNvSpPr>
            <a:spLocks xmlns:a="http://schemas.openxmlformats.org/drawingml/2006/main" noGrp="1"/>
          </p:cNvSpPr>
          <p:nvPr/>
        </p:nvSpPr>
        <p:spPr>
          <a:xfrm xmlns:a="http://schemas.openxmlformats.org/drawingml/2006/main">
            <a:off x="2352675" y="5953125"/>
            <a:ext cx="919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0">
                <a:solidFill>
                  <a:srgbClr val="162C52"/>
                </a:solidFill>
              </a:defRPr>
            </a:pPr>
            <a:r>
              <a:rPr sz="1200" b="0">
                <a:solidFill>
                  <a:srgbClr val="162C52"/>
                </a:solidFill>
              </a:rPr>
              <a:t>“We configure and evaluate pre-trained models; we do not claim to train a foundation model.”</a:t>
            </a:r>
          </a:p>
        </p:txBody>
      </p:sp>
      <p:sp>
        <p:nvSpPr>
          <p:cNvPr id="19" name="header-cover-6">
            <a:extLst xmlns:a="http://schemas.openxmlformats.org/drawingml/2006/main">
              <a:ext uri="{FF2B5EF4-FFF2-40B4-BE49-F238E27FC236}">
                <a16:creationId xmlns:a16="http://schemas.microsoft.com/office/drawing/2014/main" id="{7B5A344D-A6EB-4ACE-8971-58980981195D}"/>
              </a:ext>
            </a:extLst>
          </p:cNvPr>
          <p:cNvSpPr>
            <a:spLocks xmlns:a="http://schemas.openxmlformats.org/drawingml/2006/main" noGrp="1"/>
          </p:cNvSpPr>
          <p:nvPr/>
        </p:nvSpPr>
        <p:spPr>
          <a:xfrm xmlns:a="http://schemas.openxmlformats.org/drawingml/2006/main">
            <a:off x="323850" y="190500"/>
            <a:ext cx="11525250" cy="6096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 name="section-title-6">
            <a:extLst xmlns:a="http://schemas.openxmlformats.org/drawingml/2006/main">
              <a:ext uri="{FF2B5EF4-FFF2-40B4-BE49-F238E27FC236}">
                <a16:creationId xmlns:a16="http://schemas.microsoft.com/office/drawing/2014/main" id="{BCBE3D57-15F1-4B72-A42D-E324425207DC}"/>
              </a:ext>
            </a:extLst>
          </p:cNvPr>
          <p:cNvSpPr>
            <a:spLocks xmlns:a="http://schemas.openxmlformats.org/drawingml/2006/main" noGrp="1"/>
          </p:cNvSpPr>
          <p:nvPr/>
        </p:nvSpPr>
        <p:spPr>
          <a:xfrm xmlns:a="http://schemas.openxmlformats.org/drawingml/2006/main">
            <a:off x="400050" y="2857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1356F"/>
                </a:solidFill>
              </a:defRPr>
            </a:pPr>
            <a:r>
              <a:rPr sz="2025" b="1">
                <a:solidFill>
                  <a:srgbClr val="11356F"/>
                </a:solidFill>
              </a:rPr>
              <a:t>4. AI METHODOLOGY &amp; INTERVIEW INTELLIGENCE</a:t>
            </a:r>
          </a:p>
        </p:txBody>
      </p:sp>
      <p:sp>
        <p:nvSpPr>
          <p:cNvPr id="21" name="section-rule-6">
            <a:extLst xmlns:a="http://schemas.openxmlformats.org/drawingml/2006/main">
              <a:ext uri="{FF2B5EF4-FFF2-40B4-BE49-F238E27FC236}">
                <a16:creationId xmlns:a16="http://schemas.microsoft.com/office/drawing/2014/main" id="{13C2F4B7-7E6A-4CC1-80D4-8CFAEBF9AB25}"/>
              </a:ext>
            </a:extLst>
          </p:cNvPr>
          <p:cNvSpPr>
            <a:spLocks xmlns:a="http://schemas.openxmlformats.org/drawingml/2006/main" noGrp="1"/>
          </p:cNvSpPr>
          <p:nvPr/>
        </p:nvSpPr>
        <p:spPr>
          <a:xfrm xmlns:a="http://schemas.openxmlformats.org/drawingml/2006/main">
            <a:off x="400050" y="723900"/>
            <a:ext cx="9715500" cy="9525"/>
          </a:xfrm>
          <a:prstGeom xmlns:a="http://schemas.openxmlformats.org/drawingml/2006/main" prst="line">
            <a:avLst/>
          </a:prstGeom>
          <a:noFill xmlns:a="http://schemas.openxmlformats.org/drawingml/2006/main"/>
          <a:ln xmlns:a="http://schemas.openxmlformats.org/drawingml/2006/main" w="9525">
            <a:solidFill>
              <a:srgbClr val="D8E6FF"/>
            </a:solidFill>
            <a:prstDash val="solid"/>
          </a:ln>
        </p:spPr>
      </p:sp>
      <p:sp>
        <p:nvSpPr>
          <p:cNvPr id="22" name="brand-square-1-6">
            <a:extLst xmlns:a="http://schemas.openxmlformats.org/drawingml/2006/main">
              <a:ext uri="{FF2B5EF4-FFF2-40B4-BE49-F238E27FC236}">
                <a16:creationId xmlns:a16="http://schemas.microsoft.com/office/drawing/2014/main" id="{A8929421-DDC3-4CA3-847D-2DAA6E0CF86A}"/>
              </a:ext>
            </a:extLst>
          </p:cNvPr>
          <p:cNvSpPr>
            <a:spLocks xmlns:a="http://schemas.openxmlformats.org/drawingml/2006/main" noGrp="1"/>
          </p:cNvSpPr>
          <p:nvPr/>
        </p:nvSpPr>
        <p:spPr>
          <a:xfrm xmlns:a="http://schemas.openxmlformats.org/drawingml/2006/main">
            <a:off x="11001375" y="304800"/>
            <a:ext cx="228600" cy="228600"/>
          </a:xfrm>
          <a:prstGeom xmlns:a="http://schemas.openxmlformats.org/drawingml/2006/main" prst="rect">
            <a:avLst/>
          </a:prstGeom>
          <a:solidFill xmlns:a="http://schemas.openxmlformats.org/drawingml/2006/main">
            <a:srgbClr val="D9E5FB"/>
          </a:solidFill>
          <a:ln xmlns:a="http://schemas.openxmlformats.org/drawingml/2006/main" w="0">
            <a:noFill/>
            <a:prstDash val="solid"/>
          </a:ln>
        </p:spPr>
      </p:sp>
      <p:sp>
        <p:nvSpPr>
          <p:cNvPr id="23" name="brand-square-2-6">
            <a:extLst xmlns:a="http://schemas.openxmlformats.org/drawingml/2006/main">
              <a:ext uri="{FF2B5EF4-FFF2-40B4-BE49-F238E27FC236}">
                <a16:creationId xmlns:a16="http://schemas.microsoft.com/office/drawing/2014/main" id="{20C3932C-C16B-446A-9C2A-D76603BCAEE8}"/>
              </a:ext>
            </a:extLst>
          </p:cNvPr>
          <p:cNvSpPr>
            <a:spLocks xmlns:a="http://schemas.openxmlformats.org/drawingml/2006/main" noGrp="1"/>
          </p:cNvSpPr>
          <p:nvPr/>
        </p:nvSpPr>
        <p:spPr>
          <a:xfrm xmlns:a="http://schemas.openxmlformats.org/drawingml/2006/main">
            <a:off x="11258550" y="304800"/>
            <a:ext cx="228600" cy="228600"/>
          </a:xfrm>
          <a:prstGeom xmlns:a="http://schemas.openxmlformats.org/drawingml/2006/main" prst="rect">
            <a:avLst/>
          </a:prstGeom>
          <a:solidFill xmlns:a="http://schemas.openxmlformats.org/drawingml/2006/main">
            <a:srgbClr val="AFC9F7"/>
          </a:solidFill>
          <a:ln xmlns:a="http://schemas.openxmlformats.org/drawingml/2006/main" w="0">
            <a:noFill/>
            <a:prstDash val="solid"/>
          </a:ln>
        </p:spPr>
      </p:sp>
      <p:sp>
        <p:nvSpPr>
          <p:cNvPr id="24" name="brand-square-3-6">
            <a:extLst xmlns:a="http://schemas.openxmlformats.org/drawingml/2006/main">
              <a:ext uri="{FF2B5EF4-FFF2-40B4-BE49-F238E27FC236}">
                <a16:creationId xmlns:a16="http://schemas.microsoft.com/office/drawing/2014/main" id="{EF396281-2F09-4012-A602-9A7847F248B5}"/>
              </a:ext>
            </a:extLst>
          </p:cNvPr>
          <p:cNvSpPr>
            <a:spLocks xmlns:a="http://schemas.openxmlformats.org/drawingml/2006/main" noGrp="1"/>
          </p:cNvSpPr>
          <p:nvPr/>
        </p:nvSpPr>
        <p:spPr>
          <a:xfrm xmlns:a="http://schemas.openxmlformats.org/drawingml/2006/main">
            <a:off x="11515725" y="304800"/>
            <a:ext cx="228600" cy="228600"/>
          </a:xfrm>
          <a:prstGeom xmlns:a="http://schemas.openxmlformats.org/drawingml/2006/main" prst="rect">
            <a:avLst/>
          </a:prstGeom>
          <a:solidFill xmlns:a="http://schemas.openxmlformats.org/drawingml/2006/main">
            <a:srgbClr val="78A3F1"/>
          </a:solidFill>
          <a:ln xmlns:a="http://schemas.openxmlformats.org/drawingml/2006/main" w="0">
            <a:noFill/>
            <a:prstDash val="solid"/>
          </a:ln>
        </p:spPr>
      </p:sp>
      <p:sp>
        <p:nvSpPr>
          <p:cNvPr id="25" name="footer-cover-6">
            <a:extLst xmlns:a="http://schemas.openxmlformats.org/drawingml/2006/main">
              <a:ext uri="{FF2B5EF4-FFF2-40B4-BE49-F238E27FC236}">
                <a16:creationId xmlns:a16="http://schemas.microsoft.com/office/drawing/2014/main" id="{F053889E-8F06-49DB-8860-4C7774CD99F7}"/>
              </a:ext>
            </a:extLst>
          </p:cNvPr>
          <p:cNvSpPr>
            <a:spLocks xmlns:a="http://schemas.openxmlformats.org/drawingml/2006/main" noGrp="1"/>
          </p:cNvSpPr>
          <p:nvPr/>
        </p:nvSpPr>
        <p:spPr>
          <a:xfrm xmlns:a="http://schemas.openxmlformats.org/drawingml/2006/main">
            <a:off x="323850" y="6438900"/>
            <a:ext cx="4191000" cy="2667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 name="footer-6">
            <a:extLst xmlns:a="http://schemas.openxmlformats.org/drawingml/2006/main">
              <a:ext uri="{FF2B5EF4-FFF2-40B4-BE49-F238E27FC236}">
                <a16:creationId xmlns:a16="http://schemas.microsoft.com/office/drawing/2014/main" id="{DFDD8052-A970-4DA3-960B-95A4E822CD9D}"/>
              </a:ext>
            </a:extLst>
          </p:cNvPr>
          <p:cNvSpPr>
            <a:spLocks xmlns:a="http://schemas.openxmlformats.org/drawingml/2006/main" noGrp="1"/>
          </p:cNvSpPr>
          <p:nvPr/>
        </p:nvSpPr>
        <p:spPr>
          <a:xfrm xmlns:a="http://schemas.openxmlformats.org/drawingml/2006/main">
            <a:off x="40005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A98AE"/>
                </a:solidFill>
              </a:defRPr>
            </a:pPr>
            <a:r>
              <a:rPr sz="825" b="1">
                <a:solidFill>
                  <a:srgbClr val="8A98AE"/>
                </a:solidFill>
              </a:rPr>
              <a:t>FIPILOT  •  DEFENSE ROUND 1  •  6</a:t>
            </a:r>
          </a:p>
        </p:txBody>
      </p:sp>
    </p:spTree>
    <p:extLst>
      <p:ext uri="{BB962C8B-B14F-4D97-AF65-F5344CB8AC3E}">
        <p14:creationId xmlns:p14="http://schemas.microsoft.com/office/powerpoint/2010/main" val="145524222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9D7E61D8-263C-4DC2-9389-9A04FAD11C03}"/>
              </a:ext>
            </a:extLst>
          </p:cNvPr>
          <p:cNvSpPr>
            <a:spLocks xmlns:a="http://schemas.openxmlformats.org/drawingml/2006/main" noGrp="1"/>
          </p:cNvSpPr>
          <p:nvPr/>
        </p:nvSpPr>
        <p:spPr>
          <a:xfrm xmlns:a="http://schemas.openxmlformats.org/drawingml/2006/main">
            <a:off x="400050" y="2857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1356F"/>
                </a:solidFill>
              </a:defRPr>
            </a:pPr>
            <a:r>
              <a:rPr sz="2025" b="1">
                <a:solidFill>
                  <a:srgbClr val="11356F"/>
                </a:solidFill>
              </a:rPr>
              <a:t>5. EVALUATION &amp; RESULTS</a:t>
            </a:r>
          </a:p>
        </p:txBody>
      </p:sp>
      <p:sp>
        <p:nvSpPr>
          <p:cNvPr id="2" name="">
            <a:extLst xmlns:a="http://schemas.openxmlformats.org/drawingml/2006/main">
              <a:ext uri="{FF2B5EF4-FFF2-40B4-BE49-F238E27FC236}">
                <a16:creationId xmlns:a16="http://schemas.microsoft.com/office/drawing/2014/main" id="{C04F64D7-3CB5-4AC7-82A1-B7358CF8EDE3}"/>
              </a:ext>
            </a:extLst>
          </p:cNvPr>
          <p:cNvSpPr>
            <a:spLocks xmlns:a="http://schemas.openxmlformats.org/drawingml/2006/main" noGrp="1"/>
          </p:cNvSpPr>
          <p:nvPr/>
        </p:nvSpPr>
        <p:spPr>
          <a:xfrm xmlns:a="http://schemas.openxmlformats.org/drawingml/2006/main">
            <a:off x="400050" y="723900"/>
            <a:ext cx="9715500" cy="9525"/>
          </a:xfrm>
          <a:prstGeom xmlns:a="http://schemas.openxmlformats.org/drawingml/2006/main" prst="line">
            <a:avLst/>
          </a:prstGeom>
          <a:noFill xmlns:a="http://schemas.openxmlformats.org/drawingml/2006/main"/>
          <a:ln xmlns:a="http://schemas.openxmlformats.org/drawingml/2006/main" w="9525">
            <a:solidFill>
              <a:srgbClr val="D8E6FF"/>
            </a:solidFill>
            <a:prstDash val="solid"/>
          </a:ln>
        </p:spPr>
      </p:sp>
      <p:sp>
        <p:nvSpPr>
          <p:cNvPr id="3" name="">
            <a:extLst xmlns:a="http://schemas.openxmlformats.org/drawingml/2006/main">
              <a:ext uri="{FF2B5EF4-FFF2-40B4-BE49-F238E27FC236}">
                <a16:creationId xmlns:a16="http://schemas.microsoft.com/office/drawing/2014/main" id="{BA51F4E0-A603-45B3-B123-92AB9CA92DD4}"/>
              </a:ext>
            </a:extLst>
          </p:cNvPr>
          <p:cNvSpPr>
            <a:spLocks xmlns:a="http://schemas.openxmlformats.org/drawingml/2006/main" noGrp="1"/>
          </p:cNvSpPr>
          <p:nvPr/>
        </p:nvSpPr>
        <p:spPr>
          <a:xfrm xmlns:a="http://schemas.openxmlformats.org/drawingml/2006/main">
            <a:off x="400050" y="838200"/>
            <a:ext cx="923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62C52"/>
                </a:solidFill>
              </a:defRPr>
            </a:pPr>
            <a:r>
              <a:rPr sz="1500" b="1">
                <a:solidFill>
                  <a:srgbClr val="162C52"/>
                </a:solidFill>
              </a:rPr>
              <a:t>Accuracy Is Measured Per Module, Not as One System Percentage</a:t>
            </a:r>
          </a:p>
        </p:txBody>
      </p:sp>
      <p:sp>
        <p:nvSpPr>
          <p:cNvPr id="4" name="">
            <a:extLst xmlns:a="http://schemas.openxmlformats.org/drawingml/2006/main">
              <a:ext uri="{FF2B5EF4-FFF2-40B4-BE49-F238E27FC236}">
                <a16:creationId xmlns:a16="http://schemas.microsoft.com/office/drawing/2014/main" id="{180D4A88-3EA3-492C-B178-84D4DE9778A1}"/>
              </a:ext>
            </a:extLst>
          </p:cNvPr>
          <p:cNvSpPr>
            <a:spLocks xmlns:a="http://schemas.openxmlformats.org/drawingml/2006/main" noGrp="1"/>
          </p:cNvSpPr>
          <p:nvPr/>
        </p:nvSpPr>
        <p:spPr>
          <a:xfrm xmlns:a="http://schemas.openxmlformats.org/drawingml/2006/main">
            <a:off x="400050" y="1114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617391"/>
                </a:solidFill>
              </a:defRPr>
            </a:pPr>
            <a:r>
              <a:rPr sz="1050" b="0">
                <a:solidFill>
                  <a:srgbClr val="617391"/>
                </a:solidFill>
              </a:rPr>
              <a:t>Each metric requires a matching labelled reference set and explicit sample slices.</a:t>
            </a:r>
          </a:p>
        </p:txBody>
      </p:sp>
      <p:sp>
        <p:nvSpPr>
          <p:cNvPr id="5" name="">
            <a:extLst xmlns:a="http://schemas.openxmlformats.org/drawingml/2006/main">
              <a:ext uri="{FF2B5EF4-FFF2-40B4-BE49-F238E27FC236}">
                <a16:creationId xmlns:a16="http://schemas.microsoft.com/office/drawing/2014/main" id="{83CA0FD0-C6C5-42EF-A715-2E7C86FB689B}"/>
              </a:ext>
            </a:extLst>
          </p:cNvPr>
          <p:cNvSpPr>
            <a:spLocks xmlns:a="http://schemas.openxmlformats.org/drawingml/2006/main" noGrp="1"/>
          </p:cNvSpPr>
          <p:nvPr/>
        </p:nvSpPr>
        <p:spPr>
          <a:xfrm xmlns:a="http://schemas.openxmlformats.org/drawingml/2006/main">
            <a:off x="11001375" y="304800"/>
            <a:ext cx="228600" cy="228600"/>
          </a:xfrm>
          <a:prstGeom xmlns:a="http://schemas.openxmlformats.org/drawingml/2006/main" prst="rect">
            <a:avLst/>
          </a:prstGeom>
          <a:solidFill xmlns:a="http://schemas.openxmlformats.org/drawingml/2006/main">
            <a:srgbClr val="D9E5F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9C27783-5A34-415E-9004-43C9EC4458F7}"/>
              </a:ext>
            </a:extLst>
          </p:cNvPr>
          <p:cNvSpPr>
            <a:spLocks xmlns:a="http://schemas.openxmlformats.org/drawingml/2006/main" noGrp="1"/>
          </p:cNvSpPr>
          <p:nvPr/>
        </p:nvSpPr>
        <p:spPr>
          <a:xfrm xmlns:a="http://schemas.openxmlformats.org/drawingml/2006/main">
            <a:off x="11258550" y="304800"/>
            <a:ext cx="228600" cy="228600"/>
          </a:xfrm>
          <a:prstGeom xmlns:a="http://schemas.openxmlformats.org/drawingml/2006/main" prst="rect">
            <a:avLst/>
          </a:prstGeom>
          <a:solidFill xmlns:a="http://schemas.openxmlformats.org/drawingml/2006/main">
            <a:srgbClr val="AFC9F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F9B3A12-0967-4626-89B6-5CD0EBABE55D}"/>
              </a:ext>
            </a:extLst>
          </p:cNvPr>
          <p:cNvSpPr>
            <a:spLocks xmlns:a="http://schemas.openxmlformats.org/drawingml/2006/main" noGrp="1"/>
          </p:cNvSpPr>
          <p:nvPr/>
        </p:nvSpPr>
        <p:spPr>
          <a:xfrm xmlns:a="http://schemas.openxmlformats.org/drawingml/2006/main">
            <a:off x="11515725" y="304800"/>
            <a:ext cx="228600" cy="228600"/>
          </a:xfrm>
          <a:prstGeom xmlns:a="http://schemas.openxmlformats.org/drawingml/2006/main" prst="rect">
            <a:avLst/>
          </a:prstGeom>
          <a:solidFill xmlns:a="http://schemas.openxmlformats.org/drawingml/2006/main">
            <a:srgbClr val="78A3F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82A26FA-5DD2-4DE7-BA74-5A794439F26B}"/>
              </a:ext>
            </a:extLst>
          </p:cNvPr>
          <p:cNvSpPr>
            <a:spLocks xmlns:a="http://schemas.openxmlformats.org/drawingml/2006/main" noGrp="1"/>
          </p:cNvSpPr>
          <p:nvPr/>
        </p:nvSpPr>
        <p:spPr>
          <a:xfrm xmlns:a="http://schemas.openxmlformats.org/drawingml/2006/main">
            <a:off x="40005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A98AE"/>
                </a:solidFill>
              </a:defRPr>
            </a:pPr>
            <a:r>
              <a:rPr sz="825" b="1">
                <a:solidFill>
                  <a:srgbClr val="8A98AE"/>
                </a:solidFill>
              </a:rPr>
              <a:t>FIPILOT  •  DEFENSE ROUND 1  •  7</a:t>
            </a:r>
          </a:p>
        </p:txBody>
      </p:sp>
      <p:sp>
        <p:nvSpPr>
          <p:cNvPr id="9" name="">
            <a:extLst xmlns:a="http://schemas.openxmlformats.org/drawingml/2006/main">
              <a:ext uri="{FF2B5EF4-FFF2-40B4-BE49-F238E27FC236}">
                <a16:creationId xmlns:a16="http://schemas.microsoft.com/office/drawing/2014/main" id="{1FD2440B-2CF6-46FE-B338-529FD9FADAAC}"/>
              </a:ext>
            </a:extLst>
          </p:cNvPr>
          <p:cNvSpPr>
            <a:spLocks xmlns:a="http://schemas.openxmlformats.org/drawingml/2006/main" noGrp="1"/>
          </p:cNvSpPr>
          <p:nvPr/>
        </p:nvSpPr>
        <p:spPr>
          <a:xfrm xmlns:a="http://schemas.openxmlformats.org/drawingml/2006/main">
            <a:off x="400050" y="1562100"/>
            <a:ext cx="1943100" cy="457200"/>
          </a:xfrm>
          <a:prstGeom xmlns:a="http://schemas.openxmlformats.org/drawingml/2006/main" prst="rect">
            <a:avLst/>
          </a:prstGeom>
          <a:solidFill xmlns:a="http://schemas.openxmlformats.org/drawingml/2006/main">
            <a:srgbClr val="11356F"/>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67E46FE3-6F96-4FD2-92F6-1B60D7475A4C}"/>
              </a:ext>
            </a:extLst>
          </p:cNvPr>
          <p:cNvSpPr>
            <a:spLocks xmlns:a="http://schemas.openxmlformats.org/drawingml/2006/main" noGrp="1"/>
          </p:cNvSpPr>
          <p:nvPr/>
        </p:nvSpPr>
        <p:spPr>
          <a:xfrm xmlns:a="http://schemas.openxmlformats.org/drawingml/2006/main">
            <a:off x="495300" y="167640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a:solidFill>
                  <a:srgbClr val="FFFFFF"/>
                </a:solidFill>
              </a:defRPr>
            </a:pPr>
            <a:r>
              <a:rPr sz="1200" b="1">
                <a:solidFill>
                  <a:srgbClr val="FFFFFF"/>
                </a:solidFill>
              </a:rPr>
              <a:t>Component</a:t>
            </a:r>
          </a:p>
        </p:txBody>
      </p:sp>
      <p:sp>
        <p:nvSpPr>
          <p:cNvPr id="11" name="">
            <a:extLst xmlns:a="http://schemas.openxmlformats.org/drawingml/2006/main">
              <a:ext uri="{FF2B5EF4-FFF2-40B4-BE49-F238E27FC236}">
                <a16:creationId xmlns:a16="http://schemas.microsoft.com/office/drawing/2014/main" id="{C7489928-1DB9-40B4-AE71-F1BE6DDA8E5A}"/>
              </a:ext>
            </a:extLst>
          </p:cNvPr>
          <p:cNvSpPr>
            <a:spLocks xmlns:a="http://schemas.openxmlformats.org/drawingml/2006/main" noGrp="1"/>
          </p:cNvSpPr>
          <p:nvPr/>
        </p:nvSpPr>
        <p:spPr>
          <a:xfrm xmlns:a="http://schemas.openxmlformats.org/drawingml/2006/main">
            <a:off x="2343150" y="1562100"/>
            <a:ext cx="2571750" cy="457200"/>
          </a:xfrm>
          <a:prstGeom xmlns:a="http://schemas.openxmlformats.org/drawingml/2006/main" prst="rect">
            <a:avLst/>
          </a:prstGeom>
          <a:solidFill xmlns:a="http://schemas.openxmlformats.org/drawingml/2006/main">
            <a:srgbClr val="11356F"/>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2A6D0ACA-6BC2-406A-B5E6-D0DE396BB2EC}"/>
              </a:ext>
            </a:extLst>
          </p:cNvPr>
          <p:cNvSpPr>
            <a:spLocks xmlns:a="http://schemas.openxmlformats.org/drawingml/2006/main" noGrp="1"/>
          </p:cNvSpPr>
          <p:nvPr/>
        </p:nvSpPr>
        <p:spPr>
          <a:xfrm xmlns:a="http://schemas.openxmlformats.org/drawingml/2006/main">
            <a:off x="2438400" y="16764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a:solidFill>
                  <a:srgbClr val="FFFFFF"/>
                </a:solidFill>
              </a:defRPr>
            </a:pPr>
            <a:r>
              <a:rPr sz="1200" b="1">
                <a:solidFill>
                  <a:srgbClr val="FFFFFF"/>
                </a:solidFill>
              </a:rPr>
              <a:t>Gold / reference</a:t>
            </a:r>
          </a:p>
        </p:txBody>
      </p:sp>
      <p:sp>
        <p:nvSpPr>
          <p:cNvPr id="13" name="">
            <a:extLst xmlns:a="http://schemas.openxmlformats.org/drawingml/2006/main">
              <a:ext uri="{FF2B5EF4-FFF2-40B4-BE49-F238E27FC236}">
                <a16:creationId xmlns:a16="http://schemas.microsoft.com/office/drawing/2014/main" id="{F477E2E4-2473-4751-963E-0D1619DADAED}"/>
              </a:ext>
            </a:extLst>
          </p:cNvPr>
          <p:cNvSpPr>
            <a:spLocks xmlns:a="http://schemas.openxmlformats.org/drawingml/2006/main" noGrp="1"/>
          </p:cNvSpPr>
          <p:nvPr/>
        </p:nvSpPr>
        <p:spPr>
          <a:xfrm xmlns:a="http://schemas.openxmlformats.org/drawingml/2006/main">
            <a:off x="4914900" y="1562100"/>
            <a:ext cx="3105150" cy="457200"/>
          </a:xfrm>
          <a:prstGeom xmlns:a="http://schemas.openxmlformats.org/drawingml/2006/main" prst="rect">
            <a:avLst/>
          </a:prstGeom>
          <a:solidFill xmlns:a="http://schemas.openxmlformats.org/drawingml/2006/main">
            <a:srgbClr val="11356F"/>
          </a:solidFill>
          <a:ln xmlns:a="http://schemas.openxmlformats.org/drawingml/2006/main" w="9525">
            <a:solidFill>
              <a:srgbClr val="FFFFFF"/>
            </a:solidFill>
            <a:prstDash val="solid"/>
          </a:ln>
        </p:spPr>
      </p:sp>
      <p:sp>
        <p:nvSpPr>
          <p:cNvPr id="14" name="">
            <a:extLst xmlns:a="http://schemas.openxmlformats.org/drawingml/2006/main">
              <a:ext uri="{FF2B5EF4-FFF2-40B4-BE49-F238E27FC236}">
                <a16:creationId xmlns:a16="http://schemas.microsoft.com/office/drawing/2014/main" id="{408DAA95-52E1-4C2C-B023-C8FBF3B2FDC3}"/>
              </a:ext>
            </a:extLst>
          </p:cNvPr>
          <p:cNvSpPr>
            <a:spLocks xmlns:a="http://schemas.openxmlformats.org/drawingml/2006/main" noGrp="1"/>
          </p:cNvSpPr>
          <p:nvPr/>
        </p:nvSpPr>
        <p:spPr>
          <a:xfrm xmlns:a="http://schemas.openxmlformats.org/drawingml/2006/main">
            <a:off x="5010150" y="1676400"/>
            <a:ext cx="2914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a:solidFill>
                  <a:srgbClr val="FFFFFF"/>
                </a:solidFill>
              </a:defRPr>
            </a:pPr>
            <a:r>
              <a:rPr sz="1200" b="1">
                <a:solidFill>
                  <a:srgbClr val="FFFFFF"/>
                </a:solidFill>
              </a:rPr>
              <a:t>Primary metrics</a:t>
            </a:r>
          </a:p>
        </p:txBody>
      </p:sp>
      <p:sp>
        <p:nvSpPr>
          <p:cNvPr id="15" name="">
            <a:extLst xmlns:a="http://schemas.openxmlformats.org/drawingml/2006/main">
              <a:ext uri="{FF2B5EF4-FFF2-40B4-BE49-F238E27FC236}">
                <a16:creationId xmlns:a16="http://schemas.microsoft.com/office/drawing/2014/main" id="{889EBCE6-5AEF-42E2-AA76-04A241E526C6}"/>
              </a:ext>
            </a:extLst>
          </p:cNvPr>
          <p:cNvSpPr>
            <a:spLocks xmlns:a="http://schemas.openxmlformats.org/drawingml/2006/main" noGrp="1"/>
          </p:cNvSpPr>
          <p:nvPr/>
        </p:nvSpPr>
        <p:spPr>
          <a:xfrm xmlns:a="http://schemas.openxmlformats.org/drawingml/2006/main">
            <a:off x="8020050" y="1562100"/>
            <a:ext cx="3714750" cy="457200"/>
          </a:xfrm>
          <a:prstGeom xmlns:a="http://schemas.openxmlformats.org/drawingml/2006/main" prst="rect">
            <a:avLst/>
          </a:prstGeom>
          <a:solidFill xmlns:a="http://schemas.openxmlformats.org/drawingml/2006/main">
            <a:srgbClr val="11356F"/>
          </a:solidFill>
          <a:ln xmlns:a="http://schemas.openxmlformats.org/drawingml/2006/main" w="9525">
            <a:solidFill>
              <a:srgbClr val="FFFFFF"/>
            </a:solidFill>
            <a:prstDash val="solid"/>
          </a:ln>
        </p:spPr>
      </p:sp>
      <p:sp>
        <p:nvSpPr>
          <p:cNvPr id="16" name="">
            <a:extLst xmlns:a="http://schemas.openxmlformats.org/drawingml/2006/main">
              <a:ext uri="{FF2B5EF4-FFF2-40B4-BE49-F238E27FC236}">
                <a16:creationId xmlns:a16="http://schemas.microsoft.com/office/drawing/2014/main" id="{D5236599-ACA7-4475-BC30-D0D806C4F675}"/>
              </a:ext>
            </a:extLst>
          </p:cNvPr>
          <p:cNvSpPr>
            <a:spLocks xmlns:a="http://schemas.openxmlformats.org/drawingml/2006/main" noGrp="1"/>
          </p:cNvSpPr>
          <p:nvPr/>
        </p:nvSpPr>
        <p:spPr>
          <a:xfrm xmlns:a="http://schemas.openxmlformats.org/drawingml/2006/main">
            <a:off x="8115300" y="1676400"/>
            <a:ext cx="3524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a:solidFill>
                  <a:srgbClr val="FFFFFF"/>
                </a:solidFill>
              </a:defRPr>
            </a:pPr>
            <a:r>
              <a:rPr sz="1200" b="1">
                <a:solidFill>
                  <a:srgbClr val="FFFFFF"/>
                </a:solidFill>
              </a:rPr>
              <a:t>Required evidence</a:t>
            </a:r>
          </a:p>
        </p:txBody>
      </p:sp>
      <p:sp>
        <p:nvSpPr>
          <p:cNvPr id="17" name="">
            <a:extLst xmlns:a="http://schemas.openxmlformats.org/drawingml/2006/main">
              <a:ext uri="{FF2B5EF4-FFF2-40B4-BE49-F238E27FC236}">
                <a16:creationId xmlns:a16="http://schemas.microsoft.com/office/drawing/2014/main" id="{7E9E3EA5-726C-4997-96CD-3A538B0736FC}"/>
              </a:ext>
            </a:extLst>
          </p:cNvPr>
          <p:cNvSpPr>
            <a:spLocks xmlns:a="http://schemas.openxmlformats.org/drawingml/2006/main" noGrp="1"/>
          </p:cNvSpPr>
          <p:nvPr/>
        </p:nvSpPr>
        <p:spPr>
          <a:xfrm xmlns:a="http://schemas.openxmlformats.org/drawingml/2006/main">
            <a:off x="400050" y="2019300"/>
            <a:ext cx="19431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F0"/>
            </a:solidFill>
            <a:prstDash val="solid"/>
          </a:ln>
        </p:spPr>
      </p:sp>
      <p:sp>
        <p:nvSpPr>
          <p:cNvPr id="18" name="">
            <a:extLst xmlns:a="http://schemas.openxmlformats.org/drawingml/2006/main">
              <a:ext uri="{FF2B5EF4-FFF2-40B4-BE49-F238E27FC236}">
                <a16:creationId xmlns:a16="http://schemas.microsoft.com/office/drawing/2014/main" id="{ACF5ACA9-2C0C-4DDE-8D55-45F6A3A5940A}"/>
              </a:ext>
            </a:extLst>
          </p:cNvPr>
          <p:cNvSpPr>
            <a:spLocks xmlns:a="http://schemas.openxmlformats.org/drawingml/2006/main" noGrp="1"/>
          </p:cNvSpPr>
          <p:nvPr/>
        </p:nvSpPr>
        <p:spPr>
          <a:xfrm xmlns:a="http://schemas.openxmlformats.org/drawingml/2006/main">
            <a:off x="495300" y="213360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3269D4"/>
                </a:solidFill>
              </a:defRPr>
            </a:pPr>
            <a:r>
              <a:rPr sz="1200" b="1">
                <a:solidFill>
                  <a:srgbClr val="3269D4"/>
                </a:solidFill>
              </a:rPr>
              <a:t>CV extraction</a:t>
            </a:r>
          </a:p>
        </p:txBody>
      </p:sp>
      <p:sp>
        <p:nvSpPr>
          <p:cNvPr id="19" name="">
            <a:extLst xmlns:a="http://schemas.openxmlformats.org/drawingml/2006/main">
              <a:ext uri="{FF2B5EF4-FFF2-40B4-BE49-F238E27FC236}">
                <a16:creationId xmlns:a16="http://schemas.microsoft.com/office/drawing/2014/main" id="{717BFD7D-4971-4379-A6E5-9E60F6E451F9}"/>
              </a:ext>
            </a:extLst>
          </p:cNvPr>
          <p:cNvSpPr>
            <a:spLocks xmlns:a="http://schemas.openxmlformats.org/drawingml/2006/main" noGrp="1"/>
          </p:cNvSpPr>
          <p:nvPr/>
        </p:nvSpPr>
        <p:spPr>
          <a:xfrm xmlns:a="http://schemas.openxmlformats.org/drawingml/2006/main">
            <a:off x="2343150" y="2019300"/>
            <a:ext cx="25717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F0"/>
            </a:solidFill>
            <a:prstDash val="solid"/>
          </a:ln>
        </p:spPr>
      </p:sp>
      <p:sp>
        <p:nvSpPr>
          <p:cNvPr id="20" name="">
            <a:extLst xmlns:a="http://schemas.openxmlformats.org/drawingml/2006/main">
              <a:ext uri="{FF2B5EF4-FFF2-40B4-BE49-F238E27FC236}">
                <a16:creationId xmlns:a16="http://schemas.microsoft.com/office/drawing/2014/main" id="{AE2B42E9-EBCC-41F8-B782-A1938E814E73}"/>
              </a:ext>
            </a:extLst>
          </p:cNvPr>
          <p:cNvSpPr>
            <a:spLocks xmlns:a="http://schemas.openxmlformats.org/drawingml/2006/main" noGrp="1"/>
          </p:cNvSpPr>
          <p:nvPr/>
        </p:nvSpPr>
        <p:spPr>
          <a:xfrm xmlns:a="http://schemas.openxmlformats.org/drawingml/2006/main">
            <a:off x="2438400" y="213360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0">
                <a:solidFill>
                  <a:srgbClr val="162C52"/>
                </a:solidFill>
              </a:defRPr>
            </a:pPr>
            <a:r>
              <a:rPr sz="1200" b="0">
                <a:solidFill>
                  <a:srgbClr val="162C52"/>
                </a:solidFill>
              </a:rPr>
              <a:t>Human-labelled profile</a:t>
            </a:r>
          </a:p>
        </p:txBody>
      </p:sp>
      <p:sp>
        <p:nvSpPr>
          <p:cNvPr id="21" name="">
            <a:extLst xmlns:a="http://schemas.openxmlformats.org/drawingml/2006/main">
              <a:ext uri="{FF2B5EF4-FFF2-40B4-BE49-F238E27FC236}">
                <a16:creationId xmlns:a16="http://schemas.microsoft.com/office/drawing/2014/main" id="{BF719ECA-0995-49ED-97E5-47BD6CF2E5B2}"/>
              </a:ext>
            </a:extLst>
          </p:cNvPr>
          <p:cNvSpPr>
            <a:spLocks xmlns:a="http://schemas.openxmlformats.org/drawingml/2006/main" noGrp="1"/>
          </p:cNvSpPr>
          <p:nvPr/>
        </p:nvSpPr>
        <p:spPr>
          <a:xfrm xmlns:a="http://schemas.openxmlformats.org/drawingml/2006/main">
            <a:off x="4914900" y="2019300"/>
            <a:ext cx="31051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F0"/>
            </a:solidFill>
            <a:prstDash val="solid"/>
          </a:ln>
        </p:spPr>
      </p:sp>
      <p:sp>
        <p:nvSpPr>
          <p:cNvPr id="22" name="">
            <a:extLst xmlns:a="http://schemas.openxmlformats.org/drawingml/2006/main">
              <a:ext uri="{FF2B5EF4-FFF2-40B4-BE49-F238E27FC236}">
                <a16:creationId xmlns:a16="http://schemas.microsoft.com/office/drawing/2014/main" id="{FDBE43ED-D955-4414-BA2E-1BB5C7846FF7}"/>
              </a:ext>
            </a:extLst>
          </p:cNvPr>
          <p:cNvSpPr>
            <a:spLocks xmlns:a="http://schemas.openxmlformats.org/drawingml/2006/main" noGrp="1"/>
          </p:cNvSpPr>
          <p:nvPr/>
        </p:nvSpPr>
        <p:spPr>
          <a:xfrm xmlns:a="http://schemas.openxmlformats.org/drawingml/2006/main">
            <a:off x="5010150" y="2133600"/>
            <a:ext cx="2914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0">
                <a:solidFill>
                  <a:srgbClr val="162C52"/>
                </a:solidFill>
              </a:defRPr>
            </a:pPr>
            <a:r>
              <a:rPr sz="1200" b="0">
                <a:solidFill>
                  <a:srgbClr val="162C52"/>
                </a:solidFill>
              </a:rPr>
              <a:t>Skill P/R/F1; field accuracy; reject rate</a:t>
            </a:r>
          </a:p>
        </p:txBody>
      </p:sp>
      <p:sp>
        <p:nvSpPr>
          <p:cNvPr id="23" name="">
            <a:extLst xmlns:a="http://schemas.openxmlformats.org/drawingml/2006/main">
              <a:ext uri="{FF2B5EF4-FFF2-40B4-BE49-F238E27FC236}">
                <a16:creationId xmlns:a16="http://schemas.microsoft.com/office/drawing/2014/main" id="{01927F6F-FEA4-40D3-B728-DE1B502B6163}"/>
              </a:ext>
            </a:extLst>
          </p:cNvPr>
          <p:cNvSpPr>
            <a:spLocks xmlns:a="http://schemas.openxmlformats.org/drawingml/2006/main" noGrp="1"/>
          </p:cNvSpPr>
          <p:nvPr/>
        </p:nvSpPr>
        <p:spPr>
          <a:xfrm xmlns:a="http://schemas.openxmlformats.org/drawingml/2006/main">
            <a:off x="8020050" y="2019300"/>
            <a:ext cx="37147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F0"/>
            </a:solidFill>
            <a:prstDash val="solid"/>
          </a:ln>
        </p:spPr>
      </p:sp>
      <p:sp>
        <p:nvSpPr>
          <p:cNvPr id="24" name="">
            <a:extLst xmlns:a="http://schemas.openxmlformats.org/drawingml/2006/main">
              <a:ext uri="{FF2B5EF4-FFF2-40B4-BE49-F238E27FC236}">
                <a16:creationId xmlns:a16="http://schemas.microsoft.com/office/drawing/2014/main" id="{AD8B6535-4FD9-49BA-A9FB-0E8701E924CD}"/>
              </a:ext>
            </a:extLst>
          </p:cNvPr>
          <p:cNvSpPr>
            <a:spLocks xmlns:a="http://schemas.openxmlformats.org/drawingml/2006/main" noGrp="1"/>
          </p:cNvSpPr>
          <p:nvPr/>
        </p:nvSpPr>
        <p:spPr>
          <a:xfrm xmlns:a="http://schemas.openxmlformats.org/drawingml/2006/main">
            <a:off x="8115300" y="2133600"/>
            <a:ext cx="3524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0">
                <a:solidFill>
                  <a:srgbClr val="162C52"/>
                </a:solidFill>
              </a:defRPr>
            </a:pPr>
            <a:r>
              <a:rPr sz="1200" b="0">
                <a:solidFill>
                  <a:srgbClr val="162C52"/>
                </a:solidFill>
              </a:rPr>
              <a:t>PDF, DOCX, scanned and noisy slices</a:t>
            </a:r>
          </a:p>
        </p:txBody>
      </p:sp>
      <p:sp>
        <p:nvSpPr>
          <p:cNvPr id="25" name="">
            <a:extLst xmlns:a="http://schemas.openxmlformats.org/drawingml/2006/main">
              <a:ext uri="{FF2B5EF4-FFF2-40B4-BE49-F238E27FC236}">
                <a16:creationId xmlns:a16="http://schemas.microsoft.com/office/drawing/2014/main" id="{00BE0172-61D2-45B0-A69E-413DEB8B340D}"/>
              </a:ext>
            </a:extLst>
          </p:cNvPr>
          <p:cNvSpPr>
            <a:spLocks xmlns:a="http://schemas.openxmlformats.org/drawingml/2006/main" noGrp="1"/>
          </p:cNvSpPr>
          <p:nvPr/>
        </p:nvSpPr>
        <p:spPr>
          <a:xfrm xmlns:a="http://schemas.openxmlformats.org/drawingml/2006/main">
            <a:off x="400050" y="2800350"/>
            <a:ext cx="1943100" cy="781050"/>
          </a:xfrm>
          <a:prstGeom xmlns:a="http://schemas.openxmlformats.org/drawingml/2006/main" prst="rect">
            <a:avLst/>
          </a:prstGeom>
          <a:solidFill xmlns:a="http://schemas.openxmlformats.org/drawingml/2006/main">
            <a:srgbClr val="F7F9FC"/>
          </a:solidFill>
          <a:ln xmlns:a="http://schemas.openxmlformats.org/drawingml/2006/main" w="9525">
            <a:solidFill>
              <a:srgbClr val="D8E2F0"/>
            </a:solidFill>
            <a:prstDash val="solid"/>
          </a:ln>
        </p:spPr>
      </p:sp>
      <p:sp>
        <p:nvSpPr>
          <p:cNvPr id="26" name="">
            <a:extLst xmlns:a="http://schemas.openxmlformats.org/drawingml/2006/main">
              <a:ext uri="{FF2B5EF4-FFF2-40B4-BE49-F238E27FC236}">
                <a16:creationId xmlns:a16="http://schemas.microsoft.com/office/drawing/2014/main" id="{F1684819-1297-4709-BAA0-42699DD10F16}"/>
              </a:ext>
            </a:extLst>
          </p:cNvPr>
          <p:cNvSpPr>
            <a:spLocks xmlns:a="http://schemas.openxmlformats.org/drawingml/2006/main" noGrp="1"/>
          </p:cNvSpPr>
          <p:nvPr/>
        </p:nvSpPr>
        <p:spPr>
          <a:xfrm xmlns:a="http://schemas.openxmlformats.org/drawingml/2006/main">
            <a:off x="495300" y="291465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3269D4"/>
                </a:solidFill>
              </a:defRPr>
            </a:pPr>
            <a:r>
              <a:rPr sz="1200" b="1">
                <a:solidFill>
                  <a:srgbClr val="3269D4"/>
                </a:solidFill>
              </a:rPr>
              <a:t>Retrieval</a:t>
            </a:r>
          </a:p>
        </p:txBody>
      </p:sp>
      <p:sp>
        <p:nvSpPr>
          <p:cNvPr id="27" name="">
            <a:extLst xmlns:a="http://schemas.openxmlformats.org/drawingml/2006/main">
              <a:ext uri="{FF2B5EF4-FFF2-40B4-BE49-F238E27FC236}">
                <a16:creationId xmlns:a16="http://schemas.microsoft.com/office/drawing/2014/main" id="{0E5CB3C9-5483-400B-A455-59E6F0B422C8}"/>
              </a:ext>
            </a:extLst>
          </p:cNvPr>
          <p:cNvSpPr>
            <a:spLocks xmlns:a="http://schemas.openxmlformats.org/drawingml/2006/main" noGrp="1"/>
          </p:cNvSpPr>
          <p:nvPr/>
        </p:nvSpPr>
        <p:spPr>
          <a:xfrm xmlns:a="http://schemas.openxmlformats.org/drawingml/2006/main">
            <a:off x="2343150" y="2800350"/>
            <a:ext cx="2571750" cy="781050"/>
          </a:xfrm>
          <a:prstGeom xmlns:a="http://schemas.openxmlformats.org/drawingml/2006/main" prst="rect">
            <a:avLst/>
          </a:prstGeom>
          <a:solidFill xmlns:a="http://schemas.openxmlformats.org/drawingml/2006/main">
            <a:srgbClr val="F7F9FC"/>
          </a:solidFill>
          <a:ln xmlns:a="http://schemas.openxmlformats.org/drawingml/2006/main" w="9525">
            <a:solidFill>
              <a:srgbClr val="D8E2F0"/>
            </a:solidFill>
            <a:prstDash val="solid"/>
          </a:ln>
        </p:spPr>
      </p:sp>
      <p:sp>
        <p:nvSpPr>
          <p:cNvPr id="28" name="">
            <a:extLst xmlns:a="http://schemas.openxmlformats.org/drawingml/2006/main">
              <a:ext uri="{FF2B5EF4-FFF2-40B4-BE49-F238E27FC236}">
                <a16:creationId xmlns:a16="http://schemas.microsoft.com/office/drawing/2014/main" id="{8EFEE3F1-0BD4-4F01-92CB-06CC16BC0B6C}"/>
              </a:ext>
            </a:extLst>
          </p:cNvPr>
          <p:cNvSpPr>
            <a:spLocks xmlns:a="http://schemas.openxmlformats.org/drawingml/2006/main" noGrp="1"/>
          </p:cNvSpPr>
          <p:nvPr/>
        </p:nvSpPr>
        <p:spPr>
          <a:xfrm xmlns:a="http://schemas.openxmlformats.org/drawingml/2006/main">
            <a:off x="2438400" y="291465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0">
                <a:solidFill>
                  <a:srgbClr val="162C52"/>
                </a:solidFill>
              </a:defRPr>
            </a:pPr>
            <a:r>
              <a:rPr sz="1200" b="0">
                <a:solidFill>
                  <a:srgbClr val="162C52"/>
                </a:solidFill>
              </a:rPr>
              <a:t>Relevant chunks per query</a:t>
            </a:r>
          </a:p>
        </p:txBody>
      </p:sp>
      <p:sp>
        <p:nvSpPr>
          <p:cNvPr id="29" name="">
            <a:extLst xmlns:a="http://schemas.openxmlformats.org/drawingml/2006/main">
              <a:ext uri="{FF2B5EF4-FFF2-40B4-BE49-F238E27FC236}">
                <a16:creationId xmlns:a16="http://schemas.microsoft.com/office/drawing/2014/main" id="{13ABFCED-869E-4FD6-8F49-D1BEEA676F21}"/>
              </a:ext>
            </a:extLst>
          </p:cNvPr>
          <p:cNvSpPr>
            <a:spLocks xmlns:a="http://schemas.openxmlformats.org/drawingml/2006/main" noGrp="1"/>
          </p:cNvSpPr>
          <p:nvPr/>
        </p:nvSpPr>
        <p:spPr>
          <a:xfrm xmlns:a="http://schemas.openxmlformats.org/drawingml/2006/main">
            <a:off x="4914900" y="2800350"/>
            <a:ext cx="3105150" cy="781050"/>
          </a:xfrm>
          <a:prstGeom xmlns:a="http://schemas.openxmlformats.org/drawingml/2006/main" prst="rect">
            <a:avLst/>
          </a:prstGeom>
          <a:solidFill xmlns:a="http://schemas.openxmlformats.org/drawingml/2006/main">
            <a:srgbClr val="F7F9FC"/>
          </a:solidFill>
          <a:ln xmlns:a="http://schemas.openxmlformats.org/drawingml/2006/main" w="9525">
            <a:solidFill>
              <a:srgbClr val="D8E2F0"/>
            </a:solidFill>
            <a:prstDash val="solid"/>
          </a:ln>
        </p:spPr>
      </p:sp>
      <p:sp>
        <p:nvSpPr>
          <p:cNvPr id="30" name="">
            <a:extLst xmlns:a="http://schemas.openxmlformats.org/drawingml/2006/main">
              <a:ext uri="{FF2B5EF4-FFF2-40B4-BE49-F238E27FC236}">
                <a16:creationId xmlns:a16="http://schemas.microsoft.com/office/drawing/2014/main" id="{C1EA9230-BD2F-430E-8CD9-438793BD18BF}"/>
              </a:ext>
            </a:extLst>
          </p:cNvPr>
          <p:cNvSpPr>
            <a:spLocks xmlns:a="http://schemas.openxmlformats.org/drawingml/2006/main" noGrp="1"/>
          </p:cNvSpPr>
          <p:nvPr/>
        </p:nvSpPr>
        <p:spPr>
          <a:xfrm xmlns:a="http://schemas.openxmlformats.org/drawingml/2006/main">
            <a:off x="5010150" y="2914650"/>
            <a:ext cx="2914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0">
                <a:solidFill>
                  <a:srgbClr val="162C52"/>
                </a:solidFill>
              </a:defRPr>
            </a:pPr>
            <a:r>
              <a:rPr sz="1200" b="0">
                <a:solidFill>
                  <a:srgbClr val="162C52"/>
                </a:solidFill>
              </a:rPr>
              <a:t>Recall@K; HitRate@K; MRR; context precision; latency</a:t>
            </a:r>
          </a:p>
        </p:txBody>
      </p:sp>
      <p:sp>
        <p:nvSpPr>
          <p:cNvPr id="31" name="">
            <a:extLst xmlns:a="http://schemas.openxmlformats.org/drawingml/2006/main">
              <a:ext uri="{FF2B5EF4-FFF2-40B4-BE49-F238E27FC236}">
                <a16:creationId xmlns:a16="http://schemas.microsoft.com/office/drawing/2014/main" id="{BC60CEE5-61D8-472D-B73F-A8F682970A8D}"/>
              </a:ext>
            </a:extLst>
          </p:cNvPr>
          <p:cNvSpPr>
            <a:spLocks xmlns:a="http://schemas.openxmlformats.org/drawingml/2006/main" noGrp="1"/>
          </p:cNvSpPr>
          <p:nvPr/>
        </p:nvSpPr>
        <p:spPr>
          <a:xfrm xmlns:a="http://schemas.openxmlformats.org/drawingml/2006/main">
            <a:off x="8020050" y="2800350"/>
            <a:ext cx="3714750" cy="781050"/>
          </a:xfrm>
          <a:prstGeom xmlns:a="http://schemas.openxmlformats.org/drawingml/2006/main" prst="rect">
            <a:avLst/>
          </a:prstGeom>
          <a:solidFill xmlns:a="http://schemas.openxmlformats.org/drawingml/2006/main">
            <a:srgbClr val="F7F9FC"/>
          </a:solidFill>
          <a:ln xmlns:a="http://schemas.openxmlformats.org/drawingml/2006/main" w="9525">
            <a:solidFill>
              <a:srgbClr val="D8E2F0"/>
            </a:solidFill>
            <a:prstDash val="solid"/>
          </a:ln>
        </p:spPr>
      </p:sp>
      <p:sp>
        <p:nvSpPr>
          <p:cNvPr id="32" name="">
            <a:extLst xmlns:a="http://schemas.openxmlformats.org/drawingml/2006/main">
              <a:ext uri="{FF2B5EF4-FFF2-40B4-BE49-F238E27FC236}">
                <a16:creationId xmlns:a16="http://schemas.microsoft.com/office/drawing/2014/main" id="{D49CC343-81E6-415A-82DC-439399A9A8F2}"/>
              </a:ext>
            </a:extLst>
          </p:cNvPr>
          <p:cNvSpPr>
            <a:spLocks xmlns:a="http://schemas.openxmlformats.org/drawingml/2006/main" noGrp="1"/>
          </p:cNvSpPr>
          <p:nvPr/>
        </p:nvSpPr>
        <p:spPr>
          <a:xfrm xmlns:a="http://schemas.openxmlformats.org/drawingml/2006/main">
            <a:off x="8115300" y="2914650"/>
            <a:ext cx="3524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0">
                <a:solidFill>
                  <a:srgbClr val="162C52"/>
                </a:solidFill>
              </a:defRPr>
            </a:pPr>
            <a:r>
              <a:rPr sz="1200" b="0">
                <a:solidFill>
                  <a:srgbClr val="162C52"/>
                </a:solidFill>
              </a:rPr>
              <a:t>Bilingual domain / level query set</a:t>
            </a:r>
          </a:p>
        </p:txBody>
      </p:sp>
      <p:sp>
        <p:nvSpPr>
          <p:cNvPr id="33" name="">
            <a:extLst xmlns:a="http://schemas.openxmlformats.org/drawingml/2006/main">
              <a:ext uri="{FF2B5EF4-FFF2-40B4-BE49-F238E27FC236}">
                <a16:creationId xmlns:a16="http://schemas.microsoft.com/office/drawing/2014/main" id="{C295E5B0-3DB7-4B8F-A7A6-0F97EC418CA4}"/>
              </a:ext>
            </a:extLst>
          </p:cNvPr>
          <p:cNvSpPr>
            <a:spLocks xmlns:a="http://schemas.openxmlformats.org/drawingml/2006/main" noGrp="1"/>
          </p:cNvSpPr>
          <p:nvPr/>
        </p:nvSpPr>
        <p:spPr>
          <a:xfrm xmlns:a="http://schemas.openxmlformats.org/drawingml/2006/main">
            <a:off x="400050" y="3581400"/>
            <a:ext cx="19431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F0"/>
            </a:solidFill>
            <a:prstDash val="solid"/>
          </a:ln>
        </p:spPr>
      </p:sp>
      <p:sp>
        <p:nvSpPr>
          <p:cNvPr id="34" name="">
            <a:extLst xmlns:a="http://schemas.openxmlformats.org/drawingml/2006/main">
              <a:ext uri="{FF2B5EF4-FFF2-40B4-BE49-F238E27FC236}">
                <a16:creationId xmlns:a16="http://schemas.microsoft.com/office/drawing/2014/main" id="{F93614CB-A99A-4976-BB42-49B14B89C878}"/>
              </a:ext>
            </a:extLst>
          </p:cNvPr>
          <p:cNvSpPr>
            <a:spLocks xmlns:a="http://schemas.openxmlformats.org/drawingml/2006/main" noGrp="1"/>
          </p:cNvSpPr>
          <p:nvPr/>
        </p:nvSpPr>
        <p:spPr>
          <a:xfrm xmlns:a="http://schemas.openxmlformats.org/drawingml/2006/main">
            <a:off x="495300" y="369570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3269D4"/>
                </a:solidFill>
              </a:defRPr>
            </a:pPr>
            <a:r>
              <a:rPr sz="1200" b="1">
                <a:solidFill>
                  <a:srgbClr val="3269D4"/>
                </a:solidFill>
              </a:rPr>
              <a:t>Questions</a:t>
            </a:r>
          </a:p>
        </p:txBody>
      </p:sp>
      <p:sp>
        <p:nvSpPr>
          <p:cNvPr id="35" name="">
            <a:extLst xmlns:a="http://schemas.openxmlformats.org/drawingml/2006/main">
              <a:ext uri="{FF2B5EF4-FFF2-40B4-BE49-F238E27FC236}">
                <a16:creationId xmlns:a16="http://schemas.microsoft.com/office/drawing/2014/main" id="{75E51FAA-9E66-48AE-961A-89D8B742DD39}"/>
              </a:ext>
            </a:extLst>
          </p:cNvPr>
          <p:cNvSpPr>
            <a:spLocks xmlns:a="http://schemas.openxmlformats.org/drawingml/2006/main" noGrp="1"/>
          </p:cNvSpPr>
          <p:nvPr/>
        </p:nvSpPr>
        <p:spPr>
          <a:xfrm xmlns:a="http://schemas.openxmlformats.org/drawingml/2006/main">
            <a:off x="2343150" y="3581400"/>
            <a:ext cx="25717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F0"/>
            </a:solidFill>
            <a:prstDash val="solid"/>
          </a:ln>
        </p:spPr>
      </p:sp>
      <p:sp>
        <p:nvSpPr>
          <p:cNvPr id="36" name="">
            <a:extLst xmlns:a="http://schemas.openxmlformats.org/drawingml/2006/main">
              <a:ext uri="{FF2B5EF4-FFF2-40B4-BE49-F238E27FC236}">
                <a16:creationId xmlns:a16="http://schemas.microsoft.com/office/drawing/2014/main" id="{BF966BE0-F43E-4126-8014-AB11708D157E}"/>
              </a:ext>
            </a:extLst>
          </p:cNvPr>
          <p:cNvSpPr>
            <a:spLocks xmlns:a="http://schemas.openxmlformats.org/drawingml/2006/main" noGrp="1"/>
          </p:cNvSpPr>
          <p:nvPr/>
        </p:nvSpPr>
        <p:spPr>
          <a:xfrm xmlns:a="http://schemas.openxmlformats.org/drawingml/2006/main">
            <a:off x="2438400" y="369570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0">
                <a:solidFill>
                  <a:srgbClr val="162C52"/>
                </a:solidFill>
              </a:defRPr>
            </a:pPr>
            <a:r>
              <a:rPr sz="1200" b="0">
                <a:solidFill>
                  <a:srgbClr val="162C52"/>
                </a:solidFill>
              </a:rPr>
              <a:t>Expert scoring rubric</a:t>
            </a:r>
          </a:p>
        </p:txBody>
      </p:sp>
      <p:sp>
        <p:nvSpPr>
          <p:cNvPr id="37" name="">
            <a:extLst xmlns:a="http://schemas.openxmlformats.org/drawingml/2006/main">
              <a:ext uri="{FF2B5EF4-FFF2-40B4-BE49-F238E27FC236}">
                <a16:creationId xmlns:a16="http://schemas.microsoft.com/office/drawing/2014/main" id="{743DA588-B8F5-495B-95AD-F351F08B91D9}"/>
              </a:ext>
            </a:extLst>
          </p:cNvPr>
          <p:cNvSpPr>
            <a:spLocks xmlns:a="http://schemas.openxmlformats.org/drawingml/2006/main" noGrp="1"/>
          </p:cNvSpPr>
          <p:nvPr/>
        </p:nvSpPr>
        <p:spPr>
          <a:xfrm xmlns:a="http://schemas.openxmlformats.org/drawingml/2006/main">
            <a:off x="4914900" y="3581400"/>
            <a:ext cx="31051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F0"/>
            </a:solidFill>
            <a:prstDash val="solid"/>
          </a:ln>
        </p:spPr>
      </p:sp>
      <p:sp>
        <p:nvSpPr>
          <p:cNvPr id="38" name="">
            <a:extLst xmlns:a="http://schemas.openxmlformats.org/drawingml/2006/main">
              <a:ext uri="{FF2B5EF4-FFF2-40B4-BE49-F238E27FC236}">
                <a16:creationId xmlns:a16="http://schemas.microsoft.com/office/drawing/2014/main" id="{F126A113-734B-4B1C-8811-96B35173200D}"/>
              </a:ext>
            </a:extLst>
          </p:cNvPr>
          <p:cNvSpPr>
            <a:spLocks xmlns:a="http://schemas.openxmlformats.org/drawingml/2006/main" noGrp="1"/>
          </p:cNvSpPr>
          <p:nvPr/>
        </p:nvSpPr>
        <p:spPr>
          <a:xfrm xmlns:a="http://schemas.openxmlformats.org/drawingml/2006/main">
            <a:off x="5010150" y="3695700"/>
            <a:ext cx="2914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0">
                <a:solidFill>
                  <a:srgbClr val="162C52"/>
                </a:solidFill>
              </a:defRPr>
            </a:pPr>
            <a:r>
              <a:rPr sz="1200" b="0">
                <a:solidFill>
                  <a:srgbClr val="162C52"/>
                </a:solidFill>
              </a:rPr>
              <a:t>Role relevance; CV alignment; difficulty; unsupported claims</a:t>
            </a:r>
          </a:p>
        </p:txBody>
      </p:sp>
      <p:sp>
        <p:nvSpPr>
          <p:cNvPr id="39" name="">
            <a:extLst xmlns:a="http://schemas.openxmlformats.org/drawingml/2006/main">
              <a:ext uri="{FF2B5EF4-FFF2-40B4-BE49-F238E27FC236}">
                <a16:creationId xmlns:a16="http://schemas.microsoft.com/office/drawing/2014/main" id="{8BD00FDB-B37D-42CD-BE5A-350BC29088F8}"/>
              </a:ext>
            </a:extLst>
          </p:cNvPr>
          <p:cNvSpPr>
            <a:spLocks xmlns:a="http://schemas.openxmlformats.org/drawingml/2006/main" noGrp="1"/>
          </p:cNvSpPr>
          <p:nvPr/>
        </p:nvSpPr>
        <p:spPr>
          <a:xfrm xmlns:a="http://schemas.openxmlformats.org/drawingml/2006/main">
            <a:off x="8020050" y="3581400"/>
            <a:ext cx="37147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F0"/>
            </a:solidFill>
            <a:prstDash val="solid"/>
          </a:ln>
        </p:spPr>
      </p:sp>
      <p:sp>
        <p:nvSpPr>
          <p:cNvPr id="40" name="">
            <a:extLst xmlns:a="http://schemas.openxmlformats.org/drawingml/2006/main">
              <a:ext uri="{FF2B5EF4-FFF2-40B4-BE49-F238E27FC236}">
                <a16:creationId xmlns:a16="http://schemas.microsoft.com/office/drawing/2014/main" id="{BB05C76D-13A7-4E4B-8674-18729A8E6B82}"/>
              </a:ext>
            </a:extLst>
          </p:cNvPr>
          <p:cNvSpPr>
            <a:spLocks xmlns:a="http://schemas.openxmlformats.org/drawingml/2006/main" noGrp="1"/>
          </p:cNvSpPr>
          <p:nvPr/>
        </p:nvSpPr>
        <p:spPr>
          <a:xfrm xmlns:a="http://schemas.openxmlformats.org/drawingml/2006/main">
            <a:off x="8115300" y="3695700"/>
            <a:ext cx="3524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0">
                <a:solidFill>
                  <a:srgbClr val="162C52"/>
                </a:solidFill>
              </a:defRPr>
            </a:pPr>
            <a:r>
              <a:rPr sz="1200" b="0">
                <a:solidFill>
                  <a:srgbClr val="162C52"/>
                </a:solidFill>
              </a:rPr>
              <a:t>Blind multi-rater review</a:t>
            </a:r>
          </a:p>
        </p:txBody>
      </p:sp>
      <p:sp>
        <p:nvSpPr>
          <p:cNvPr id="41" name="">
            <a:extLst xmlns:a="http://schemas.openxmlformats.org/drawingml/2006/main">
              <a:ext uri="{FF2B5EF4-FFF2-40B4-BE49-F238E27FC236}">
                <a16:creationId xmlns:a16="http://schemas.microsoft.com/office/drawing/2014/main" id="{29757057-5C33-44D3-B961-A1D371D45453}"/>
              </a:ext>
            </a:extLst>
          </p:cNvPr>
          <p:cNvSpPr>
            <a:spLocks xmlns:a="http://schemas.openxmlformats.org/drawingml/2006/main" noGrp="1"/>
          </p:cNvSpPr>
          <p:nvPr/>
        </p:nvSpPr>
        <p:spPr>
          <a:xfrm xmlns:a="http://schemas.openxmlformats.org/drawingml/2006/main">
            <a:off x="400050" y="4362450"/>
            <a:ext cx="1943100" cy="781050"/>
          </a:xfrm>
          <a:prstGeom xmlns:a="http://schemas.openxmlformats.org/drawingml/2006/main" prst="rect">
            <a:avLst/>
          </a:prstGeom>
          <a:solidFill xmlns:a="http://schemas.openxmlformats.org/drawingml/2006/main">
            <a:srgbClr val="F7F9FC"/>
          </a:solidFill>
          <a:ln xmlns:a="http://schemas.openxmlformats.org/drawingml/2006/main" w="9525">
            <a:solidFill>
              <a:srgbClr val="D8E2F0"/>
            </a:solidFill>
            <a:prstDash val="solid"/>
          </a:ln>
        </p:spPr>
      </p:sp>
      <p:sp>
        <p:nvSpPr>
          <p:cNvPr id="42" name="">
            <a:extLst xmlns:a="http://schemas.openxmlformats.org/drawingml/2006/main">
              <a:ext uri="{FF2B5EF4-FFF2-40B4-BE49-F238E27FC236}">
                <a16:creationId xmlns:a16="http://schemas.microsoft.com/office/drawing/2014/main" id="{C5FADBAE-9250-42FA-AD32-30CD24D9DA3C}"/>
              </a:ext>
            </a:extLst>
          </p:cNvPr>
          <p:cNvSpPr>
            <a:spLocks xmlns:a="http://schemas.openxmlformats.org/drawingml/2006/main" noGrp="1"/>
          </p:cNvSpPr>
          <p:nvPr/>
        </p:nvSpPr>
        <p:spPr>
          <a:xfrm xmlns:a="http://schemas.openxmlformats.org/drawingml/2006/main">
            <a:off x="495300" y="447675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3269D4"/>
                </a:solidFill>
              </a:defRPr>
            </a:pPr>
            <a:r>
              <a:rPr sz="1200" b="1">
                <a:solidFill>
                  <a:srgbClr val="3269D4"/>
                </a:solidFill>
              </a:rPr>
              <a:t>Evaluator</a:t>
            </a:r>
          </a:p>
        </p:txBody>
      </p:sp>
      <p:sp>
        <p:nvSpPr>
          <p:cNvPr id="43" name="">
            <a:extLst xmlns:a="http://schemas.openxmlformats.org/drawingml/2006/main">
              <a:ext uri="{FF2B5EF4-FFF2-40B4-BE49-F238E27FC236}">
                <a16:creationId xmlns:a16="http://schemas.microsoft.com/office/drawing/2014/main" id="{C8FA6230-96A0-414A-BF83-1D93E8FC68DB}"/>
              </a:ext>
            </a:extLst>
          </p:cNvPr>
          <p:cNvSpPr>
            <a:spLocks xmlns:a="http://schemas.openxmlformats.org/drawingml/2006/main" noGrp="1"/>
          </p:cNvSpPr>
          <p:nvPr/>
        </p:nvSpPr>
        <p:spPr>
          <a:xfrm xmlns:a="http://schemas.openxmlformats.org/drawingml/2006/main">
            <a:off x="2343150" y="4362450"/>
            <a:ext cx="2571750" cy="781050"/>
          </a:xfrm>
          <a:prstGeom xmlns:a="http://schemas.openxmlformats.org/drawingml/2006/main" prst="rect">
            <a:avLst/>
          </a:prstGeom>
          <a:solidFill xmlns:a="http://schemas.openxmlformats.org/drawingml/2006/main">
            <a:srgbClr val="F7F9FC"/>
          </a:solidFill>
          <a:ln xmlns:a="http://schemas.openxmlformats.org/drawingml/2006/main" w="9525">
            <a:solidFill>
              <a:srgbClr val="D8E2F0"/>
            </a:solidFill>
            <a:prstDash val="solid"/>
          </a:ln>
        </p:spPr>
      </p:sp>
      <p:sp>
        <p:nvSpPr>
          <p:cNvPr id="44" name="">
            <a:extLst xmlns:a="http://schemas.openxmlformats.org/drawingml/2006/main">
              <a:ext uri="{FF2B5EF4-FFF2-40B4-BE49-F238E27FC236}">
                <a16:creationId xmlns:a16="http://schemas.microsoft.com/office/drawing/2014/main" id="{F37078BF-644D-4A83-9C35-6B4DC5F8423C}"/>
              </a:ext>
            </a:extLst>
          </p:cNvPr>
          <p:cNvSpPr>
            <a:spLocks xmlns:a="http://schemas.openxmlformats.org/drawingml/2006/main" noGrp="1"/>
          </p:cNvSpPr>
          <p:nvPr/>
        </p:nvSpPr>
        <p:spPr>
          <a:xfrm xmlns:a="http://schemas.openxmlformats.org/drawingml/2006/main">
            <a:off x="2438400" y="447675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0">
                <a:solidFill>
                  <a:srgbClr val="162C52"/>
                </a:solidFill>
              </a:defRPr>
            </a:pPr>
            <a:r>
              <a:rPr sz="1200" b="0">
                <a:solidFill>
                  <a:srgbClr val="162C52"/>
                </a:solidFill>
              </a:rPr>
              <a:t>Human scores + feedback</a:t>
            </a:r>
          </a:p>
        </p:txBody>
      </p:sp>
      <p:sp>
        <p:nvSpPr>
          <p:cNvPr id="45" name="">
            <a:extLst xmlns:a="http://schemas.openxmlformats.org/drawingml/2006/main">
              <a:ext uri="{FF2B5EF4-FFF2-40B4-BE49-F238E27FC236}">
                <a16:creationId xmlns:a16="http://schemas.microsoft.com/office/drawing/2014/main" id="{1F7C6BD5-AB2C-4296-9592-880F8980C157}"/>
              </a:ext>
            </a:extLst>
          </p:cNvPr>
          <p:cNvSpPr>
            <a:spLocks xmlns:a="http://schemas.openxmlformats.org/drawingml/2006/main" noGrp="1"/>
          </p:cNvSpPr>
          <p:nvPr/>
        </p:nvSpPr>
        <p:spPr>
          <a:xfrm xmlns:a="http://schemas.openxmlformats.org/drawingml/2006/main">
            <a:off x="4914900" y="4362450"/>
            <a:ext cx="3105150" cy="781050"/>
          </a:xfrm>
          <a:prstGeom xmlns:a="http://schemas.openxmlformats.org/drawingml/2006/main" prst="rect">
            <a:avLst/>
          </a:prstGeom>
          <a:solidFill xmlns:a="http://schemas.openxmlformats.org/drawingml/2006/main">
            <a:srgbClr val="F7F9FC"/>
          </a:solidFill>
          <a:ln xmlns:a="http://schemas.openxmlformats.org/drawingml/2006/main" w="9525">
            <a:solidFill>
              <a:srgbClr val="D8E2F0"/>
            </a:solidFill>
            <a:prstDash val="solid"/>
          </a:ln>
        </p:spPr>
      </p:sp>
      <p:sp>
        <p:nvSpPr>
          <p:cNvPr id="46" name="">
            <a:extLst xmlns:a="http://schemas.openxmlformats.org/drawingml/2006/main">
              <a:ext uri="{FF2B5EF4-FFF2-40B4-BE49-F238E27FC236}">
                <a16:creationId xmlns:a16="http://schemas.microsoft.com/office/drawing/2014/main" id="{38CFC267-F6E4-4C75-ADFA-E97ACCE93723}"/>
              </a:ext>
            </a:extLst>
          </p:cNvPr>
          <p:cNvSpPr>
            <a:spLocks xmlns:a="http://schemas.openxmlformats.org/drawingml/2006/main" noGrp="1"/>
          </p:cNvSpPr>
          <p:nvPr/>
        </p:nvSpPr>
        <p:spPr>
          <a:xfrm xmlns:a="http://schemas.openxmlformats.org/drawingml/2006/main">
            <a:off x="5010150" y="4476750"/>
            <a:ext cx="2914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0">
                <a:solidFill>
                  <a:srgbClr val="162C52"/>
                </a:solidFill>
              </a:defRPr>
            </a:pPr>
            <a:r>
              <a:rPr sz="1200" b="0">
                <a:solidFill>
                  <a:srgbClr val="162C52"/>
                </a:solidFill>
              </a:rPr>
              <a:t>MAE; rank correlation; repeatability; monotonicity</a:t>
            </a:r>
          </a:p>
        </p:txBody>
      </p:sp>
      <p:sp>
        <p:nvSpPr>
          <p:cNvPr id="47" name="">
            <a:extLst xmlns:a="http://schemas.openxmlformats.org/drawingml/2006/main">
              <a:ext uri="{FF2B5EF4-FFF2-40B4-BE49-F238E27FC236}">
                <a16:creationId xmlns:a16="http://schemas.microsoft.com/office/drawing/2014/main" id="{8A9F23B4-AC7B-4D3D-A471-DEDC94D3F056}"/>
              </a:ext>
            </a:extLst>
          </p:cNvPr>
          <p:cNvSpPr>
            <a:spLocks xmlns:a="http://schemas.openxmlformats.org/drawingml/2006/main" noGrp="1"/>
          </p:cNvSpPr>
          <p:nvPr/>
        </p:nvSpPr>
        <p:spPr>
          <a:xfrm xmlns:a="http://schemas.openxmlformats.org/drawingml/2006/main">
            <a:off x="8020050" y="4362450"/>
            <a:ext cx="3714750" cy="781050"/>
          </a:xfrm>
          <a:prstGeom xmlns:a="http://schemas.openxmlformats.org/drawingml/2006/main" prst="rect">
            <a:avLst/>
          </a:prstGeom>
          <a:solidFill xmlns:a="http://schemas.openxmlformats.org/drawingml/2006/main">
            <a:srgbClr val="F7F9FC"/>
          </a:solidFill>
          <a:ln xmlns:a="http://schemas.openxmlformats.org/drawingml/2006/main" w="9525">
            <a:solidFill>
              <a:srgbClr val="D8E2F0"/>
            </a:solidFill>
            <a:prstDash val="solid"/>
          </a:ln>
        </p:spPr>
      </p:sp>
      <p:sp>
        <p:nvSpPr>
          <p:cNvPr id="48" name="">
            <a:extLst xmlns:a="http://schemas.openxmlformats.org/drawingml/2006/main">
              <a:ext uri="{FF2B5EF4-FFF2-40B4-BE49-F238E27FC236}">
                <a16:creationId xmlns:a16="http://schemas.microsoft.com/office/drawing/2014/main" id="{82A89519-A339-4AB2-824E-13AB0C886A74}"/>
              </a:ext>
            </a:extLst>
          </p:cNvPr>
          <p:cNvSpPr>
            <a:spLocks xmlns:a="http://schemas.openxmlformats.org/drawingml/2006/main" noGrp="1"/>
          </p:cNvSpPr>
          <p:nvPr/>
        </p:nvSpPr>
        <p:spPr>
          <a:xfrm xmlns:a="http://schemas.openxmlformats.org/drawingml/2006/main">
            <a:off x="8115300" y="4476750"/>
            <a:ext cx="3524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0">
                <a:solidFill>
                  <a:srgbClr val="162C52"/>
                </a:solidFill>
              </a:defRPr>
            </a:pPr>
            <a:r>
              <a:rPr sz="1200" b="0">
                <a:solidFill>
                  <a:srgbClr val="162C52"/>
                </a:solidFill>
              </a:rPr>
              <a:t>Adjudicated labels and repeated runs</a:t>
            </a:r>
          </a:p>
        </p:txBody>
      </p:sp>
      <p:sp>
        <p:nvSpPr>
          <p:cNvPr id="49" name="">
            <a:extLst xmlns:a="http://schemas.openxmlformats.org/drawingml/2006/main">
              <a:ext uri="{FF2B5EF4-FFF2-40B4-BE49-F238E27FC236}">
                <a16:creationId xmlns:a16="http://schemas.microsoft.com/office/drawing/2014/main" id="{ADA51FD0-84D3-40C3-992F-D37A841E6F46}"/>
              </a:ext>
            </a:extLst>
          </p:cNvPr>
          <p:cNvSpPr>
            <a:spLocks xmlns:a="http://schemas.openxmlformats.org/drawingml/2006/main" noGrp="1"/>
          </p:cNvSpPr>
          <p:nvPr/>
        </p:nvSpPr>
        <p:spPr>
          <a:xfrm xmlns:a="http://schemas.openxmlformats.org/drawingml/2006/main">
            <a:off x="400050" y="5143500"/>
            <a:ext cx="19431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F0"/>
            </a:solidFill>
            <a:prstDash val="solid"/>
          </a:ln>
        </p:spPr>
      </p:sp>
      <p:sp>
        <p:nvSpPr>
          <p:cNvPr id="50" name="">
            <a:extLst xmlns:a="http://schemas.openxmlformats.org/drawingml/2006/main">
              <a:ext uri="{FF2B5EF4-FFF2-40B4-BE49-F238E27FC236}">
                <a16:creationId xmlns:a16="http://schemas.microsoft.com/office/drawing/2014/main" id="{C4617E92-1742-40D7-A51B-4F4084B448B5}"/>
              </a:ext>
            </a:extLst>
          </p:cNvPr>
          <p:cNvSpPr>
            <a:spLocks xmlns:a="http://schemas.openxmlformats.org/drawingml/2006/main" noGrp="1"/>
          </p:cNvSpPr>
          <p:nvPr/>
        </p:nvSpPr>
        <p:spPr>
          <a:xfrm xmlns:a="http://schemas.openxmlformats.org/drawingml/2006/main">
            <a:off x="495300" y="525780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3269D4"/>
                </a:solidFill>
              </a:defRPr>
            </a:pPr>
            <a:r>
              <a:rPr sz="1200" b="1">
                <a:solidFill>
                  <a:srgbClr val="3269D4"/>
                </a:solidFill>
              </a:rPr>
              <a:t>Speech</a:t>
            </a:r>
          </a:p>
        </p:txBody>
      </p:sp>
      <p:sp>
        <p:nvSpPr>
          <p:cNvPr id="51" name="">
            <a:extLst xmlns:a="http://schemas.openxmlformats.org/drawingml/2006/main">
              <a:ext uri="{FF2B5EF4-FFF2-40B4-BE49-F238E27FC236}">
                <a16:creationId xmlns:a16="http://schemas.microsoft.com/office/drawing/2014/main" id="{38BAB5E8-36F1-4F99-97A4-E905E07F23D3}"/>
              </a:ext>
            </a:extLst>
          </p:cNvPr>
          <p:cNvSpPr>
            <a:spLocks xmlns:a="http://schemas.openxmlformats.org/drawingml/2006/main" noGrp="1"/>
          </p:cNvSpPr>
          <p:nvPr/>
        </p:nvSpPr>
        <p:spPr>
          <a:xfrm xmlns:a="http://schemas.openxmlformats.org/drawingml/2006/main">
            <a:off x="2343150" y="5143500"/>
            <a:ext cx="25717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F0"/>
            </a:solidFill>
            <a:prstDash val="solid"/>
          </a:ln>
        </p:spPr>
      </p:sp>
      <p:sp>
        <p:nvSpPr>
          <p:cNvPr id="52" name="">
            <a:extLst xmlns:a="http://schemas.openxmlformats.org/drawingml/2006/main">
              <a:ext uri="{FF2B5EF4-FFF2-40B4-BE49-F238E27FC236}">
                <a16:creationId xmlns:a16="http://schemas.microsoft.com/office/drawing/2014/main" id="{5CB102C9-D20C-4391-A9F7-711D06B7C86B}"/>
              </a:ext>
            </a:extLst>
          </p:cNvPr>
          <p:cNvSpPr>
            <a:spLocks xmlns:a="http://schemas.openxmlformats.org/drawingml/2006/main" noGrp="1"/>
          </p:cNvSpPr>
          <p:nvPr/>
        </p:nvSpPr>
        <p:spPr>
          <a:xfrm xmlns:a="http://schemas.openxmlformats.org/drawingml/2006/main">
            <a:off x="2438400" y="525780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0">
                <a:solidFill>
                  <a:srgbClr val="162C52"/>
                </a:solidFill>
              </a:defRPr>
            </a:pPr>
            <a:r>
              <a:rPr sz="1200" b="0">
                <a:solidFill>
                  <a:srgbClr val="162C52"/>
                </a:solidFill>
              </a:rPr>
              <a:t>Verified transcripts</a:t>
            </a:r>
          </a:p>
        </p:txBody>
      </p:sp>
      <p:sp>
        <p:nvSpPr>
          <p:cNvPr id="53" name="">
            <a:extLst xmlns:a="http://schemas.openxmlformats.org/drawingml/2006/main">
              <a:ext uri="{FF2B5EF4-FFF2-40B4-BE49-F238E27FC236}">
                <a16:creationId xmlns:a16="http://schemas.microsoft.com/office/drawing/2014/main" id="{9A508520-AF5E-4319-8669-84BF69C5CC1F}"/>
              </a:ext>
            </a:extLst>
          </p:cNvPr>
          <p:cNvSpPr>
            <a:spLocks xmlns:a="http://schemas.openxmlformats.org/drawingml/2006/main" noGrp="1"/>
          </p:cNvSpPr>
          <p:nvPr/>
        </p:nvSpPr>
        <p:spPr>
          <a:xfrm xmlns:a="http://schemas.openxmlformats.org/drawingml/2006/main">
            <a:off x="4914900" y="5143500"/>
            <a:ext cx="31051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F0"/>
            </a:solidFill>
            <a:prstDash val="solid"/>
          </a:ln>
        </p:spPr>
      </p:sp>
      <p:sp>
        <p:nvSpPr>
          <p:cNvPr id="54" name="">
            <a:extLst xmlns:a="http://schemas.openxmlformats.org/drawingml/2006/main">
              <a:ext uri="{FF2B5EF4-FFF2-40B4-BE49-F238E27FC236}">
                <a16:creationId xmlns:a16="http://schemas.microsoft.com/office/drawing/2014/main" id="{60AA2235-AA90-4469-8B31-2E6AD1C594D6}"/>
              </a:ext>
            </a:extLst>
          </p:cNvPr>
          <p:cNvSpPr>
            <a:spLocks xmlns:a="http://schemas.openxmlformats.org/drawingml/2006/main" noGrp="1"/>
          </p:cNvSpPr>
          <p:nvPr/>
        </p:nvSpPr>
        <p:spPr>
          <a:xfrm xmlns:a="http://schemas.openxmlformats.org/drawingml/2006/main">
            <a:off x="5010150" y="5257800"/>
            <a:ext cx="2914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0">
                <a:solidFill>
                  <a:srgbClr val="162C52"/>
                </a:solidFill>
              </a:defRPr>
            </a:pPr>
            <a:r>
              <a:rPr sz="1200" b="0">
                <a:solidFill>
                  <a:srgbClr val="162C52"/>
                </a:solidFill>
              </a:rPr>
              <a:t>WER; CER; failure rate; p50 / p95 latency</a:t>
            </a:r>
          </a:p>
        </p:txBody>
      </p:sp>
      <p:sp>
        <p:nvSpPr>
          <p:cNvPr id="55" name="">
            <a:extLst xmlns:a="http://schemas.openxmlformats.org/drawingml/2006/main">
              <a:ext uri="{FF2B5EF4-FFF2-40B4-BE49-F238E27FC236}">
                <a16:creationId xmlns:a16="http://schemas.microsoft.com/office/drawing/2014/main" id="{8B2B1755-FCE8-4119-8DB5-38289C2AF3B6}"/>
              </a:ext>
            </a:extLst>
          </p:cNvPr>
          <p:cNvSpPr>
            <a:spLocks xmlns:a="http://schemas.openxmlformats.org/drawingml/2006/main" noGrp="1"/>
          </p:cNvSpPr>
          <p:nvPr/>
        </p:nvSpPr>
        <p:spPr>
          <a:xfrm xmlns:a="http://schemas.openxmlformats.org/drawingml/2006/main">
            <a:off x="8020050" y="5143500"/>
            <a:ext cx="37147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F0"/>
            </a:solidFill>
            <a:prstDash val="solid"/>
          </a:ln>
        </p:spPr>
      </p:sp>
      <p:sp>
        <p:nvSpPr>
          <p:cNvPr id="56" name="">
            <a:extLst xmlns:a="http://schemas.openxmlformats.org/drawingml/2006/main">
              <a:ext uri="{FF2B5EF4-FFF2-40B4-BE49-F238E27FC236}">
                <a16:creationId xmlns:a16="http://schemas.microsoft.com/office/drawing/2014/main" id="{E742B143-8880-40F2-BEC9-EFD5DE6EF4A8}"/>
              </a:ext>
            </a:extLst>
          </p:cNvPr>
          <p:cNvSpPr>
            <a:spLocks xmlns:a="http://schemas.openxmlformats.org/drawingml/2006/main" noGrp="1"/>
          </p:cNvSpPr>
          <p:nvPr/>
        </p:nvSpPr>
        <p:spPr>
          <a:xfrm xmlns:a="http://schemas.openxmlformats.org/drawingml/2006/main">
            <a:off x="8115300" y="5257800"/>
            <a:ext cx="3524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0">
                <a:solidFill>
                  <a:srgbClr val="162C52"/>
                </a:solidFill>
              </a:defRPr>
            </a:pPr>
            <a:r>
              <a:rPr sz="1200" b="0">
                <a:solidFill>
                  <a:srgbClr val="162C52"/>
                </a:solidFill>
              </a:rPr>
              <a:t>Accent, noise, device and language slices</a:t>
            </a:r>
          </a:p>
        </p:txBody>
      </p:sp>
      <p:sp>
        <p:nvSpPr>
          <p:cNvPr id="57" name="">
            <a:extLst xmlns:a="http://schemas.openxmlformats.org/drawingml/2006/main">
              <a:ext uri="{FF2B5EF4-FFF2-40B4-BE49-F238E27FC236}">
                <a16:creationId xmlns:a16="http://schemas.microsoft.com/office/drawing/2014/main" id="{50FED06F-A597-4B27-BEA0-1CAF2CA9E514}"/>
              </a:ext>
            </a:extLst>
          </p:cNvPr>
          <p:cNvSpPr>
            <a:spLocks xmlns:a="http://schemas.openxmlformats.org/drawingml/2006/main" noGrp="1"/>
          </p:cNvSpPr>
          <p:nvPr/>
        </p:nvSpPr>
        <p:spPr>
          <a:xfrm xmlns:a="http://schemas.openxmlformats.org/drawingml/2006/main">
            <a:off x="400050" y="6076950"/>
            <a:ext cx="1133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a:solidFill>
                  <a:srgbClr val="D87319"/>
                </a:solidFill>
              </a:defRPr>
            </a:pPr>
            <a:r>
              <a:rPr sz="1275" b="1">
                <a:solidFill>
                  <a:srgbClr val="D87319"/>
                </a:solidFill>
              </a:rPr>
              <a:t>Report sample count, dataset origin, failure count, confidence interval or variance, and known limitations beside every result.</a:t>
            </a:r>
          </a:p>
        </p:txBody>
      </p:sp>
      <p:sp>
        <p:nvSpPr>
          <p:cNvPr id="58" name="header-cover-7">
            <a:extLst xmlns:a="http://schemas.openxmlformats.org/drawingml/2006/main">
              <a:ext uri="{FF2B5EF4-FFF2-40B4-BE49-F238E27FC236}">
                <a16:creationId xmlns:a16="http://schemas.microsoft.com/office/drawing/2014/main" id="{8CAD9A86-FE81-4321-97B0-6367E0707549}"/>
              </a:ext>
            </a:extLst>
          </p:cNvPr>
          <p:cNvSpPr>
            <a:spLocks xmlns:a="http://schemas.openxmlformats.org/drawingml/2006/main" noGrp="1"/>
          </p:cNvSpPr>
          <p:nvPr/>
        </p:nvSpPr>
        <p:spPr>
          <a:xfrm xmlns:a="http://schemas.openxmlformats.org/drawingml/2006/main">
            <a:off x="323850" y="190500"/>
            <a:ext cx="11525250" cy="6096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9" name="section-title-7">
            <a:extLst xmlns:a="http://schemas.openxmlformats.org/drawingml/2006/main">
              <a:ext uri="{FF2B5EF4-FFF2-40B4-BE49-F238E27FC236}">
                <a16:creationId xmlns:a16="http://schemas.microsoft.com/office/drawing/2014/main" id="{22C33F5D-BC90-4AE9-B33A-3481A20B9651}"/>
              </a:ext>
            </a:extLst>
          </p:cNvPr>
          <p:cNvSpPr>
            <a:spLocks xmlns:a="http://schemas.openxmlformats.org/drawingml/2006/main" noGrp="1"/>
          </p:cNvSpPr>
          <p:nvPr/>
        </p:nvSpPr>
        <p:spPr>
          <a:xfrm xmlns:a="http://schemas.openxmlformats.org/drawingml/2006/main">
            <a:off x="400050" y="2857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1356F"/>
                </a:solidFill>
              </a:defRPr>
            </a:pPr>
            <a:r>
              <a:rPr sz="2025" b="1">
                <a:solidFill>
                  <a:srgbClr val="11356F"/>
                </a:solidFill>
              </a:rPr>
              <a:t>5. EVALUATION &amp; RESULTS</a:t>
            </a:r>
          </a:p>
        </p:txBody>
      </p:sp>
      <p:sp>
        <p:nvSpPr>
          <p:cNvPr id="60" name="section-rule-7">
            <a:extLst xmlns:a="http://schemas.openxmlformats.org/drawingml/2006/main">
              <a:ext uri="{FF2B5EF4-FFF2-40B4-BE49-F238E27FC236}">
                <a16:creationId xmlns:a16="http://schemas.microsoft.com/office/drawing/2014/main" id="{B437FDE8-1EF2-4D4E-9337-3CD312F0540B}"/>
              </a:ext>
            </a:extLst>
          </p:cNvPr>
          <p:cNvSpPr>
            <a:spLocks xmlns:a="http://schemas.openxmlformats.org/drawingml/2006/main" noGrp="1"/>
          </p:cNvSpPr>
          <p:nvPr/>
        </p:nvSpPr>
        <p:spPr>
          <a:xfrm xmlns:a="http://schemas.openxmlformats.org/drawingml/2006/main">
            <a:off x="400050" y="723900"/>
            <a:ext cx="9715500" cy="9525"/>
          </a:xfrm>
          <a:prstGeom xmlns:a="http://schemas.openxmlformats.org/drawingml/2006/main" prst="line">
            <a:avLst/>
          </a:prstGeom>
          <a:noFill xmlns:a="http://schemas.openxmlformats.org/drawingml/2006/main"/>
          <a:ln xmlns:a="http://schemas.openxmlformats.org/drawingml/2006/main" w="9525">
            <a:solidFill>
              <a:srgbClr val="D8E6FF"/>
            </a:solidFill>
            <a:prstDash val="solid"/>
          </a:ln>
        </p:spPr>
      </p:sp>
      <p:sp>
        <p:nvSpPr>
          <p:cNvPr id="61" name="brand-square-1-7">
            <a:extLst xmlns:a="http://schemas.openxmlformats.org/drawingml/2006/main">
              <a:ext uri="{FF2B5EF4-FFF2-40B4-BE49-F238E27FC236}">
                <a16:creationId xmlns:a16="http://schemas.microsoft.com/office/drawing/2014/main" id="{9FF40807-EB74-4738-AE7E-08A162BA6E48}"/>
              </a:ext>
            </a:extLst>
          </p:cNvPr>
          <p:cNvSpPr>
            <a:spLocks xmlns:a="http://schemas.openxmlformats.org/drawingml/2006/main" noGrp="1"/>
          </p:cNvSpPr>
          <p:nvPr/>
        </p:nvSpPr>
        <p:spPr>
          <a:xfrm xmlns:a="http://schemas.openxmlformats.org/drawingml/2006/main">
            <a:off x="11001375" y="304800"/>
            <a:ext cx="228600" cy="228600"/>
          </a:xfrm>
          <a:prstGeom xmlns:a="http://schemas.openxmlformats.org/drawingml/2006/main" prst="rect">
            <a:avLst/>
          </a:prstGeom>
          <a:solidFill xmlns:a="http://schemas.openxmlformats.org/drawingml/2006/main">
            <a:srgbClr val="D9E5FB"/>
          </a:solidFill>
          <a:ln xmlns:a="http://schemas.openxmlformats.org/drawingml/2006/main" w="0">
            <a:noFill/>
            <a:prstDash val="solid"/>
          </a:ln>
        </p:spPr>
      </p:sp>
      <p:sp>
        <p:nvSpPr>
          <p:cNvPr id="62" name="brand-square-2-7">
            <a:extLst xmlns:a="http://schemas.openxmlformats.org/drawingml/2006/main">
              <a:ext uri="{FF2B5EF4-FFF2-40B4-BE49-F238E27FC236}">
                <a16:creationId xmlns:a16="http://schemas.microsoft.com/office/drawing/2014/main" id="{AAF379BB-0C8F-4351-80FD-80CE6DE19FCB}"/>
              </a:ext>
            </a:extLst>
          </p:cNvPr>
          <p:cNvSpPr>
            <a:spLocks xmlns:a="http://schemas.openxmlformats.org/drawingml/2006/main" noGrp="1"/>
          </p:cNvSpPr>
          <p:nvPr/>
        </p:nvSpPr>
        <p:spPr>
          <a:xfrm xmlns:a="http://schemas.openxmlformats.org/drawingml/2006/main">
            <a:off x="11258550" y="304800"/>
            <a:ext cx="228600" cy="228600"/>
          </a:xfrm>
          <a:prstGeom xmlns:a="http://schemas.openxmlformats.org/drawingml/2006/main" prst="rect">
            <a:avLst/>
          </a:prstGeom>
          <a:solidFill xmlns:a="http://schemas.openxmlformats.org/drawingml/2006/main">
            <a:srgbClr val="AFC9F7"/>
          </a:solidFill>
          <a:ln xmlns:a="http://schemas.openxmlformats.org/drawingml/2006/main" w="0">
            <a:noFill/>
            <a:prstDash val="solid"/>
          </a:ln>
        </p:spPr>
      </p:sp>
      <p:sp>
        <p:nvSpPr>
          <p:cNvPr id="63" name="brand-square-3-7">
            <a:extLst xmlns:a="http://schemas.openxmlformats.org/drawingml/2006/main">
              <a:ext uri="{FF2B5EF4-FFF2-40B4-BE49-F238E27FC236}">
                <a16:creationId xmlns:a16="http://schemas.microsoft.com/office/drawing/2014/main" id="{4CEA7D0A-FA91-4003-92D9-0704595CD6A3}"/>
              </a:ext>
            </a:extLst>
          </p:cNvPr>
          <p:cNvSpPr>
            <a:spLocks xmlns:a="http://schemas.openxmlformats.org/drawingml/2006/main" noGrp="1"/>
          </p:cNvSpPr>
          <p:nvPr/>
        </p:nvSpPr>
        <p:spPr>
          <a:xfrm xmlns:a="http://schemas.openxmlformats.org/drawingml/2006/main">
            <a:off x="11515725" y="304800"/>
            <a:ext cx="228600" cy="228600"/>
          </a:xfrm>
          <a:prstGeom xmlns:a="http://schemas.openxmlformats.org/drawingml/2006/main" prst="rect">
            <a:avLst/>
          </a:prstGeom>
          <a:solidFill xmlns:a="http://schemas.openxmlformats.org/drawingml/2006/main">
            <a:srgbClr val="78A3F1"/>
          </a:solidFill>
          <a:ln xmlns:a="http://schemas.openxmlformats.org/drawingml/2006/main" w="0">
            <a:noFill/>
            <a:prstDash val="solid"/>
          </a:ln>
        </p:spPr>
      </p:sp>
      <p:sp>
        <p:nvSpPr>
          <p:cNvPr id="64" name="footer-cover-7">
            <a:extLst xmlns:a="http://schemas.openxmlformats.org/drawingml/2006/main">
              <a:ext uri="{FF2B5EF4-FFF2-40B4-BE49-F238E27FC236}">
                <a16:creationId xmlns:a16="http://schemas.microsoft.com/office/drawing/2014/main" id="{47E72080-F090-401D-B743-DBF4B9061692}"/>
              </a:ext>
            </a:extLst>
          </p:cNvPr>
          <p:cNvSpPr>
            <a:spLocks xmlns:a="http://schemas.openxmlformats.org/drawingml/2006/main" noGrp="1"/>
          </p:cNvSpPr>
          <p:nvPr/>
        </p:nvSpPr>
        <p:spPr>
          <a:xfrm xmlns:a="http://schemas.openxmlformats.org/drawingml/2006/main">
            <a:off x="323850" y="6438900"/>
            <a:ext cx="4191000" cy="2667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5" name="footer-7">
            <a:extLst xmlns:a="http://schemas.openxmlformats.org/drawingml/2006/main">
              <a:ext uri="{FF2B5EF4-FFF2-40B4-BE49-F238E27FC236}">
                <a16:creationId xmlns:a16="http://schemas.microsoft.com/office/drawing/2014/main" id="{BA1E40E1-D601-43BA-A3D7-5627898BC832}"/>
              </a:ext>
            </a:extLst>
          </p:cNvPr>
          <p:cNvSpPr>
            <a:spLocks xmlns:a="http://schemas.openxmlformats.org/drawingml/2006/main" noGrp="1"/>
          </p:cNvSpPr>
          <p:nvPr/>
        </p:nvSpPr>
        <p:spPr>
          <a:xfrm xmlns:a="http://schemas.openxmlformats.org/drawingml/2006/main">
            <a:off x="40005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A98AE"/>
                </a:solidFill>
              </a:defRPr>
            </a:pPr>
            <a:r>
              <a:rPr sz="825" b="1">
                <a:solidFill>
                  <a:srgbClr val="8A98AE"/>
                </a:solidFill>
              </a:rPr>
              <a:t>FIPILOT  •  DEFENSE ROUND 1  •  7</a:t>
            </a:r>
          </a:p>
        </p:txBody>
      </p:sp>
    </p:spTree>
    <p:extLst>
      <p:ext uri="{BB962C8B-B14F-4D97-AF65-F5344CB8AC3E}">
        <p14:creationId xmlns:p14="http://schemas.microsoft.com/office/powerpoint/2010/main" val="131716575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F8F292D-6983-488E-BE57-7A80EBF85D56}"/>
              </a:ext>
            </a:extLst>
          </p:cNvPr>
          <p:cNvSpPr>
            <a:spLocks xmlns:a="http://schemas.openxmlformats.org/drawingml/2006/main" noGrp="1"/>
          </p:cNvSpPr>
          <p:nvPr/>
        </p:nvSpPr>
        <p:spPr>
          <a:xfrm xmlns:a="http://schemas.openxmlformats.org/drawingml/2006/main">
            <a:off x="400050" y="2857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1356F"/>
                </a:solidFill>
              </a:defRPr>
            </a:pPr>
            <a:r>
              <a:rPr sz="2025" b="1">
                <a:solidFill>
                  <a:srgbClr val="11356F"/>
                </a:solidFill>
              </a:rPr>
              <a:t>5. EVALUATION &amp; RESULTS</a:t>
            </a:r>
          </a:p>
        </p:txBody>
      </p:sp>
      <p:sp>
        <p:nvSpPr>
          <p:cNvPr id="2" name="">
            <a:extLst xmlns:a="http://schemas.openxmlformats.org/drawingml/2006/main">
              <a:ext uri="{FF2B5EF4-FFF2-40B4-BE49-F238E27FC236}">
                <a16:creationId xmlns:a16="http://schemas.microsoft.com/office/drawing/2014/main" id="{046DA88B-E6B3-421C-B10D-540E12B5F664}"/>
              </a:ext>
            </a:extLst>
          </p:cNvPr>
          <p:cNvSpPr>
            <a:spLocks xmlns:a="http://schemas.openxmlformats.org/drawingml/2006/main" noGrp="1"/>
          </p:cNvSpPr>
          <p:nvPr/>
        </p:nvSpPr>
        <p:spPr>
          <a:xfrm xmlns:a="http://schemas.openxmlformats.org/drawingml/2006/main">
            <a:off x="400050" y="723900"/>
            <a:ext cx="9715500" cy="9525"/>
          </a:xfrm>
          <a:prstGeom xmlns:a="http://schemas.openxmlformats.org/drawingml/2006/main" prst="line">
            <a:avLst/>
          </a:prstGeom>
          <a:noFill xmlns:a="http://schemas.openxmlformats.org/drawingml/2006/main"/>
          <a:ln xmlns:a="http://schemas.openxmlformats.org/drawingml/2006/main" w="9525">
            <a:solidFill>
              <a:srgbClr val="D8E6FF"/>
            </a:solidFill>
            <a:prstDash val="solid"/>
          </a:ln>
        </p:spPr>
      </p:sp>
      <p:sp>
        <p:nvSpPr>
          <p:cNvPr id="3" name="">
            <a:extLst xmlns:a="http://schemas.openxmlformats.org/drawingml/2006/main">
              <a:ext uri="{FF2B5EF4-FFF2-40B4-BE49-F238E27FC236}">
                <a16:creationId xmlns:a16="http://schemas.microsoft.com/office/drawing/2014/main" id="{5A6CAAA4-9EF1-4370-B46C-4D57271EDC70}"/>
              </a:ext>
            </a:extLst>
          </p:cNvPr>
          <p:cNvSpPr>
            <a:spLocks xmlns:a="http://schemas.openxmlformats.org/drawingml/2006/main" noGrp="1"/>
          </p:cNvSpPr>
          <p:nvPr/>
        </p:nvSpPr>
        <p:spPr>
          <a:xfrm xmlns:a="http://schemas.openxmlformats.org/drawingml/2006/main">
            <a:off x="400050" y="838200"/>
            <a:ext cx="923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62C52"/>
                </a:solidFill>
              </a:defRPr>
            </a:pPr>
            <a:r>
              <a:rPr sz="1500" b="1">
                <a:solidFill>
                  <a:srgbClr val="162C52"/>
                </a:solidFill>
              </a:rPr>
              <a:t>Current Evidence Is Partial — State the Class Before the Number</a:t>
            </a:r>
          </a:p>
        </p:txBody>
      </p:sp>
      <p:sp>
        <p:nvSpPr>
          <p:cNvPr id="4" name="">
            <a:extLst xmlns:a="http://schemas.openxmlformats.org/drawingml/2006/main">
              <a:ext uri="{FF2B5EF4-FFF2-40B4-BE49-F238E27FC236}">
                <a16:creationId xmlns:a16="http://schemas.microsoft.com/office/drawing/2014/main" id="{4E07C6BE-7B16-4844-9A18-8A2A09456BA8}"/>
              </a:ext>
            </a:extLst>
          </p:cNvPr>
          <p:cNvSpPr>
            <a:spLocks xmlns:a="http://schemas.openxmlformats.org/drawingml/2006/main" noGrp="1"/>
          </p:cNvSpPr>
          <p:nvPr/>
        </p:nvSpPr>
        <p:spPr>
          <a:xfrm xmlns:a="http://schemas.openxmlformats.org/drawingml/2006/main">
            <a:off x="400050" y="1114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617391"/>
                </a:solidFill>
              </a:defRPr>
            </a:pPr>
            <a:r>
              <a:rPr sz="1050" b="0">
                <a:solidFill>
                  <a:srgbClr val="617391"/>
                </a:solidFill>
              </a:rPr>
              <a:t>Round 1 claims should separate code-verified behavior, synthetic pilots, and missing human benchmarks.</a:t>
            </a:r>
          </a:p>
        </p:txBody>
      </p:sp>
      <p:sp>
        <p:nvSpPr>
          <p:cNvPr id="5" name="">
            <a:extLst xmlns:a="http://schemas.openxmlformats.org/drawingml/2006/main">
              <a:ext uri="{FF2B5EF4-FFF2-40B4-BE49-F238E27FC236}">
                <a16:creationId xmlns:a16="http://schemas.microsoft.com/office/drawing/2014/main" id="{49B901CD-6F86-4171-811C-8762EB7113EF}"/>
              </a:ext>
            </a:extLst>
          </p:cNvPr>
          <p:cNvSpPr>
            <a:spLocks xmlns:a="http://schemas.openxmlformats.org/drawingml/2006/main" noGrp="1"/>
          </p:cNvSpPr>
          <p:nvPr/>
        </p:nvSpPr>
        <p:spPr>
          <a:xfrm xmlns:a="http://schemas.openxmlformats.org/drawingml/2006/main">
            <a:off x="11001375" y="304800"/>
            <a:ext cx="228600" cy="228600"/>
          </a:xfrm>
          <a:prstGeom xmlns:a="http://schemas.openxmlformats.org/drawingml/2006/main" prst="rect">
            <a:avLst/>
          </a:prstGeom>
          <a:solidFill xmlns:a="http://schemas.openxmlformats.org/drawingml/2006/main">
            <a:srgbClr val="D9E5F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BF2F0EE-E125-4DDB-B9DD-BA4FC1DAEA62}"/>
              </a:ext>
            </a:extLst>
          </p:cNvPr>
          <p:cNvSpPr>
            <a:spLocks xmlns:a="http://schemas.openxmlformats.org/drawingml/2006/main" noGrp="1"/>
          </p:cNvSpPr>
          <p:nvPr/>
        </p:nvSpPr>
        <p:spPr>
          <a:xfrm xmlns:a="http://schemas.openxmlformats.org/drawingml/2006/main">
            <a:off x="11258550" y="304800"/>
            <a:ext cx="228600" cy="228600"/>
          </a:xfrm>
          <a:prstGeom xmlns:a="http://schemas.openxmlformats.org/drawingml/2006/main" prst="rect">
            <a:avLst/>
          </a:prstGeom>
          <a:solidFill xmlns:a="http://schemas.openxmlformats.org/drawingml/2006/main">
            <a:srgbClr val="AFC9F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F80FB54-1D99-41D9-B797-4111E0DEBBAA}"/>
              </a:ext>
            </a:extLst>
          </p:cNvPr>
          <p:cNvSpPr>
            <a:spLocks xmlns:a="http://schemas.openxmlformats.org/drawingml/2006/main" noGrp="1"/>
          </p:cNvSpPr>
          <p:nvPr/>
        </p:nvSpPr>
        <p:spPr>
          <a:xfrm xmlns:a="http://schemas.openxmlformats.org/drawingml/2006/main">
            <a:off x="11515725" y="304800"/>
            <a:ext cx="228600" cy="228600"/>
          </a:xfrm>
          <a:prstGeom xmlns:a="http://schemas.openxmlformats.org/drawingml/2006/main" prst="rect">
            <a:avLst/>
          </a:prstGeom>
          <a:solidFill xmlns:a="http://schemas.openxmlformats.org/drawingml/2006/main">
            <a:srgbClr val="78A3F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EDE7367-C9D8-4A32-B49B-31CA7FF9F81D}"/>
              </a:ext>
            </a:extLst>
          </p:cNvPr>
          <p:cNvSpPr>
            <a:spLocks xmlns:a="http://schemas.openxmlformats.org/drawingml/2006/main" noGrp="1"/>
          </p:cNvSpPr>
          <p:nvPr/>
        </p:nvSpPr>
        <p:spPr>
          <a:xfrm xmlns:a="http://schemas.openxmlformats.org/drawingml/2006/main">
            <a:off x="40005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A98AE"/>
                </a:solidFill>
              </a:defRPr>
            </a:pPr>
            <a:r>
              <a:rPr sz="825" b="1">
                <a:solidFill>
                  <a:srgbClr val="8A98AE"/>
                </a:solidFill>
              </a:rPr>
              <a:t>FIPILOT  •  DEFENSE ROUND 1  •  8</a:t>
            </a:r>
          </a:p>
        </p:txBody>
      </p:sp>
      <p:sp>
        <p:nvSpPr>
          <p:cNvPr id="9" name="">
            <a:extLst xmlns:a="http://schemas.openxmlformats.org/drawingml/2006/main">
              <a:ext uri="{FF2B5EF4-FFF2-40B4-BE49-F238E27FC236}">
                <a16:creationId xmlns:a16="http://schemas.microsoft.com/office/drawing/2014/main" id="{437DF00F-16C1-4C5C-B0D2-C08BA435B1EA}"/>
              </a:ext>
            </a:extLst>
          </p:cNvPr>
          <p:cNvSpPr>
            <a:spLocks xmlns:a="http://schemas.openxmlformats.org/drawingml/2006/main" noGrp="1"/>
          </p:cNvSpPr>
          <p:nvPr/>
        </p:nvSpPr>
        <p:spPr>
          <a:xfrm xmlns:a="http://schemas.openxmlformats.org/drawingml/2006/main">
            <a:off x="400050" y="1581150"/>
            <a:ext cx="11334750" cy="990600"/>
          </a:xfrm>
          <a:prstGeom xmlns:a="http://schemas.openxmlformats.org/drawingml/2006/main" prst="roundRect">
            <a:avLst>
              <a:gd name="adj" fmla="val 7692"/>
            </a:avLst>
          </a:prstGeom>
          <a:solidFill xmlns:a="http://schemas.openxmlformats.org/drawingml/2006/main">
            <a:srgbClr val="EEF9F3"/>
          </a:solidFill>
          <a:ln xmlns:a="http://schemas.openxmlformats.org/drawingml/2006/main" w="11430">
            <a:solidFill>
              <a:srgbClr val="17834D"/>
            </a:solidFill>
            <a:prstDash val="solid"/>
          </a:ln>
        </p:spPr>
      </p:sp>
      <p:sp>
        <p:nvSpPr>
          <p:cNvPr id="10" name="">
            <a:extLst xmlns:a="http://schemas.openxmlformats.org/drawingml/2006/main">
              <a:ext uri="{FF2B5EF4-FFF2-40B4-BE49-F238E27FC236}">
                <a16:creationId xmlns:a16="http://schemas.microsoft.com/office/drawing/2014/main" id="{E0F7D2A6-521B-4C62-8ACE-7268031A2016}"/>
              </a:ext>
            </a:extLst>
          </p:cNvPr>
          <p:cNvSpPr>
            <a:spLocks xmlns:a="http://schemas.openxmlformats.org/drawingml/2006/main" noGrp="1"/>
          </p:cNvSpPr>
          <p:nvPr/>
        </p:nvSpPr>
        <p:spPr>
          <a:xfrm xmlns:a="http://schemas.openxmlformats.org/drawingml/2006/main">
            <a:off x="571500" y="1714500"/>
            <a:ext cx="17621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17834D"/>
                </a:solidFill>
              </a:defRPr>
            </a:pPr>
            <a:r>
              <a:rPr sz="1200" b="1">
                <a:solidFill>
                  <a:srgbClr val="17834D"/>
                </a:solidFill>
              </a:rPr>
              <a:t>A — CODE-VERIFIED</a:t>
            </a:r>
          </a:p>
        </p:txBody>
      </p:sp>
      <p:sp>
        <p:nvSpPr>
          <p:cNvPr id="11" name="">
            <a:extLst xmlns:a="http://schemas.openxmlformats.org/drawingml/2006/main">
              <a:ext uri="{FF2B5EF4-FFF2-40B4-BE49-F238E27FC236}">
                <a16:creationId xmlns:a16="http://schemas.microsoft.com/office/drawing/2014/main" id="{6C8C947E-4E7E-4AFB-A029-DDEB3A6F9ECB}"/>
              </a:ext>
            </a:extLst>
          </p:cNvPr>
          <p:cNvSpPr>
            <a:spLocks xmlns:a="http://schemas.openxmlformats.org/drawingml/2006/main" noGrp="1"/>
          </p:cNvSpPr>
          <p:nvPr/>
        </p:nvSpPr>
        <p:spPr>
          <a:xfrm xmlns:a="http://schemas.openxmlformats.org/drawingml/2006/main">
            <a:off x="2352675" y="1695450"/>
            <a:ext cx="9191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0">
                <a:solidFill>
                  <a:srgbClr val="162C52"/>
                </a:solidFill>
              </a:defRPr>
            </a:pPr>
            <a:r>
              <a:rPr sz="1200" b="0">
                <a:solidFill>
                  <a:srgbClr val="162C52"/>
                </a:solidFill>
              </a:rPr>
              <a:t>Native PDF/DOCX text extraction; typed schemas; owner-scoped persistence; deterministic lexical Top-8 retrieval.</a:t>
            </a:r>
          </a:p>
        </p:txBody>
      </p:sp>
      <p:sp>
        <p:nvSpPr>
          <p:cNvPr id="12" name="">
            <a:extLst xmlns:a="http://schemas.openxmlformats.org/drawingml/2006/main">
              <a:ext uri="{FF2B5EF4-FFF2-40B4-BE49-F238E27FC236}">
                <a16:creationId xmlns:a16="http://schemas.microsoft.com/office/drawing/2014/main" id="{0A90AB7C-307A-4551-9773-9CF8C3F41E5E}"/>
              </a:ext>
            </a:extLst>
          </p:cNvPr>
          <p:cNvSpPr>
            <a:spLocks xmlns:a="http://schemas.openxmlformats.org/drawingml/2006/main" noGrp="1"/>
          </p:cNvSpPr>
          <p:nvPr/>
        </p:nvSpPr>
        <p:spPr>
          <a:xfrm xmlns:a="http://schemas.openxmlformats.org/drawingml/2006/main">
            <a:off x="400050" y="2781300"/>
            <a:ext cx="11334750" cy="1352550"/>
          </a:xfrm>
          <a:prstGeom xmlns:a="http://schemas.openxmlformats.org/drawingml/2006/main" prst="roundRect">
            <a:avLst>
              <a:gd name="adj" fmla="val 5634"/>
            </a:avLst>
          </a:prstGeom>
          <a:solidFill xmlns:a="http://schemas.openxmlformats.org/drawingml/2006/main">
            <a:srgbClr val="EDF4FF"/>
          </a:solidFill>
          <a:ln xmlns:a="http://schemas.openxmlformats.org/drawingml/2006/main" w="11430">
            <a:solidFill>
              <a:srgbClr val="3269D4"/>
            </a:solidFill>
            <a:prstDash val="solid"/>
          </a:ln>
        </p:spPr>
      </p:sp>
      <p:sp>
        <p:nvSpPr>
          <p:cNvPr id="13" name="">
            <a:extLst xmlns:a="http://schemas.openxmlformats.org/drawingml/2006/main">
              <a:ext uri="{FF2B5EF4-FFF2-40B4-BE49-F238E27FC236}">
                <a16:creationId xmlns:a16="http://schemas.microsoft.com/office/drawing/2014/main" id="{D8E0148B-44ED-4852-859A-A26A4CD7EE1E}"/>
              </a:ext>
            </a:extLst>
          </p:cNvPr>
          <p:cNvSpPr>
            <a:spLocks xmlns:a="http://schemas.openxmlformats.org/drawingml/2006/main" noGrp="1"/>
          </p:cNvSpPr>
          <p:nvPr/>
        </p:nvSpPr>
        <p:spPr>
          <a:xfrm xmlns:a="http://schemas.openxmlformats.org/drawingml/2006/main">
            <a:off x="571500" y="2914650"/>
            <a:ext cx="176212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3269D4"/>
                </a:solidFill>
              </a:defRPr>
            </a:pPr>
            <a:r>
              <a:rPr sz="1200" b="1">
                <a:solidFill>
                  <a:srgbClr val="3269D4"/>
                </a:solidFill>
              </a:rPr>
              <a:t>B/C — SYNTHETIC PILOT</a:t>
            </a:r>
          </a:p>
        </p:txBody>
      </p:sp>
      <p:sp>
        <p:nvSpPr>
          <p:cNvPr id="14" name="">
            <a:extLst xmlns:a="http://schemas.openxmlformats.org/drawingml/2006/main">
              <a:ext uri="{FF2B5EF4-FFF2-40B4-BE49-F238E27FC236}">
                <a16:creationId xmlns:a16="http://schemas.microsoft.com/office/drawing/2014/main" id="{60587A58-7469-469C-901A-537B813CCD49}"/>
              </a:ext>
            </a:extLst>
          </p:cNvPr>
          <p:cNvSpPr>
            <a:spLocks xmlns:a="http://schemas.openxmlformats.org/drawingml/2006/main" noGrp="1"/>
          </p:cNvSpPr>
          <p:nvPr/>
        </p:nvSpPr>
        <p:spPr>
          <a:xfrm xmlns:a="http://schemas.openxmlformats.org/drawingml/2006/main">
            <a:off x="2352675" y="2895600"/>
            <a:ext cx="919162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0">
                <a:solidFill>
                  <a:srgbClr val="162C52"/>
                </a:solidFill>
              </a:defRPr>
            </a:pPr>
            <a:r>
              <a:rPr sz="1200" b="0">
                <a:solidFill>
                  <a:srgbClr val="162C52"/>
                </a:solidFill>
              </a:rPr>
              <a:t>10 synthetic groups: retrieval context precision 0.815; mean relevance 0.435; controlled HitRate@8 1.0. Question role relevance / CV alignment / technical validity scored 1.0. These are smoke results, not human accuracy.</a:t>
            </a:r>
          </a:p>
        </p:txBody>
      </p:sp>
      <p:sp>
        <p:nvSpPr>
          <p:cNvPr id="15" name="">
            <a:extLst xmlns:a="http://schemas.openxmlformats.org/drawingml/2006/main">
              <a:ext uri="{FF2B5EF4-FFF2-40B4-BE49-F238E27FC236}">
                <a16:creationId xmlns:a16="http://schemas.microsoft.com/office/drawing/2014/main" id="{4F08499A-33A6-445D-A118-5BCCB7935A7E}"/>
              </a:ext>
            </a:extLst>
          </p:cNvPr>
          <p:cNvSpPr>
            <a:spLocks xmlns:a="http://schemas.openxmlformats.org/drawingml/2006/main" noGrp="1"/>
          </p:cNvSpPr>
          <p:nvPr/>
        </p:nvSpPr>
        <p:spPr>
          <a:xfrm xmlns:a="http://schemas.openxmlformats.org/drawingml/2006/main">
            <a:off x="400050" y="4343400"/>
            <a:ext cx="11334750" cy="1200150"/>
          </a:xfrm>
          <a:prstGeom xmlns:a="http://schemas.openxmlformats.org/drawingml/2006/main" prst="roundRect">
            <a:avLst>
              <a:gd name="adj" fmla="val 6349"/>
            </a:avLst>
          </a:prstGeom>
          <a:solidFill xmlns:a="http://schemas.openxmlformats.org/drawingml/2006/main">
            <a:srgbClr val="FFF0EE"/>
          </a:solidFill>
          <a:ln xmlns:a="http://schemas.openxmlformats.org/drawingml/2006/main" w="11430">
            <a:solidFill>
              <a:srgbClr val="B44538"/>
            </a:solidFill>
            <a:prstDash val="solid"/>
          </a:ln>
        </p:spPr>
      </p:sp>
      <p:sp>
        <p:nvSpPr>
          <p:cNvPr id="16" name="">
            <a:extLst xmlns:a="http://schemas.openxmlformats.org/drawingml/2006/main">
              <a:ext uri="{FF2B5EF4-FFF2-40B4-BE49-F238E27FC236}">
                <a16:creationId xmlns:a16="http://schemas.microsoft.com/office/drawing/2014/main" id="{38F044ED-0495-46FB-AEC8-561222DED4E6}"/>
              </a:ext>
            </a:extLst>
          </p:cNvPr>
          <p:cNvSpPr>
            <a:spLocks xmlns:a="http://schemas.openxmlformats.org/drawingml/2006/main" noGrp="1"/>
          </p:cNvSpPr>
          <p:nvPr/>
        </p:nvSpPr>
        <p:spPr>
          <a:xfrm xmlns:a="http://schemas.openxmlformats.org/drawingml/2006/main">
            <a:off x="571500" y="4476750"/>
            <a:ext cx="17621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B44538"/>
                </a:solidFill>
              </a:defRPr>
            </a:pPr>
            <a:r>
              <a:rPr sz="1200" b="1">
                <a:solidFill>
                  <a:srgbClr val="B44538"/>
                </a:solidFill>
              </a:rPr>
              <a:t>D — NOT YET AVAILABLE</a:t>
            </a:r>
          </a:p>
        </p:txBody>
      </p:sp>
      <p:sp>
        <p:nvSpPr>
          <p:cNvPr id="17" name="">
            <a:extLst xmlns:a="http://schemas.openxmlformats.org/drawingml/2006/main">
              <a:ext uri="{FF2B5EF4-FFF2-40B4-BE49-F238E27FC236}">
                <a16:creationId xmlns:a16="http://schemas.microsoft.com/office/drawing/2014/main" id="{201E936D-37F5-410B-8206-3226DEFD72DB}"/>
              </a:ext>
            </a:extLst>
          </p:cNvPr>
          <p:cNvSpPr>
            <a:spLocks xmlns:a="http://schemas.openxmlformats.org/drawingml/2006/main" noGrp="1"/>
          </p:cNvSpPr>
          <p:nvPr/>
        </p:nvSpPr>
        <p:spPr>
          <a:xfrm xmlns:a="http://schemas.openxmlformats.org/drawingml/2006/main">
            <a:off x="2352675" y="4457700"/>
            <a:ext cx="919162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0">
                <a:solidFill>
                  <a:srgbClr val="162C52"/>
                </a:solidFill>
              </a:defRPr>
            </a:pPr>
            <a:r>
              <a:rPr sz="1200" b="0">
                <a:solidFill>
                  <a:srgbClr val="162C52"/>
                </a:solidFill>
              </a:rPr>
              <a:t>Canonical evaluation report is no_data. No human-labelled retrieval benchmark, evaluator MAE/correlation, vector database accuracy, or production speech verification is currently defensible.</a:t>
            </a:r>
          </a:p>
        </p:txBody>
      </p:sp>
      <p:sp>
        <p:nvSpPr>
          <p:cNvPr id="18" name="">
            <a:extLst xmlns:a="http://schemas.openxmlformats.org/drawingml/2006/main">
              <a:ext uri="{FF2B5EF4-FFF2-40B4-BE49-F238E27FC236}">
                <a16:creationId xmlns:a16="http://schemas.microsoft.com/office/drawing/2014/main" id="{65976580-0E08-43AE-BA84-437CE39B227A}"/>
              </a:ext>
            </a:extLst>
          </p:cNvPr>
          <p:cNvSpPr>
            <a:spLocks xmlns:a="http://schemas.openxmlformats.org/drawingml/2006/main" noGrp="1"/>
          </p:cNvSpPr>
          <p:nvPr/>
        </p:nvSpPr>
        <p:spPr>
          <a:xfrm xmlns:a="http://schemas.openxmlformats.org/drawingml/2006/main">
            <a:off x="704850" y="5810250"/>
            <a:ext cx="1076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11356F"/>
                </a:solidFill>
              </a:defRPr>
            </a:pPr>
            <a:r>
              <a:rPr sz="1425" b="1">
                <a:solidFill>
                  <a:srgbClr val="11356F"/>
                </a:solidFill>
              </a:rPr>
              <a:t>Defense position: demonstrate what works, label the prototype, and present the measurement plan without converting future design into a current result.</a:t>
            </a:r>
          </a:p>
        </p:txBody>
      </p:sp>
      <p:sp>
        <p:nvSpPr>
          <p:cNvPr id="19" name="header-cover-8">
            <a:extLst xmlns:a="http://schemas.openxmlformats.org/drawingml/2006/main">
              <a:ext uri="{FF2B5EF4-FFF2-40B4-BE49-F238E27FC236}">
                <a16:creationId xmlns:a16="http://schemas.microsoft.com/office/drawing/2014/main" id="{37FD645F-D887-4F3B-8B61-67F309F39044}"/>
              </a:ext>
            </a:extLst>
          </p:cNvPr>
          <p:cNvSpPr>
            <a:spLocks xmlns:a="http://schemas.openxmlformats.org/drawingml/2006/main" noGrp="1"/>
          </p:cNvSpPr>
          <p:nvPr/>
        </p:nvSpPr>
        <p:spPr>
          <a:xfrm xmlns:a="http://schemas.openxmlformats.org/drawingml/2006/main">
            <a:off x="323850" y="190500"/>
            <a:ext cx="11525250" cy="6096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 name="section-title-8">
            <a:extLst xmlns:a="http://schemas.openxmlformats.org/drawingml/2006/main">
              <a:ext uri="{FF2B5EF4-FFF2-40B4-BE49-F238E27FC236}">
                <a16:creationId xmlns:a16="http://schemas.microsoft.com/office/drawing/2014/main" id="{E9F9706C-17EA-4029-AA73-A4FFCE86E1B6}"/>
              </a:ext>
            </a:extLst>
          </p:cNvPr>
          <p:cNvSpPr>
            <a:spLocks xmlns:a="http://schemas.openxmlformats.org/drawingml/2006/main" noGrp="1"/>
          </p:cNvSpPr>
          <p:nvPr/>
        </p:nvSpPr>
        <p:spPr>
          <a:xfrm xmlns:a="http://schemas.openxmlformats.org/drawingml/2006/main">
            <a:off x="400050" y="2857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1356F"/>
                </a:solidFill>
              </a:defRPr>
            </a:pPr>
            <a:r>
              <a:rPr sz="2025" b="1">
                <a:solidFill>
                  <a:srgbClr val="11356F"/>
                </a:solidFill>
              </a:rPr>
              <a:t>5. EVALUATION &amp; RESULTS</a:t>
            </a:r>
          </a:p>
        </p:txBody>
      </p:sp>
      <p:sp>
        <p:nvSpPr>
          <p:cNvPr id="21" name="section-rule-8">
            <a:extLst xmlns:a="http://schemas.openxmlformats.org/drawingml/2006/main">
              <a:ext uri="{FF2B5EF4-FFF2-40B4-BE49-F238E27FC236}">
                <a16:creationId xmlns:a16="http://schemas.microsoft.com/office/drawing/2014/main" id="{FDEA7C50-5DCD-479B-8168-AB4B5321EEF3}"/>
              </a:ext>
            </a:extLst>
          </p:cNvPr>
          <p:cNvSpPr>
            <a:spLocks xmlns:a="http://schemas.openxmlformats.org/drawingml/2006/main" noGrp="1"/>
          </p:cNvSpPr>
          <p:nvPr/>
        </p:nvSpPr>
        <p:spPr>
          <a:xfrm xmlns:a="http://schemas.openxmlformats.org/drawingml/2006/main">
            <a:off x="400050" y="723900"/>
            <a:ext cx="9715500" cy="9525"/>
          </a:xfrm>
          <a:prstGeom xmlns:a="http://schemas.openxmlformats.org/drawingml/2006/main" prst="line">
            <a:avLst/>
          </a:prstGeom>
          <a:noFill xmlns:a="http://schemas.openxmlformats.org/drawingml/2006/main"/>
          <a:ln xmlns:a="http://schemas.openxmlformats.org/drawingml/2006/main" w="9525">
            <a:solidFill>
              <a:srgbClr val="D8E6FF"/>
            </a:solidFill>
            <a:prstDash val="solid"/>
          </a:ln>
        </p:spPr>
      </p:sp>
      <p:sp>
        <p:nvSpPr>
          <p:cNvPr id="22" name="brand-square-1-8">
            <a:extLst xmlns:a="http://schemas.openxmlformats.org/drawingml/2006/main">
              <a:ext uri="{FF2B5EF4-FFF2-40B4-BE49-F238E27FC236}">
                <a16:creationId xmlns:a16="http://schemas.microsoft.com/office/drawing/2014/main" id="{12C28D04-8318-4A3A-BC40-18AD491F5B62}"/>
              </a:ext>
            </a:extLst>
          </p:cNvPr>
          <p:cNvSpPr>
            <a:spLocks xmlns:a="http://schemas.openxmlformats.org/drawingml/2006/main" noGrp="1"/>
          </p:cNvSpPr>
          <p:nvPr/>
        </p:nvSpPr>
        <p:spPr>
          <a:xfrm xmlns:a="http://schemas.openxmlformats.org/drawingml/2006/main">
            <a:off x="11001375" y="304800"/>
            <a:ext cx="228600" cy="228600"/>
          </a:xfrm>
          <a:prstGeom xmlns:a="http://schemas.openxmlformats.org/drawingml/2006/main" prst="rect">
            <a:avLst/>
          </a:prstGeom>
          <a:solidFill xmlns:a="http://schemas.openxmlformats.org/drawingml/2006/main">
            <a:srgbClr val="D9E5FB"/>
          </a:solidFill>
          <a:ln xmlns:a="http://schemas.openxmlformats.org/drawingml/2006/main" w="0">
            <a:noFill/>
            <a:prstDash val="solid"/>
          </a:ln>
        </p:spPr>
      </p:sp>
      <p:sp>
        <p:nvSpPr>
          <p:cNvPr id="23" name="brand-square-2-8">
            <a:extLst xmlns:a="http://schemas.openxmlformats.org/drawingml/2006/main">
              <a:ext uri="{FF2B5EF4-FFF2-40B4-BE49-F238E27FC236}">
                <a16:creationId xmlns:a16="http://schemas.microsoft.com/office/drawing/2014/main" id="{6B1C7A50-C534-4D82-9845-5EB4018B69BD}"/>
              </a:ext>
            </a:extLst>
          </p:cNvPr>
          <p:cNvSpPr>
            <a:spLocks xmlns:a="http://schemas.openxmlformats.org/drawingml/2006/main" noGrp="1"/>
          </p:cNvSpPr>
          <p:nvPr/>
        </p:nvSpPr>
        <p:spPr>
          <a:xfrm xmlns:a="http://schemas.openxmlformats.org/drawingml/2006/main">
            <a:off x="11258550" y="304800"/>
            <a:ext cx="228600" cy="228600"/>
          </a:xfrm>
          <a:prstGeom xmlns:a="http://schemas.openxmlformats.org/drawingml/2006/main" prst="rect">
            <a:avLst/>
          </a:prstGeom>
          <a:solidFill xmlns:a="http://schemas.openxmlformats.org/drawingml/2006/main">
            <a:srgbClr val="AFC9F7"/>
          </a:solidFill>
          <a:ln xmlns:a="http://schemas.openxmlformats.org/drawingml/2006/main" w="0">
            <a:noFill/>
            <a:prstDash val="solid"/>
          </a:ln>
        </p:spPr>
      </p:sp>
      <p:sp>
        <p:nvSpPr>
          <p:cNvPr id="24" name="brand-square-3-8">
            <a:extLst xmlns:a="http://schemas.openxmlformats.org/drawingml/2006/main">
              <a:ext uri="{FF2B5EF4-FFF2-40B4-BE49-F238E27FC236}">
                <a16:creationId xmlns:a16="http://schemas.microsoft.com/office/drawing/2014/main" id="{083A1CF3-8A49-43F8-AAF0-838B576B91D3}"/>
              </a:ext>
            </a:extLst>
          </p:cNvPr>
          <p:cNvSpPr>
            <a:spLocks xmlns:a="http://schemas.openxmlformats.org/drawingml/2006/main" noGrp="1"/>
          </p:cNvSpPr>
          <p:nvPr/>
        </p:nvSpPr>
        <p:spPr>
          <a:xfrm xmlns:a="http://schemas.openxmlformats.org/drawingml/2006/main">
            <a:off x="11515725" y="304800"/>
            <a:ext cx="228600" cy="228600"/>
          </a:xfrm>
          <a:prstGeom xmlns:a="http://schemas.openxmlformats.org/drawingml/2006/main" prst="rect">
            <a:avLst/>
          </a:prstGeom>
          <a:solidFill xmlns:a="http://schemas.openxmlformats.org/drawingml/2006/main">
            <a:srgbClr val="78A3F1"/>
          </a:solidFill>
          <a:ln xmlns:a="http://schemas.openxmlformats.org/drawingml/2006/main" w="0">
            <a:noFill/>
            <a:prstDash val="solid"/>
          </a:ln>
        </p:spPr>
      </p:sp>
      <p:sp>
        <p:nvSpPr>
          <p:cNvPr id="25" name="footer-cover-8">
            <a:extLst xmlns:a="http://schemas.openxmlformats.org/drawingml/2006/main">
              <a:ext uri="{FF2B5EF4-FFF2-40B4-BE49-F238E27FC236}">
                <a16:creationId xmlns:a16="http://schemas.microsoft.com/office/drawing/2014/main" id="{6AD4A5E1-BBB4-4592-99A2-324626CD1CEB}"/>
              </a:ext>
            </a:extLst>
          </p:cNvPr>
          <p:cNvSpPr>
            <a:spLocks xmlns:a="http://schemas.openxmlformats.org/drawingml/2006/main" noGrp="1"/>
          </p:cNvSpPr>
          <p:nvPr/>
        </p:nvSpPr>
        <p:spPr>
          <a:xfrm xmlns:a="http://schemas.openxmlformats.org/drawingml/2006/main">
            <a:off x="323850" y="6438900"/>
            <a:ext cx="4191000" cy="2667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 name="footer-8">
            <a:extLst xmlns:a="http://schemas.openxmlformats.org/drawingml/2006/main">
              <a:ext uri="{FF2B5EF4-FFF2-40B4-BE49-F238E27FC236}">
                <a16:creationId xmlns:a16="http://schemas.microsoft.com/office/drawing/2014/main" id="{E27C7141-63A4-4507-902B-0BCBA5E2EA9F}"/>
              </a:ext>
            </a:extLst>
          </p:cNvPr>
          <p:cNvSpPr>
            <a:spLocks xmlns:a="http://schemas.openxmlformats.org/drawingml/2006/main" noGrp="1"/>
          </p:cNvSpPr>
          <p:nvPr/>
        </p:nvSpPr>
        <p:spPr>
          <a:xfrm xmlns:a="http://schemas.openxmlformats.org/drawingml/2006/main">
            <a:off x="40005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A98AE"/>
                </a:solidFill>
              </a:defRPr>
            </a:pPr>
            <a:r>
              <a:rPr sz="825" b="1">
                <a:solidFill>
                  <a:srgbClr val="8A98AE"/>
                </a:solidFill>
              </a:rPr>
              <a:t>FIPILOT  •  DEFENSE ROUND 1  •  8</a:t>
            </a:r>
          </a:p>
        </p:txBody>
      </p:sp>
    </p:spTree>
    <p:extLst>
      <p:ext uri="{BB962C8B-B14F-4D97-AF65-F5344CB8AC3E}">
        <p14:creationId xmlns:p14="http://schemas.microsoft.com/office/powerpoint/2010/main" val="173101465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7823EBE3-962B-49D7-89B5-FA115278815F}"/>
              </a:ext>
            </a:extLst>
          </p:cNvPr>
          <p:cNvSpPr>
            <a:spLocks xmlns:a="http://schemas.openxmlformats.org/drawingml/2006/main" noGrp="1"/>
          </p:cNvSpPr>
          <p:nvPr/>
        </p:nvSpPr>
        <p:spPr>
          <a:xfrm xmlns:a="http://schemas.openxmlformats.org/drawingml/2006/main">
            <a:off x="400050" y="2857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1356F"/>
                </a:solidFill>
              </a:defRPr>
            </a:pPr>
            <a:r>
              <a:rPr sz="2025" b="1">
                <a:solidFill>
                  <a:srgbClr val="11356F"/>
                </a:solidFill>
              </a:rPr>
              <a:t>3. DATA &amp; RESUME PIPELINE</a:t>
            </a:r>
          </a:p>
        </p:txBody>
      </p:sp>
      <p:sp>
        <p:nvSpPr>
          <p:cNvPr id="2" name="">
            <a:extLst xmlns:a="http://schemas.openxmlformats.org/drawingml/2006/main">
              <a:ext uri="{FF2B5EF4-FFF2-40B4-BE49-F238E27FC236}">
                <a16:creationId xmlns:a16="http://schemas.microsoft.com/office/drawing/2014/main" id="{95148F34-5B08-485E-A22C-D909F79932CB}"/>
              </a:ext>
            </a:extLst>
          </p:cNvPr>
          <p:cNvSpPr>
            <a:spLocks xmlns:a="http://schemas.openxmlformats.org/drawingml/2006/main" noGrp="1"/>
          </p:cNvSpPr>
          <p:nvPr/>
        </p:nvSpPr>
        <p:spPr>
          <a:xfrm xmlns:a="http://schemas.openxmlformats.org/drawingml/2006/main">
            <a:off x="400050" y="723900"/>
            <a:ext cx="9715500" cy="9525"/>
          </a:xfrm>
          <a:prstGeom xmlns:a="http://schemas.openxmlformats.org/drawingml/2006/main" prst="line">
            <a:avLst/>
          </a:prstGeom>
          <a:noFill xmlns:a="http://schemas.openxmlformats.org/drawingml/2006/main"/>
          <a:ln xmlns:a="http://schemas.openxmlformats.org/drawingml/2006/main" w="9525">
            <a:solidFill>
              <a:srgbClr val="D8E6FF"/>
            </a:solidFill>
            <a:prstDash val="solid"/>
          </a:ln>
        </p:spPr>
      </p:sp>
      <p:sp>
        <p:nvSpPr>
          <p:cNvPr id="3" name="">
            <a:extLst xmlns:a="http://schemas.openxmlformats.org/drawingml/2006/main">
              <a:ext uri="{FF2B5EF4-FFF2-40B4-BE49-F238E27FC236}">
                <a16:creationId xmlns:a16="http://schemas.microsoft.com/office/drawing/2014/main" id="{5DA52FB4-C599-4BC1-9AEA-7E29D5D9786C}"/>
              </a:ext>
            </a:extLst>
          </p:cNvPr>
          <p:cNvSpPr>
            <a:spLocks xmlns:a="http://schemas.openxmlformats.org/drawingml/2006/main" noGrp="1"/>
          </p:cNvSpPr>
          <p:nvPr/>
        </p:nvSpPr>
        <p:spPr>
          <a:xfrm xmlns:a="http://schemas.openxmlformats.org/drawingml/2006/main">
            <a:off x="400050" y="838200"/>
            <a:ext cx="923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62C52"/>
                </a:solidFill>
              </a:defRPr>
            </a:pPr>
            <a:r>
              <a:rPr sz="1500" b="1">
                <a:solidFill>
                  <a:srgbClr val="162C52"/>
                </a:solidFill>
              </a:rPr>
              <a:t>A Scanned CV Needs a Measured OCR Fallback</a:t>
            </a:r>
          </a:p>
        </p:txBody>
      </p:sp>
      <p:sp>
        <p:nvSpPr>
          <p:cNvPr id="4" name="">
            <a:extLst xmlns:a="http://schemas.openxmlformats.org/drawingml/2006/main">
              <a:ext uri="{FF2B5EF4-FFF2-40B4-BE49-F238E27FC236}">
                <a16:creationId xmlns:a16="http://schemas.microsoft.com/office/drawing/2014/main" id="{04C9B905-63D2-4777-BB16-8DD7A9877E9A}"/>
              </a:ext>
            </a:extLst>
          </p:cNvPr>
          <p:cNvSpPr>
            <a:spLocks xmlns:a="http://schemas.openxmlformats.org/drawingml/2006/main" noGrp="1"/>
          </p:cNvSpPr>
          <p:nvPr/>
        </p:nvSpPr>
        <p:spPr>
          <a:xfrm xmlns:a="http://schemas.openxmlformats.org/drawingml/2006/main">
            <a:off x="400050" y="1114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617391"/>
                </a:solidFill>
              </a:defRPr>
            </a:pPr>
            <a:r>
              <a:rPr sz="1050" b="0">
                <a:solidFill>
                  <a:srgbClr val="617391"/>
                </a:solidFill>
              </a:rPr>
              <a:t>Keep native extraction as the fast path; invoke OCR only when page-level coverage is insufficient.</a:t>
            </a:r>
          </a:p>
        </p:txBody>
      </p:sp>
      <p:sp>
        <p:nvSpPr>
          <p:cNvPr id="5" name="">
            <a:extLst xmlns:a="http://schemas.openxmlformats.org/drawingml/2006/main">
              <a:ext uri="{FF2B5EF4-FFF2-40B4-BE49-F238E27FC236}">
                <a16:creationId xmlns:a16="http://schemas.microsoft.com/office/drawing/2014/main" id="{BB63E4F1-312E-47A5-BE7C-FF79AEFD8634}"/>
              </a:ext>
            </a:extLst>
          </p:cNvPr>
          <p:cNvSpPr>
            <a:spLocks xmlns:a="http://schemas.openxmlformats.org/drawingml/2006/main" noGrp="1"/>
          </p:cNvSpPr>
          <p:nvPr/>
        </p:nvSpPr>
        <p:spPr>
          <a:xfrm xmlns:a="http://schemas.openxmlformats.org/drawingml/2006/main">
            <a:off x="11001375" y="304800"/>
            <a:ext cx="228600" cy="228600"/>
          </a:xfrm>
          <a:prstGeom xmlns:a="http://schemas.openxmlformats.org/drawingml/2006/main" prst="rect">
            <a:avLst/>
          </a:prstGeom>
          <a:solidFill xmlns:a="http://schemas.openxmlformats.org/drawingml/2006/main">
            <a:srgbClr val="D9E5F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79082FA-796C-4FE9-8EF7-36987B70A9C5}"/>
              </a:ext>
            </a:extLst>
          </p:cNvPr>
          <p:cNvSpPr>
            <a:spLocks xmlns:a="http://schemas.openxmlformats.org/drawingml/2006/main" noGrp="1"/>
          </p:cNvSpPr>
          <p:nvPr/>
        </p:nvSpPr>
        <p:spPr>
          <a:xfrm xmlns:a="http://schemas.openxmlformats.org/drawingml/2006/main">
            <a:off x="11258550" y="304800"/>
            <a:ext cx="228600" cy="228600"/>
          </a:xfrm>
          <a:prstGeom xmlns:a="http://schemas.openxmlformats.org/drawingml/2006/main" prst="rect">
            <a:avLst/>
          </a:prstGeom>
          <a:solidFill xmlns:a="http://schemas.openxmlformats.org/drawingml/2006/main">
            <a:srgbClr val="AFC9F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D8455CD-2121-4A3C-965C-B1C6C6155B18}"/>
              </a:ext>
            </a:extLst>
          </p:cNvPr>
          <p:cNvSpPr>
            <a:spLocks xmlns:a="http://schemas.openxmlformats.org/drawingml/2006/main" noGrp="1"/>
          </p:cNvSpPr>
          <p:nvPr/>
        </p:nvSpPr>
        <p:spPr>
          <a:xfrm xmlns:a="http://schemas.openxmlformats.org/drawingml/2006/main">
            <a:off x="11515725" y="304800"/>
            <a:ext cx="228600" cy="228600"/>
          </a:xfrm>
          <a:prstGeom xmlns:a="http://schemas.openxmlformats.org/drawingml/2006/main" prst="rect">
            <a:avLst/>
          </a:prstGeom>
          <a:solidFill xmlns:a="http://schemas.openxmlformats.org/drawingml/2006/main">
            <a:srgbClr val="78A3F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93A6B4A-524D-419E-8BFC-145D547D97DD}"/>
              </a:ext>
            </a:extLst>
          </p:cNvPr>
          <p:cNvSpPr>
            <a:spLocks xmlns:a="http://schemas.openxmlformats.org/drawingml/2006/main" noGrp="1"/>
          </p:cNvSpPr>
          <p:nvPr/>
        </p:nvSpPr>
        <p:spPr>
          <a:xfrm xmlns:a="http://schemas.openxmlformats.org/drawingml/2006/main">
            <a:off x="40005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A98AE"/>
                </a:solidFill>
              </a:defRPr>
            </a:pPr>
            <a:r>
              <a:rPr sz="825" b="1">
                <a:solidFill>
                  <a:srgbClr val="8A98AE"/>
                </a:solidFill>
              </a:rPr>
              <a:t>FIPILOT  •  DEFENSE ROUND 1  •  9</a:t>
            </a:r>
          </a:p>
        </p:txBody>
      </p:sp>
      <p:sp>
        <p:nvSpPr>
          <p:cNvPr id="44" name="header-cover-1">
            <a:extLst xmlns:a="http://schemas.openxmlformats.org/drawingml/2006/main">
              <a:ext uri="{FF2B5EF4-FFF2-40B4-BE49-F238E27FC236}">
                <a16:creationId xmlns:a16="http://schemas.microsoft.com/office/drawing/2014/main" id="{C938C83A-3B35-4103-BD3E-AD0070E61393}"/>
              </a:ext>
            </a:extLst>
          </p:cNvPr>
          <p:cNvSpPr>
            <a:spLocks xmlns:a="http://schemas.openxmlformats.org/drawingml/2006/main" noGrp="1"/>
          </p:cNvSpPr>
          <p:nvPr/>
        </p:nvSpPr>
        <p:spPr>
          <a:xfrm xmlns:a="http://schemas.openxmlformats.org/drawingml/2006/main">
            <a:off x="323850" y="190500"/>
            <a:ext cx="11525250" cy="6096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5" name="section-title-1">
            <a:extLst xmlns:a="http://schemas.openxmlformats.org/drawingml/2006/main">
              <a:ext uri="{FF2B5EF4-FFF2-40B4-BE49-F238E27FC236}">
                <a16:creationId xmlns:a16="http://schemas.microsoft.com/office/drawing/2014/main" id="{7A7EC7E9-40C8-4C75-853F-3E8B1A7A7D74}"/>
              </a:ext>
            </a:extLst>
          </p:cNvPr>
          <p:cNvSpPr>
            <a:spLocks xmlns:a="http://schemas.openxmlformats.org/drawingml/2006/main" noGrp="1"/>
          </p:cNvSpPr>
          <p:nvPr/>
        </p:nvSpPr>
        <p:spPr>
          <a:xfrm xmlns:a="http://schemas.openxmlformats.org/drawingml/2006/main">
            <a:off x="400050" y="2857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1356F"/>
                </a:solidFill>
              </a:defRPr>
            </a:pPr>
            <a:r>
              <a:rPr sz="2025" b="1">
                <a:solidFill>
                  <a:srgbClr val="11356F"/>
                </a:solidFill>
              </a:rPr>
              <a:t>3. DATA &amp; RESUME PIPELINE</a:t>
            </a:r>
          </a:p>
        </p:txBody>
      </p:sp>
      <p:sp>
        <p:nvSpPr>
          <p:cNvPr id="46" name="section-rule-1">
            <a:extLst xmlns:a="http://schemas.openxmlformats.org/drawingml/2006/main">
              <a:ext uri="{FF2B5EF4-FFF2-40B4-BE49-F238E27FC236}">
                <a16:creationId xmlns:a16="http://schemas.microsoft.com/office/drawing/2014/main" id="{BA4BF006-9BA6-455B-B6BE-E23F88209C54}"/>
              </a:ext>
            </a:extLst>
          </p:cNvPr>
          <p:cNvSpPr>
            <a:spLocks xmlns:a="http://schemas.openxmlformats.org/drawingml/2006/main" noGrp="1"/>
          </p:cNvSpPr>
          <p:nvPr/>
        </p:nvSpPr>
        <p:spPr>
          <a:xfrm xmlns:a="http://schemas.openxmlformats.org/drawingml/2006/main">
            <a:off x="400050" y="723900"/>
            <a:ext cx="9715500" cy="9525"/>
          </a:xfrm>
          <a:prstGeom xmlns:a="http://schemas.openxmlformats.org/drawingml/2006/main" prst="line">
            <a:avLst/>
          </a:prstGeom>
          <a:noFill xmlns:a="http://schemas.openxmlformats.org/drawingml/2006/main"/>
          <a:ln xmlns:a="http://schemas.openxmlformats.org/drawingml/2006/main" w="9525">
            <a:solidFill>
              <a:srgbClr val="D8E6FF"/>
            </a:solidFill>
            <a:prstDash val="solid"/>
          </a:ln>
        </p:spPr>
      </p:sp>
      <p:sp>
        <p:nvSpPr>
          <p:cNvPr id="47" name="brand-square-1-1">
            <a:extLst xmlns:a="http://schemas.openxmlformats.org/drawingml/2006/main">
              <a:ext uri="{FF2B5EF4-FFF2-40B4-BE49-F238E27FC236}">
                <a16:creationId xmlns:a16="http://schemas.microsoft.com/office/drawing/2014/main" id="{9ECAECBD-BC84-4E8C-821C-F1F51FDCB947}"/>
              </a:ext>
            </a:extLst>
          </p:cNvPr>
          <p:cNvSpPr>
            <a:spLocks xmlns:a="http://schemas.openxmlformats.org/drawingml/2006/main" noGrp="1"/>
          </p:cNvSpPr>
          <p:nvPr/>
        </p:nvSpPr>
        <p:spPr>
          <a:xfrm xmlns:a="http://schemas.openxmlformats.org/drawingml/2006/main">
            <a:off x="11001375" y="304800"/>
            <a:ext cx="228600" cy="228600"/>
          </a:xfrm>
          <a:prstGeom xmlns:a="http://schemas.openxmlformats.org/drawingml/2006/main" prst="rect">
            <a:avLst/>
          </a:prstGeom>
          <a:solidFill xmlns:a="http://schemas.openxmlformats.org/drawingml/2006/main">
            <a:srgbClr val="D9E5FB"/>
          </a:solidFill>
          <a:ln xmlns:a="http://schemas.openxmlformats.org/drawingml/2006/main" w="0">
            <a:noFill/>
            <a:prstDash val="solid"/>
          </a:ln>
        </p:spPr>
      </p:sp>
      <p:sp>
        <p:nvSpPr>
          <p:cNvPr id="48" name="brand-square-2-1">
            <a:extLst xmlns:a="http://schemas.openxmlformats.org/drawingml/2006/main">
              <a:ext uri="{FF2B5EF4-FFF2-40B4-BE49-F238E27FC236}">
                <a16:creationId xmlns:a16="http://schemas.microsoft.com/office/drawing/2014/main" id="{91DC9A5D-FE85-40D3-82C6-D682A5A844B0}"/>
              </a:ext>
            </a:extLst>
          </p:cNvPr>
          <p:cNvSpPr>
            <a:spLocks xmlns:a="http://schemas.openxmlformats.org/drawingml/2006/main" noGrp="1"/>
          </p:cNvSpPr>
          <p:nvPr/>
        </p:nvSpPr>
        <p:spPr>
          <a:xfrm xmlns:a="http://schemas.openxmlformats.org/drawingml/2006/main">
            <a:off x="11258550" y="304800"/>
            <a:ext cx="228600" cy="228600"/>
          </a:xfrm>
          <a:prstGeom xmlns:a="http://schemas.openxmlformats.org/drawingml/2006/main" prst="rect">
            <a:avLst/>
          </a:prstGeom>
          <a:solidFill xmlns:a="http://schemas.openxmlformats.org/drawingml/2006/main">
            <a:srgbClr val="AFC9F7"/>
          </a:solidFill>
          <a:ln xmlns:a="http://schemas.openxmlformats.org/drawingml/2006/main" w="0">
            <a:noFill/>
            <a:prstDash val="solid"/>
          </a:ln>
        </p:spPr>
      </p:sp>
      <p:sp>
        <p:nvSpPr>
          <p:cNvPr id="49" name="brand-square-3-1">
            <a:extLst xmlns:a="http://schemas.openxmlformats.org/drawingml/2006/main">
              <a:ext uri="{FF2B5EF4-FFF2-40B4-BE49-F238E27FC236}">
                <a16:creationId xmlns:a16="http://schemas.microsoft.com/office/drawing/2014/main" id="{BA56A268-FDEC-4BCE-9A1F-E978E7A89F81}"/>
              </a:ext>
            </a:extLst>
          </p:cNvPr>
          <p:cNvSpPr>
            <a:spLocks xmlns:a="http://schemas.openxmlformats.org/drawingml/2006/main" noGrp="1"/>
          </p:cNvSpPr>
          <p:nvPr/>
        </p:nvSpPr>
        <p:spPr>
          <a:xfrm xmlns:a="http://schemas.openxmlformats.org/drawingml/2006/main">
            <a:off x="11515725" y="304800"/>
            <a:ext cx="228600" cy="228600"/>
          </a:xfrm>
          <a:prstGeom xmlns:a="http://schemas.openxmlformats.org/drawingml/2006/main" prst="rect">
            <a:avLst/>
          </a:prstGeom>
          <a:solidFill xmlns:a="http://schemas.openxmlformats.org/drawingml/2006/main">
            <a:srgbClr val="78A3F1"/>
          </a:solidFill>
          <a:ln xmlns:a="http://schemas.openxmlformats.org/drawingml/2006/main" w="0">
            <a:noFill/>
            <a:prstDash val="solid"/>
          </a:ln>
        </p:spPr>
      </p:sp>
      <p:sp>
        <p:nvSpPr>
          <p:cNvPr id="50" name="footer-cover-1">
            <a:extLst xmlns:a="http://schemas.openxmlformats.org/drawingml/2006/main">
              <a:ext uri="{FF2B5EF4-FFF2-40B4-BE49-F238E27FC236}">
                <a16:creationId xmlns:a16="http://schemas.microsoft.com/office/drawing/2014/main" id="{FA75868D-35FC-4039-A250-EB53A2C779FB}"/>
              </a:ext>
            </a:extLst>
          </p:cNvPr>
          <p:cNvSpPr>
            <a:spLocks xmlns:a="http://schemas.openxmlformats.org/drawingml/2006/main" noGrp="1"/>
          </p:cNvSpPr>
          <p:nvPr/>
        </p:nvSpPr>
        <p:spPr>
          <a:xfrm xmlns:a="http://schemas.openxmlformats.org/drawingml/2006/main">
            <a:off x="323850" y="6438900"/>
            <a:ext cx="4191000" cy="2667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1" name="footer-1">
            <a:extLst xmlns:a="http://schemas.openxmlformats.org/drawingml/2006/main">
              <a:ext uri="{FF2B5EF4-FFF2-40B4-BE49-F238E27FC236}">
                <a16:creationId xmlns:a16="http://schemas.microsoft.com/office/drawing/2014/main" id="{B7B9356B-2CFC-49CF-AC51-E93BA5DC0869}"/>
              </a:ext>
            </a:extLst>
          </p:cNvPr>
          <p:cNvSpPr>
            <a:spLocks xmlns:a="http://schemas.openxmlformats.org/drawingml/2006/main" noGrp="1"/>
          </p:cNvSpPr>
          <p:nvPr/>
        </p:nvSpPr>
        <p:spPr>
          <a:xfrm xmlns:a="http://schemas.openxmlformats.org/drawingml/2006/main">
            <a:off x="40005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A98AE"/>
                </a:solidFill>
              </a:defRPr>
            </a:pPr>
            <a:r>
              <a:rPr sz="825" b="1">
                <a:solidFill>
                  <a:srgbClr val="8A98AE"/>
                </a:solidFill>
              </a:rPr>
              <a:t>FIPILOT  •  DEFENSE ROUND 1  •  9</a:t>
            </a:r>
          </a:p>
        </p:txBody>
      </p:sp>
      <p:sp>
        <p:nvSpPr>
          <p:cNvPr id="53" name="ocr-step-1">
            <a:extLst xmlns:a="http://schemas.openxmlformats.org/drawingml/2006/main">
              <a:ext uri="{FF2B5EF4-FFF2-40B4-BE49-F238E27FC236}">
                <a16:creationId xmlns:a16="http://schemas.microsoft.com/office/drawing/2014/main" id="{B08F1A3C-22F4-4068-BD78-CEBA141A6D86}"/>
              </a:ext>
            </a:extLst>
          </p:cNvPr>
          <p:cNvSpPr>
            <a:spLocks xmlns:a="http://schemas.openxmlformats.org/drawingml/2006/main" noGrp="1"/>
          </p:cNvSpPr>
          <p:nvPr/>
        </p:nvSpPr>
        <p:spPr>
          <a:xfrm xmlns:a="http://schemas.openxmlformats.org/drawingml/2006/main">
            <a:off x="400050" y="1619250"/>
            <a:ext cx="196215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7E0EA"/>
            </a:solidFill>
            <a:prstDash val="solid"/>
          </a:ln>
        </p:spPr>
      </p:sp>
      <p:sp>
        <p:nvSpPr>
          <p:cNvPr id="54" name="ocr-step-accent-1">
            <a:extLst xmlns:a="http://schemas.openxmlformats.org/drawingml/2006/main">
              <a:ext uri="{FF2B5EF4-FFF2-40B4-BE49-F238E27FC236}">
                <a16:creationId xmlns:a16="http://schemas.microsoft.com/office/drawing/2014/main" id="{ED21D31C-80C3-48A0-B4A3-DB5DACA5BB75}"/>
              </a:ext>
            </a:extLst>
          </p:cNvPr>
          <p:cNvSpPr>
            <a:spLocks xmlns:a="http://schemas.openxmlformats.org/drawingml/2006/main" noGrp="1"/>
          </p:cNvSpPr>
          <p:nvPr/>
        </p:nvSpPr>
        <p:spPr>
          <a:xfrm xmlns:a="http://schemas.openxmlformats.org/drawingml/2006/main">
            <a:off x="400050" y="1619250"/>
            <a:ext cx="1962150" cy="66675"/>
          </a:xfrm>
          <a:prstGeom xmlns:a="http://schemas.openxmlformats.org/drawingml/2006/main" prst="rect">
            <a:avLst/>
          </a:prstGeom>
          <a:solidFill xmlns:a="http://schemas.openxmlformats.org/drawingml/2006/main">
            <a:srgbClr val="2A6FDB"/>
          </a:solidFill>
          <a:ln xmlns:a="http://schemas.openxmlformats.org/drawingml/2006/main" w="0">
            <a:noFill/>
            <a:prstDash val="solid"/>
          </a:ln>
        </p:spPr>
      </p:sp>
      <p:sp>
        <p:nvSpPr>
          <p:cNvPr id="55" name="ocr-step-badge-1-bg">
            <a:extLst xmlns:a="http://schemas.openxmlformats.org/drawingml/2006/main">
              <a:ext uri="{FF2B5EF4-FFF2-40B4-BE49-F238E27FC236}">
                <a16:creationId xmlns:a16="http://schemas.microsoft.com/office/drawing/2014/main" id="{4391D4F3-B952-48D9-8D14-BEFEF2DCDDED}"/>
              </a:ext>
            </a:extLst>
          </p:cNvPr>
          <p:cNvSpPr>
            <a:spLocks xmlns:a="http://schemas.openxmlformats.org/drawingml/2006/main" noGrp="1"/>
          </p:cNvSpPr>
          <p:nvPr/>
        </p:nvSpPr>
        <p:spPr>
          <a:xfrm xmlns:a="http://schemas.openxmlformats.org/drawingml/2006/main">
            <a:off x="552450" y="1781175"/>
            <a:ext cx="285750" cy="266700"/>
          </a:xfrm>
          <a:prstGeom xmlns:a="http://schemas.openxmlformats.org/drawingml/2006/main" prst="roundRect">
            <a:avLst>
              <a:gd name="adj" fmla="val 28571"/>
            </a:avLst>
          </a:prstGeom>
          <a:solidFill xmlns:a="http://schemas.openxmlformats.org/drawingml/2006/main">
            <a:srgbClr val="2A6FDB"/>
          </a:solidFill>
          <a:ln xmlns:a="http://schemas.openxmlformats.org/drawingml/2006/main" w="0">
            <a:noFill/>
            <a:prstDash val="solid"/>
          </a:ln>
        </p:spPr>
      </p:sp>
      <p:sp>
        <p:nvSpPr>
          <p:cNvPr id="56" name="ocr-step-badge-1-text">
            <a:extLst xmlns:a="http://schemas.openxmlformats.org/drawingml/2006/main">
              <a:ext uri="{FF2B5EF4-FFF2-40B4-BE49-F238E27FC236}">
                <a16:creationId xmlns:a16="http://schemas.microsoft.com/office/drawing/2014/main" id="{69B9335E-03A5-4B82-83FF-E3F6DBC8B6A1}"/>
              </a:ext>
            </a:extLst>
          </p:cNvPr>
          <p:cNvSpPr>
            <a:spLocks xmlns:a="http://schemas.openxmlformats.org/drawingml/2006/main" noGrp="1"/>
          </p:cNvSpPr>
          <p:nvPr/>
        </p:nvSpPr>
        <p:spPr>
          <a:xfrm xmlns:a="http://schemas.openxmlformats.org/drawingml/2006/main">
            <a:off x="552450" y="1790700"/>
            <a:ext cx="28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FFFFFF"/>
                </a:solidFill>
                <a:latin typeface="Calibri"/>
                <a:ea typeface="Calibri"/>
                <a:cs typeface="Calibri"/>
              </a:defRPr>
            </a:pPr>
            <a:r>
              <a:rPr sz="900" b="1" i="0">
                <a:solidFill>
                  <a:srgbClr val="FFFFFF"/>
                </a:solidFill>
                <a:latin typeface="Calibri"/>
                <a:ea typeface="Calibri"/>
                <a:cs typeface="Calibri"/>
              </a:rPr>
              <a:t>1</a:t>
            </a:r>
          </a:p>
        </p:txBody>
      </p:sp>
      <p:sp>
        <p:nvSpPr>
          <p:cNvPr id="57" name="ocr-step-title-1">
            <a:extLst xmlns:a="http://schemas.openxmlformats.org/drawingml/2006/main">
              <a:ext uri="{FF2B5EF4-FFF2-40B4-BE49-F238E27FC236}">
                <a16:creationId xmlns:a16="http://schemas.microsoft.com/office/drawing/2014/main" id="{D357E775-208D-41C0-BD02-75BFE2EF9D4D}"/>
              </a:ext>
            </a:extLst>
          </p:cNvPr>
          <p:cNvSpPr>
            <a:spLocks xmlns:a="http://schemas.openxmlformats.org/drawingml/2006/main" noGrp="1"/>
          </p:cNvSpPr>
          <p:nvPr/>
        </p:nvSpPr>
        <p:spPr>
          <a:xfrm xmlns:a="http://schemas.openxmlformats.org/drawingml/2006/main">
            <a:off x="552450" y="2133600"/>
            <a:ext cx="1657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172B4D"/>
                </a:solidFill>
                <a:latin typeface="Calibri"/>
                <a:ea typeface="Calibri"/>
                <a:cs typeface="Calibri"/>
              </a:defRPr>
            </a:pPr>
            <a:r>
              <a:rPr sz="1200" b="1" i="0">
                <a:solidFill>
                  <a:srgbClr val="172B4D"/>
                </a:solidFill>
                <a:latin typeface="Calibri"/>
                <a:ea typeface="Calibri"/>
                <a:cs typeface="Calibri"/>
              </a:rPr>
              <a:t>Native extract</a:t>
            </a:r>
          </a:p>
        </p:txBody>
      </p:sp>
      <p:sp>
        <p:nvSpPr>
          <p:cNvPr id="58" name="ocr-step-detail-1">
            <a:extLst xmlns:a="http://schemas.openxmlformats.org/drawingml/2006/main">
              <a:ext uri="{FF2B5EF4-FFF2-40B4-BE49-F238E27FC236}">
                <a16:creationId xmlns:a16="http://schemas.microsoft.com/office/drawing/2014/main" id="{6F0099E9-8E1E-4173-8852-898B33B59A8E}"/>
              </a:ext>
            </a:extLst>
          </p:cNvPr>
          <p:cNvSpPr>
            <a:spLocks xmlns:a="http://schemas.openxmlformats.org/drawingml/2006/main" noGrp="1"/>
          </p:cNvSpPr>
          <p:nvPr/>
        </p:nvSpPr>
        <p:spPr>
          <a:xfrm xmlns:a="http://schemas.openxmlformats.org/drawingml/2006/main">
            <a:off x="552450" y="2438400"/>
            <a:ext cx="16573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5B6B7F"/>
                </a:solidFill>
                <a:latin typeface="Calibri"/>
                <a:ea typeface="Calibri"/>
                <a:cs typeface="Calibri"/>
              </a:defRPr>
            </a:pPr>
            <a:r>
              <a:rPr sz="1050" b="0" i="0">
                <a:solidFill>
                  <a:srgbClr val="5B6B7F"/>
                </a:solidFill>
                <a:latin typeface="Calibri"/>
                <a:ea typeface="Calibri"/>
                <a:cs typeface="Calibri"/>
              </a:rPr>
              <a:t>pypdf / python-docx</a:t>
            </a:r>
          </a:p>
        </p:txBody>
      </p:sp>
      <p:sp>
        <p:nvSpPr>
          <p:cNvPr id="59" name="ocr-arrow-1">
            <a:extLst xmlns:a="http://schemas.openxmlformats.org/drawingml/2006/main">
              <a:ext uri="{FF2B5EF4-FFF2-40B4-BE49-F238E27FC236}">
                <a16:creationId xmlns:a16="http://schemas.microsoft.com/office/drawing/2014/main" id="{91FB8134-649C-4D65-9DBB-8AF368F91842}"/>
              </a:ext>
            </a:extLst>
          </p:cNvPr>
          <p:cNvSpPr>
            <a:spLocks xmlns:a="http://schemas.openxmlformats.org/drawingml/2006/main" noGrp="1"/>
          </p:cNvSpPr>
          <p:nvPr/>
        </p:nvSpPr>
        <p:spPr>
          <a:xfrm xmlns:a="http://schemas.openxmlformats.org/drawingml/2006/main">
            <a:off x="2371725" y="2038350"/>
            <a:ext cx="2952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i="0">
                <a:solidFill>
                  <a:srgbClr val="5B6B7F"/>
                </a:solidFill>
                <a:latin typeface="Calibri"/>
                <a:ea typeface="Calibri"/>
                <a:cs typeface="Calibri"/>
              </a:defRPr>
            </a:pPr>
            <a:r>
              <a:rPr sz="1650" b="1" i="0">
                <a:solidFill>
                  <a:srgbClr val="5B6B7F"/>
                </a:solidFill>
                <a:latin typeface="Calibri"/>
                <a:ea typeface="Calibri"/>
                <a:cs typeface="Calibri"/>
              </a:rPr>
              <a:t>→</a:t>
            </a:r>
          </a:p>
        </p:txBody>
      </p:sp>
      <p:sp>
        <p:nvSpPr>
          <p:cNvPr id="60" name="ocr-step-2">
            <a:extLst xmlns:a="http://schemas.openxmlformats.org/drawingml/2006/main">
              <a:ext uri="{FF2B5EF4-FFF2-40B4-BE49-F238E27FC236}">
                <a16:creationId xmlns:a16="http://schemas.microsoft.com/office/drawing/2014/main" id="{6A5F7CD7-3894-410D-A89F-D6342230B04F}"/>
              </a:ext>
            </a:extLst>
          </p:cNvPr>
          <p:cNvSpPr>
            <a:spLocks xmlns:a="http://schemas.openxmlformats.org/drawingml/2006/main" noGrp="1"/>
          </p:cNvSpPr>
          <p:nvPr/>
        </p:nvSpPr>
        <p:spPr>
          <a:xfrm xmlns:a="http://schemas.openxmlformats.org/drawingml/2006/main">
            <a:off x="2667000" y="1619250"/>
            <a:ext cx="196215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7E0EA"/>
            </a:solidFill>
            <a:prstDash val="solid"/>
          </a:ln>
        </p:spPr>
      </p:sp>
      <p:sp>
        <p:nvSpPr>
          <p:cNvPr id="61" name="ocr-step-accent-2">
            <a:extLst xmlns:a="http://schemas.openxmlformats.org/drawingml/2006/main">
              <a:ext uri="{FF2B5EF4-FFF2-40B4-BE49-F238E27FC236}">
                <a16:creationId xmlns:a16="http://schemas.microsoft.com/office/drawing/2014/main" id="{F773C59A-13C8-4AF5-94DE-1EA8949E435E}"/>
              </a:ext>
            </a:extLst>
          </p:cNvPr>
          <p:cNvSpPr>
            <a:spLocks xmlns:a="http://schemas.openxmlformats.org/drawingml/2006/main" noGrp="1"/>
          </p:cNvSpPr>
          <p:nvPr/>
        </p:nvSpPr>
        <p:spPr>
          <a:xfrm xmlns:a="http://schemas.openxmlformats.org/drawingml/2006/main">
            <a:off x="2667000" y="1619250"/>
            <a:ext cx="1962150" cy="66675"/>
          </a:xfrm>
          <a:prstGeom xmlns:a="http://schemas.openxmlformats.org/drawingml/2006/main" prst="rect">
            <a:avLst/>
          </a:prstGeom>
          <a:solidFill xmlns:a="http://schemas.openxmlformats.org/drawingml/2006/main">
            <a:srgbClr val="7652B5"/>
          </a:solidFill>
          <a:ln xmlns:a="http://schemas.openxmlformats.org/drawingml/2006/main" w="0">
            <a:noFill/>
            <a:prstDash val="solid"/>
          </a:ln>
        </p:spPr>
      </p:sp>
      <p:sp>
        <p:nvSpPr>
          <p:cNvPr id="62" name="ocr-step-badge-2-bg">
            <a:extLst xmlns:a="http://schemas.openxmlformats.org/drawingml/2006/main">
              <a:ext uri="{FF2B5EF4-FFF2-40B4-BE49-F238E27FC236}">
                <a16:creationId xmlns:a16="http://schemas.microsoft.com/office/drawing/2014/main" id="{0B76EEAB-B49E-4A67-8C7F-27D92FAE1A1B}"/>
              </a:ext>
            </a:extLst>
          </p:cNvPr>
          <p:cNvSpPr>
            <a:spLocks xmlns:a="http://schemas.openxmlformats.org/drawingml/2006/main" noGrp="1"/>
          </p:cNvSpPr>
          <p:nvPr/>
        </p:nvSpPr>
        <p:spPr>
          <a:xfrm xmlns:a="http://schemas.openxmlformats.org/drawingml/2006/main">
            <a:off x="2819400" y="1781175"/>
            <a:ext cx="285750" cy="266700"/>
          </a:xfrm>
          <a:prstGeom xmlns:a="http://schemas.openxmlformats.org/drawingml/2006/main" prst="roundRect">
            <a:avLst>
              <a:gd name="adj" fmla="val 28571"/>
            </a:avLst>
          </a:prstGeom>
          <a:solidFill xmlns:a="http://schemas.openxmlformats.org/drawingml/2006/main">
            <a:srgbClr val="7652B5"/>
          </a:solidFill>
          <a:ln xmlns:a="http://schemas.openxmlformats.org/drawingml/2006/main" w="0">
            <a:noFill/>
            <a:prstDash val="solid"/>
          </a:ln>
        </p:spPr>
      </p:sp>
      <p:sp>
        <p:nvSpPr>
          <p:cNvPr id="63" name="ocr-step-badge-2-text">
            <a:extLst xmlns:a="http://schemas.openxmlformats.org/drawingml/2006/main">
              <a:ext uri="{FF2B5EF4-FFF2-40B4-BE49-F238E27FC236}">
                <a16:creationId xmlns:a16="http://schemas.microsoft.com/office/drawing/2014/main" id="{EFDC37C1-3A55-4904-B54D-79156529CEBB}"/>
              </a:ext>
            </a:extLst>
          </p:cNvPr>
          <p:cNvSpPr>
            <a:spLocks xmlns:a="http://schemas.openxmlformats.org/drawingml/2006/main" noGrp="1"/>
          </p:cNvSpPr>
          <p:nvPr/>
        </p:nvSpPr>
        <p:spPr>
          <a:xfrm xmlns:a="http://schemas.openxmlformats.org/drawingml/2006/main">
            <a:off x="2819400" y="1790700"/>
            <a:ext cx="28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FFFFFF"/>
                </a:solidFill>
                <a:latin typeface="Calibri"/>
                <a:ea typeface="Calibri"/>
                <a:cs typeface="Calibri"/>
              </a:defRPr>
            </a:pPr>
            <a:r>
              <a:rPr sz="900" b="1" i="0">
                <a:solidFill>
                  <a:srgbClr val="FFFFFF"/>
                </a:solidFill>
                <a:latin typeface="Calibri"/>
                <a:ea typeface="Calibri"/>
                <a:cs typeface="Calibri"/>
              </a:rPr>
              <a:t>2</a:t>
            </a:r>
          </a:p>
        </p:txBody>
      </p:sp>
      <p:sp>
        <p:nvSpPr>
          <p:cNvPr id="64" name="ocr-step-title-2">
            <a:extLst xmlns:a="http://schemas.openxmlformats.org/drawingml/2006/main">
              <a:ext uri="{FF2B5EF4-FFF2-40B4-BE49-F238E27FC236}">
                <a16:creationId xmlns:a16="http://schemas.microsoft.com/office/drawing/2014/main" id="{08B637F3-72F4-47AF-9160-225F9B741DFC}"/>
              </a:ext>
            </a:extLst>
          </p:cNvPr>
          <p:cNvSpPr>
            <a:spLocks xmlns:a="http://schemas.openxmlformats.org/drawingml/2006/main" noGrp="1"/>
          </p:cNvSpPr>
          <p:nvPr/>
        </p:nvSpPr>
        <p:spPr>
          <a:xfrm xmlns:a="http://schemas.openxmlformats.org/drawingml/2006/main">
            <a:off x="2819400" y="2133600"/>
            <a:ext cx="1657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172B4D"/>
                </a:solidFill>
                <a:latin typeface="Calibri"/>
                <a:ea typeface="Calibri"/>
                <a:cs typeface="Calibri"/>
              </a:defRPr>
            </a:pPr>
            <a:r>
              <a:rPr sz="1200" b="1" i="0">
                <a:solidFill>
                  <a:srgbClr val="172B4D"/>
                </a:solidFill>
                <a:latin typeface="Calibri"/>
                <a:ea typeface="Calibri"/>
                <a:cs typeface="Calibri"/>
              </a:rPr>
              <a:t>Measure coverage</a:t>
            </a:r>
          </a:p>
        </p:txBody>
      </p:sp>
      <p:sp>
        <p:nvSpPr>
          <p:cNvPr id="65" name="ocr-step-detail-2">
            <a:extLst xmlns:a="http://schemas.openxmlformats.org/drawingml/2006/main">
              <a:ext uri="{FF2B5EF4-FFF2-40B4-BE49-F238E27FC236}">
                <a16:creationId xmlns:a16="http://schemas.microsoft.com/office/drawing/2014/main" id="{F10CDFAD-DB5D-4DE2-B4B3-6A825C5ED6E2}"/>
              </a:ext>
            </a:extLst>
          </p:cNvPr>
          <p:cNvSpPr>
            <a:spLocks xmlns:a="http://schemas.openxmlformats.org/drawingml/2006/main" noGrp="1"/>
          </p:cNvSpPr>
          <p:nvPr/>
        </p:nvSpPr>
        <p:spPr>
          <a:xfrm xmlns:a="http://schemas.openxmlformats.org/drawingml/2006/main">
            <a:off x="2819400" y="2438400"/>
            <a:ext cx="16573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5B6B7F"/>
                </a:solidFill>
                <a:latin typeface="Calibri"/>
                <a:ea typeface="Calibri"/>
                <a:cs typeface="Calibri"/>
              </a:defRPr>
            </a:pPr>
            <a:r>
              <a:rPr sz="1050" b="0" i="0">
                <a:solidFill>
                  <a:srgbClr val="5B6B7F"/>
                </a:solidFill>
                <a:latin typeface="Calibri"/>
                <a:ea typeface="Calibri"/>
                <a:cs typeface="Calibri"/>
              </a:rPr>
              <a:t>characters per page</a:t>
            </a:r>
          </a:p>
        </p:txBody>
      </p:sp>
      <p:sp>
        <p:nvSpPr>
          <p:cNvPr id="66" name="ocr-arrow-2">
            <a:extLst xmlns:a="http://schemas.openxmlformats.org/drawingml/2006/main">
              <a:ext uri="{FF2B5EF4-FFF2-40B4-BE49-F238E27FC236}">
                <a16:creationId xmlns:a16="http://schemas.microsoft.com/office/drawing/2014/main" id="{B977385F-ADAC-47F4-939B-6CC956892228}"/>
              </a:ext>
            </a:extLst>
          </p:cNvPr>
          <p:cNvSpPr>
            <a:spLocks xmlns:a="http://schemas.openxmlformats.org/drawingml/2006/main" noGrp="1"/>
          </p:cNvSpPr>
          <p:nvPr/>
        </p:nvSpPr>
        <p:spPr>
          <a:xfrm xmlns:a="http://schemas.openxmlformats.org/drawingml/2006/main">
            <a:off x="4638675" y="2038350"/>
            <a:ext cx="2952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i="0">
                <a:solidFill>
                  <a:srgbClr val="5B6B7F"/>
                </a:solidFill>
                <a:latin typeface="Calibri"/>
                <a:ea typeface="Calibri"/>
                <a:cs typeface="Calibri"/>
              </a:defRPr>
            </a:pPr>
            <a:r>
              <a:rPr sz="1650" b="1" i="0">
                <a:solidFill>
                  <a:srgbClr val="5B6B7F"/>
                </a:solidFill>
                <a:latin typeface="Calibri"/>
                <a:ea typeface="Calibri"/>
                <a:cs typeface="Calibri"/>
              </a:rPr>
              <a:t>→</a:t>
            </a:r>
          </a:p>
        </p:txBody>
      </p:sp>
      <p:sp>
        <p:nvSpPr>
          <p:cNvPr id="67" name="ocr-step-3">
            <a:extLst xmlns:a="http://schemas.openxmlformats.org/drawingml/2006/main">
              <a:ext uri="{FF2B5EF4-FFF2-40B4-BE49-F238E27FC236}">
                <a16:creationId xmlns:a16="http://schemas.microsoft.com/office/drawing/2014/main" id="{70C8AB63-FB33-4988-BF26-AFE738E0215C}"/>
              </a:ext>
            </a:extLst>
          </p:cNvPr>
          <p:cNvSpPr>
            <a:spLocks xmlns:a="http://schemas.openxmlformats.org/drawingml/2006/main" noGrp="1"/>
          </p:cNvSpPr>
          <p:nvPr/>
        </p:nvSpPr>
        <p:spPr>
          <a:xfrm xmlns:a="http://schemas.openxmlformats.org/drawingml/2006/main">
            <a:off x="4933950" y="1619250"/>
            <a:ext cx="196215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7E0EA"/>
            </a:solidFill>
            <a:prstDash val="solid"/>
          </a:ln>
        </p:spPr>
      </p:sp>
      <p:sp>
        <p:nvSpPr>
          <p:cNvPr id="68" name="ocr-step-accent-3">
            <a:extLst xmlns:a="http://schemas.openxmlformats.org/drawingml/2006/main">
              <a:ext uri="{FF2B5EF4-FFF2-40B4-BE49-F238E27FC236}">
                <a16:creationId xmlns:a16="http://schemas.microsoft.com/office/drawing/2014/main" id="{408C5F1E-5F06-4EAC-A630-700553276E19}"/>
              </a:ext>
            </a:extLst>
          </p:cNvPr>
          <p:cNvSpPr>
            <a:spLocks xmlns:a="http://schemas.openxmlformats.org/drawingml/2006/main" noGrp="1"/>
          </p:cNvSpPr>
          <p:nvPr/>
        </p:nvSpPr>
        <p:spPr>
          <a:xfrm xmlns:a="http://schemas.openxmlformats.org/drawingml/2006/main">
            <a:off x="4933950" y="1619250"/>
            <a:ext cx="1962150" cy="66675"/>
          </a:xfrm>
          <a:prstGeom xmlns:a="http://schemas.openxmlformats.org/drawingml/2006/main" prst="rect">
            <a:avLst/>
          </a:prstGeom>
          <a:solidFill xmlns:a="http://schemas.openxmlformats.org/drawingml/2006/main">
            <a:srgbClr val="D77A24"/>
          </a:solidFill>
          <a:ln xmlns:a="http://schemas.openxmlformats.org/drawingml/2006/main" w="0">
            <a:noFill/>
            <a:prstDash val="solid"/>
          </a:ln>
        </p:spPr>
      </p:sp>
      <p:sp>
        <p:nvSpPr>
          <p:cNvPr id="69" name="ocr-step-badge-3-bg">
            <a:extLst xmlns:a="http://schemas.openxmlformats.org/drawingml/2006/main">
              <a:ext uri="{FF2B5EF4-FFF2-40B4-BE49-F238E27FC236}">
                <a16:creationId xmlns:a16="http://schemas.microsoft.com/office/drawing/2014/main" id="{B31FFD7B-C05B-4FD8-8D52-66E981974B90}"/>
              </a:ext>
            </a:extLst>
          </p:cNvPr>
          <p:cNvSpPr>
            <a:spLocks xmlns:a="http://schemas.openxmlformats.org/drawingml/2006/main" noGrp="1"/>
          </p:cNvSpPr>
          <p:nvPr/>
        </p:nvSpPr>
        <p:spPr>
          <a:xfrm xmlns:a="http://schemas.openxmlformats.org/drawingml/2006/main">
            <a:off x="5086350" y="1781175"/>
            <a:ext cx="285750" cy="266700"/>
          </a:xfrm>
          <a:prstGeom xmlns:a="http://schemas.openxmlformats.org/drawingml/2006/main" prst="roundRect">
            <a:avLst>
              <a:gd name="adj" fmla="val 28571"/>
            </a:avLst>
          </a:prstGeom>
          <a:solidFill xmlns:a="http://schemas.openxmlformats.org/drawingml/2006/main">
            <a:srgbClr val="D77A24"/>
          </a:solidFill>
          <a:ln xmlns:a="http://schemas.openxmlformats.org/drawingml/2006/main" w="0">
            <a:noFill/>
            <a:prstDash val="solid"/>
          </a:ln>
        </p:spPr>
      </p:sp>
      <p:sp>
        <p:nvSpPr>
          <p:cNvPr id="70" name="ocr-step-badge-3-text">
            <a:extLst xmlns:a="http://schemas.openxmlformats.org/drawingml/2006/main">
              <a:ext uri="{FF2B5EF4-FFF2-40B4-BE49-F238E27FC236}">
                <a16:creationId xmlns:a16="http://schemas.microsoft.com/office/drawing/2014/main" id="{6CF8C8EE-44A0-4E4B-96F2-BDABF1C75B58}"/>
              </a:ext>
            </a:extLst>
          </p:cNvPr>
          <p:cNvSpPr>
            <a:spLocks xmlns:a="http://schemas.openxmlformats.org/drawingml/2006/main" noGrp="1"/>
          </p:cNvSpPr>
          <p:nvPr/>
        </p:nvSpPr>
        <p:spPr>
          <a:xfrm xmlns:a="http://schemas.openxmlformats.org/drawingml/2006/main">
            <a:off x="5086350" y="1790700"/>
            <a:ext cx="28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FFFFFF"/>
                </a:solidFill>
                <a:latin typeface="Calibri"/>
                <a:ea typeface="Calibri"/>
                <a:cs typeface="Calibri"/>
              </a:defRPr>
            </a:pPr>
            <a:r>
              <a:rPr sz="900" b="1" i="0">
                <a:solidFill>
                  <a:srgbClr val="FFFFFF"/>
                </a:solidFill>
                <a:latin typeface="Calibri"/>
                <a:ea typeface="Calibri"/>
                <a:cs typeface="Calibri"/>
              </a:rPr>
              <a:t>3</a:t>
            </a:r>
          </a:p>
        </p:txBody>
      </p:sp>
      <p:sp>
        <p:nvSpPr>
          <p:cNvPr id="71" name="ocr-step-title-3">
            <a:extLst xmlns:a="http://schemas.openxmlformats.org/drawingml/2006/main">
              <a:ext uri="{FF2B5EF4-FFF2-40B4-BE49-F238E27FC236}">
                <a16:creationId xmlns:a16="http://schemas.microsoft.com/office/drawing/2014/main" id="{E907B52B-89C2-4EF5-86A4-9F769CFE43DB}"/>
              </a:ext>
            </a:extLst>
          </p:cNvPr>
          <p:cNvSpPr>
            <a:spLocks xmlns:a="http://schemas.openxmlformats.org/drawingml/2006/main" noGrp="1"/>
          </p:cNvSpPr>
          <p:nvPr/>
        </p:nvSpPr>
        <p:spPr>
          <a:xfrm xmlns:a="http://schemas.openxmlformats.org/drawingml/2006/main">
            <a:off x="5086350" y="2133600"/>
            <a:ext cx="1657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172B4D"/>
                </a:solidFill>
                <a:latin typeface="Calibri"/>
                <a:ea typeface="Calibri"/>
                <a:cs typeface="Calibri"/>
              </a:defRPr>
            </a:pPr>
            <a:r>
              <a:rPr sz="1200" b="1" i="0">
                <a:solidFill>
                  <a:srgbClr val="172B4D"/>
                </a:solidFill>
                <a:latin typeface="Calibri"/>
                <a:ea typeface="Calibri"/>
                <a:cs typeface="Calibri"/>
              </a:rPr>
              <a:t>OCR low-text pages</a:t>
            </a:r>
          </a:p>
        </p:txBody>
      </p:sp>
      <p:sp>
        <p:nvSpPr>
          <p:cNvPr id="72" name="ocr-step-detail-3">
            <a:extLst xmlns:a="http://schemas.openxmlformats.org/drawingml/2006/main">
              <a:ext uri="{FF2B5EF4-FFF2-40B4-BE49-F238E27FC236}">
                <a16:creationId xmlns:a16="http://schemas.microsoft.com/office/drawing/2014/main" id="{7B3F760D-3A5C-4A4D-A927-C580DC6644E4}"/>
              </a:ext>
            </a:extLst>
          </p:cNvPr>
          <p:cNvSpPr>
            <a:spLocks xmlns:a="http://schemas.openxmlformats.org/drawingml/2006/main" noGrp="1"/>
          </p:cNvSpPr>
          <p:nvPr/>
        </p:nvSpPr>
        <p:spPr>
          <a:xfrm xmlns:a="http://schemas.openxmlformats.org/drawingml/2006/main">
            <a:off x="5086350" y="2438400"/>
            <a:ext cx="16573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5B6B7F"/>
                </a:solidFill>
                <a:latin typeface="Calibri"/>
                <a:ea typeface="Calibri"/>
                <a:cs typeface="Calibri"/>
              </a:defRPr>
            </a:pPr>
            <a:r>
              <a:rPr sz="1050" b="0" i="0">
                <a:solidFill>
                  <a:srgbClr val="5B6B7F"/>
                </a:solidFill>
                <a:latin typeface="Calibri"/>
                <a:ea typeface="Calibri"/>
                <a:cs typeface="Calibri"/>
              </a:rPr>
              <a:t>render → OCR</a:t>
            </a:r>
          </a:p>
        </p:txBody>
      </p:sp>
      <p:sp>
        <p:nvSpPr>
          <p:cNvPr id="73" name="ocr-arrow-3">
            <a:extLst xmlns:a="http://schemas.openxmlformats.org/drawingml/2006/main">
              <a:ext uri="{FF2B5EF4-FFF2-40B4-BE49-F238E27FC236}">
                <a16:creationId xmlns:a16="http://schemas.microsoft.com/office/drawing/2014/main" id="{156DF26E-E1BF-4181-A14F-EEF689CBACD6}"/>
              </a:ext>
            </a:extLst>
          </p:cNvPr>
          <p:cNvSpPr>
            <a:spLocks xmlns:a="http://schemas.openxmlformats.org/drawingml/2006/main" noGrp="1"/>
          </p:cNvSpPr>
          <p:nvPr/>
        </p:nvSpPr>
        <p:spPr>
          <a:xfrm xmlns:a="http://schemas.openxmlformats.org/drawingml/2006/main">
            <a:off x="6905625" y="2038350"/>
            <a:ext cx="2952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i="0">
                <a:solidFill>
                  <a:srgbClr val="5B6B7F"/>
                </a:solidFill>
                <a:latin typeface="Calibri"/>
                <a:ea typeface="Calibri"/>
                <a:cs typeface="Calibri"/>
              </a:defRPr>
            </a:pPr>
            <a:r>
              <a:rPr sz="1650" b="1" i="0">
                <a:solidFill>
                  <a:srgbClr val="5B6B7F"/>
                </a:solidFill>
                <a:latin typeface="Calibri"/>
                <a:ea typeface="Calibri"/>
                <a:cs typeface="Calibri"/>
              </a:rPr>
              <a:t>→</a:t>
            </a:r>
          </a:p>
        </p:txBody>
      </p:sp>
      <p:sp>
        <p:nvSpPr>
          <p:cNvPr id="74" name="ocr-step-4">
            <a:extLst xmlns:a="http://schemas.openxmlformats.org/drawingml/2006/main">
              <a:ext uri="{FF2B5EF4-FFF2-40B4-BE49-F238E27FC236}">
                <a16:creationId xmlns:a16="http://schemas.microsoft.com/office/drawing/2014/main" id="{F66BC0F6-3E10-4CB5-9D61-D3A4E13CCB60}"/>
              </a:ext>
            </a:extLst>
          </p:cNvPr>
          <p:cNvSpPr>
            <a:spLocks xmlns:a="http://schemas.openxmlformats.org/drawingml/2006/main" noGrp="1"/>
          </p:cNvSpPr>
          <p:nvPr/>
        </p:nvSpPr>
        <p:spPr>
          <a:xfrm xmlns:a="http://schemas.openxmlformats.org/drawingml/2006/main">
            <a:off x="7200900" y="1619250"/>
            <a:ext cx="196215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7E0EA"/>
            </a:solidFill>
            <a:prstDash val="solid"/>
          </a:ln>
        </p:spPr>
      </p:sp>
      <p:sp>
        <p:nvSpPr>
          <p:cNvPr id="75" name="ocr-step-accent-4">
            <a:extLst xmlns:a="http://schemas.openxmlformats.org/drawingml/2006/main">
              <a:ext uri="{FF2B5EF4-FFF2-40B4-BE49-F238E27FC236}">
                <a16:creationId xmlns:a16="http://schemas.microsoft.com/office/drawing/2014/main" id="{E913E450-70C9-4388-AE0C-4607ADE17226}"/>
              </a:ext>
            </a:extLst>
          </p:cNvPr>
          <p:cNvSpPr>
            <a:spLocks xmlns:a="http://schemas.openxmlformats.org/drawingml/2006/main" noGrp="1"/>
          </p:cNvSpPr>
          <p:nvPr/>
        </p:nvSpPr>
        <p:spPr>
          <a:xfrm xmlns:a="http://schemas.openxmlformats.org/drawingml/2006/main">
            <a:off x="7200900" y="1619250"/>
            <a:ext cx="1962150" cy="66675"/>
          </a:xfrm>
          <a:prstGeom xmlns:a="http://schemas.openxmlformats.org/drawingml/2006/main" prst="rect">
            <a:avLst/>
          </a:prstGeom>
          <a:solidFill xmlns:a="http://schemas.openxmlformats.org/drawingml/2006/main">
            <a:srgbClr val="16866C"/>
          </a:solidFill>
          <a:ln xmlns:a="http://schemas.openxmlformats.org/drawingml/2006/main" w="0">
            <a:noFill/>
            <a:prstDash val="solid"/>
          </a:ln>
        </p:spPr>
      </p:sp>
      <p:sp>
        <p:nvSpPr>
          <p:cNvPr id="76" name="ocr-step-badge-4-bg">
            <a:extLst xmlns:a="http://schemas.openxmlformats.org/drawingml/2006/main">
              <a:ext uri="{FF2B5EF4-FFF2-40B4-BE49-F238E27FC236}">
                <a16:creationId xmlns:a16="http://schemas.microsoft.com/office/drawing/2014/main" id="{7FABBB43-7C55-4304-95FE-C585052C4456}"/>
              </a:ext>
            </a:extLst>
          </p:cNvPr>
          <p:cNvSpPr>
            <a:spLocks xmlns:a="http://schemas.openxmlformats.org/drawingml/2006/main" noGrp="1"/>
          </p:cNvSpPr>
          <p:nvPr/>
        </p:nvSpPr>
        <p:spPr>
          <a:xfrm xmlns:a="http://schemas.openxmlformats.org/drawingml/2006/main">
            <a:off x="7353300" y="1781175"/>
            <a:ext cx="285750" cy="266700"/>
          </a:xfrm>
          <a:prstGeom xmlns:a="http://schemas.openxmlformats.org/drawingml/2006/main" prst="roundRect">
            <a:avLst>
              <a:gd name="adj" fmla="val 28571"/>
            </a:avLst>
          </a:prstGeom>
          <a:solidFill xmlns:a="http://schemas.openxmlformats.org/drawingml/2006/main">
            <a:srgbClr val="16866C"/>
          </a:solidFill>
          <a:ln xmlns:a="http://schemas.openxmlformats.org/drawingml/2006/main" w="0">
            <a:noFill/>
            <a:prstDash val="solid"/>
          </a:ln>
        </p:spPr>
      </p:sp>
      <p:sp>
        <p:nvSpPr>
          <p:cNvPr id="77" name="ocr-step-badge-4-text">
            <a:extLst xmlns:a="http://schemas.openxmlformats.org/drawingml/2006/main">
              <a:ext uri="{FF2B5EF4-FFF2-40B4-BE49-F238E27FC236}">
                <a16:creationId xmlns:a16="http://schemas.microsoft.com/office/drawing/2014/main" id="{CC19BBC6-8CDC-44D5-8E45-04632ED7860F}"/>
              </a:ext>
            </a:extLst>
          </p:cNvPr>
          <p:cNvSpPr>
            <a:spLocks xmlns:a="http://schemas.openxmlformats.org/drawingml/2006/main" noGrp="1"/>
          </p:cNvSpPr>
          <p:nvPr/>
        </p:nvSpPr>
        <p:spPr>
          <a:xfrm xmlns:a="http://schemas.openxmlformats.org/drawingml/2006/main">
            <a:off x="7353300" y="1790700"/>
            <a:ext cx="28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FFFFFF"/>
                </a:solidFill>
                <a:latin typeface="Calibri"/>
                <a:ea typeface="Calibri"/>
                <a:cs typeface="Calibri"/>
              </a:defRPr>
            </a:pPr>
            <a:r>
              <a:rPr sz="900" b="1" i="0">
                <a:solidFill>
                  <a:srgbClr val="FFFFFF"/>
                </a:solidFill>
                <a:latin typeface="Calibri"/>
                <a:ea typeface="Calibri"/>
                <a:cs typeface="Calibri"/>
              </a:rPr>
              <a:t>4</a:t>
            </a:r>
          </a:p>
        </p:txBody>
      </p:sp>
      <p:sp>
        <p:nvSpPr>
          <p:cNvPr id="78" name="ocr-step-title-4">
            <a:extLst xmlns:a="http://schemas.openxmlformats.org/drawingml/2006/main">
              <a:ext uri="{FF2B5EF4-FFF2-40B4-BE49-F238E27FC236}">
                <a16:creationId xmlns:a16="http://schemas.microsoft.com/office/drawing/2014/main" id="{E41673E0-D100-45FC-B62B-37D8DC9DF787}"/>
              </a:ext>
            </a:extLst>
          </p:cNvPr>
          <p:cNvSpPr>
            <a:spLocks xmlns:a="http://schemas.openxmlformats.org/drawingml/2006/main" noGrp="1"/>
          </p:cNvSpPr>
          <p:nvPr/>
        </p:nvSpPr>
        <p:spPr>
          <a:xfrm xmlns:a="http://schemas.openxmlformats.org/drawingml/2006/main">
            <a:off x="7353300" y="2133600"/>
            <a:ext cx="1657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172B4D"/>
                </a:solidFill>
                <a:latin typeface="Calibri"/>
                <a:ea typeface="Calibri"/>
                <a:cs typeface="Calibri"/>
              </a:defRPr>
            </a:pPr>
            <a:r>
              <a:rPr sz="1200" b="1" i="0">
                <a:solidFill>
                  <a:srgbClr val="172B4D"/>
                </a:solidFill>
                <a:latin typeface="Calibri"/>
                <a:ea typeface="Calibri"/>
                <a:cs typeface="Calibri"/>
              </a:rPr>
              <a:t>Merge + deduplicate</a:t>
            </a:r>
          </a:p>
        </p:txBody>
      </p:sp>
      <p:sp>
        <p:nvSpPr>
          <p:cNvPr id="79" name="ocr-step-detail-4">
            <a:extLst xmlns:a="http://schemas.openxmlformats.org/drawingml/2006/main">
              <a:ext uri="{FF2B5EF4-FFF2-40B4-BE49-F238E27FC236}">
                <a16:creationId xmlns:a16="http://schemas.microsoft.com/office/drawing/2014/main" id="{89C9E77A-E9F3-4930-909A-13F5AF8198E8}"/>
              </a:ext>
            </a:extLst>
          </p:cNvPr>
          <p:cNvSpPr>
            <a:spLocks xmlns:a="http://schemas.openxmlformats.org/drawingml/2006/main" noGrp="1"/>
          </p:cNvSpPr>
          <p:nvPr/>
        </p:nvSpPr>
        <p:spPr>
          <a:xfrm xmlns:a="http://schemas.openxmlformats.org/drawingml/2006/main">
            <a:off x="7353300" y="2438400"/>
            <a:ext cx="16573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5B6B7F"/>
                </a:solidFill>
                <a:latin typeface="Calibri"/>
                <a:ea typeface="Calibri"/>
                <a:cs typeface="Calibri"/>
              </a:defRPr>
            </a:pPr>
            <a:r>
              <a:rPr sz="1050" b="0" i="0">
                <a:solidFill>
                  <a:srgbClr val="5B6B7F"/>
                </a:solidFill>
                <a:latin typeface="Calibri"/>
                <a:ea typeface="Calibri"/>
                <a:cs typeface="Calibri"/>
              </a:rPr>
              <a:t>native text wins</a:t>
            </a:r>
          </a:p>
        </p:txBody>
      </p:sp>
      <p:sp>
        <p:nvSpPr>
          <p:cNvPr id="80" name="ocr-arrow-4">
            <a:extLst xmlns:a="http://schemas.openxmlformats.org/drawingml/2006/main">
              <a:ext uri="{FF2B5EF4-FFF2-40B4-BE49-F238E27FC236}">
                <a16:creationId xmlns:a16="http://schemas.microsoft.com/office/drawing/2014/main" id="{24EEDBC1-07B6-44C5-A172-F4DF3126B49A}"/>
              </a:ext>
            </a:extLst>
          </p:cNvPr>
          <p:cNvSpPr>
            <a:spLocks xmlns:a="http://schemas.openxmlformats.org/drawingml/2006/main" noGrp="1"/>
          </p:cNvSpPr>
          <p:nvPr/>
        </p:nvSpPr>
        <p:spPr>
          <a:xfrm xmlns:a="http://schemas.openxmlformats.org/drawingml/2006/main">
            <a:off x="9172575" y="2038350"/>
            <a:ext cx="2952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i="0">
                <a:solidFill>
                  <a:srgbClr val="5B6B7F"/>
                </a:solidFill>
                <a:latin typeface="Calibri"/>
                <a:ea typeface="Calibri"/>
                <a:cs typeface="Calibri"/>
              </a:defRPr>
            </a:pPr>
            <a:r>
              <a:rPr sz="1650" b="1" i="0">
                <a:solidFill>
                  <a:srgbClr val="5B6B7F"/>
                </a:solidFill>
                <a:latin typeface="Calibri"/>
                <a:ea typeface="Calibri"/>
                <a:cs typeface="Calibri"/>
              </a:rPr>
              <a:t>→</a:t>
            </a:r>
          </a:p>
        </p:txBody>
      </p:sp>
      <p:sp>
        <p:nvSpPr>
          <p:cNvPr id="81" name="ocr-step-5">
            <a:extLst xmlns:a="http://schemas.openxmlformats.org/drawingml/2006/main">
              <a:ext uri="{FF2B5EF4-FFF2-40B4-BE49-F238E27FC236}">
                <a16:creationId xmlns:a16="http://schemas.microsoft.com/office/drawing/2014/main" id="{A9A64FA9-05A8-471C-AD3C-EC8854D03030}"/>
              </a:ext>
            </a:extLst>
          </p:cNvPr>
          <p:cNvSpPr>
            <a:spLocks xmlns:a="http://schemas.openxmlformats.org/drawingml/2006/main" noGrp="1"/>
          </p:cNvSpPr>
          <p:nvPr/>
        </p:nvSpPr>
        <p:spPr>
          <a:xfrm xmlns:a="http://schemas.openxmlformats.org/drawingml/2006/main">
            <a:off x="9467850" y="1619250"/>
            <a:ext cx="196215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7E0EA"/>
            </a:solidFill>
            <a:prstDash val="solid"/>
          </a:ln>
        </p:spPr>
      </p:sp>
      <p:sp>
        <p:nvSpPr>
          <p:cNvPr id="82" name="ocr-step-accent-5">
            <a:extLst xmlns:a="http://schemas.openxmlformats.org/drawingml/2006/main">
              <a:ext uri="{FF2B5EF4-FFF2-40B4-BE49-F238E27FC236}">
                <a16:creationId xmlns:a16="http://schemas.microsoft.com/office/drawing/2014/main" id="{0B2CCEF3-5B13-4400-B85F-0DA4BBA8E61F}"/>
              </a:ext>
            </a:extLst>
          </p:cNvPr>
          <p:cNvSpPr>
            <a:spLocks xmlns:a="http://schemas.openxmlformats.org/drawingml/2006/main" noGrp="1"/>
          </p:cNvSpPr>
          <p:nvPr/>
        </p:nvSpPr>
        <p:spPr>
          <a:xfrm xmlns:a="http://schemas.openxmlformats.org/drawingml/2006/main">
            <a:off x="9467850" y="1619250"/>
            <a:ext cx="1962150" cy="66675"/>
          </a:xfrm>
          <a:prstGeom xmlns:a="http://schemas.openxmlformats.org/drawingml/2006/main" prst="rect">
            <a:avLst/>
          </a:prstGeom>
          <a:solidFill xmlns:a="http://schemas.openxmlformats.org/drawingml/2006/main">
            <a:srgbClr val="173B67"/>
          </a:solidFill>
          <a:ln xmlns:a="http://schemas.openxmlformats.org/drawingml/2006/main" w="0">
            <a:noFill/>
            <a:prstDash val="solid"/>
          </a:ln>
        </p:spPr>
      </p:sp>
      <p:sp>
        <p:nvSpPr>
          <p:cNvPr id="83" name="ocr-step-badge-5-bg">
            <a:extLst xmlns:a="http://schemas.openxmlformats.org/drawingml/2006/main">
              <a:ext uri="{FF2B5EF4-FFF2-40B4-BE49-F238E27FC236}">
                <a16:creationId xmlns:a16="http://schemas.microsoft.com/office/drawing/2014/main" id="{551DAA71-9D71-45E8-AABF-270970757BE6}"/>
              </a:ext>
            </a:extLst>
          </p:cNvPr>
          <p:cNvSpPr>
            <a:spLocks xmlns:a="http://schemas.openxmlformats.org/drawingml/2006/main" noGrp="1"/>
          </p:cNvSpPr>
          <p:nvPr/>
        </p:nvSpPr>
        <p:spPr>
          <a:xfrm xmlns:a="http://schemas.openxmlformats.org/drawingml/2006/main">
            <a:off x="9620250" y="1781175"/>
            <a:ext cx="285750" cy="266700"/>
          </a:xfrm>
          <a:prstGeom xmlns:a="http://schemas.openxmlformats.org/drawingml/2006/main" prst="roundRect">
            <a:avLst>
              <a:gd name="adj" fmla="val 28571"/>
            </a:avLst>
          </a:prstGeom>
          <a:solidFill xmlns:a="http://schemas.openxmlformats.org/drawingml/2006/main">
            <a:srgbClr val="173B67"/>
          </a:solidFill>
          <a:ln xmlns:a="http://schemas.openxmlformats.org/drawingml/2006/main" w="0">
            <a:noFill/>
            <a:prstDash val="solid"/>
          </a:ln>
        </p:spPr>
      </p:sp>
      <p:sp>
        <p:nvSpPr>
          <p:cNvPr id="84" name="ocr-step-badge-5-text">
            <a:extLst xmlns:a="http://schemas.openxmlformats.org/drawingml/2006/main">
              <a:ext uri="{FF2B5EF4-FFF2-40B4-BE49-F238E27FC236}">
                <a16:creationId xmlns:a16="http://schemas.microsoft.com/office/drawing/2014/main" id="{5902A1FB-54F2-4A94-B411-FBC209EA68AB}"/>
              </a:ext>
            </a:extLst>
          </p:cNvPr>
          <p:cNvSpPr>
            <a:spLocks xmlns:a="http://schemas.openxmlformats.org/drawingml/2006/main" noGrp="1"/>
          </p:cNvSpPr>
          <p:nvPr/>
        </p:nvSpPr>
        <p:spPr>
          <a:xfrm xmlns:a="http://schemas.openxmlformats.org/drawingml/2006/main">
            <a:off x="9620250" y="1790700"/>
            <a:ext cx="28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FFFFFF"/>
                </a:solidFill>
                <a:latin typeface="Calibri"/>
                <a:ea typeface="Calibri"/>
                <a:cs typeface="Calibri"/>
              </a:defRPr>
            </a:pPr>
            <a:r>
              <a:rPr sz="900" b="1" i="0">
                <a:solidFill>
                  <a:srgbClr val="FFFFFF"/>
                </a:solidFill>
                <a:latin typeface="Calibri"/>
                <a:ea typeface="Calibri"/>
                <a:cs typeface="Calibri"/>
              </a:rPr>
              <a:t>5</a:t>
            </a:r>
          </a:p>
        </p:txBody>
      </p:sp>
      <p:sp>
        <p:nvSpPr>
          <p:cNvPr id="85" name="ocr-step-title-5">
            <a:extLst xmlns:a="http://schemas.openxmlformats.org/drawingml/2006/main">
              <a:ext uri="{FF2B5EF4-FFF2-40B4-BE49-F238E27FC236}">
                <a16:creationId xmlns:a16="http://schemas.microsoft.com/office/drawing/2014/main" id="{7F3A87D8-9A9B-4946-8663-16737CAA48A7}"/>
              </a:ext>
            </a:extLst>
          </p:cNvPr>
          <p:cNvSpPr>
            <a:spLocks xmlns:a="http://schemas.openxmlformats.org/drawingml/2006/main" noGrp="1"/>
          </p:cNvSpPr>
          <p:nvPr/>
        </p:nvSpPr>
        <p:spPr>
          <a:xfrm xmlns:a="http://schemas.openxmlformats.org/drawingml/2006/main">
            <a:off x="9620250" y="2133600"/>
            <a:ext cx="1657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172B4D"/>
                </a:solidFill>
                <a:latin typeface="Calibri"/>
                <a:ea typeface="Calibri"/>
                <a:cs typeface="Calibri"/>
              </a:defRPr>
            </a:pPr>
            <a:r>
              <a:rPr sz="1200" b="1" i="0">
                <a:solidFill>
                  <a:srgbClr val="172B4D"/>
                </a:solidFill>
                <a:latin typeface="Calibri"/>
                <a:ea typeface="Calibri"/>
                <a:cs typeface="Calibri"/>
              </a:rPr>
              <a:t>Validate schema</a:t>
            </a:r>
          </a:p>
        </p:txBody>
      </p:sp>
      <p:sp>
        <p:nvSpPr>
          <p:cNvPr id="86" name="ocr-step-detail-5">
            <a:extLst xmlns:a="http://schemas.openxmlformats.org/drawingml/2006/main">
              <a:ext uri="{FF2B5EF4-FFF2-40B4-BE49-F238E27FC236}">
                <a16:creationId xmlns:a16="http://schemas.microsoft.com/office/drawing/2014/main" id="{059C4151-5F5E-409A-B111-019A6C3741DE}"/>
              </a:ext>
            </a:extLst>
          </p:cNvPr>
          <p:cNvSpPr>
            <a:spLocks xmlns:a="http://schemas.openxmlformats.org/drawingml/2006/main" noGrp="1"/>
          </p:cNvSpPr>
          <p:nvPr/>
        </p:nvSpPr>
        <p:spPr>
          <a:xfrm xmlns:a="http://schemas.openxmlformats.org/drawingml/2006/main">
            <a:off x="9620250" y="2438400"/>
            <a:ext cx="16573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5B6B7F"/>
                </a:solidFill>
                <a:latin typeface="Calibri"/>
                <a:ea typeface="Calibri"/>
                <a:cs typeface="Calibri"/>
              </a:defRPr>
            </a:pPr>
            <a:r>
              <a:rPr sz="1050" b="0" i="0">
                <a:solidFill>
                  <a:srgbClr val="5B6B7F"/>
                </a:solidFill>
                <a:latin typeface="Calibri"/>
                <a:ea typeface="Calibri"/>
                <a:cs typeface="Calibri"/>
              </a:rPr>
              <a:t>quality + confidence</a:t>
            </a:r>
          </a:p>
        </p:txBody>
      </p:sp>
      <p:sp>
        <p:nvSpPr>
          <p:cNvPr id="87" name="ocr-current-panel">
            <a:extLst xmlns:a="http://schemas.openxmlformats.org/drawingml/2006/main">
              <a:ext uri="{FF2B5EF4-FFF2-40B4-BE49-F238E27FC236}">
                <a16:creationId xmlns:a16="http://schemas.microsoft.com/office/drawing/2014/main" id="{94B5ACE7-E3CE-4AF2-A374-F6F1007D33F6}"/>
              </a:ext>
            </a:extLst>
          </p:cNvPr>
          <p:cNvSpPr>
            <a:spLocks xmlns:a="http://schemas.openxmlformats.org/drawingml/2006/main" noGrp="1"/>
          </p:cNvSpPr>
          <p:nvPr/>
        </p:nvSpPr>
        <p:spPr>
          <a:xfrm xmlns:a="http://schemas.openxmlformats.org/drawingml/2006/main">
            <a:off x="400050" y="3067050"/>
            <a:ext cx="5429250" cy="2800350"/>
          </a:xfrm>
          <a:prstGeom xmlns:a="http://schemas.openxmlformats.org/drawingml/2006/main" prst="roundRect">
            <a:avLst>
              <a:gd name="adj" fmla="val 2721"/>
            </a:avLst>
          </a:prstGeom>
          <a:solidFill xmlns:a="http://schemas.openxmlformats.org/drawingml/2006/main">
            <a:srgbClr val="FDEDEA"/>
          </a:solidFill>
          <a:ln xmlns:a="http://schemas.openxmlformats.org/drawingml/2006/main" w="9525">
            <a:solidFill>
              <a:srgbClr val="F2C8C1"/>
            </a:solidFill>
            <a:prstDash val="solid"/>
          </a:ln>
        </p:spPr>
      </p:sp>
      <p:sp>
        <p:nvSpPr>
          <p:cNvPr id="88" name="ocr-current-status-bg">
            <a:extLst xmlns:a="http://schemas.openxmlformats.org/drawingml/2006/main">
              <a:ext uri="{FF2B5EF4-FFF2-40B4-BE49-F238E27FC236}">
                <a16:creationId xmlns:a16="http://schemas.microsoft.com/office/drawing/2014/main" id="{D62B8BA3-5D96-4FC3-8C5A-CB84CEC4DDE7}"/>
              </a:ext>
            </a:extLst>
          </p:cNvPr>
          <p:cNvSpPr>
            <a:spLocks xmlns:a="http://schemas.openxmlformats.org/drawingml/2006/main" noGrp="1"/>
          </p:cNvSpPr>
          <p:nvPr/>
        </p:nvSpPr>
        <p:spPr>
          <a:xfrm xmlns:a="http://schemas.openxmlformats.org/drawingml/2006/main">
            <a:off x="571500" y="3238500"/>
            <a:ext cx="1619250" cy="266700"/>
          </a:xfrm>
          <a:prstGeom xmlns:a="http://schemas.openxmlformats.org/drawingml/2006/main" prst="roundRect">
            <a:avLst>
              <a:gd name="adj" fmla="val 28571"/>
            </a:avLst>
          </a:prstGeom>
          <a:solidFill xmlns:a="http://schemas.openxmlformats.org/drawingml/2006/main">
            <a:srgbClr val="C64D3A"/>
          </a:solidFill>
          <a:ln xmlns:a="http://schemas.openxmlformats.org/drawingml/2006/main" w="0">
            <a:noFill/>
            <a:prstDash val="solid"/>
          </a:ln>
        </p:spPr>
      </p:sp>
      <p:sp>
        <p:nvSpPr>
          <p:cNvPr id="89" name="ocr-current-status-text">
            <a:extLst xmlns:a="http://schemas.openxmlformats.org/drawingml/2006/main">
              <a:ext uri="{FF2B5EF4-FFF2-40B4-BE49-F238E27FC236}">
                <a16:creationId xmlns:a16="http://schemas.microsoft.com/office/drawing/2014/main" id="{77D47369-A70B-458A-94E9-3E805FB96A74}"/>
              </a:ext>
            </a:extLst>
          </p:cNvPr>
          <p:cNvSpPr>
            <a:spLocks xmlns:a="http://schemas.openxmlformats.org/drawingml/2006/main" noGrp="1"/>
          </p:cNvSpPr>
          <p:nvPr/>
        </p:nvSpPr>
        <p:spPr>
          <a:xfrm xmlns:a="http://schemas.openxmlformats.org/drawingml/2006/main">
            <a:off x="571500" y="3248025"/>
            <a:ext cx="161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FFFFFF"/>
                </a:solidFill>
                <a:latin typeface="Calibri"/>
                <a:ea typeface="Calibri"/>
                <a:cs typeface="Calibri"/>
              </a:defRPr>
            </a:pPr>
            <a:r>
              <a:rPr sz="900" b="1" i="0">
                <a:solidFill>
                  <a:srgbClr val="FFFFFF"/>
                </a:solidFill>
                <a:latin typeface="Calibri"/>
                <a:ea typeface="Calibri"/>
                <a:cs typeface="Calibri"/>
              </a:rPr>
              <a:t>CURRENT PRODUCTION</a:t>
            </a:r>
          </a:p>
        </p:txBody>
      </p:sp>
      <p:sp>
        <p:nvSpPr>
          <p:cNvPr id="90" name="ocr-current-title">
            <a:extLst xmlns:a="http://schemas.openxmlformats.org/drawingml/2006/main">
              <a:ext uri="{FF2B5EF4-FFF2-40B4-BE49-F238E27FC236}">
                <a16:creationId xmlns:a16="http://schemas.microsoft.com/office/drawing/2014/main" id="{331D0646-A7FF-4012-AC23-848667D9A9DE}"/>
              </a:ext>
            </a:extLst>
          </p:cNvPr>
          <p:cNvSpPr>
            <a:spLocks xmlns:a="http://schemas.openxmlformats.org/drawingml/2006/main" noGrp="1"/>
          </p:cNvSpPr>
          <p:nvPr/>
        </p:nvSpPr>
        <p:spPr>
          <a:xfrm xmlns:a="http://schemas.openxmlformats.org/drawingml/2006/main">
            <a:off x="571500" y="3638550"/>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C64D3A"/>
                </a:solidFill>
                <a:latin typeface="Calibri"/>
                <a:ea typeface="Calibri"/>
                <a:cs typeface="Calibri"/>
              </a:defRPr>
            </a:pPr>
            <a:r>
              <a:rPr sz="1125" b="1" i="0">
                <a:solidFill>
                  <a:srgbClr val="C64D3A"/>
                </a:solidFill>
                <a:latin typeface="Calibri"/>
                <a:ea typeface="Calibri"/>
                <a:cs typeface="Calibri"/>
              </a:rPr>
              <a:t>Image-only content is silently absent</a:t>
            </a:r>
          </a:p>
        </p:txBody>
      </p:sp>
      <p:sp>
        <p:nvSpPr>
          <p:cNvPr id="91" name="ocr-current-body">
            <a:extLst xmlns:a="http://schemas.openxmlformats.org/drawingml/2006/main">
              <a:ext uri="{FF2B5EF4-FFF2-40B4-BE49-F238E27FC236}">
                <a16:creationId xmlns:a16="http://schemas.microsoft.com/office/drawing/2014/main" id="{A256985E-A9DE-4060-B06F-DEB41C0E64ED}"/>
              </a:ext>
            </a:extLst>
          </p:cNvPr>
          <p:cNvSpPr>
            <a:spLocks xmlns:a="http://schemas.openxmlformats.org/drawingml/2006/main" noGrp="1"/>
          </p:cNvSpPr>
          <p:nvPr/>
        </p:nvSpPr>
        <p:spPr>
          <a:xfrm xmlns:a="http://schemas.openxmlformats.org/drawingml/2006/main">
            <a:off x="571500" y="3981450"/>
            <a:ext cx="49530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172B4D"/>
                </a:solidFill>
                <a:latin typeface="Calibri"/>
                <a:ea typeface="Calibri"/>
                <a:cs typeface="Calibri"/>
              </a:defRPr>
            </a:pPr>
            <a:r>
              <a:rPr sz="1200" b="0" i="0">
                <a:solidFill>
                  <a:srgbClr val="172B4D"/>
                </a:solidFill>
                <a:latin typeface="Calibri"/>
                <a:ea typeface="Calibri"/>
                <a:cs typeface="Calibri"/>
              </a:rPr>
              <a:t>• PDF: text is read page by page with pypdf</a:t>
            </a:r>
          </a:p>
          <a:p xmlns:a="http://schemas.openxmlformats.org/drawingml/2006/main">
            <a:pPr algn="l">
              <a:lnSpc>
                <a:spcPct val="108000"/>
              </a:lnSpc>
              <a:buNone/>
              <a:defRPr sz="1200" b="0" i="0">
                <a:solidFill>
                  <a:srgbClr val="172B4D"/>
                </a:solidFill>
                <a:latin typeface="Calibri"/>
                <a:ea typeface="Calibri"/>
                <a:cs typeface="Calibri"/>
              </a:defRPr>
            </a:pPr>
            <a:r>
              <a:rPr sz="1200" b="0" i="0">
                <a:solidFill>
                  <a:srgbClr val="172B4D"/>
                </a:solidFill>
                <a:latin typeface="Calibri"/>
                <a:ea typeface="Calibri"/>
                <a:cs typeface="Calibri"/>
              </a:rPr>
              <a:t>• DOCX: paragraphs and tables are read</a:t>
            </a:r>
          </a:p>
          <a:p xmlns:a="http://schemas.openxmlformats.org/drawingml/2006/main">
            <a:pPr algn="l">
              <a:lnSpc>
                <a:spcPct val="108000"/>
              </a:lnSpc>
              <a:buNone/>
              <a:defRPr sz="1200" b="0" i="0">
                <a:solidFill>
                  <a:srgbClr val="172B4D"/>
                </a:solidFill>
                <a:latin typeface="Calibri"/>
                <a:ea typeface="Calibri"/>
                <a:cs typeface="Calibri"/>
              </a:defRPr>
            </a:pPr>
            <a:r>
              <a:rPr sz="1200" b="0" i="0">
                <a:solidFill>
                  <a:srgbClr val="172B4D"/>
                </a:solidFill>
                <a:latin typeface="Calibri"/>
                <a:ea typeface="Calibri"/>
                <a:cs typeface="Calibri"/>
              </a:rPr>
              <a:t>• No embedded-image OCR path exists</a:t>
            </a:r>
          </a:p>
          <a:p xmlns:a="http://schemas.openxmlformats.org/drawingml/2006/main">
            <a:pPr algn="l">
              <a:lnSpc>
                <a:spcPct val="108000"/>
              </a:lnSpc>
              <a:buNone/>
              <a:defRPr sz="1200" b="0" i="0">
                <a:solidFill>
                  <a:srgbClr val="172B4D"/>
                </a:solidFill>
                <a:latin typeface="Calibri"/>
                <a:ea typeface="Calibri"/>
                <a:cs typeface="Calibri"/>
              </a:defRPr>
            </a:pPr>
            <a:r>
              <a:rPr sz="1200" b="0" i="0">
                <a:solidFill>
                  <a:srgbClr val="172B4D"/>
                </a:solidFill>
                <a:latin typeface="Calibri"/>
                <a:ea typeface="Calibri"/>
                <a:cs typeface="Calibri"/>
              </a:rPr>
              <a:t>• The resume is rejected only when total extracted text is under 50 characters</a:t>
            </a:r>
          </a:p>
        </p:txBody>
      </p:sp>
      <p:sp>
        <p:nvSpPr>
          <p:cNvPr id="92" name="ocr-current-example">
            <a:extLst xmlns:a="http://schemas.openxmlformats.org/drawingml/2006/main">
              <a:ext uri="{FF2B5EF4-FFF2-40B4-BE49-F238E27FC236}">
                <a16:creationId xmlns:a16="http://schemas.microsoft.com/office/drawing/2014/main" id="{965B1C8F-ACA8-4ECD-B6EB-C4ECE330E31A}"/>
              </a:ext>
            </a:extLst>
          </p:cNvPr>
          <p:cNvSpPr>
            <a:spLocks xmlns:a="http://schemas.openxmlformats.org/drawingml/2006/main" noGrp="1"/>
          </p:cNvSpPr>
          <p:nvPr/>
        </p:nvSpPr>
        <p:spPr>
          <a:xfrm xmlns:a="http://schemas.openxmlformats.org/drawingml/2006/main">
            <a:off x="571500" y="5267325"/>
            <a:ext cx="495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C64D3A"/>
                </a:solidFill>
                <a:latin typeface="Calibri"/>
                <a:ea typeface="Calibri"/>
                <a:cs typeface="Calibri"/>
              </a:defRPr>
            </a:pPr>
            <a:r>
              <a:rPr sz="1050" b="1" i="0">
                <a:solidFill>
                  <a:srgbClr val="C64D3A"/>
                </a:solidFill>
                <a:latin typeface="Calibri"/>
                <a:ea typeface="Calibri"/>
                <a:cs typeface="Calibri"/>
              </a:rPr>
              <a:t>Illustrative 2-page CV: page 1 = 1,850 native chars; page 2 scan = 0. The request may pass, but page 2 evidence is lost.</a:t>
            </a:r>
          </a:p>
        </p:txBody>
      </p:sp>
      <p:sp>
        <p:nvSpPr>
          <p:cNvPr id="93" name="ocr-proposed-panel">
            <a:extLst xmlns:a="http://schemas.openxmlformats.org/drawingml/2006/main">
              <a:ext uri="{FF2B5EF4-FFF2-40B4-BE49-F238E27FC236}">
                <a16:creationId xmlns:a16="http://schemas.microsoft.com/office/drawing/2014/main" id="{9428536A-780C-4CF9-A5B9-6556357F96CA}"/>
              </a:ext>
            </a:extLst>
          </p:cNvPr>
          <p:cNvSpPr>
            <a:spLocks xmlns:a="http://schemas.openxmlformats.org/drawingml/2006/main" noGrp="1"/>
          </p:cNvSpPr>
          <p:nvPr/>
        </p:nvSpPr>
        <p:spPr>
          <a:xfrm xmlns:a="http://schemas.openxmlformats.org/drawingml/2006/main">
            <a:off x="6019800" y="3067050"/>
            <a:ext cx="5715000" cy="2800350"/>
          </a:xfrm>
          <a:prstGeom xmlns:a="http://schemas.openxmlformats.org/drawingml/2006/main" prst="roundRect">
            <a:avLst>
              <a:gd name="adj" fmla="val 2721"/>
            </a:avLst>
          </a:prstGeom>
          <a:solidFill xmlns:a="http://schemas.openxmlformats.org/drawingml/2006/main">
            <a:srgbClr val="EAF7F3"/>
          </a:solidFill>
          <a:ln xmlns:a="http://schemas.openxmlformats.org/drawingml/2006/main" w="9525">
            <a:solidFill>
              <a:srgbClr val="B8DED3"/>
            </a:solidFill>
            <a:prstDash val="solid"/>
          </a:ln>
        </p:spPr>
      </p:sp>
      <p:sp>
        <p:nvSpPr>
          <p:cNvPr id="94" name="ocr-proposed-status-bg">
            <a:extLst xmlns:a="http://schemas.openxmlformats.org/drawingml/2006/main">
              <a:ext uri="{FF2B5EF4-FFF2-40B4-BE49-F238E27FC236}">
                <a16:creationId xmlns:a16="http://schemas.microsoft.com/office/drawing/2014/main" id="{3EB05C2D-445E-4646-8917-ABEC5B09D164}"/>
              </a:ext>
            </a:extLst>
          </p:cNvPr>
          <p:cNvSpPr>
            <a:spLocks xmlns:a="http://schemas.openxmlformats.org/drawingml/2006/main" noGrp="1"/>
          </p:cNvSpPr>
          <p:nvPr/>
        </p:nvSpPr>
        <p:spPr>
          <a:xfrm xmlns:a="http://schemas.openxmlformats.org/drawingml/2006/main">
            <a:off x="6191250" y="3238500"/>
            <a:ext cx="1695450" cy="266700"/>
          </a:xfrm>
          <a:prstGeom xmlns:a="http://schemas.openxmlformats.org/drawingml/2006/main" prst="roundRect">
            <a:avLst>
              <a:gd name="adj" fmla="val 28571"/>
            </a:avLst>
          </a:prstGeom>
          <a:solidFill xmlns:a="http://schemas.openxmlformats.org/drawingml/2006/main">
            <a:srgbClr val="16866C"/>
          </a:solidFill>
          <a:ln xmlns:a="http://schemas.openxmlformats.org/drawingml/2006/main" w="0">
            <a:noFill/>
            <a:prstDash val="solid"/>
          </a:ln>
        </p:spPr>
      </p:sp>
      <p:sp>
        <p:nvSpPr>
          <p:cNvPr id="95" name="ocr-proposed-status-text">
            <a:extLst xmlns:a="http://schemas.openxmlformats.org/drawingml/2006/main">
              <a:ext uri="{FF2B5EF4-FFF2-40B4-BE49-F238E27FC236}">
                <a16:creationId xmlns:a16="http://schemas.microsoft.com/office/drawing/2014/main" id="{CE1FAFAC-9007-4682-AED7-828E44E97AB1}"/>
              </a:ext>
            </a:extLst>
          </p:cNvPr>
          <p:cNvSpPr>
            <a:spLocks xmlns:a="http://schemas.openxmlformats.org/drawingml/2006/main" noGrp="1"/>
          </p:cNvSpPr>
          <p:nvPr/>
        </p:nvSpPr>
        <p:spPr>
          <a:xfrm xmlns:a="http://schemas.openxmlformats.org/drawingml/2006/main">
            <a:off x="6191250" y="3248025"/>
            <a:ext cx="1695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FFFFFF"/>
                </a:solidFill>
                <a:latin typeface="Calibri"/>
                <a:ea typeface="Calibri"/>
                <a:cs typeface="Calibri"/>
              </a:defRPr>
            </a:pPr>
            <a:r>
              <a:rPr sz="900" b="1" i="0">
                <a:solidFill>
                  <a:srgbClr val="FFFFFF"/>
                </a:solidFill>
                <a:latin typeface="Calibri"/>
                <a:ea typeface="Calibri"/>
                <a:cs typeface="Calibri"/>
              </a:rPr>
              <a:t>PROPOSED FALLBACK</a:t>
            </a:r>
          </a:p>
        </p:txBody>
      </p:sp>
      <p:sp>
        <p:nvSpPr>
          <p:cNvPr id="96" name="ocr-proposed-title">
            <a:extLst xmlns:a="http://schemas.openxmlformats.org/drawingml/2006/main">
              <a:ext uri="{FF2B5EF4-FFF2-40B4-BE49-F238E27FC236}">
                <a16:creationId xmlns:a16="http://schemas.microsoft.com/office/drawing/2014/main" id="{8D0F54F7-3CBF-4EFA-B3C6-D24F7029A0A8}"/>
              </a:ext>
            </a:extLst>
          </p:cNvPr>
          <p:cNvSpPr>
            <a:spLocks xmlns:a="http://schemas.openxmlformats.org/drawingml/2006/main" noGrp="1"/>
          </p:cNvSpPr>
          <p:nvPr/>
        </p:nvSpPr>
        <p:spPr>
          <a:xfrm xmlns:a="http://schemas.openxmlformats.org/drawingml/2006/main">
            <a:off x="6191250" y="3638550"/>
            <a:ext cx="523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16866C"/>
                </a:solidFill>
                <a:latin typeface="Calibri"/>
                <a:ea typeface="Calibri"/>
                <a:cs typeface="Calibri"/>
              </a:defRPr>
            </a:pPr>
            <a:r>
              <a:rPr sz="1125" b="1" i="0">
                <a:solidFill>
                  <a:srgbClr val="16866C"/>
                </a:solidFill>
                <a:latin typeface="Calibri"/>
                <a:ea typeface="Calibri"/>
                <a:cs typeface="Calibri"/>
              </a:rPr>
              <a:t>OCR activates only where coverage is weak</a:t>
            </a:r>
          </a:p>
        </p:txBody>
      </p:sp>
      <p:sp>
        <p:nvSpPr>
          <p:cNvPr id="97" name="ocr-proposed-body">
            <a:extLst xmlns:a="http://schemas.openxmlformats.org/drawingml/2006/main">
              <a:ext uri="{FF2B5EF4-FFF2-40B4-BE49-F238E27FC236}">
                <a16:creationId xmlns:a16="http://schemas.microsoft.com/office/drawing/2014/main" id="{CBC806D4-A76C-45D4-8C63-D829DCA8704A}"/>
              </a:ext>
            </a:extLst>
          </p:cNvPr>
          <p:cNvSpPr>
            <a:spLocks xmlns:a="http://schemas.openxmlformats.org/drawingml/2006/main" noGrp="1"/>
          </p:cNvSpPr>
          <p:nvPr/>
        </p:nvSpPr>
        <p:spPr>
          <a:xfrm xmlns:a="http://schemas.openxmlformats.org/drawingml/2006/main">
            <a:off x="6191250" y="3981450"/>
            <a:ext cx="5238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172B4D"/>
                </a:solidFill>
                <a:latin typeface="Calibri"/>
                <a:ea typeface="Calibri"/>
                <a:cs typeface="Calibri"/>
              </a:defRPr>
            </a:pPr>
            <a:r>
              <a:rPr sz="1200" b="0" i="0">
                <a:solidFill>
                  <a:srgbClr val="172B4D"/>
                </a:solidFill>
                <a:latin typeface="Calibri"/>
                <a:ea typeface="Calibri"/>
                <a:cs typeface="Calibri"/>
              </a:rPr>
              <a:t>• Calculate native character coverage per page</a:t>
            </a:r>
          </a:p>
          <a:p xmlns:a="http://schemas.openxmlformats.org/drawingml/2006/main">
            <a:pPr algn="l">
              <a:lnSpc>
                <a:spcPct val="108000"/>
              </a:lnSpc>
              <a:buNone/>
              <a:defRPr sz="1200" b="0" i="0">
                <a:solidFill>
                  <a:srgbClr val="172B4D"/>
                </a:solidFill>
                <a:latin typeface="Calibri"/>
                <a:ea typeface="Calibri"/>
                <a:cs typeface="Calibri"/>
              </a:defRPr>
            </a:pPr>
            <a:r>
              <a:rPr sz="1200" b="0" i="0">
                <a:solidFill>
                  <a:srgbClr val="172B4D"/>
                </a:solidFill>
                <a:latin typeface="Calibri"/>
                <a:ea typeface="Calibri"/>
                <a:cs typeface="Calibri"/>
              </a:rPr>
              <a:t>• Render and OCR only affected pages</a:t>
            </a:r>
          </a:p>
          <a:p xmlns:a="http://schemas.openxmlformats.org/drawingml/2006/main">
            <a:pPr algn="l">
              <a:lnSpc>
                <a:spcPct val="108000"/>
              </a:lnSpc>
              <a:buNone/>
              <a:defRPr sz="1200" b="0" i="0">
                <a:solidFill>
                  <a:srgbClr val="172B4D"/>
                </a:solidFill>
                <a:latin typeface="Calibri"/>
                <a:ea typeface="Calibri"/>
                <a:cs typeface="Calibri"/>
              </a:defRPr>
            </a:pPr>
            <a:r>
              <a:rPr sz="1200" b="0" i="0">
                <a:solidFill>
                  <a:srgbClr val="172B4D"/>
                </a:solidFill>
                <a:latin typeface="Calibri"/>
                <a:ea typeface="Calibri"/>
                <a:cs typeface="Calibri"/>
              </a:rPr>
              <a:t>• Filter low-confidence OCR spans</a:t>
            </a:r>
          </a:p>
          <a:p xmlns:a="http://schemas.openxmlformats.org/drawingml/2006/main">
            <a:pPr algn="l">
              <a:lnSpc>
                <a:spcPct val="108000"/>
              </a:lnSpc>
              <a:buNone/>
              <a:defRPr sz="1200" b="0" i="0">
                <a:solidFill>
                  <a:srgbClr val="172B4D"/>
                </a:solidFill>
                <a:latin typeface="Calibri"/>
                <a:ea typeface="Calibri"/>
                <a:cs typeface="Calibri"/>
              </a:defRPr>
            </a:pPr>
            <a:r>
              <a:rPr sz="1200" b="0" i="0">
                <a:solidFill>
                  <a:srgbClr val="172B4D"/>
                </a:solidFill>
                <a:latin typeface="Calibri"/>
                <a:ea typeface="Calibri"/>
                <a:cs typeface="Calibri"/>
              </a:rPr>
              <a:t>• Merge lines with native text taking precedence</a:t>
            </a:r>
          </a:p>
          <a:p xmlns:a="http://schemas.openxmlformats.org/drawingml/2006/main">
            <a:pPr algn="l">
              <a:lnSpc>
                <a:spcPct val="108000"/>
              </a:lnSpc>
              <a:buNone/>
              <a:defRPr sz="1200" b="0" i="0">
                <a:solidFill>
                  <a:srgbClr val="172B4D"/>
                </a:solidFill>
                <a:latin typeface="Calibri"/>
                <a:ea typeface="Calibri"/>
                <a:cs typeface="Calibri"/>
              </a:defRPr>
            </a:pPr>
            <a:r>
              <a:rPr sz="1200" b="0" i="0">
                <a:solidFill>
                  <a:srgbClr val="172B4D"/>
                </a:solidFill>
                <a:latin typeface="Calibri"/>
                <a:ea typeface="Calibri"/>
                <a:cs typeface="Calibri"/>
              </a:rPr>
              <a:t>• Deduplicate repeated headers and overlapping text</a:t>
            </a:r>
          </a:p>
        </p:txBody>
      </p:sp>
      <p:sp>
        <p:nvSpPr>
          <p:cNvPr id="98" name="ocr-proposed-example">
            <a:extLst xmlns:a="http://schemas.openxmlformats.org/drawingml/2006/main">
              <a:ext uri="{FF2B5EF4-FFF2-40B4-BE49-F238E27FC236}">
                <a16:creationId xmlns:a16="http://schemas.microsoft.com/office/drawing/2014/main" id="{D1D9357A-0843-4DF6-AF9E-69BC1D96B3F7}"/>
              </a:ext>
            </a:extLst>
          </p:cNvPr>
          <p:cNvSpPr>
            <a:spLocks xmlns:a="http://schemas.openxmlformats.org/drawingml/2006/main" noGrp="1"/>
          </p:cNvSpPr>
          <p:nvPr/>
        </p:nvSpPr>
        <p:spPr>
          <a:xfrm xmlns:a="http://schemas.openxmlformats.org/drawingml/2006/main">
            <a:off x="6191250" y="5267325"/>
            <a:ext cx="523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16866C"/>
                </a:solidFill>
                <a:latin typeface="Calibri"/>
                <a:ea typeface="Calibri"/>
                <a:cs typeface="Calibri"/>
              </a:defRPr>
            </a:pPr>
            <a:r>
              <a:rPr sz="1050" b="1" i="0">
                <a:solidFill>
                  <a:srgbClr val="16866C"/>
                </a:solidFill>
                <a:latin typeface="Calibri"/>
                <a:ea typeface="Calibri"/>
                <a:cs typeface="Calibri"/>
              </a:rPr>
              <a:t>Illustrative counts: OCR recovers 740 chars from page 2; merged text = 2,590 chars before typed extraction.</a:t>
            </a:r>
          </a:p>
        </p:txBody>
      </p:sp>
    </p:spTree>
    <p:extLst>
      <p:ext uri="{BB962C8B-B14F-4D97-AF65-F5344CB8AC3E}">
        <p14:creationId xmlns:p14="http://schemas.microsoft.com/office/powerpoint/2010/main" val="68859550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B7190E9-D616-450A-A5D3-68FD77502DA7}"/>
              </a:ext>
            </a:extLst>
          </p:cNvPr>
          <p:cNvSpPr>
            <a:spLocks xmlns:a="http://schemas.openxmlformats.org/drawingml/2006/main" noGrp="1"/>
          </p:cNvSpPr>
          <p:nvPr/>
        </p:nvSpPr>
        <p:spPr>
          <a:xfrm xmlns:a="http://schemas.openxmlformats.org/drawingml/2006/main">
            <a:off x="400050" y="723900"/>
            <a:ext cx="9715500" cy="9525"/>
          </a:xfrm>
          <a:prstGeom xmlns:a="http://schemas.openxmlformats.org/drawingml/2006/main" prst="line">
            <a:avLst/>
          </a:prstGeom>
          <a:noFill xmlns:a="http://schemas.openxmlformats.org/drawingml/2006/main"/>
          <a:ln xmlns:a="http://schemas.openxmlformats.org/drawingml/2006/main" w="9525">
            <a:solidFill>
              <a:srgbClr val="D8E6FF"/>
            </a:solidFill>
            <a:prstDash val="solid"/>
          </a:ln>
        </p:spPr>
      </p:sp>
      <p:sp>
        <p:nvSpPr>
          <p:cNvPr id="3" name="">
            <a:extLst xmlns:a="http://schemas.openxmlformats.org/drawingml/2006/main">
              <a:ext uri="{FF2B5EF4-FFF2-40B4-BE49-F238E27FC236}">
                <a16:creationId xmlns:a16="http://schemas.microsoft.com/office/drawing/2014/main" id="{FDD05C5C-FFA2-421C-B2C3-91A869688BD5}"/>
              </a:ext>
            </a:extLst>
          </p:cNvPr>
          <p:cNvSpPr>
            <a:spLocks xmlns:a="http://schemas.openxmlformats.org/drawingml/2006/main" noGrp="1"/>
          </p:cNvSpPr>
          <p:nvPr/>
        </p:nvSpPr>
        <p:spPr>
          <a:xfrm xmlns:a="http://schemas.openxmlformats.org/drawingml/2006/main">
            <a:off x="400050" y="838200"/>
            <a:ext cx="923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62C52"/>
                </a:solidFill>
              </a:defRPr>
            </a:pPr>
            <a:r>
              <a:rPr sz="1500" b="1">
                <a:solidFill>
                  <a:srgbClr val="162C52"/>
                </a:solidFill>
              </a:rPr>
              <a:t>Chunk by Competency, Not by Arbitrary Character Windows</a:t>
            </a:r>
          </a:p>
        </p:txBody>
      </p:sp>
      <p:sp>
        <p:nvSpPr>
          <p:cNvPr id="4" name="">
            <a:extLst xmlns:a="http://schemas.openxmlformats.org/drawingml/2006/main">
              <a:ext uri="{FF2B5EF4-FFF2-40B4-BE49-F238E27FC236}">
                <a16:creationId xmlns:a16="http://schemas.microsoft.com/office/drawing/2014/main" id="{57C03D8B-0F9E-4334-9886-643D05E26F70}"/>
              </a:ext>
            </a:extLst>
          </p:cNvPr>
          <p:cNvSpPr>
            <a:spLocks xmlns:a="http://schemas.openxmlformats.org/drawingml/2006/main" noGrp="1"/>
          </p:cNvSpPr>
          <p:nvPr/>
        </p:nvSpPr>
        <p:spPr>
          <a:xfrm xmlns:a="http://schemas.openxmlformats.org/drawingml/2006/main">
            <a:off x="400050" y="1114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617391"/>
                </a:solidFill>
              </a:defRPr>
            </a:pPr>
            <a:r>
              <a:rPr sz="1050" b="0">
                <a:solidFill>
                  <a:srgbClr val="617391"/>
                </a:solidFill>
              </a:rPr>
              <a:t>The initial 250–500-token policy is a proposal to tune with retrieval metrics, not a measured optimum.</a:t>
            </a:r>
          </a:p>
        </p:txBody>
      </p:sp>
      <p:sp>
        <p:nvSpPr>
          <p:cNvPr id="5" name="">
            <a:extLst xmlns:a="http://schemas.openxmlformats.org/drawingml/2006/main">
              <a:ext uri="{FF2B5EF4-FFF2-40B4-BE49-F238E27FC236}">
                <a16:creationId xmlns:a16="http://schemas.microsoft.com/office/drawing/2014/main" id="{3A775D0D-C8FD-4859-9F23-2BE3AAD11256}"/>
              </a:ext>
            </a:extLst>
          </p:cNvPr>
          <p:cNvSpPr>
            <a:spLocks xmlns:a="http://schemas.openxmlformats.org/drawingml/2006/main" noGrp="1"/>
          </p:cNvSpPr>
          <p:nvPr/>
        </p:nvSpPr>
        <p:spPr>
          <a:xfrm xmlns:a="http://schemas.openxmlformats.org/drawingml/2006/main">
            <a:off x="11001375" y="304800"/>
            <a:ext cx="228600" cy="228600"/>
          </a:xfrm>
          <a:prstGeom xmlns:a="http://schemas.openxmlformats.org/drawingml/2006/main" prst="rect">
            <a:avLst/>
          </a:prstGeom>
          <a:solidFill xmlns:a="http://schemas.openxmlformats.org/drawingml/2006/main">
            <a:srgbClr val="D9E5F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A9A46E5-46D4-412D-864D-F1E32692EE96}"/>
              </a:ext>
            </a:extLst>
          </p:cNvPr>
          <p:cNvSpPr>
            <a:spLocks xmlns:a="http://schemas.openxmlformats.org/drawingml/2006/main" noGrp="1"/>
          </p:cNvSpPr>
          <p:nvPr/>
        </p:nvSpPr>
        <p:spPr>
          <a:xfrm xmlns:a="http://schemas.openxmlformats.org/drawingml/2006/main">
            <a:off x="11258550" y="304800"/>
            <a:ext cx="228600" cy="228600"/>
          </a:xfrm>
          <a:prstGeom xmlns:a="http://schemas.openxmlformats.org/drawingml/2006/main" prst="rect">
            <a:avLst/>
          </a:prstGeom>
          <a:solidFill xmlns:a="http://schemas.openxmlformats.org/drawingml/2006/main">
            <a:srgbClr val="AFC9F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4B1ADDC-3612-4AD1-956B-09A596F28941}"/>
              </a:ext>
            </a:extLst>
          </p:cNvPr>
          <p:cNvSpPr>
            <a:spLocks xmlns:a="http://schemas.openxmlformats.org/drawingml/2006/main" noGrp="1"/>
          </p:cNvSpPr>
          <p:nvPr/>
        </p:nvSpPr>
        <p:spPr>
          <a:xfrm xmlns:a="http://schemas.openxmlformats.org/drawingml/2006/main">
            <a:off x="11515725" y="304800"/>
            <a:ext cx="228600" cy="228600"/>
          </a:xfrm>
          <a:prstGeom xmlns:a="http://schemas.openxmlformats.org/drawingml/2006/main" prst="rect">
            <a:avLst/>
          </a:prstGeom>
          <a:solidFill xmlns:a="http://schemas.openxmlformats.org/drawingml/2006/main">
            <a:srgbClr val="78A3F1"/>
          </a:solidFill>
          <a:ln xmlns:a="http://schemas.openxmlformats.org/drawingml/2006/main" w="0">
            <a:noFill/>
            <a:prstDash val="solid"/>
          </a:ln>
        </p:spPr>
      </p:sp>
      <p:sp>
        <p:nvSpPr>
          <p:cNvPr id="19" name="header-cover-2">
            <a:extLst xmlns:a="http://schemas.openxmlformats.org/drawingml/2006/main">
              <a:ext uri="{FF2B5EF4-FFF2-40B4-BE49-F238E27FC236}">
                <a16:creationId xmlns:a16="http://schemas.microsoft.com/office/drawing/2014/main" id="{AB9A832A-3C50-44DE-9323-654F7563CAA4}"/>
              </a:ext>
            </a:extLst>
          </p:cNvPr>
          <p:cNvSpPr>
            <a:spLocks xmlns:a="http://schemas.openxmlformats.org/drawingml/2006/main" noGrp="1"/>
          </p:cNvSpPr>
          <p:nvPr/>
        </p:nvSpPr>
        <p:spPr>
          <a:xfrm xmlns:a="http://schemas.openxmlformats.org/drawingml/2006/main">
            <a:off x="323850" y="190500"/>
            <a:ext cx="11525250" cy="6096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 name="section-rule-2">
            <a:extLst xmlns:a="http://schemas.openxmlformats.org/drawingml/2006/main">
              <a:ext uri="{FF2B5EF4-FFF2-40B4-BE49-F238E27FC236}">
                <a16:creationId xmlns:a16="http://schemas.microsoft.com/office/drawing/2014/main" id="{9BD82AF2-8613-4B61-992C-4B2E06C75A67}"/>
              </a:ext>
            </a:extLst>
          </p:cNvPr>
          <p:cNvSpPr>
            <a:spLocks xmlns:a="http://schemas.openxmlformats.org/drawingml/2006/main" noGrp="1"/>
          </p:cNvSpPr>
          <p:nvPr/>
        </p:nvSpPr>
        <p:spPr>
          <a:xfrm xmlns:a="http://schemas.openxmlformats.org/drawingml/2006/main">
            <a:off x="400050" y="723900"/>
            <a:ext cx="9715500" cy="9525"/>
          </a:xfrm>
          <a:prstGeom xmlns:a="http://schemas.openxmlformats.org/drawingml/2006/main" prst="line">
            <a:avLst/>
          </a:prstGeom>
          <a:noFill xmlns:a="http://schemas.openxmlformats.org/drawingml/2006/main"/>
          <a:ln xmlns:a="http://schemas.openxmlformats.org/drawingml/2006/main" w="9525">
            <a:solidFill>
              <a:srgbClr val="D8E6FF"/>
            </a:solidFill>
            <a:prstDash val="solid"/>
          </a:ln>
        </p:spPr>
      </p:sp>
      <p:sp>
        <p:nvSpPr>
          <p:cNvPr id="22" name="brand-square-1-2">
            <a:extLst xmlns:a="http://schemas.openxmlformats.org/drawingml/2006/main">
              <a:ext uri="{FF2B5EF4-FFF2-40B4-BE49-F238E27FC236}">
                <a16:creationId xmlns:a16="http://schemas.microsoft.com/office/drawing/2014/main" id="{F6C5021A-85D6-4377-99A7-1F6322A02120}"/>
              </a:ext>
            </a:extLst>
          </p:cNvPr>
          <p:cNvSpPr>
            <a:spLocks xmlns:a="http://schemas.openxmlformats.org/drawingml/2006/main" noGrp="1"/>
          </p:cNvSpPr>
          <p:nvPr/>
        </p:nvSpPr>
        <p:spPr>
          <a:xfrm xmlns:a="http://schemas.openxmlformats.org/drawingml/2006/main">
            <a:off x="11001375" y="304800"/>
            <a:ext cx="228600" cy="228600"/>
          </a:xfrm>
          <a:prstGeom xmlns:a="http://schemas.openxmlformats.org/drawingml/2006/main" prst="rect">
            <a:avLst/>
          </a:prstGeom>
          <a:solidFill xmlns:a="http://schemas.openxmlformats.org/drawingml/2006/main">
            <a:srgbClr val="D9E5FB"/>
          </a:solidFill>
          <a:ln xmlns:a="http://schemas.openxmlformats.org/drawingml/2006/main" w="0">
            <a:noFill/>
            <a:prstDash val="solid"/>
          </a:ln>
        </p:spPr>
      </p:sp>
      <p:sp>
        <p:nvSpPr>
          <p:cNvPr id="23" name="brand-square-2-2">
            <a:extLst xmlns:a="http://schemas.openxmlformats.org/drawingml/2006/main">
              <a:ext uri="{FF2B5EF4-FFF2-40B4-BE49-F238E27FC236}">
                <a16:creationId xmlns:a16="http://schemas.microsoft.com/office/drawing/2014/main" id="{DE6BA0CA-7692-4DF5-84B0-0A3942C0EEFA}"/>
              </a:ext>
            </a:extLst>
          </p:cNvPr>
          <p:cNvSpPr>
            <a:spLocks xmlns:a="http://schemas.openxmlformats.org/drawingml/2006/main" noGrp="1"/>
          </p:cNvSpPr>
          <p:nvPr/>
        </p:nvSpPr>
        <p:spPr>
          <a:xfrm xmlns:a="http://schemas.openxmlformats.org/drawingml/2006/main">
            <a:off x="11258550" y="304800"/>
            <a:ext cx="228600" cy="228600"/>
          </a:xfrm>
          <a:prstGeom xmlns:a="http://schemas.openxmlformats.org/drawingml/2006/main" prst="rect">
            <a:avLst/>
          </a:prstGeom>
          <a:solidFill xmlns:a="http://schemas.openxmlformats.org/drawingml/2006/main">
            <a:srgbClr val="AFC9F7"/>
          </a:solidFill>
          <a:ln xmlns:a="http://schemas.openxmlformats.org/drawingml/2006/main" w="0">
            <a:noFill/>
            <a:prstDash val="solid"/>
          </a:ln>
        </p:spPr>
      </p:sp>
      <p:sp>
        <p:nvSpPr>
          <p:cNvPr id="24" name="brand-square-3-2">
            <a:extLst xmlns:a="http://schemas.openxmlformats.org/drawingml/2006/main">
              <a:ext uri="{FF2B5EF4-FFF2-40B4-BE49-F238E27FC236}">
                <a16:creationId xmlns:a16="http://schemas.microsoft.com/office/drawing/2014/main" id="{22494C12-A19E-4466-A141-1CB64CCB1B0C}"/>
              </a:ext>
            </a:extLst>
          </p:cNvPr>
          <p:cNvSpPr>
            <a:spLocks xmlns:a="http://schemas.openxmlformats.org/drawingml/2006/main" noGrp="1"/>
          </p:cNvSpPr>
          <p:nvPr/>
        </p:nvSpPr>
        <p:spPr>
          <a:xfrm xmlns:a="http://schemas.openxmlformats.org/drawingml/2006/main">
            <a:off x="11515725" y="304800"/>
            <a:ext cx="228600" cy="228600"/>
          </a:xfrm>
          <a:prstGeom xmlns:a="http://schemas.openxmlformats.org/drawingml/2006/main" prst="rect">
            <a:avLst/>
          </a:prstGeom>
          <a:solidFill xmlns:a="http://schemas.openxmlformats.org/drawingml/2006/main">
            <a:srgbClr val="78A3F1"/>
          </a:solidFill>
          <a:ln xmlns:a="http://schemas.openxmlformats.org/drawingml/2006/main" w="0">
            <a:noFill/>
            <a:prstDash val="solid"/>
          </a:ln>
        </p:spPr>
      </p:sp>
      <p:sp>
        <p:nvSpPr>
          <p:cNvPr id="25" name="footer-cover-2">
            <a:extLst xmlns:a="http://schemas.openxmlformats.org/drawingml/2006/main">
              <a:ext uri="{FF2B5EF4-FFF2-40B4-BE49-F238E27FC236}">
                <a16:creationId xmlns:a16="http://schemas.microsoft.com/office/drawing/2014/main" id="{6AD74D06-55B1-4D48-B7AA-ACE68586237E}"/>
              </a:ext>
            </a:extLst>
          </p:cNvPr>
          <p:cNvSpPr>
            <a:spLocks xmlns:a="http://schemas.openxmlformats.org/drawingml/2006/main" noGrp="1"/>
          </p:cNvSpPr>
          <p:nvPr/>
        </p:nvSpPr>
        <p:spPr>
          <a:xfrm xmlns:a="http://schemas.openxmlformats.org/drawingml/2006/main">
            <a:off x="323850" y="6438900"/>
            <a:ext cx="4191000" cy="2667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 name="chunk-policy-bg">
            <a:extLst xmlns:a="http://schemas.openxmlformats.org/drawingml/2006/main">
              <a:ext uri="{FF2B5EF4-FFF2-40B4-BE49-F238E27FC236}">
                <a16:creationId xmlns:a16="http://schemas.microsoft.com/office/drawing/2014/main" id="{0645A24E-8909-40E5-9039-50ECFB4F4FC5}"/>
              </a:ext>
            </a:extLst>
          </p:cNvPr>
          <p:cNvSpPr>
            <a:spLocks xmlns:a="http://schemas.openxmlformats.org/drawingml/2006/main" noGrp="1"/>
          </p:cNvSpPr>
          <p:nvPr/>
        </p:nvSpPr>
        <p:spPr>
          <a:xfrm xmlns:a="http://schemas.openxmlformats.org/drawingml/2006/main">
            <a:off x="400050" y="1524000"/>
            <a:ext cx="1809750" cy="266700"/>
          </a:xfrm>
          <a:prstGeom xmlns:a="http://schemas.openxmlformats.org/drawingml/2006/main" prst="roundRect">
            <a:avLst>
              <a:gd name="adj" fmla="val 28571"/>
            </a:avLst>
          </a:prstGeom>
          <a:solidFill xmlns:a="http://schemas.openxmlformats.org/drawingml/2006/main">
            <a:srgbClr val="7652B5"/>
          </a:solidFill>
          <a:ln xmlns:a="http://schemas.openxmlformats.org/drawingml/2006/main" w="0">
            <a:noFill/>
            <a:prstDash val="solid"/>
          </a:ln>
        </p:spPr>
      </p:sp>
      <p:sp>
        <p:nvSpPr>
          <p:cNvPr id="29" name="chunk-policy-text">
            <a:extLst xmlns:a="http://schemas.openxmlformats.org/drawingml/2006/main">
              <a:ext uri="{FF2B5EF4-FFF2-40B4-BE49-F238E27FC236}">
                <a16:creationId xmlns:a16="http://schemas.microsoft.com/office/drawing/2014/main" id="{462DDBEE-AADE-4EE2-BA57-4759F62ECD58}"/>
              </a:ext>
            </a:extLst>
          </p:cNvPr>
          <p:cNvSpPr>
            <a:spLocks xmlns:a="http://schemas.openxmlformats.org/drawingml/2006/main" noGrp="1"/>
          </p:cNvSpPr>
          <p:nvPr/>
        </p:nvSpPr>
        <p:spPr>
          <a:xfrm xmlns:a="http://schemas.openxmlformats.org/drawingml/2006/main">
            <a:off x="400050" y="153352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FFFFFF"/>
                </a:solidFill>
                <a:latin typeface="Calibri"/>
                <a:ea typeface="Calibri"/>
                <a:cs typeface="Calibri"/>
              </a:defRPr>
            </a:pPr>
            <a:r>
              <a:rPr sz="900" b="1" i="0">
                <a:solidFill>
                  <a:srgbClr val="FFFFFF"/>
                </a:solidFill>
                <a:latin typeface="Calibri"/>
                <a:ea typeface="Calibri"/>
                <a:cs typeface="Calibri"/>
              </a:rPr>
              <a:t>PROPOSED INITIAL POLICY</a:t>
            </a:r>
          </a:p>
        </p:txBody>
      </p:sp>
      <p:sp>
        <p:nvSpPr>
          <p:cNvPr id="30" name="chunk-source">
            <a:extLst xmlns:a="http://schemas.openxmlformats.org/drawingml/2006/main">
              <a:ext uri="{FF2B5EF4-FFF2-40B4-BE49-F238E27FC236}">
                <a16:creationId xmlns:a16="http://schemas.microsoft.com/office/drawing/2014/main" id="{36307F07-83ED-4A5D-81DD-116F4362BC77}"/>
              </a:ext>
            </a:extLst>
          </p:cNvPr>
          <p:cNvSpPr>
            <a:spLocks xmlns:a="http://schemas.openxmlformats.org/drawingml/2006/main" noGrp="1"/>
          </p:cNvSpPr>
          <p:nvPr/>
        </p:nvSpPr>
        <p:spPr>
          <a:xfrm xmlns:a="http://schemas.openxmlformats.org/drawingml/2006/main">
            <a:off x="400050" y="1952625"/>
            <a:ext cx="3048000" cy="3219450"/>
          </a:xfrm>
          <a:prstGeom xmlns:a="http://schemas.openxmlformats.org/drawingml/2006/main" prst="roundRect">
            <a:avLst>
              <a:gd name="adj" fmla="val 2500"/>
            </a:avLst>
          </a:prstGeom>
          <a:solidFill xmlns:a="http://schemas.openxmlformats.org/drawingml/2006/main">
            <a:srgbClr val="F6F8FB"/>
          </a:solidFill>
          <a:ln xmlns:a="http://schemas.openxmlformats.org/drawingml/2006/main" w="9525">
            <a:solidFill>
              <a:srgbClr val="D7E0EA"/>
            </a:solidFill>
            <a:prstDash val="solid"/>
          </a:ln>
        </p:spPr>
      </p:sp>
      <p:sp>
        <p:nvSpPr>
          <p:cNvPr id="31" name="chunk-source-title">
            <a:extLst xmlns:a="http://schemas.openxmlformats.org/drawingml/2006/main">
              <a:ext uri="{FF2B5EF4-FFF2-40B4-BE49-F238E27FC236}">
                <a16:creationId xmlns:a16="http://schemas.microsoft.com/office/drawing/2014/main" id="{8EE20DF2-CABB-4C0C-A379-08D494EFE653}"/>
              </a:ext>
            </a:extLst>
          </p:cNvPr>
          <p:cNvSpPr>
            <a:spLocks xmlns:a="http://schemas.openxmlformats.org/drawingml/2006/main" noGrp="1"/>
          </p:cNvSpPr>
          <p:nvPr/>
        </p:nvSpPr>
        <p:spPr>
          <a:xfrm xmlns:a="http://schemas.openxmlformats.org/drawingml/2006/main">
            <a:off x="571500" y="2133600"/>
            <a:ext cx="2571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173B67"/>
                </a:solidFill>
                <a:latin typeface="Calibri"/>
                <a:ea typeface="Calibri"/>
                <a:cs typeface="Calibri"/>
              </a:defRPr>
            </a:pPr>
            <a:r>
              <a:rPr sz="1125" b="1" i="0">
                <a:solidFill>
                  <a:srgbClr val="173B67"/>
                </a:solidFill>
                <a:latin typeface="Calibri"/>
                <a:ea typeface="Calibri"/>
                <a:cs typeface="Calibri"/>
              </a:rPr>
              <a:t>SOURCE SECTION</a:t>
            </a:r>
          </a:p>
        </p:txBody>
      </p:sp>
      <p:sp>
        <p:nvSpPr>
          <p:cNvPr id="32" name="chunk-source-content">
            <a:extLst xmlns:a="http://schemas.openxmlformats.org/drawingml/2006/main">
              <a:ext uri="{FF2B5EF4-FFF2-40B4-BE49-F238E27FC236}">
                <a16:creationId xmlns:a16="http://schemas.microsoft.com/office/drawing/2014/main" id="{1DFEEF49-3F22-4F25-B308-D05D9C06515E}"/>
              </a:ext>
            </a:extLst>
          </p:cNvPr>
          <p:cNvSpPr>
            <a:spLocks xmlns:a="http://schemas.openxmlformats.org/drawingml/2006/main" noGrp="1"/>
          </p:cNvSpPr>
          <p:nvPr/>
        </p:nvSpPr>
        <p:spPr>
          <a:xfrm xmlns:a="http://schemas.openxmlformats.org/drawingml/2006/main">
            <a:off x="571500" y="2505075"/>
            <a:ext cx="2571750" cy="2171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172B4D"/>
                </a:solidFill>
                <a:latin typeface="Consolas"/>
                <a:ea typeface="Consolas"/>
                <a:cs typeface="Consolas"/>
              </a:defRPr>
            </a:pPr>
            <a:r>
              <a:rPr sz="1050" b="0" i="0">
                <a:solidFill>
                  <a:srgbClr val="172B4D"/>
                </a:solidFill>
                <a:latin typeface="Consolas"/>
                <a:ea typeface="Consolas"/>
                <a:cs typeface="Consolas"/>
              </a:rPr>
              <a:t>## FastAPI API Design</a:t>
            </a:r>
          </a:p>
          <a:p xmlns:a="http://schemas.openxmlformats.org/drawingml/2006/main">
            <a:r>
              <a:t/>
            </a:r>
          </a:p>
          <a:p xmlns:a="http://schemas.openxmlformats.org/drawingml/2006/main">
            <a:pPr algn="l">
              <a:lnSpc>
                <a:spcPct val="100000"/>
              </a:lnSpc>
              <a:buNone/>
              <a:defRPr sz="1050" b="0" i="0">
                <a:solidFill>
                  <a:srgbClr val="172B4D"/>
                </a:solidFill>
                <a:latin typeface="Consolas"/>
                <a:ea typeface="Consolas"/>
                <a:cs typeface="Consolas"/>
              </a:defRPr>
            </a:pPr>
            <a:r>
              <a:rPr sz="1050" b="0" i="0">
                <a:solidFill>
                  <a:srgbClr val="172B4D"/>
                </a:solidFill>
                <a:latin typeface="Consolas"/>
                <a:ea typeface="Consolas"/>
                <a:cs typeface="Consolas"/>
              </a:rPr>
              <a:t>A backend engineer should:</a:t>
            </a:r>
          </a:p>
          <a:p xmlns:a="http://schemas.openxmlformats.org/drawingml/2006/main">
            <a:pPr algn="l">
              <a:lnSpc>
                <a:spcPct val="100000"/>
              </a:lnSpc>
              <a:buNone/>
              <a:defRPr sz="1050" b="0" i="0">
                <a:solidFill>
                  <a:srgbClr val="172B4D"/>
                </a:solidFill>
                <a:latin typeface="Consolas"/>
                <a:ea typeface="Consolas"/>
                <a:cs typeface="Consolas"/>
              </a:defRPr>
            </a:pPr>
            <a:r>
              <a:rPr sz="1050" b="0" i="0">
                <a:solidFill>
                  <a:srgbClr val="172B4D"/>
                </a:solidFill>
                <a:latin typeface="Consolas"/>
                <a:ea typeface="Consolas"/>
                <a:cs typeface="Consolas"/>
              </a:rPr>
              <a:t>• design resource-oriented routes</a:t>
            </a:r>
          </a:p>
          <a:p xmlns:a="http://schemas.openxmlformats.org/drawingml/2006/main">
            <a:pPr algn="l">
              <a:lnSpc>
                <a:spcPct val="100000"/>
              </a:lnSpc>
              <a:buNone/>
              <a:defRPr sz="1050" b="0" i="0">
                <a:solidFill>
                  <a:srgbClr val="172B4D"/>
                </a:solidFill>
                <a:latin typeface="Consolas"/>
                <a:ea typeface="Consolas"/>
                <a:cs typeface="Consolas"/>
              </a:defRPr>
            </a:pPr>
            <a:r>
              <a:rPr sz="1050" b="0" i="0">
                <a:solidFill>
                  <a:srgbClr val="172B4D"/>
                </a:solidFill>
                <a:latin typeface="Consolas"/>
                <a:ea typeface="Consolas"/>
                <a:cs typeface="Consolas"/>
              </a:rPr>
              <a:t>• validate requests with Pydantic</a:t>
            </a:r>
          </a:p>
          <a:p xmlns:a="http://schemas.openxmlformats.org/drawingml/2006/main">
            <a:pPr algn="l">
              <a:lnSpc>
                <a:spcPct val="100000"/>
              </a:lnSpc>
              <a:buNone/>
              <a:defRPr sz="1050" b="0" i="0">
                <a:solidFill>
                  <a:srgbClr val="172B4D"/>
                </a:solidFill>
                <a:latin typeface="Consolas"/>
                <a:ea typeface="Consolas"/>
                <a:cs typeface="Consolas"/>
              </a:defRPr>
            </a:pPr>
            <a:r>
              <a:rPr sz="1050" b="0" i="0">
                <a:solidFill>
                  <a:srgbClr val="172B4D"/>
                </a:solidFill>
                <a:latin typeface="Consolas"/>
                <a:ea typeface="Consolas"/>
                <a:cs typeface="Consolas"/>
              </a:rPr>
              <a:t>• enforce ownership boundaries</a:t>
            </a:r>
          </a:p>
          <a:p xmlns:a="http://schemas.openxmlformats.org/drawingml/2006/main">
            <a:pPr algn="l">
              <a:lnSpc>
                <a:spcPct val="100000"/>
              </a:lnSpc>
              <a:buNone/>
              <a:defRPr sz="1050" b="0" i="0">
                <a:solidFill>
                  <a:srgbClr val="172B4D"/>
                </a:solidFill>
                <a:latin typeface="Consolas"/>
                <a:ea typeface="Consolas"/>
                <a:cs typeface="Consolas"/>
              </a:defRPr>
            </a:pPr>
            <a:r>
              <a:rPr sz="1050" b="0" i="0">
                <a:solidFill>
                  <a:srgbClr val="172B4D"/>
                </a:solidFill>
                <a:latin typeface="Consolas"/>
                <a:ea typeface="Consolas"/>
                <a:cs typeface="Consolas"/>
              </a:rPr>
              <a:t>• define idempotent uploads</a:t>
            </a:r>
          </a:p>
          <a:p xmlns:a="http://schemas.openxmlformats.org/drawingml/2006/main">
            <a:pPr algn="l">
              <a:lnSpc>
                <a:spcPct val="100000"/>
              </a:lnSpc>
              <a:buNone/>
              <a:defRPr sz="1050" b="0" i="0">
                <a:solidFill>
                  <a:srgbClr val="172B4D"/>
                </a:solidFill>
                <a:latin typeface="Consolas"/>
                <a:ea typeface="Consolas"/>
                <a:cs typeface="Consolas"/>
              </a:defRPr>
            </a:pPr>
            <a:r>
              <a:rPr sz="1050" b="0" i="0">
                <a:solidFill>
                  <a:srgbClr val="172B4D"/>
                </a:solidFill>
                <a:latin typeface="Consolas"/>
                <a:ea typeface="Consolas"/>
                <a:cs typeface="Consolas"/>
              </a:rPr>
              <a:t>• test 404/412 behavior</a:t>
            </a:r>
          </a:p>
          <a:p xmlns:a="http://schemas.openxmlformats.org/drawingml/2006/main">
            <a:pPr algn="l">
              <a:lnSpc>
                <a:spcPct val="100000"/>
              </a:lnSpc>
              <a:buNone/>
              <a:defRPr sz="1050" b="0" i="0">
                <a:solidFill>
                  <a:srgbClr val="172B4D"/>
                </a:solidFill>
                <a:latin typeface="Consolas"/>
                <a:ea typeface="Consolas"/>
                <a:cs typeface="Consolas"/>
              </a:defRPr>
            </a:pPr>
            <a:r>
              <a:rPr sz="1050" b="0" i="0">
                <a:solidFill>
                  <a:srgbClr val="172B4D"/>
                </a:solidFill>
                <a:latin typeface="Consolas"/>
                <a:ea typeface="Consolas"/>
                <a:cs typeface="Consolas"/>
              </a:rPr>
              <a:t>• explain transaction seams</a:t>
            </a:r>
          </a:p>
          <a:p xmlns:a="http://schemas.openxmlformats.org/drawingml/2006/main">
            <a:pPr algn="l">
              <a:lnSpc>
                <a:spcPct val="100000"/>
              </a:lnSpc>
              <a:buNone/>
              <a:defRPr sz="1050" b="0" i="0">
                <a:solidFill>
                  <a:srgbClr val="172B4D"/>
                </a:solidFill>
                <a:latin typeface="Consolas"/>
                <a:ea typeface="Consolas"/>
                <a:cs typeface="Consolas"/>
              </a:defRPr>
            </a:pPr>
            <a:r>
              <a:rPr sz="1050" b="0" i="0">
                <a:solidFill>
                  <a:srgbClr val="172B4D"/>
                </a:solidFill>
                <a:latin typeface="Consolas"/>
                <a:ea typeface="Consolas"/>
                <a:cs typeface="Consolas"/>
              </a:rPr>
              <a:t>• discuss observability and failure recovery</a:t>
            </a:r>
          </a:p>
        </p:txBody>
      </p:sp>
      <p:sp>
        <p:nvSpPr>
          <p:cNvPr id="33" name="chunk-source-note">
            <a:extLst xmlns:a="http://schemas.openxmlformats.org/drawingml/2006/main">
              <a:ext uri="{FF2B5EF4-FFF2-40B4-BE49-F238E27FC236}">
                <a16:creationId xmlns:a16="http://schemas.microsoft.com/office/drawing/2014/main" id="{69ED3FBD-1687-418B-A62A-02FD68F23258}"/>
              </a:ext>
            </a:extLst>
          </p:cNvPr>
          <p:cNvSpPr>
            <a:spLocks xmlns:a="http://schemas.openxmlformats.org/drawingml/2006/main" noGrp="1"/>
          </p:cNvSpPr>
          <p:nvPr/>
        </p:nvSpPr>
        <p:spPr>
          <a:xfrm xmlns:a="http://schemas.openxmlformats.org/drawingml/2006/main">
            <a:off x="571500" y="4829175"/>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350"/>
          </a:bodyPr>
          <a:lstStyle xmlns:a="http://schemas.openxmlformats.org/drawingml/2006/main"/>
          <a:p xmlns:a="http://schemas.openxmlformats.org/drawingml/2006/main">
            <a:pPr algn="l">
              <a:defRPr sz="975" b="1" i="0">
                <a:solidFill>
                  <a:srgbClr val="5B6B7F"/>
                </a:solidFill>
                <a:latin typeface="Calibri"/>
                <a:ea typeface="Calibri"/>
                <a:cs typeface="Calibri"/>
              </a:defRPr>
            </a:pPr>
            <a:r>
              <a:rPr sz="975" b="1" i="0">
                <a:solidFill>
                  <a:srgbClr val="5B6B7F"/>
                </a:solidFill>
                <a:latin typeface="Calibri"/>
                <a:ea typeface="Calibri"/>
                <a:cs typeface="Calibri"/>
              </a:rPr>
              <a:t>One competency heading remains the semantic anchor.</a:t>
            </a:r>
          </a:p>
        </p:txBody>
      </p:sp>
      <p:sp>
        <p:nvSpPr>
          <p:cNvPr id="34" name="chunk-a">
            <a:extLst xmlns:a="http://schemas.openxmlformats.org/drawingml/2006/main">
              <a:ext uri="{FF2B5EF4-FFF2-40B4-BE49-F238E27FC236}">
                <a16:creationId xmlns:a16="http://schemas.microsoft.com/office/drawing/2014/main" id="{5E6CA738-A991-4453-BBED-CB34F933D678}"/>
              </a:ext>
            </a:extLst>
          </p:cNvPr>
          <p:cNvSpPr>
            <a:spLocks xmlns:a="http://schemas.openxmlformats.org/drawingml/2006/main" noGrp="1"/>
          </p:cNvSpPr>
          <p:nvPr/>
        </p:nvSpPr>
        <p:spPr>
          <a:xfrm xmlns:a="http://schemas.openxmlformats.org/drawingml/2006/main">
            <a:off x="3676650" y="1952625"/>
            <a:ext cx="3733800" cy="3219450"/>
          </a:xfrm>
          <a:prstGeom xmlns:a="http://schemas.openxmlformats.org/drawingml/2006/main" prst="roundRect">
            <a:avLst>
              <a:gd name="adj" fmla="val 2367"/>
            </a:avLst>
          </a:prstGeom>
          <a:solidFill xmlns:a="http://schemas.openxmlformats.org/drawingml/2006/main">
            <a:srgbClr val="EAF2FF"/>
          </a:solidFill>
          <a:ln xmlns:a="http://schemas.openxmlformats.org/drawingml/2006/main" w="9525">
            <a:solidFill>
              <a:srgbClr val="B8CDF2"/>
            </a:solidFill>
            <a:prstDash val="solid"/>
          </a:ln>
        </p:spPr>
      </p:sp>
      <p:sp>
        <p:nvSpPr>
          <p:cNvPr id="35" name="chunk-a-badge-bg">
            <a:extLst xmlns:a="http://schemas.openxmlformats.org/drawingml/2006/main">
              <a:ext uri="{FF2B5EF4-FFF2-40B4-BE49-F238E27FC236}">
                <a16:creationId xmlns:a16="http://schemas.microsoft.com/office/drawing/2014/main" id="{DF133771-152D-417A-AB0E-06BEAE5FA4D3}"/>
              </a:ext>
            </a:extLst>
          </p:cNvPr>
          <p:cNvSpPr>
            <a:spLocks xmlns:a="http://schemas.openxmlformats.org/drawingml/2006/main" noGrp="1"/>
          </p:cNvSpPr>
          <p:nvPr/>
        </p:nvSpPr>
        <p:spPr>
          <a:xfrm xmlns:a="http://schemas.openxmlformats.org/drawingml/2006/main">
            <a:off x="3848100" y="2133600"/>
            <a:ext cx="1962150" cy="266700"/>
          </a:xfrm>
          <a:prstGeom xmlns:a="http://schemas.openxmlformats.org/drawingml/2006/main" prst="roundRect">
            <a:avLst>
              <a:gd name="adj" fmla="val 28571"/>
            </a:avLst>
          </a:prstGeom>
          <a:solidFill xmlns:a="http://schemas.openxmlformats.org/drawingml/2006/main">
            <a:srgbClr val="2A6FDB"/>
          </a:solidFill>
          <a:ln xmlns:a="http://schemas.openxmlformats.org/drawingml/2006/main" w="0">
            <a:noFill/>
            <a:prstDash val="solid"/>
          </a:ln>
        </p:spPr>
      </p:sp>
      <p:sp>
        <p:nvSpPr>
          <p:cNvPr id="36" name="chunk-a-badge-text">
            <a:extLst xmlns:a="http://schemas.openxmlformats.org/drawingml/2006/main">
              <a:ext uri="{FF2B5EF4-FFF2-40B4-BE49-F238E27FC236}">
                <a16:creationId xmlns:a16="http://schemas.microsoft.com/office/drawing/2014/main" id="{DC659A91-C074-4255-BD00-96C065240E31}"/>
              </a:ext>
            </a:extLst>
          </p:cNvPr>
          <p:cNvSpPr>
            <a:spLocks xmlns:a="http://schemas.openxmlformats.org/drawingml/2006/main" noGrp="1"/>
          </p:cNvSpPr>
          <p:nvPr/>
        </p:nvSpPr>
        <p:spPr>
          <a:xfrm xmlns:a="http://schemas.openxmlformats.org/drawingml/2006/main">
            <a:off x="3848100" y="2143125"/>
            <a:ext cx="1962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FFFFFF"/>
                </a:solidFill>
                <a:latin typeface="Calibri"/>
                <a:ea typeface="Calibri"/>
                <a:cs typeface="Calibri"/>
              </a:defRPr>
            </a:pPr>
            <a:r>
              <a:rPr sz="900" b="1" i="0">
                <a:solidFill>
                  <a:srgbClr val="FFFFFF"/>
                </a:solidFill>
                <a:latin typeface="Calibri"/>
                <a:ea typeface="Calibri"/>
                <a:cs typeface="Calibri"/>
              </a:rPr>
              <a:t>CHUNK A · TOKENS 1–320</a:t>
            </a:r>
          </a:p>
        </p:txBody>
      </p:sp>
      <p:sp>
        <p:nvSpPr>
          <p:cNvPr id="37" name="chunk-a-title">
            <a:extLst xmlns:a="http://schemas.openxmlformats.org/drawingml/2006/main">
              <a:ext uri="{FF2B5EF4-FFF2-40B4-BE49-F238E27FC236}">
                <a16:creationId xmlns:a16="http://schemas.microsoft.com/office/drawing/2014/main" id="{BC21DE68-089F-4993-BCAB-0F81A9532B84}"/>
              </a:ext>
            </a:extLst>
          </p:cNvPr>
          <p:cNvSpPr>
            <a:spLocks xmlns:a="http://schemas.openxmlformats.org/drawingml/2006/main" noGrp="1"/>
          </p:cNvSpPr>
          <p:nvPr/>
        </p:nvSpPr>
        <p:spPr>
          <a:xfrm xmlns:a="http://schemas.openxmlformats.org/drawingml/2006/main">
            <a:off x="3848100" y="2562225"/>
            <a:ext cx="3295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173B67"/>
                </a:solidFill>
                <a:latin typeface="Calibri"/>
                <a:ea typeface="Calibri"/>
                <a:cs typeface="Calibri"/>
              </a:defRPr>
            </a:pPr>
            <a:r>
              <a:rPr sz="1275" b="1" i="0">
                <a:solidFill>
                  <a:srgbClr val="173B67"/>
                </a:solidFill>
                <a:latin typeface="Calibri"/>
                <a:ea typeface="Calibri"/>
                <a:cs typeface="Calibri"/>
              </a:rPr>
              <a:t>FastAPI API Design — core contract</a:t>
            </a:r>
          </a:p>
        </p:txBody>
      </p:sp>
      <p:sp>
        <p:nvSpPr>
          <p:cNvPr id="38" name="chunk-a-body">
            <a:extLst xmlns:a="http://schemas.openxmlformats.org/drawingml/2006/main">
              <a:ext uri="{FF2B5EF4-FFF2-40B4-BE49-F238E27FC236}">
                <a16:creationId xmlns:a16="http://schemas.microsoft.com/office/drawing/2014/main" id="{698B5FB4-1949-4911-9961-4934F24F0A3B}"/>
              </a:ext>
            </a:extLst>
          </p:cNvPr>
          <p:cNvSpPr>
            <a:spLocks xmlns:a="http://schemas.openxmlformats.org/drawingml/2006/main" noGrp="1"/>
          </p:cNvSpPr>
          <p:nvPr/>
        </p:nvSpPr>
        <p:spPr>
          <a:xfrm xmlns:a="http://schemas.openxmlformats.org/drawingml/2006/main">
            <a:off x="3848100" y="2990850"/>
            <a:ext cx="329565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172B4D"/>
                </a:solidFill>
                <a:latin typeface="Calibri"/>
                <a:ea typeface="Calibri"/>
                <a:cs typeface="Calibri"/>
              </a:defRPr>
            </a:pPr>
            <a:r>
              <a:rPr sz="1125" b="0" i="0">
                <a:solidFill>
                  <a:srgbClr val="172B4D"/>
                </a:solidFill>
                <a:latin typeface="Calibri"/>
                <a:ea typeface="Calibri"/>
                <a:cs typeface="Calibri"/>
              </a:rPr>
              <a:t>Heading + explanation + route design + Pydantic validation + ownership + idempotency.</a:t>
            </a:r>
          </a:p>
          <a:p xmlns:a="http://schemas.openxmlformats.org/drawingml/2006/main">
            <a:r>
              <a:t/>
            </a:r>
          </a:p>
          <a:p xmlns:a="http://schemas.openxmlformats.org/drawingml/2006/main">
            <a:pPr algn="l">
              <a:defRPr sz="1125" b="0" i="0">
                <a:solidFill>
                  <a:srgbClr val="172B4D"/>
                </a:solidFill>
                <a:latin typeface="Calibri"/>
                <a:ea typeface="Calibri"/>
                <a:cs typeface="Calibri"/>
              </a:defRPr>
            </a:pPr>
            <a:r>
              <a:rPr sz="1125" b="0" i="0">
                <a:solidFill>
                  <a:srgbClr val="172B4D"/>
                </a:solidFill>
                <a:latin typeface="Calibri"/>
                <a:ea typeface="Calibri"/>
                <a:cs typeface="Calibri"/>
              </a:rPr>
              <a:t>Ends after the complete ‘upload contract’ idea; it does not cut a sentence or code term.</a:t>
            </a:r>
          </a:p>
        </p:txBody>
      </p:sp>
      <p:sp>
        <p:nvSpPr>
          <p:cNvPr id="39" name="chunk-a-meta">
            <a:extLst xmlns:a="http://schemas.openxmlformats.org/drawingml/2006/main">
              <a:ext uri="{FF2B5EF4-FFF2-40B4-BE49-F238E27FC236}">
                <a16:creationId xmlns:a16="http://schemas.microsoft.com/office/drawing/2014/main" id="{ED43CD51-B243-41BB-9943-00447D1CE32F}"/>
              </a:ext>
            </a:extLst>
          </p:cNvPr>
          <p:cNvSpPr>
            <a:spLocks xmlns:a="http://schemas.openxmlformats.org/drawingml/2006/main" noGrp="1"/>
          </p:cNvSpPr>
          <p:nvPr/>
        </p:nvSpPr>
        <p:spPr>
          <a:xfrm xmlns:a="http://schemas.openxmlformats.org/drawingml/2006/main">
            <a:off x="3848100" y="4505325"/>
            <a:ext cx="3295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5B6B7F"/>
                </a:solidFill>
                <a:latin typeface="Consolas"/>
                <a:ea typeface="Consolas"/>
                <a:cs typeface="Consolas"/>
              </a:defRPr>
            </a:pPr>
            <a:r>
              <a:rPr sz="975" b="0" i="0">
                <a:solidFill>
                  <a:srgbClr val="5B6B7F"/>
                </a:solidFill>
                <a:latin typeface="Consolas"/>
                <a:ea typeface="Consolas"/>
                <a:cs typeface="Consolas"/>
              </a:rPr>
              <a:t>domain=backend  |  level=junior</a:t>
            </a:r>
          </a:p>
          <a:p xmlns:a="http://schemas.openxmlformats.org/drawingml/2006/main">
            <a:pPr algn="l">
              <a:defRPr sz="975" b="0" i="0">
                <a:solidFill>
                  <a:srgbClr val="5B6B7F"/>
                </a:solidFill>
                <a:latin typeface="Consolas"/>
                <a:ea typeface="Consolas"/>
                <a:cs typeface="Consolas"/>
              </a:defRPr>
            </a:pPr>
            <a:r>
              <a:rPr sz="975" b="0" i="0">
                <a:solidFill>
                  <a:srgbClr val="5B6B7F"/>
                </a:solidFill>
                <a:latin typeface="Consolas"/>
                <a:ea typeface="Consolas"/>
                <a:cs typeface="Consolas"/>
              </a:rPr>
              <a:t>source=knowledge/backend.md#fastapi-api-design</a:t>
            </a:r>
          </a:p>
        </p:txBody>
      </p:sp>
      <p:sp>
        <p:nvSpPr>
          <p:cNvPr id="40" name="chunk-b">
            <a:extLst xmlns:a="http://schemas.openxmlformats.org/drawingml/2006/main">
              <a:ext uri="{FF2B5EF4-FFF2-40B4-BE49-F238E27FC236}">
                <a16:creationId xmlns:a16="http://schemas.microsoft.com/office/drawing/2014/main" id="{B6E9AF8B-032F-4514-B150-1F2A03FF9178}"/>
              </a:ext>
            </a:extLst>
          </p:cNvPr>
          <p:cNvSpPr>
            <a:spLocks xmlns:a="http://schemas.openxmlformats.org/drawingml/2006/main" noGrp="1"/>
          </p:cNvSpPr>
          <p:nvPr/>
        </p:nvSpPr>
        <p:spPr>
          <a:xfrm xmlns:a="http://schemas.openxmlformats.org/drawingml/2006/main">
            <a:off x="7639050" y="1952625"/>
            <a:ext cx="3810000" cy="3219450"/>
          </a:xfrm>
          <a:prstGeom xmlns:a="http://schemas.openxmlformats.org/drawingml/2006/main" prst="roundRect">
            <a:avLst>
              <a:gd name="adj" fmla="val 2367"/>
            </a:avLst>
          </a:prstGeom>
          <a:solidFill xmlns:a="http://schemas.openxmlformats.org/drawingml/2006/main">
            <a:srgbClr val="EAF7F3"/>
          </a:solidFill>
          <a:ln xmlns:a="http://schemas.openxmlformats.org/drawingml/2006/main" w="9525">
            <a:solidFill>
              <a:srgbClr val="B8DED3"/>
            </a:solidFill>
            <a:prstDash val="solid"/>
          </a:ln>
        </p:spPr>
      </p:sp>
      <p:sp>
        <p:nvSpPr>
          <p:cNvPr id="41" name="chunk-b-badge-bg">
            <a:extLst xmlns:a="http://schemas.openxmlformats.org/drawingml/2006/main">
              <a:ext uri="{FF2B5EF4-FFF2-40B4-BE49-F238E27FC236}">
                <a16:creationId xmlns:a16="http://schemas.microsoft.com/office/drawing/2014/main" id="{A5E2C3B6-F908-4119-B1C8-3D9E51390CB9}"/>
              </a:ext>
            </a:extLst>
          </p:cNvPr>
          <p:cNvSpPr>
            <a:spLocks xmlns:a="http://schemas.openxmlformats.org/drawingml/2006/main" noGrp="1"/>
          </p:cNvSpPr>
          <p:nvPr/>
        </p:nvSpPr>
        <p:spPr>
          <a:xfrm xmlns:a="http://schemas.openxmlformats.org/drawingml/2006/main">
            <a:off x="7810500" y="2133600"/>
            <a:ext cx="2038350" cy="266700"/>
          </a:xfrm>
          <a:prstGeom xmlns:a="http://schemas.openxmlformats.org/drawingml/2006/main" prst="roundRect">
            <a:avLst>
              <a:gd name="adj" fmla="val 28571"/>
            </a:avLst>
          </a:prstGeom>
          <a:solidFill xmlns:a="http://schemas.openxmlformats.org/drawingml/2006/main">
            <a:srgbClr val="16866C"/>
          </a:solidFill>
          <a:ln xmlns:a="http://schemas.openxmlformats.org/drawingml/2006/main" w="0">
            <a:noFill/>
            <a:prstDash val="solid"/>
          </a:ln>
        </p:spPr>
      </p:sp>
      <p:sp>
        <p:nvSpPr>
          <p:cNvPr id="42" name="chunk-b-badge-text">
            <a:extLst xmlns:a="http://schemas.openxmlformats.org/drawingml/2006/main">
              <a:ext uri="{FF2B5EF4-FFF2-40B4-BE49-F238E27FC236}">
                <a16:creationId xmlns:a16="http://schemas.microsoft.com/office/drawing/2014/main" id="{EC60A487-C6E3-49E5-B983-5C3DA13A3F12}"/>
              </a:ext>
            </a:extLst>
          </p:cNvPr>
          <p:cNvSpPr>
            <a:spLocks xmlns:a="http://schemas.openxmlformats.org/drawingml/2006/main" noGrp="1"/>
          </p:cNvSpPr>
          <p:nvPr/>
        </p:nvSpPr>
        <p:spPr>
          <a:xfrm xmlns:a="http://schemas.openxmlformats.org/drawingml/2006/main">
            <a:off x="7810500" y="2143125"/>
            <a:ext cx="20383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FFFFFF"/>
                </a:solidFill>
                <a:latin typeface="Calibri"/>
                <a:ea typeface="Calibri"/>
                <a:cs typeface="Calibri"/>
              </a:defRPr>
            </a:pPr>
            <a:r>
              <a:rPr sz="900" b="1" i="0">
                <a:solidFill>
                  <a:srgbClr val="FFFFFF"/>
                </a:solidFill>
                <a:latin typeface="Calibri"/>
                <a:ea typeface="Calibri"/>
                <a:cs typeface="Calibri"/>
              </a:rPr>
              <a:t>CHUNK B · TOKENS 271–520</a:t>
            </a:r>
          </a:p>
        </p:txBody>
      </p:sp>
      <p:sp>
        <p:nvSpPr>
          <p:cNvPr id="43" name="chunk-b-title">
            <a:extLst xmlns:a="http://schemas.openxmlformats.org/drawingml/2006/main">
              <a:ext uri="{FF2B5EF4-FFF2-40B4-BE49-F238E27FC236}">
                <a16:creationId xmlns:a16="http://schemas.microsoft.com/office/drawing/2014/main" id="{A73161CC-6BE2-41AF-9A0B-1E8BFCE2F8F1}"/>
              </a:ext>
            </a:extLst>
          </p:cNvPr>
          <p:cNvSpPr>
            <a:spLocks xmlns:a="http://schemas.openxmlformats.org/drawingml/2006/main" noGrp="1"/>
          </p:cNvSpPr>
          <p:nvPr/>
        </p:nvSpPr>
        <p:spPr>
          <a:xfrm xmlns:a="http://schemas.openxmlformats.org/drawingml/2006/main">
            <a:off x="7810500" y="2562225"/>
            <a:ext cx="3371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173B67"/>
                </a:solidFill>
                <a:latin typeface="Calibri"/>
                <a:ea typeface="Calibri"/>
                <a:cs typeface="Calibri"/>
              </a:defRPr>
            </a:pPr>
            <a:r>
              <a:rPr sz="1275" b="1" i="0">
                <a:solidFill>
                  <a:srgbClr val="173B67"/>
                </a:solidFill>
                <a:latin typeface="Calibri"/>
                <a:ea typeface="Calibri"/>
                <a:cs typeface="Calibri"/>
              </a:rPr>
              <a:t>FastAPI API Design — reliability</a:t>
            </a:r>
          </a:p>
        </p:txBody>
      </p:sp>
      <p:sp>
        <p:nvSpPr>
          <p:cNvPr id="44" name="chunk-b-body">
            <a:extLst xmlns:a="http://schemas.openxmlformats.org/drawingml/2006/main">
              <a:ext uri="{FF2B5EF4-FFF2-40B4-BE49-F238E27FC236}">
                <a16:creationId xmlns:a16="http://schemas.microsoft.com/office/drawing/2014/main" id="{CDD16F6D-308E-47BA-A7F3-AAF6B5F9C75B}"/>
              </a:ext>
            </a:extLst>
          </p:cNvPr>
          <p:cNvSpPr>
            <a:spLocks xmlns:a="http://schemas.openxmlformats.org/drawingml/2006/main" noGrp="1"/>
          </p:cNvSpPr>
          <p:nvPr/>
        </p:nvSpPr>
        <p:spPr>
          <a:xfrm xmlns:a="http://schemas.openxmlformats.org/drawingml/2006/main">
            <a:off x="7810500" y="2990850"/>
            <a:ext cx="337185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172B4D"/>
                </a:solidFill>
                <a:latin typeface="Calibri"/>
                <a:ea typeface="Calibri"/>
                <a:cs typeface="Calibri"/>
              </a:defRPr>
            </a:pPr>
            <a:r>
              <a:rPr sz="1125" b="0" i="0">
                <a:solidFill>
                  <a:srgbClr val="172B4D"/>
                </a:solidFill>
                <a:latin typeface="Calibri"/>
                <a:ea typeface="Calibri"/>
                <a:cs typeface="Calibri"/>
              </a:rPr>
              <a:t>Repeats the final 50 tokens about idempotency, then continues with 404/412 behavior, transaction seams, observability and recovery.</a:t>
            </a:r>
          </a:p>
          <a:p xmlns:a="http://schemas.openxmlformats.org/drawingml/2006/main">
            <a:r>
              <a:t/>
            </a:r>
          </a:p>
          <a:p xmlns:a="http://schemas.openxmlformats.org/drawingml/2006/main">
            <a:pPr algn="l">
              <a:defRPr sz="1125" b="0" i="0">
                <a:solidFill>
                  <a:srgbClr val="172B4D"/>
                </a:solidFill>
                <a:latin typeface="Calibri"/>
                <a:ea typeface="Calibri"/>
                <a:cs typeface="Calibri"/>
              </a:defRPr>
            </a:pPr>
            <a:r>
              <a:rPr sz="1125" b="0" i="0">
                <a:solidFill>
                  <a:srgbClr val="172B4D"/>
                </a:solidFill>
                <a:latin typeface="Calibri"/>
                <a:ea typeface="Calibri"/>
                <a:cs typeface="Calibri"/>
              </a:rPr>
              <a:t>The overlap preserves the transition between contract and reliability.</a:t>
            </a:r>
          </a:p>
        </p:txBody>
      </p:sp>
      <p:sp>
        <p:nvSpPr>
          <p:cNvPr id="45" name="chunk-b-meta">
            <a:extLst xmlns:a="http://schemas.openxmlformats.org/drawingml/2006/main">
              <a:ext uri="{FF2B5EF4-FFF2-40B4-BE49-F238E27FC236}">
                <a16:creationId xmlns:a16="http://schemas.microsoft.com/office/drawing/2014/main" id="{748D2025-D9E2-4A5D-976A-4D173F2E6830}"/>
              </a:ext>
            </a:extLst>
          </p:cNvPr>
          <p:cNvSpPr>
            <a:spLocks xmlns:a="http://schemas.openxmlformats.org/drawingml/2006/main" noGrp="1"/>
          </p:cNvSpPr>
          <p:nvPr/>
        </p:nvSpPr>
        <p:spPr>
          <a:xfrm xmlns:a="http://schemas.openxmlformats.org/drawingml/2006/main">
            <a:off x="7810500" y="4505325"/>
            <a:ext cx="3371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5B6B7F"/>
                </a:solidFill>
                <a:latin typeface="Consolas"/>
                <a:ea typeface="Consolas"/>
                <a:cs typeface="Consolas"/>
              </a:defRPr>
            </a:pPr>
            <a:r>
              <a:rPr sz="975" b="0" i="0">
                <a:solidFill>
                  <a:srgbClr val="5B6B7F"/>
                </a:solidFill>
                <a:latin typeface="Consolas"/>
                <a:ea typeface="Consolas"/>
                <a:cs typeface="Consolas"/>
              </a:rPr>
              <a:t>content_hash=sha256(...)</a:t>
            </a:r>
          </a:p>
          <a:p xmlns:a="http://schemas.openxmlformats.org/drawingml/2006/main">
            <a:pPr algn="l">
              <a:defRPr sz="975" b="0" i="0">
                <a:solidFill>
                  <a:srgbClr val="5B6B7F"/>
                </a:solidFill>
                <a:latin typeface="Consolas"/>
                <a:ea typeface="Consolas"/>
                <a:cs typeface="Consolas"/>
              </a:defRPr>
            </a:pPr>
            <a:r>
              <a:rPr sz="975" b="0" i="0">
                <a:solidFill>
                  <a:srgbClr val="5B6B7F"/>
                </a:solidFill>
                <a:latin typeface="Consolas"/>
                <a:ea typeface="Consolas"/>
                <a:cs typeface="Consolas"/>
              </a:rPr>
              <a:t>chunker_version=semantic-v1  |  active=true</a:t>
            </a:r>
          </a:p>
        </p:txBody>
      </p:sp>
      <p:sp>
        <p:nvSpPr>
          <p:cNvPr id="46" name="chunk-overlap-band">
            <a:extLst xmlns:a="http://schemas.openxmlformats.org/drawingml/2006/main">
              <a:ext uri="{FF2B5EF4-FFF2-40B4-BE49-F238E27FC236}">
                <a16:creationId xmlns:a16="http://schemas.microsoft.com/office/drawing/2014/main" id="{E74A0D1C-C3C3-45CB-8654-4E29BA5E251F}"/>
              </a:ext>
            </a:extLst>
          </p:cNvPr>
          <p:cNvSpPr>
            <a:spLocks xmlns:a="http://schemas.openxmlformats.org/drawingml/2006/main" noGrp="1"/>
          </p:cNvSpPr>
          <p:nvPr/>
        </p:nvSpPr>
        <p:spPr>
          <a:xfrm xmlns:a="http://schemas.openxmlformats.org/drawingml/2006/main">
            <a:off x="400050" y="5391150"/>
            <a:ext cx="11049000" cy="571500"/>
          </a:xfrm>
          <a:prstGeom xmlns:a="http://schemas.openxmlformats.org/drawingml/2006/main" prst="roundRect">
            <a:avLst>
              <a:gd name="adj" fmla="val 13333"/>
            </a:avLst>
          </a:prstGeom>
          <a:solidFill xmlns:a="http://schemas.openxmlformats.org/drawingml/2006/main">
            <a:srgbClr val="FFF3E5"/>
          </a:solidFill>
          <a:ln xmlns:a="http://schemas.openxmlformats.org/drawingml/2006/main" w="9525">
            <a:solidFill>
              <a:srgbClr val="F0D0A9"/>
            </a:solidFill>
            <a:prstDash val="solid"/>
          </a:ln>
        </p:spPr>
      </p:sp>
      <p:sp>
        <p:nvSpPr>
          <p:cNvPr id="47" name="chunk-overlap-label">
            <a:extLst xmlns:a="http://schemas.openxmlformats.org/drawingml/2006/main">
              <a:ext uri="{FF2B5EF4-FFF2-40B4-BE49-F238E27FC236}">
                <a16:creationId xmlns:a16="http://schemas.microsoft.com/office/drawing/2014/main" id="{BAD2719B-D160-4A13-AF23-4C43E372ED1E}"/>
              </a:ext>
            </a:extLst>
          </p:cNvPr>
          <p:cNvSpPr>
            <a:spLocks xmlns:a="http://schemas.openxmlformats.org/drawingml/2006/main" noGrp="1"/>
          </p:cNvSpPr>
          <p:nvPr/>
        </p:nvSpPr>
        <p:spPr>
          <a:xfrm xmlns:a="http://schemas.openxmlformats.org/drawingml/2006/main">
            <a:off x="571500" y="55435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D77A24"/>
                </a:solidFill>
                <a:latin typeface="Calibri"/>
                <a:ea typeface="Calibri"/>
                <a:cs typeface="Calibri"/>
              </a:defRPr>
            </a:pPr>
            <a:r>
              <a:rPr sz="1050" b="1" i="0">
                <a:solidFill>
                  <a:srgbClr val="D77A24"/>
                </a:solidFill>
                <a:latin typeface="Calibri"/>
                <a:ea typeface="Calibri"/>
                <a:cs typeface="Calibri"/>
              </a:rPr>
              <a:t>50-TOKEN OVERLAP</a:t>
            </a:r>
          </a:p>
        </p:txBody>
      </p:sp>
      <p:sp>
        <p:nvSpPr>
          <p:cNvPr id="48" name="chunk-overlap-explanation">
            <a:extLst xmlns:a="http://schemas.openxmlformats.org/drawingml/2006/main">
              <a:ext uri="{FF2B5EF4-FFF2-40B4-BE49-F238E27FC236}">
                <a16:creationId xmlns:a16="http://schemas.microsoft.com/office/drawing/2014/main" id="{518AB18F-BBAC-4806-B7DB-66E1BC1605F2}"/>
              </a:ext>
            </a:extLst>
          </p:cNvPr>
          <p:cNvSpPr>
            <a:spLocks xmlns:a="http://schemas.openxmlformats.org/drawingml/2006/main" noGrp="1"/>
          </p:cNvSpPr>
          <p:nvPr/>
        </p:nvSpPr>
        <p:spPr>
          <a:xfrm xmlns:a="http://schemas.openxmlformats.org/drawingml/2006/main">
            <a:off x="2362200" y="5514975"/>
            <a:ext cx="883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i="0">
                <a:solidFill>
                  <a:srgbClr val="172B4D"/>
                </a:solidFill>
                <a:latin typeface="Calibri"/>
                <a:ea typeface="Calibri"/>
                <a:cs typeface="Calibri"/>
              </a:defRPr>
            </a:pPr>
            <a:r>
              <a:rPr sz="1125" b="0" i="0">
                <a:solidFill>
                  <a:srgbClr val="172B4D"/>
                </a:solidFill>
                <a:latin typeface="Calibri"/>
                <a:ea typeface="Calibri"/>
                <a:cs typeface="Calibri"/>
              </a:rPr>
              <a:t>Use overlap only when a long competency spans chunks; keep identifiers and provenance as metadata instead of embedding them into prose.</a:t>
            </a:r>
          </a:p>
        </p:txBody>
      </p:sp>
      <p:sp>
        <p:nvSpPr>
          <p:cNvPr id="49" name="chunk-header-overlay">
            <a:extLst xmlns:a="http://schemas.openxmlformats.org/drawingml/2006/main">
              <a:ext uri="{FF2B5EF4-FFF2-40B4-BE49-F238E27FC236}">
                <a16:creationId xmlns:a16="http://schemas.microsoft.com/office/drawing/2014/main" id="{E5C7C192-54B2-4A54-BDF2-7E3A26C47266}"/>
              </a:ext>
            </a:extLst>
          </p:cNvPr>
          <p:cNvSpPr>
            <a:spLocks xmlns:a="http://schemas.openxmlformats.org/drawingml/2006/main" noGrp="1"/>
          </p:cNvSpPr>
          <p:nvPr/>
        </p:nvSpPr>
        <p:spPr>
          <a:xfrm xmlns:a="http://schemas.openxmlformats.org/drawingml/2006/main">
            <a:off x="400050" y="2857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025" b="1" i="0">
                <a:solidFill>
                  <a:srgbClr val="173B67"/>
                </a:solidFill>
                <a:latin typeface="Calibri"/>
                <a:ea typeface="Calibri"/>
                <a:cs typeface="Calibri"/>
              </a:defRPr>
            </a:pPr>
            <a:r>
              <a:rPr sz="2025" b="1" i="0">
                <a:solidFill>
                  <a:srgbClr val="173B67"/>
                </a:solidFill>
                <a:latin typeface="Calibri"/>
                <a:ea typeface="Calibri"/>
                <a:cs typeface="Calibri"/>
              </a:rPr>
              <a:t>3. DATA &amp; KNOWLEDGE PIPELINE</a:t>
            </a:r>
          </a:p>
        </p:txBody>
      </p:sp>
      <p:sp>
        <p:nvSpPr>
          <p:cNvPr id="50" name="chunk-header-rule-overlay">
            <a:extLst xmlns:a="http://schemas.openxmlformats.org/drawingml/2006/main">
              <a:ext uri="{FF2B5EF4-FFF2-40B4-BE49-F238E27FC236}">
                <a16:creationId xmlns:a16="http://schemas.microsoft.com/office/drawing/2014/main" id="{07BE7416-332B-4A62-86C0-679D45D76439}"/>
              </a:ext>
            </a:extLst>
          </p:cNvPr>
          <p:cNvSpPr>
            <a:spLocks xmlns:a="http://schemas.openxmlformats.org/drawingml/2006/main" noGrp="1"/>
          </p:cNvSpPr>
          <p:nvPr/>
        </p:nvSpPr>
        <p:spPr>
          <a:xfrm xmlns:a="http://schemas.openxmlformats.org/drawingml/2006/main">
            <a:off x="400050" y="723900"/>
            <a:ext cx="9715500" cy="0"/>
          </a:xfrm>
          <a:prstGeom xmlns:a="http://schemas.openxmlformats.org/drawingml/2006/main" prst="line">
            <a:avLst/>
          </a:prstGeom>
          <a:noFill xmlns:a="http://schemas.openxmlformats.org/drawingml/2006/main"/>
          <a:ln xmlns:a="http://schemas.openxmlformats.org/drawingml/2006/main" w="9525">
            <a:solidFill>
              <a:srgbClr val="D8E4F2"/>
            </a:solidFill>
            <a:prstDash val="solid"/>
          </a:ln>
        </p:spPr>
      </p:sp>
      <p:sp>
        <p:nvSpPr>
          <p:cNvPr id="51" name="chunk-header-swatch-0">
            <a:extLst xmlns:a="http://schemas.openxmlformats.org/drawingml/2006/main">
              <a:ext uri="{FF2B5EF4-FFF2-40B4-BE49-F238E27FC236}">
                <a16:creationId xmlns:a16="http://schemas.microsoft.com/office/drawing/2014/main" id="{3C5B5512-8B0E-43EF-B860-A5ECA5F846AE}"/>
              </a:ext>
            </a:extLst>
          </p:cNvPr>
          <p:cNvSpPr>
            <a:spLocks xmlns:a="http://schemas.openxmlformats.org/drawingml/2006/main" noGrp="1"/>
          </p:cNvSpPr>
          <p:nvPr/>
        </p:nvSpPr>
        <p:spPr>
          <a:xfrm xmlns:a="http://schemas.openxmlformats.org/drawingml/2006/main">
            <a:off x="11001375" y="304800"/>
            <a:ext cx="228600" cy="228600"/>
          </a:xfrm>
          <a:prstGeom xmlns:a="http://schemas.openxmlformats.org/drawingml/2006/main" prst="rect">
            <a:avLst/>
          </a:prstGeom>
          <a:solidFill xmlns:a="http://schemas.openxmlformats.org/drawingml/2006/main">
            <a:srgbClr val="DCE9F8"/>
          </a:solidFill>
          <a:ln xmlns:a="http://schemas.openxmlformats.org/drawingml/2006/main" w="0">
            <a:noFill/>
            <a:prstDash val="solid"/>
          </a:ln>
        </p:spPr>
      </p:sp>
      <p:sp>
        <p:nvSpPr>
          <p:cNvPr id="52" name="chunk-header-swatch-1">
            <a:extLst xmlns:a="http://schemas.openxmlformats.org/drawingml/2006/main">
              <a:ext uri="{FF2B5EF4-FFF2-40B4-BE49-F238E27FC236}">
                <a16:creationId xmlns:a16="http://schemas.microsoft.com/office/drawing/2014/main" id="{F9EBFF42-F665-4B08-8654-2600AAB10D4C}"/>
              </a:ext>
            </a:extLst>
          </p:cNvPr>
          <p:cNvSpPr>
            <a:spLocks xmlns:a="http://schemas.openxmlformats.org/drawingml/2006/main" noGrp="1"/>
          </p:cNvSpPr>
          <p:nvPr/>
        </p:nvSpPr>
        <p:spPr>
          <a:xfrm xmlns:a="http://schemas.openxmlformats.org/drawingml/2006/main">
            <a:off x="11258550" y="304800"/>
            <a:ext cx="228600" cy="228600"/>
          </a:xfrm>
          <a:prstGeom xmlns:a="http://schemas.openxmlformats.org/drawingml/2006/main" prst="rect">
            <a:avLst/>
          </a:prstGeom>
          <a:solidFill xmlns:a="http://schemas.openxmlformats.org/drawingml/2006/main">
            <a:srgbClr val="ADC8EE"/>
          </a:solidFill>
          <a:ln xmlns:a="http://schemas.openxmlformats.org/drawingml/2006/main" w="0">
            <a:noFill/>
            <a:prstDash val="solid"/>
          </a:ln>
        </p:spPr>
      </p:sp>
      <p:sp>
        <p:nvSpPr>
          <p:cNvPr id="53" name="chunk-header-swatch-2">
            <a:extLst xmlns:a="http://schemas.openxmlformats.org/drawingml/2006/main">
              <a:ext uri="{FF2B5EF4-FFF2-40B4-BE49-F238E27FC236}">
                <a16:creationId xmlns:a16="http://schemas.microsoft.com/office/drawing/2014/main" id="{3FDAA8D3-9ED5-40BB-A92B-42BAB1D56093}"/>
              </a:ext>
            </a:extLst>
          </p:cNvPr>
          <p:cNvSpPr>
            <a:spLocks xmlns:a="http://schemas.openxmlformats.org/drawingml/2006/main" noGrp="1"/>
          </p:cNvSpPr>
          <p:nvPr/>
        </p:nvSpPr>
        <p:spPr>
          <a:xfrm xmlns:a="http://schemas.openxmlformats.org/drawingml/2006/main">
            <a:off x="11515725" y="304800"/>
            <a:ext cx="228600" cy="228600"/>
          </a:xfrm>
          <a:prstGeom xmlns:a="http://schemas.openxmlformats.org/drawingml/2006/main" prst="rect">
            <a:avLst/>
          </a:prstGeom>
          <a:solidFill xmlns:a="http://schemas.openxmlformats.org/drawingml/2006/main">
            <a:srgbClr val="6F9FE3"/>
          </a:solidFill>
          <a:ln xmlns:a="http://schemas.openxmlformats.org/drawingml/2006/main" w="0">
            <a:noFill/>
            <a:prstDash val="solid"/>
          </a:ln>
        </p:spPr>
      </p:sp>
      <p:sp>
        <p:nvSpPr>
          <p:cNvPr id="54" name="chunk-footer-overlay">
            <a:extLst xmlns:a="http://schemas.openxmlformats.org/drawingml/2006/main">
              <a:ext uri="{FF2B5EF4-FFF2-40B4-BE49-F238E27FC236}">
                <a16:creationId xmlns:a16="http://schemas.microsoft.com/office/drawing/2014/main" id="{A5FB9139-DDF3-4392-A614-4DD655A16382}"/>
              </a:ext>
            </a:extLst>
          </p:cNvPr>
          <p:cNvSpPr>
            <a:spLocks xmlns:a="http://schemas.openxmlformats.org/drawingml/2006/main" noGrp="1"/>
          </p:cNvSpPr>
          <p:nvPr/>
        </p:nvSpPr>
        <p:spPr>
          <a:xfrm xmlns:a="http://schemas.openxmlformats.org/drawingml/2006/main">
            <a:off x="40005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675" b="1" i="0">
                <a:solidFill>
                  <a:srgbClr val="8193AA"/>
                </a:solidFill>
                <a:latin typeface="Calibri"/>
                <a:ea typeface="Calibri"/>
                <a:cs typeface="Calibri"/>
              </a:defRPr>
            </a:pPr>
            <a:r>
              <a:rPr sz="675" b="1" i="0">
                <a:solidFill>
                  <a:srgbClr val="8193AA"/>
                </a:solidFill>
                <a:latin typeface="Calibri"/>
                <a:ea typeface="Calibri"/>
                <a:cs typeface="Calibri"/>
              </a:rPr>
              <a:t>FIPILOT  •  DEFENSE ROUND 1  •  10</a:t>
            </a:r>
          </a:p>
        </p:txBody>
      </p:sp>
    </p:spTree>
    <p:extLst>
      <p:ext uri="{BB962C8B-B14F-4D97-AF65-F5344CB8AC3E}">
        <p14:creationId xmlns:p14="http://schemas.microsoft.com/office/powerpoint/2010/main" val="101987575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 name="">
            <a:extLst xmlns:a="http://schemas.openxmlformats.org/drawingml/2006/main">
              <a:ext uri="{FF2B5EF4-FFF2-40B4-BE49-F238E27FC236}">
                <a16:creationId xmlns:a16="http://schemas.microsoft.com/office/drawing/2014/main" id="{AA3F8621-F04E-4F8D-97E9-A53F04938E5C}"/>
              </a:ext>
            </a:extLst>
          </p:cNvPr>
          <p:cNvSpPr>
            <a:spLocks xmlns:a="http://schemas.openxmlformats.org/drawingml/2006/main" noGrp="1"/>
          </p:cNvSpPr>
          <p:nvPr/>
        </p:nvSpPr>
        <p:spPr>
          <a:xfrm xmlns:a="http://schemas.openxmlformats.org/drawingml/2006/main">
            <a:off x="400050" y="2857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1356F"/>
                </a:solidFill>
              </a:defRPr>
            </a:pPr>
            <a:r>
              <a:rPr sz="2025" b="1">
                <a:solidFill>
                  <a:srgbClr val="11356F"/>
                </a:solidFill>
              </a:rPr>
              <a:t>3. DATA &amp; KNOWLEDGE PIPELINE</a:t>
            </a:r>
          </a:p>
        </p:txBody>
      </p:sp>
      <p:sp>
        <p:nvSpPr>
          <p:cNvPr id="2" name="">
            <a:extLst xmlns:a="http://schemas.openxmlformats.org/drawingml/2006/main">
              <a:ext uri="{FF2B5EF4-FFF2-40B4-BE49-F238E27FC236}">
                <a16:creationId xmlns:a16="http://schemas.microsoft.com/office/drawing/2014/main" id="{22ABD73C-D41E-4471-B6FE-F82F14FDF2D8}"/>
              </a:ext>
            </a:extLst>
          </p:cNvPr>
          <p:cNvSpPr>
            <a:spLocks xmlns:a="http://schemas.openxmlformats.org/drawingml/2006/main" noGrp="1"/>
          </p:cNvSpPr>
          <p:nvPr/>
        </p:nvSpPr>
        <p:spPr>
          <a:xfrm xmlns:a="http://schemas.openxmlformats.org/drawingml/2006/main">
            <a:off x="400050" y="723900"/>
            <a:ext cx="9715500" cy="9525"/>
          </a:xfrm>
          <a:prstGeom xmlns:a="http://schemas.openxmlformats.org/drawingml/2006/main" prst="line">
            <a:avLst/>
          </a:prstGeom>
          <a:noFill xmlns:a="http://schemas.openxmlformats.org/drawingml/2006/main"/>
          <a:ln xmlns:a="http://schemas.openxmlformats.org/drawingml/2006/main" w="9525">
            <a:solidFill>
              <a:srgbClr val="D8E6FF"/>
            </a:solidFill>
            <a:prstDash val="solid"/>
          </a:ln>
        </p:spPr>
      </p:sp>
      <p:sp>
        <p:nvSpPr>
          <p:cNvPr id="3" name="">
            <a:extLst xmlns:a="http://schemas.openxmlformats.org/drawingml/2006/main">
              <a:ext uri="{FF2B5EF4-FFF2-40B4-BE49-F238E27FC236}">
                <a16:creationId xmlns:a16="http://schemas.microsoft.com/office/drawing/2014/main" id="{5985A23D-9B0E-4C3D-A905-4C7908EE1184}"/>
              </a:ext>
            </a:extLst>
          </p:cNvPr>
          <p:cNvSpPr>
            <a:spLocks xmlns:a="http://schemas.openxmlformats.org/drawingml/2006/main" noGrp="1"/>
          </p:cNvSpPr>
          <p:nvPr/>
        </p:nvSpPr>
        <p:spPr>
          <a:xfrm xmlns:a="http://schemas.openxmlformats.org/drawingml/2006/main">
            <a:off x="400050" y="838200"/>
            <a:ext cx="923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62C52"/>
                </a:solidFill>
              </a:defRPr>
            </a:pPr>
            <a:r>
              <a:rPr sz="1500" b="1">
                <a:solidFill>
                  <a:srgbClr val="162C52"/>
                </a:solidFill>
              </a:rPr>
              <a:t>One Firestore Document Represents One Traceable Knowledge Chunk</a:t>
            </a:r>
          </a:p>
        </p:txBody>
      </p:sp>
      <p:sp>
        <p:nvSpPr>
          <p:cNvPr id="4" name="">
            <a:extLst xmlns:a="http://schemas.openxmlformats.org/drawingml/2006/main">
              <a:ext uri="{FF2B5EF4-FFF2-40B4-BE49-F238E27FC236}">
                <a16:creationId xmlns:a16="http://schemas.microsoft.com/office/drawing/2014/main" id="{7016A2B9-6551-4884-884D-BD1D37EED7BB}"/>
              </a:ext>
            </a:extLst>
          </p:cNvPr>
          <p:cNvSpPr>
            <a:spLocks xmlns:a="http://schemas.openxmlformats.org/drawingml/2006/main" noGrp="1"/>
          </p:cNvSpPr>
          <p:nvPr/>
        </p:nvSpPr>
        <p:spPr>
          <a:xfrm xmlns:a="http://schemas.openxmlformats.org/drawingml/2006/main">
            <a:off x="400050" y="1114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617391"/>
                </a:solidFill>
              </a:defRPr>
            </a:pPr>
            <a:r>
              <a:rPr sz="1050" b="0">
                <a:solidFill>
                  <a:srgbClr val="617391"/>
                </a:solidFill>
              </a:rPr>
              <a:t>Proposed schema: embed semantic content once, while retaining filters, provenance, lifecycle and version metadata.</a:t>
            </a:r>
          </a:p>
        </p:txBody>
      </p:sp>
      <p:sp>
        <p:nvSpPr>
          <p:cNvPr id="5" name="">
            <a:extLst xmlns:a="http://schemas.openxmlformats.org/drawingml/2006/main">
              <a:ext uri="{FF2B5EF4-FFF2-40B4-BE49-F238E27FC236}">
                <a16:creationId xmlns:a16="http://schemas.microsoft.com/office/drawing/2014/main" id="{8B2F03E5-5963-4C01-BA99-FEF46567262D}"/>
              </a:ext>
            </a:extLst>
          </p:cNvPr>
          <p:cNvSpPr>
            <a:spLocks xmlns:a="http://schemas.openxmlformats.org/drawingml/2006/main" noGrp="1"/>
          </p:cNvSpPr>
          <p:nvPr/>
        </p:nvSpPr>
        <p:spPr>
          <a:xfrm xmlns:a="http://schemas.openxmlformats.org/drawingml/2006/main">
            <a:off x="11001375" y="304800"/>
            <a:ext cx="228600" cy="228600"/>
          </a:xfrm>
          <a:prstGeom xmlns:a="http://schemas.openxmlformats.org/drawingml/2006/main" prst="rect">
            <a:avLst/>
          </a:prstGeom>
          <a:solidFill xmlns:a="http://schemas.openxmlformats.org/drawingml/2006/main">
            <a:srgbClr val="D9E5F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6BAC9B8-82E5-4160-A028-362E30904C7D}"/>
              </a:ext>
            </a:extLst>
          </p:cNvPr>
          <p:cNvSpPr>
            <a:spLocks xmlns:a="http://schemas.openxmlformats.org/drawingml/2006/main" noGrp="1"/>
          </p:cNvSpPr>
          <p:nvPr/>
        </p:nvSpPr>
        <p:spPr>
          <a:xfrm xmlns:a="http://schemas.openxmlformats.org/drawingml/2006/main">
            <a:off x="11258550" y="304800"/>
            <a:ext cx="228600" cy="228600"/>
          </a:xfrm>
          <a:prstGeom xmlns:a="http://schemas.openxmlformats.org/drawingml/2006/main" prst="rect">
            <a:avLst/>
          </a:prstGeom>
          <a:solidFill xmlns:a="http://schemas.openxmlformats.org/drawingml/2006/main">
            <a:srgbClr val="AFC9F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C4D620C-820D-4597-9F19-84C898BB22C7}"/>
              </a:ext>
            </a:extLst>
          </p:cNvPr>
          <p:cNvSpPr>
            <a:spLocks xmlns:a="http://schemas.openxmlformats.org/drawingml/2006/main" noGrp="1"/>
          </p:cNvSpPr>
          <p:nvPr/>
        </p:nvSpPr>
        <p:spPr>
          <a:xfrm xmlns:a="http://schemas.openxmlformats.org/drawingml/2006/main">
            <a:off x="11515725" y="304800"/>
            <a:ext cx="228600" cy="228600"/>
          </a:xfrm>
          <a:prstGeom xmlns:a="http://schemas.openxmlformats.org/drawingml/2006/main" prst="rect">
            <a:avLst/>
          </a:prstGeom>
          <a:solidFill xmlns:a="http://schemas.openxmlformats.org/drawingml/2006/main">
            <a:srgbClr val="78A3F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E9F106B-AFE5-4CC0-9475-55C4DA126E7F}"/>
              </a:ext>
            </a:extLst>
          </p:cNvPr>
          <p:cNvSpPr>
            <a:spLocks xmlns:a="http://schemas.openxmlformats.org/drawingml/2006/main" noGrp="1"/>
          </p:cNvSpPr>
          <p:nvPr/>
        </p:nvSpPr>
        <p:spPr>
          <a:xfrm xmlns:a="http://schemas.openxmlformats.org/drawingml/2006/main">
            <a:off x="40005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A98AE"/>
                </a:solidFill>
              </a:defRPr>
            </a:pPr>
            <a:r>
              <a:rPr sz="825" b="1">
                <a:solidFill>
                  <a:srgbClr val="8A98AE"/>
                </a:solidFill>
              </a:rPr>
              <a:t>FIPILOT  •  DEFENSE ROUND 1  •  11</a:t>
            </a:r>
          </a:p>
        </p:txBody>
      </p:sp>
      <p:sp>
        <p:nvSpPr>
          <p:cNvPr id="47" name="header-cover-4">
            <a:extLst xmlns:a="http://schemas.openxmlformats.org/drawingml/2006/main">
              <a:ext uri="{FF2B5EF4-FFF2-40B4-BE49-F238E27FC236}">
                <a16:creationId xmlns:a16="http://schemas.microsoft.com/office/drawing/2014/main" id="{84AB1E49-77A2-4FF8-B420-1F19352968A7}"/>
              </a:ext>
            </a:extLst>
          </p:cNvPr>
          <p:cNvSpPr>
            <a:spLocks xmlns:a="http://schemas.openxmlformats.org/drawingml/2006/main" noGrp="1"/>
          </p:cNvSpPr>
          <p:nvPr/>
        </p:nvSpPr>
        <p:spPr>
          <a:xfrm xmlns:a="http://schemas.openxmlformats.org/drawingml/2006/main">
            <a:off x="323850" y="190500"/>
            <a:ext cx="11525250" cy="6096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8" name="section-title-4">
            <a:extLst xmlns:a="http://schemas.openxmlformats.org/drawingml/2006/main">
              <a:ext uri="{FF2B5EF4-FFF2-40B4-BE49-F238E27FC236}">
                <a16:creationId xmlns:a16="http://schemas.microsoft.com/office/drawing/2014/main" id="{33128DAE-87EB-479D-8952-7A7C97CDB02F}"/>
              </a:ext>
            </a:extLst>
          </p:cNvPr>
          <p:cNvSpPr>
            <a:spLocks xmlns:a="http://schemas.openxmlformats.org/drawingml/2006/main" noGrp="1"/>
          </p:cNvSpPr>
          <p:nvPr/>
        </p:nvSpPr>
        <p:spPr>
          <a:xfrm xmlns:a="http://schemas.openxmlformats.org/drawingml/2006/main">
            <a:off x="400050" y="2857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1356F"/>
                </a:solidFill>
              </a:defRPr>
            </a:pPr>
            <a:r>
              <a:rPr sz="2025" b="1">
                <a:solidFill>
                  <a:srgbClr val="11356F"/>
                </a:solidFill>
              </a:rPr>
              <a:t>3. DATA &amp; KNOWLEDGE PIPELINE</a:t>
            </a:r>
          </a:p>
        </p:txBody>
      </p:sp>
      <p:sp>
        <p:nvSpPr>
          <p:cNvPr id="49" name="section-rule-4">
            <a:extLst xmlns:a="http://schemas.openxmlformats.org/drawingml/2006/main">
              <a:ext uri="{FF2B5EF4-FFF2-40B4-BE49-F238E27FC236}">
                <a16:creationId xmlns:a16="http://schemas.microsoft.com/office/drawing/2014/main" id="{2EFCB5A5-A6DA-4726-ABED-488502693AC1}"/>
              </a:ext>
            </a:extLst>
          </p:cNvPr>
          <p:cNvSpPr>
            <a:spLocks xmlns:a="http://schemas.openxmlformats.org/drawingml/2006/main" noGrp="1"/>
          </p:cNvSpPr>
          <p:nvPr/>
        </p:nvSpPr>
        <p:spPr>
          <a:xfrm xmlns:a="http://schemas.openxmlformats.org/drawingml/2006/main">
            <a:off x="400050" y="723900"/>
            <a:ext cx="9715500" cy="9525"/>
          </a:xfrm>
          <a:prstGeom xmlns:a="http://schemas.openxmlformats.org/drawingml/2006/main" prst="line">
            <a:avLst/>
          </a:prstGeom>
          <a:noFill xmlns:a="http://schemas.openxmlformats.org/drawingml/2006/main"/>
          <a:ln xmlns:a="http://schemas.openxmlformats.org/drawingml/2006/main" w="9525">
            <a:solidFill>
              <a:srgbClr val="D8E6FF"/>
            </a:solidFill>
            <a:prstDash val="solid"/>
          </a:ln>
        </p:spPr>
      </p:sp>
      <p:sp>
        <p:nvSpPr>
          <p:cNvPr id="50" name="brand-square-1-4">
            <a:extLst xmlns:a="http://schemas.openxmlformats.org/drawingml/2006/main">
              <a:ext uri="{FF2B5EF4-FFF2-40B4-BE49-F238E27FC236}">
                <a16:creationId xmlns:a16="http://schemas.microsoft.com/office/drawing/2014/main" id="{06FE1893-8210-45E3-8578-D82174268A7C}"/>
              </a:ext>
            </a:extLst>
          </p:cNvPr>
          <p:cNvSpPr>
            <a:spLocks xmlns:a="http://schemas.openxmlformats.org/drawingml/2006/main" noGrp="1"/>
          </p:cNvSpPr>
          <p:nvPr/>
        </p:nvSpPr>
        <p:spPr>
          <a:xfrm xmlns:a="http://schemas.openxmlformats.org/drawingml/2006/main">
            <a:off x="11001375" y="304800"/>
            <a:ext cx="228600" cy="228600"/>
          </a:xfrm>
          <a:prstGeom xmlns:a="http://schemas.openxmlformats.org/drawingml/2006/main" prst="rect">
            <a:avLst/>
          </a:prstGeom>
          <a:solidFill xmlns:a="http://schemas.openxmlformats.org/drawingml/2006/main">
            <a:srgbClr val="D9E5FB"/>
          </a:solidFill>
          <a:ln xmlns:a="http://schemas.openxmlformats.org/drawingml/2006/main" w="0">
            <a:noFill/>
            <a:prstDash val="solid"/>
          </a:ln>
        </p:spPr>
      </p:sp>
      <p:sp>
        <p:nvSpPr>
          <p:cNvPr id="51" name="brand-square-2-4">
            <a:extLst xmlns:a="http://schemas.openxmlformats.org/drawingml/2006/main">
              <a:ext uri="{FF2B5EF4-FFF2-40B4-BE49-F238E27FC236}">
                <a16:creationId xmlns:a16="http://schemas.microsoft.com/office/drawing/2014/main" id="{4388A234-FF8B-4A15-9317-07D899398544}"/>
              </a:ext>
            </a:extLst>
          </p:cNvPr>
          <p:cNvSpPr>
            <a:spLocks xmlns:a="http://schemas.openxmlformats.org/drawingml/2006/main" noGrp="1"/>
          </p:cNvSpPr>
          <p:nvPr/>
        </p:nvSpPr>
        <p:spPr>
          <a:xfrm xmlns:a="http://schemas.openxmlformats.org/drawingml/2006/main">
            <a:off x="11258550" y="304800"/>
            <a:ext cx="228600" cy="228600"/>
          </a:xfrm>
          <a:prstGeom xmlns:a="http://schemas.openxmlformats.org/drawingml/2006/main" prst="rect">
            <a:avLst/>
          </a:prstGeom>
          <a:solidFill xmlns:a="http://schemas.openxmlformats.org/drawingml/2006/main">
            <a:srgbClr val="AFC9F7"/>
          </a:solidFill>
          <a:ln xmlns:a="http://schemas.openxmlformats.org/drawingml/2006/main" w="0">
            <a:noFill/>
            <a:prstDash val="solid"/>
          </a:ln>
        </p:spPr>
      </p:sp>
      <p:sp>
        <p:nvSpPr>
          <p:cNvPr id="52" name="brand-square-3-4">
            <a:extLst xmlns:a="http://schemas.openxmlformats.org/drawingml/2006/main">
              <a:ext uri="{FF2B5EF4-FFF2-40B4-BE49-F238E27FC236}">
                <a16:creationId xmlns:a16="http://schemas.microsoft.com/office/drawing/2014/main" id="{66DD80C4-1146-4857-A5E3-277A31633C76}"/>
              </a:ext>
            </a:extLst>
          </p:cNvPr>
          <p:cNvSpPr>
            <a:spLocks xmlns:a="http://schemas.openxmlformats.org/drawingml/2006/main" noGrp="1"/>
          </p:cNvSpPr>
          <p:nvPr/>
        </p:nvSpPr>
        <p:spPr>
          <a:xfrm xmlns:a="http://schemas.openxmlformats.org/drawingml/2006/main">
            <a:off x="11515725" y="304800"/>
            <a:ext cx="228600" cy="228600"/>
          </a:xfrm>
          <a:prstGeom xmlns:a="http://schemas.openxmlformats.org/drawingml/2006/main" prst="rect">
            <a:avLst/>
          </a:prstGeom>
          <a:solidFill xmlns:a="http://schemas.openxmlformats.org/drawingml/2006/main">
            <a:srgbClr val="78A3F1"/>
          </a:solidFill>
          <a:ln xmlns:a="http://schemas.openxmlformats.org/drawingml/2006/main" w="0">
            <a:noFill/>
            <a:prstDash val="solid"/>
          </a:ln>
        </p:spPr>
      </p:sp>
      <p:sp>
        <p:nvSpPr>
          <p:cNvPr id="53" name="footer-cover-4">
            <a:extLst xmlns:a="http://schemas.openxmlformats.org/drawingml/2006/main">
              <a:ext uri="{FF2B5EF4-FFF2-40B4-BE49-F238E27FC236}">
                <a16:creationId xmlns:a16="http://schemas.microsoft.com/office/drawing/2014/main" id="{0167442A-BD69-4D4D-9E3A-7E02B3828F3E}"/>
              </a:ext>
            </a:extLst>
          </p:cNvPr>
          <p:cNvSpPr>
            <a:spLocks xmlns:a="http://schemas.openxmlformats.org/drawingml/2006/main" noGrp="1"/>
          </p:cNvSpPr>
          <p:nvPr/>
        </p:nvSpPr>
        <p:spPr>
          <a:xfrm xmlns:a="http://schemas.openxmlformats.org/drawingml/2006/main">
            <a:off x="323850" y="6438900"/>
            <a:ext cx="4191000" cy="2667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4" name="footer-4">
            <a:extLst xmlns:a="http://schemas.openxmlformats.org/drawingml/2006/main">
              <a:ext uri="{FF2B5EF4-FFF2-40B4-BE49-F238E27FC236}">
                <a16:creationId xmlns:a16="http://schemas.microsoft.com/office/drawing/2014/main" id="{CA510900-5C0F-4177-A41D-C4BE9E9FC6AA}"/>
              </a:ext>
            </a:extLst>
          </p:cNvPr>
          <p:cNvSpPr>
            <a:spLocks xmlns:a="http://schemas.openxmlformats.org/drawingml/2006/main" noGrp="1"/>
          </p:cNvSpPr>
          <p:nvPr/>
        </p:nvSpPr>
        <p:spPr>
          <a:xfrm xmlns:a="http://schemas.openxmlformats.org/drawingml/2006/main">
            <a:off x="40005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A98AE"/>
                </a:solidFill>
              </a:defRPr>
            </a:pPr>
            <a:r>
              <a:rPr sz="825" b="1">
                <a:solidFill>
                  <a:srgbClr val="8A98AE"/>
                </a:solidFill>
              </a:rPr>
              <a:t>FIPILOT  •  DEFENSE ROUND 1  •  11</a:t>
            </a:r>
          </a:p>
        </p:txBody>
      </p:sp>
      <p:sp>
        <p:nvSpPr>
          <p:cNvPr id="55" name="vector-header-reset">
            <a:extLst xmlns:a="http://schemas.openxmlformats.org/drawingml/2006/main">
              <a:ext uri="{FF2B5EF4-FFF2-40B4-BE49-F238E27FC236}">
                <a16:creationId xmlns:a16="http://schemas.microsoft.com/office/drawing/2014/main" id="{7554C84E-030F-48C8-A3B9-B1E64D62A1DD}"/>
              </a:ext>
            </a:extLst>
          </p:cNvPr>
          <p:cNvSpPr>
            <a:spLocks xmlns:a="http://schemas.openxmlformats.org/drawingml/2006/main" noGrp="1"/>
          </p:cNvSpPr>
          <p:nvPr/>
        </p:nvSpPr>
        <p:spPr>
          <a:xfrm xmlns:a="http://schemas.openxmlformats.org/drawingml/2006/main">
            <a:off x="0" y="0"/>
            <a:ext cx="12192000" cy="8001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6" name="vector-section-banner">
            <a:extLst xmlns:a="http://schemas.openxmlformats.org/drawingml/2006/main">
              <a:ext uri="{FF2B5EF4-FFF2-40B4-BE49-F238E27FC236}">
                <a16:creationId xmlns:a16="http://schemas.microsoft.com/office/drawing/2014/main" id="{7994A2A8-56A6-4A50-AA3E-87953A0EC266}"/>
              </a:ext>
            </a:extLst>
          </p:cNvPr>
          <p:cNvSpPr>
            <a:spLocks xmlns:a="http://schemas.openxmlformats.org/drawingml/2006/main" noGrp="1"/>
          </p:cNvSpPr>
          <p:nvPr/>
        </p:nvSpPr>
        <p:spPr>
          <a:xfrm xmlns:a="http://schemas.openxmlformats.org/drawingml/2006/main">
            <a:off x="400050" y="247650"/>
            <a:ext cx="4762500" cy="400050"/>
          </a:xfrm>
          <a:prstGeom xmlns:a="http://schemas.openxmlformats.org/drawingml/2006/main" prst="rect">
            <a:avLst/>
          </a:prstGeom>
          <a:solidFill xmlns:a="http://schemas.openxmlformats.org/drawingml/2006/main">
            <a:srgbClr val="11356F"/>
          </a:solidFill>
          <a:ln xmlns:a="http://schemas.openxmlformats.org/drawingml/2006/main" w="9525">
            <a:solidFill>
              <a:srgbClr val="11356F"/>
            </a:solid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FFFFFF"/>
                </a:solidFill>
              </a:defRPr>
            </a:pPr>
            <a:r>
              <a:rPr sz="1650" b="1">
                <a:solidFill>
                  <a:srgbClr val="FFFFFF"/>
                </a:solidFill>
              </a:rPr>
              <a:t>3. DATA &amp; KNOWLEDGE PIPELINE</a:t>
            </a:r>
          </a:p>
        </p:txBody>
      </p:sp>
      <p:sp>
        <p:nvSpPr>
          <p:cNvPr id="57" name="vector-footer-reset">
            <a:extLst xmlns:a="http://schemas.openxmlformats.org/drawingml/2006/main">
              <a:ext uri="{FF2B5EF4-FFF2-40B4-BE49-F238E27FC236}">
                <a16:creationId xmlns:a16="http://schemas.microsoft.com/office/drawing/2014/main" id="{7F769F11-72BE-4B23-8769-6F35F4EE1053}"/>
              </a:ext>
            </a:extLst>
          </p:cNvPr>
          <p:cNvSpPr>
            <a:spLocks xmlns:a="http://schemas.openxmlformats.org/drawingml/2006/main" noGrp="1"/>
          </p:cNvSpPr>
          <p:nvPr/>
        </p:nvSpPr>
        <p:spPr>
          <a:xfrm xmlns:a="http://schemas.openxmlformats.org/drawingml/2006/main">
            <a:off x="323850" y="6419850"/>
            <a:ext cx="4191000" cy="3048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8" name="vector-footer">
            <a:extLst xmlns:a="http://schemas.openxmlformats.org/drawingml/2006/main">
              <a:ext uri="{FF2B5EF4-FFF2-40B4-BE49-F238E27FC236}">
                <a16:creationId xmlns:a16="http://schemas.microsoft.com/office/drawing/2014/main" id="{2E1B71A8-6109-4B3D-AC5F-DA942070FCDB}"/>
              </a:ext>
            </a:extLst>
          </p:cNvPr>
          <p:cNvSpPr>
            <a:spLocks xmlns:a="http://schemas.openxmlformats.org/drawingml/2006/main" noGrp="1"/>
          </p:cNvSpPr>
          <p:nvPr/>
        </p:nvSpPr>
        <p:spPr>
          <a:xfrm xmlns:a="http://schemas.openxmlformats.org/drawingml/2006/main">
            <a:off x="400050" y="6486525"/>
            <a:ext cx="876300" cy="171450"/>
          </a:xfrm>
          <a:prstGeom xmlns:a="http://schemas.openxmlformats.org/drawingml/2006/main" prst="rect">
            <a:avLst/>
          </a:prstGeom>
          <a:solidFill xmlns:a="http://schemas.openxmlformats.org/drawingml/2006/main">
            <a:srgbClr val="11356F"/>
          </a:solidFill>
          <a:ln xmlns:a="http://schemas.openxmlformats.org/drawingml/2006/main" w="9525">
            <a:solidFill>
              <a:srgbClr val="11356F"/>
            </a:solidFill>
            <a:prstDash val="solid"/>
          </a:ln>
        </p:spPr>
        <p:txBody>
          <a:bodyPr xmlns:a="http://schemas.openxmlformats.org/drawingml/2006/main" anchor="ctr"/>
          <a:lstStyle xmlns:a="http://schemas.openxmlformats.org/drawingml/2006/main"/>
          <a:p xmlns:a="http://schemas.openxmlformats.org/drawingml/2006/main">
            <a:pPr algn="ctr">
              <a:buNone/>
              <a:defRPr sz="750" b="1">
                <a:solidFill>
                  <a:srgbClr val="FFFFFF"/>
                </a:solidFill>
              </a:defRPr>
            </a:pPr>
            <a:r>
              <a:rPr sz="750" b="1">
                <a:solidFill>
                  <a:srgbClr val="FFFFFF"/>
                </a:solidFill>
              </a:rPr>
              <a:t>FIPILOT  •  11</a:t>
            </a:r>
          </a:p>
        </p:txBody>
      </p:sp>
      <p:sp>
        <p:nvSpPr>
          <p:cNvPr id="60" name="vector-status-bg">
            <a:extLst xmlns:a="http://schemas.openxmlformats.org/drawingml/2006/main">
              <a:ext uri="{FF2B5EF4-FFF2-40B4-BE49-F238E27FC236}">
                <a16:creationId xmlns:a16="http://schemas.microsoft.com/office/drawing/2014/main" id="{7C50E4CF-A903-43A9-8E79-41A3864EBD7C}"/>
              </a:ext>
            </a:extLst>
          </p:cNvPr>
          <p:cNvSpPr>
            <a:spLocks xmlns:a="http://schemas.openxmlformats.org/drawingml/2006/main" noGrp="1"/>
          </p:cNvSpPr>
          <p:nvPr/>
        </p:nvSpPr>
        <p:spPr>
          <a:xfrm xmlns:a="http://schemas.openxmlformats.org/drawingml/2006/main">
            <a:off x="400050" y="1504950"/>
            <a:ext cx="1952625" cy="266700"/>
          </a:xfrm>
          <a:prstGeom xmlns:a="http://schemas.openxmlformats.org/drawingml/2006/main" prst="roundRect">
            <a:avLst>
              <a:gd name="adj" fmla="val 28571"/>
            </a:avLst>
          </a:prstGeom>
          <a:solidFill xmlns:a="http://schemas.openxmlformats.org/drawingml/2006/main">
            <a:srgbClr val="D77A24"/>
          </a:solidFill>
          <a:ln xmlns:a="http://schemas.openxmlformats.org/drawingml/2006/main" w="0">
            <a:noFill/>
            <a:prstDash val="solid"/>
          </a:ln>
        </p:spPr>
      </p:sp>
      <p:sp>
        <p:nvSpPr>
          <p:cNvPr id="61" name="vector-status-text">
            <a:extLst xmlns:a="http://schemas.openxmlformats.org/drawingml/2006/main">
              <a:ext uri="{FF2B5EF4-FFF2-40B4-BE49-F238E27FC236}">
                <a16:creationId xmlns:a16="http://schemas.microsoft.com/office/drawing/2014/main" id="{4505CF4F-850B-495B-A557-F38058B3AC3A}"/>
              </a:ext>
            </a:extLst>
          </p:cNvPr>
          <p:cNvSpPr>
            <a:spLocks xmlns:a="http://schemas.openxmlformats.org/drawingml/2006/main" noGrp="1"/>
          </p:cNvSpPr>
          <p:nvPr/>
        </p:nvSpPr>
        <p:spPr>
          <a:xfrm xmlns:a="http://schemas.openxmlformats.org/drawingml/2006/main">
            <a:off x="400050" y="151447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FFFFFF"/>
                </a:solidFill>
                <a:latin typeface="Calibri"/>
                <a:ea typeface="Calibri"/>
                <a:cs typeface="Calibri"/>
              </a:defRPr>
            </a:pPr>
            <a:r>
              <a:rPr sz="900" b="1" i="0">
                <a:solidFill>
                  <a:srgbClr val="FFFFFF"/>
                </a:solidFill>
                <a:latin typeface="Calibri"/>
                <a:ea typeface="Calibri"/>
                <a:cs typeface="Calibri"/>
              </a:rPr>
              <a:t>PROPOSED — NOT DEPLOYED</a:t>
            </a:r>
          </a:p>
        </p:txBody>
      </p:sp>
      <p:sp>
        <p:nvSpPr>
          <p:cNvPr id="62" name="vector-status-note">
            <a:extLst xmlns:a="http://schemas.openxmlformats.org/drawingml/2006/main">
              <a:ext uri="{FF2B5EF4-FFF2-40B4-BE49-F238E27FC236}">
                <a16:creationId xmlns:a16="http://schemas.microsoft.com/office/drawing/2014/main" id="{5AA61FBA-5109-4594-B8CB-068F4D085D48}"/>
              </a:ext>
            </a:extLst>
          </p:cNvPr>
          <p:cNvSpPr>
            <a:spLocks xmlns:a="http://schemas.openxmlformats.org/drawingml/2006/main" noGrp="1"/>
          </p:cNvSpPr>
          <p:nvPr/>
        </p:nvSpPr>
        <p:spPr>
          <a:xfrm xmlns:a="http://schemas.openxmlformats.org/drawingml/2006/main">
            <a:off x="2533650" y="1514475"/>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i="0">
                <a:solidFill>
                  <a:srgbClr val="5B6B7F"/>
                </a:solidFill>
                <a:latin typeface="Calibri"/>
                <a:ea typeface="Calibri"/>
                <a:cs typeface="Calibri"/>
              </a:defRPr>
            </a:pPr>
            <a:r>
              <a:rPr sz="1125" b="0" i="0">
                <a:solidFill>
                  <a:srgbClr val="5B6B7F"/>
                </a:solidFill>
                <a:latin typeface="Calibri"/>
                <a:ea typeface="Calibri"/>
                <a:cs typeface="Calibri"/>
              </a:rPr>
              <a:t>Current production retrieval is lexical; the record below is the target design.</a:t>
            </a:r>
          </a:p>
        </p:txBody>
      </p:sp>
      <p:sp>
        <p:nvSpPr>
          <p:cNvPr id="63" name="vector-json-panel">
            <a:extLst xmlns:a="http://schemas.openxmlformats.org/drawingml/2006/main">
              <a:ext uri="{FF2B5EF4-FFF2-40B4-BE49-F238E27FC236}">
                <a16:creationId xmlns:a16="http://schemas.microsoft.com/office/drawing/2014/main" id="{E20C6EF3-738A-4F61-AF89-0B316C05B786}"/>
              </a:ext>
            </a:extLst>
          </p:cNvPr>
          <p:cNvSpPr>
            <a:spLocks xmlns:a="http://schemas.openxmlformats.org/drawingml/2006/main" noGrp="1"/>
          </p:cNvSpPr>
          <p:nvPr/>
        </p:nvSpPr>
        <p:spPr>
          <a:xfrm xmlns:a="http://schemas.openxmlformats.org/drawingml/2006/main">
            <a:off x="400050" y="1943100"/>
            <a:ext cx="6819900" cy="3962400"/>
          </a:xfrm>
          <a:prstGeom xmlns:a="http://schemas.openxmlformats.org/drawingml/2006/main" prst="roundRect">
            <a:avLst>
              <a:gd name="adj" fmla="val 1923"/>
            </a:avLst>
          </a:prstGeom>
          <a:solidFill xmlns:a="http://schemas.openxmlformats.org/drawingml/2006/main">
            <a:srgbClr val="F6F8FB"/>
          </a:solidFill>
          <a:ln xmlns:a="http://schemas.openxmlformats.org/drawingml/2006/main" w="9525">
            <a:solidFill>
              <a:srgbClr val="D7E0EA"/>
            </a:solidFill>
            <a:prstDash val="solid"/>
          </a:ln>
        </p:spPr>
      </p:sp>
      <p:sp>
        <p:nvSpPr>
          <p:cNvPr id="64" name="vector-json-title">
            <a:extLst xmlns:a="http://schemas.openxmlformats.org/drawingml/2006/main">
              <a:ext uri="{FF2B5EF4-FFF2-40B4-BE49-F238E27FC236}">
                <a16:creationId xmlns:a16="http://schemas.microsoft.com/office/drawing/2014/main" id="{74F7BF4B-4935-44BA-AFE5-571BC36E8FFD}"/>
              </a:ext>
            </a:extLst>
          </p:cNvPr>
          <p:cNvSpPr>
            <a:spLocks xmlns:a="http://schemas.openxmlformats.org/drawingml/2006/main" noGrp="1"/>
          </p:cNvSpPr>
          <p:nvPr/>
        </p:nvSpPr>
        <p:spPr>
          <a:xfrm xmlns:a="http://schemas.openxmlformats.org/drawingml/2006/main">
            <a:off x="590550" y="211455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173B67"/>
                </a:solidFill>
                <a:latin typeface="Calibri"/>
                <a:ea typeface="Calibri"/>
                <a:cs typeface="Calibri"/>
              </a:defRPr>
            </a:pPr>
            <a:r>
              <a:rPr sz="1125" b="1" i="0">
                <a:solidFill>
                  <a:srgbClr val="173B67"/>
                </a:solidFill>
                <a:latin typeface="Calibri"/>
                <a:ea typeface="Calibri"/>
                <a:cs typeface="Calibri"/>
              </a:rPr>
              <a:t>knowledge_chunks/{chunk_id}</a:t>
            </a:r>
          </a:p>
        </p:txBody>
      </p:sp>
      <p:sp>
        <p:nvSpPr>
          <p:cNvPr id="65" name="vector-json">
            <a:extLst xmlns:a="http://schemas.openxmlformats.org/drawingml/2006/main">
              <a:ext uri="{FF2B5EF4-FFF2-40B4-BE49-F238E27FC236}">
                <a16:creationId xmlns:a16="http://schemas.microsoft.com/office/drawing/2014/main" id="{0087C61F-26FF-403B-B403-50695E39F572}"/>
              </a:ext>
            </a:extLst>
          </p:cNvPr>
          <p:cNvSpPr>
            <a:spLocks xmlns:a="http://schemas.openxmlformats.org/drawingml/2006/main" noGrp="1"/>
          </p:cNvSpPr>
          <p:nvPr/>
        </p:nvSpPr>
        <p:spPr>
          <a:xfrm xmlns:a="http://schemas.openxmlformats.org/drawingml/2006/main">
            <a:off x="590550" y="2495550"/>
            <a:ext cx="6381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0" i="0">
                <a:solidFill>
                  <a:srgbClr val="172B4D"/>
                </a:solidFill>
                <a:latin typeface="Consolas"/>
                <a:ea typeface="Consolas"/>
                <a:cs typeface="Consolas"/>
              </a:defRPr>
            </a:pPr>
            <a:r>
              <a:rPr sz="1125" b="0" i="0">
                <a:solidFill>
                  <a:srgbClr val="172B4D"/>
                </a:solidFill>
                <a:latin typeface="Consolas"/>
                <a:ea typeface="Consolas"/>
                <a:cs typeface="Consolas"/>
              </a:rPr>
              <a:t>{</a:t>
            </a:r>
          </a:p>
          <a:p xmlns:a="http://schemas.openxmlformats.org/drawingml/2006/main">
            <a:pPr algn="l">
              <a:lnSpc>
                <a:spcPct val="102000"/>
              </a:lnSpc>
              <a:buNone/>
              <a:defRPr sz="1125" b="0" i="0">
                <a:solidFill>
                  <a:srgbClr val="172B4D"/>
                </a:solidFill>
                <a:latin typeface="Consolas"/>
                <a:ea typeface="Consolas"/>
                <a:cs typeface="Consolas"/>
              </a:defRPr>
            </a:pPr>
            <a:r>
              <a:rPr sz="1125" b="0" i="0">
                <a:solidFill>
                  <a:srgbClr val="172B4D"/>
                </a:solidFill>
                <a:latin typeface="Consolas"/>
                <a:ea typeface="Consolas"/>
                <a:cs typeface="Consolas"/>
              </a:rPr>
              <a:t>  "chunk_id": "backend.fastapi.001",</a:t>
            </a:r>
          </a:p>
          <a:p xmlns:a="http://schemas.openxmlformats.org/drawingml/2006/main">
            <a:pPr algn="l">
              <a:lnSpc>
                <a:spcPct val="102000"/>
              </a:lnSpc>
              <a:buNone/>
              <a:defRPr sz="1125" b="0" i="0">
                <a:solidFill>
                  <a:srgbClr val="172B4D"/>
                </a:solidFill>
                <a:latin typeface="Consolas"/>
                <a:ea typeface="Consolas"/>
                <a:cs typeface="Consolas"/>
              </a:defRPr>
            </a:pPr>
            <a:r>
              <a:rPr sz="1125" b="0" i="0">
                <a:solidFill>
                  <a:srgbClr val="172B4D"/>
                </a:solidFill>
                <a:latin typeface="Consolas"/>
                <a:ea typeface="Consolas"/>
                <a:cs typeface="Consolas"/>
              </a:rPr>
              <a:t>  "text": "FastAPI ownership and idempotency ...",</a:t>
            </a:r>
          </a:p>
          <a:p xmlns:a="http://schemas.openxmlformats.org/drawingml/2006/main">
            <a:pPr algn="l">
              <a:lnSpc>
                <a:spcPct val="102000"/>
              </a:lnSpc>
              <a:buNone/>
              <a:defRPr sz="1125" b="0" i="0">
                <a:solidFill>
                  <a:srgbClr val="172B4D"/>
                </a:solidFill>
                <a:latin typeface="Consolas"/>
                <a:ea typeface="Consolas"/>
                <a:cs typeface="Consolas"/>
              </a:defRPr>
            </a:pPr>
            <a:r>
              <a:rPr sz="1125" b="0" i="0">
                <a:solidFill>
                  <a:srgbClr val="172B4D"/>
                </a:solidFill>
                <a:latin typeface="Consolas"/>
                <a:ea typeface="Consolas"/>
                <a:cs typeface="Consolas"/>
              </a:rPr>
              <a:t>  "domain": "backend",</a:t>
            </a:r>
          </a:p>
          <a:p xmlns:a="http://schemas.openxmlformats.org/drawingml/2006/main">
            <a:pPr algn="l">
              <a:lnSpc>
                <a:spcPct val="102000"/>
              </a:lnSpc>
              <a:buNone/>
              <a:defRPr sz="1125" b="0" i="0">
                <a:solidFill>
                  <a:srgbClr val="172B4D"/>
                </a:solidFill>
                <a:latin typeface="Consolas"/>
                <a:ea typeface="Consolas"/>
                <a:cs typeface="Consolas"/>
              </a:defRPr>
            </a:pPr>
            <a:r>
              <a:rPr sz="1125" b="0" i="0">
                <a:solidFill>
                  <a:srgbClr val="172B4D"/>
                </a:solidFill>
                <a:latin typeface="Consolas"/>
                <a:ea typeface="Consolas"/>
                <a:cs typeface="Consolas"/>
              </a:rPr>
              <a:t>  "level": "junior",</a:t>
            </a:r>
          </a:p>
          <a:p xmlns:a="http://schemas.openxmlformats.org/drawingml/2006/main">
            <a:pPr algn="l">
              <a:lnSpc>
                <a:spcPct val="102000"/>
              </a:lnSpc>
              <a:buNone/>
              <a:defRPr sz="1125" b="0" i="0">
                <a:solidFill>
                  <a:srgbClr val="172B4D"/>
                </a:solidFill>
                <a:latin typeface="Consolas"/>
                <a:ea typeface="Consolas"/>
                <a:cs typeface="Consolas"/>
              </a:defRPr>
            </a:pPr>
            <a:r>
              <a:rPr sz="1125" b="0" i="0">
                <a:solidFill>
                  <a:srgbClr val="172B4D"/>
                </a:solidFill>
                <a:latin typeface="Consolas"/>
                <a:ea typeface="Consolas"/>
                <a:cs typeface="Consolas"/>
              </a:rPr>
              <a:t>  "source_path": "knowledge/backend.md#fastapi",</a:t>
            </a:r>
          </a:p>
          <a:p xmlns:a="http://schemas.openxmlformats.org/drawingml/2006/main">
            <a:pPr algn="l">
              <a:lnSpc>
                <a:spcPct val="102000"/>
              </a:lnSpc>
              <a:buNone/>
              <a:defRPr sz="1125" b="0" i="0">
                <a:solidFill>
                  <a:srgbClr val="172B4D"/>
                </a:solidFill>
                <a:latin typeface="Consolas"/>
                <a:ea typeface="Consolas"/>
                <a:cs typeface="Consolas"/>
              </a:defRPr>
            </a:pPr>
            <a:r>
              <a:rPr sz="1125" b="0" i="0">
                <a:solidFill>
                  <a:srgbClr val="172B4D"/>
                </a:solidFill>
                <a:latin typeface="Consolas"/>
                <a:ea typeface="Consolas"/>
                <a:cs typeface="Consolas"/>
              </a:rPr>
              <a:t>  "content_hash": "sha256:9f...",</a:t>
            </a:r>
          </a:p>
          <a:p xmlns:a="http://schemas.openxmlformats.org/drawingml/2006/main">
            <a:pPr algn="l">
              <a:lnSpc>
                <a:spcPct val="102000"/>
              </a:lnSpc>
              <a:buNone/>
              <a:defRPr sz="1125" b="0" i="0">
                <a:solidFill>
                  <a:srgbClr val="172B4D"/>
                </a:solidFill>
                <a:latin typeface="Consolas"/>
                <a:ea typeface="Consolas"/>
                <a:cs typeface="Consolas"/>
              </a:defRPr>
            </a:pPr>
            <a:r>
              <a:rPr sz="1125" b="0" i="0">
                <a:solidFill>
                  <a:srgbClr val="172B4D"/>
                </a:solidFill>
                <a:latin typeface="Consolas"/>
                <a:ea typeface="Consolas"/>
                <a:cs typeface="Consolas"/>
              </a:rPr>
              <a:t>  "embedding_model": "gemini-embedding-001",</a:t>
            </a:r>
          </a:p>
          <a:p xmlns:a="http://schemas.openxmlformats.org/drawingml/2006/main">
            <a:pPr algn="l">
              <a:lnSpc>
                <a:spcPct val="102000"/>
              </a:lnSpc>
              <a:buNone/>
              <a:defRPr sz="1125" b="0" i="0">
                <a:solidFill>
                  <a:srgbClr val="172B4D"/>
                </a:solidFill>
                <a:latin typeface="Consolas"/>
                <a:ea typeface="Consolas"/>
                <a:cs typeface="Consolas"/>
              </a:defRPr>
            </a:pPr>
            <a:r>
              <a:rPr sz="1125" b="0" i="0">
                <a:solidFill>
                  <a:srgbClr val="172B4D"/>
                </a:solidFill>
                <a:latin typeface="Consolas"/>
                <a:ea typeface="Consolas"/>
                <a:cs typeface="Consolas"/>
              </a:rPr>
              <a:t>  "embedding_version": "v1-768-cosine",</a:t>
            </a:r>
          </a:p>
          <a:p xmlns:a="http://schemas.openxmlformats.org/drawingml/2006/main">
            <a:pPr algn="l">
              <a:lnSpc>
                <a:spcPct val="102000"/>
              </a:lnSpc>
              <a:buNone/>
              <a:defRPr sz="1125" b="0" i="0">
                <a:solidFill>
                  <a:srgbClr val="172B4D"/>
                </a:solidFill>
                <a:latin typeface="Consolas"/>
                <a:ea typeface="Consolas"/>
                <a:cs typeface="Consolas"/>
              </a:defRPr>
            </a:pPr>
            <a:r>
              <a:rPr sz="1125" b="0" i="0">
                <a:solidFill>
                  <a:srgbClr val="172B4D"/>
                </a:solidFill>
                <a:latin typeface="Consolas"/>
                <a:ea typeface="Consolas"/>
                <a:cs typeface="Consolas"/>
              </a:rPr>
              <a:t>  "embedding": [0.031, -0.087, ... 768 values],</a:t>
            </a:r>
          </a:p>
          <a:p xmlns:a="http://schemas.openxmlformats.org/drawingml/2006/main">
            <a:pPr algn="l">
              <a:lnSpc>
                <a:spcPct val="102000"/>
              </a:lnSpc>
              <a:buNone/>
              <a:defRPr sz="1125" b="0" i="0">
                <a:solidFill>
                  <a:srgbClr val="172B4D"/>
                </a:solidFill>
                <a:latin typeface="Consolas"/>
                <a:ea typeface="Consolas"/>
                <a:cs typeface="Consolas"/>
              </a:defRPr>
            </a:pPr>
            <a:r>
              <a:rPr sz="1125" b="0" i="0">
                <a:solidFill>
                  <a:srgbClr val="172B4D"/>
                </a:solidFill>
                <a:latin typeface="Consolas"/>
                <a:ea typeface="Consolas"/>
                <a:cs typeface="Consolas"/>
              </a:rPr>
              <a:t>  "active": true,</a:t>
            </a:r>
          </a:p>
          <a:p xmlns:a="http://schemas.openxmlformats.org/drawingml/2006/main">
            <a:pPr algn="l">
              <a:lnSpc>
                <a:spcPct val="102000"/>
              </a:lnSpc>
              <a:buNone/>
              <a:defRPr sz="1125" b="0" i="0">
                <a:solidFill>
                  <a:srgbClr val="172B4D"/>
                </a:solidFill>
                <a:latin typeface="Consolas"/>
                <a:ea typeface="Consolas"/>
                <a:cs typeface="Consolas"/>
              </a:defRPr>
            </a:pPr>
            <a:r>
              <a:rPr sz="1125" b="0" i="0">
                <a:solidFill>
                  <a:srgbClr val="172B4D"/>
                </a:solidFill>
                <a:latin typeface="Consolas"/>
                <a:ea typeface="Consolas"/>
                <a:cs typeface="Consolas"/>
              </a:rPr>
              <a:t>  "updated_at": "server timestamp"</a:t>
            </a:r>
          </a:p>
          <a:p xmlns:a="http://schemas.openxmlformats.org/drawingml/2006/main">
            <a:pPr algn="l">
              <a:lnSpc>
                <a:spcPct val="102000"/>
              </a:lnSpc>
              <a:buNone/>
              <a:defRPr sz="1125" b="0" i="0">
                <a:solidFill>
                  <a:srgbClr val="172B4D"/>
                </a:solidFill>
                <a:latin typeface="Consolas"/>
                <a:ea typeface="Consolas"/>
                <a:cs typeface="Consolas"/>
              </a:defRPr>
            </a:pPr>
            <a:r>
              <a:rPr sz="1125" b="0" i="0">
                <a:solidFill>
                  <a:srgbClr val="172B4D"/>
                </a:solidFill>
                <a:latin typeface="Consolas"/>
                <a:ea typeface="Consolas"/>
                <a:cs typeface="Consolas"/>
              </a:rPr>
              <a:t>}</a:t>
            </a:r>
          </a:p>
        </p:txBody>
      </p:sp>
      <p:sp>
        <p:nvSpPr>
          <p:cNvPr id="66" name="vector-embedded-panel">
            <a:extLst xmlns:a="http://schemas.openxmlformats.org/drawingml/2006/main">
              <a:ext uri="{FF2B5EF4-FFF2-40B4-BE49-F238E27FC236}">
                <a16:creationId xmlns:a16="http://schemas.microsoft.com/office/drawing/2014/main" id="{D073D21E-E00B-4E7E-80E3-4D72EB0956D1}"/>
              </a:ext>
            </a:extLst>
          </p:cNvPr>
          <p:cNvSpPr>
            <a:spLocks xmlns:a="http://schemas.openxmlformats.org/drawingml/2006/main" noGrp="1"/>
          </p:cNvSpPr>
          <p:nvPr/>
        </p:nvSpPr>
        <p:spPr>
          <a:xfrm xmlns:a="http://schemas.openxmlformats.org/drawingml/2006/main">
            <a:off x="7448550" y="1943100"/>
            <a:ext cx="4286250" cy="1809750"/>
          </a:xfrm>
          <a:prstGeom xmlns:a="http://schemas.openxmlformats.org/drawingml/2006/main" prst="roundRect">
            <a:avLst>
              <a:gd name="adj" fmla="val 4211"/>
            </a:avLst>
          </a:prstGeom>
          <a:solidFill xmlns:a="http://schemas.openxmlformats.org/drawingml/2006/main">
            <a:srgbClr val="EAF2FF"/>
          </a:solidFill>
          <a:ln xmlns:a="http://schemas.openxmlformats.org/drawingml/2006/main" w="9525">
            <a:solidFill>
              <a:srgbClr val="B8CDF2"/>
            </a:solidFill>
            <a:prstDash val="solid"/>
          </a:ln>
        </p:spPr>
      </p:sp>
      <p:sp>
        <p:nvSpPr>
          <p:cNvPr id="67" name="vector-embedded-badge-bg">
            <a:extLst xmlns:a="http://schemas.openxmlformats.org/drawingml/2006/main">
              <a:ext uri="{FF2B5EF4-FFF2-40B4-BE49-F238E27FC236}">
                <a16:creationId xmlns:a16="http://schemas.microsoft.com/office/drawing/2014/main" id="{A60D2462-E54F-4D5E-9246-195A7BFF4EDF}"/>
              </a:ext>
            </a:extLst>
          </p:cNvPr>
          <p:cNvSpPr>
            <a:spLocks xmlns:a="http://schemas.openxmlformats.org/drawingml/2006/main" noGrp="1"/>
          </p:cNvSpPr>
          <p:nvPr/>
        </p:nvSpPr>
        <p:spPr>
          <a:xfrm xmlns:a="http://schemas.openxmlformats.org/drawingml/2006/main">
            <a:off x="7639050" y="2114550"/>
            <a:ext cx="1466850" cy="266700"/>
          </a:xfrm>
          <a:prstGeom xmlns:a="http://schemas.openxmlformats.org/drawingml/2006/main" prst="roundRect">
            <a:avLst>
              <a:gd name="adj" fmla="val 28571"/>
            </a:avLst>
          </a:prstGeom>
          <a:solidFill xmlns:a="http://schemas.openxmlformats.org/drawingml/2006/main">
            <a:srgbClr val="2A6FDB"/>
          </a:solidFill>
          <a:ln xmlns:a="http://schemas.openxmlformats.org/drawingml/2006/main" w="0">
            <a:noFill/>
            <a:prstDash val="solid"/>
          </a:ln>
        </p:spPr>
      </p:sp>
      <p:sp>
        <p:nvSpPr>
          <p:cNvPr id="68" name="vector-embedded-badge-text">
            <a:extLst xmlns:a="http://schemas.openxmlformats.org/drawingml/2006/main">
              <a:ext uri="{FF2B5EF4-FFF2-40B4-BE49-F238E27FC236}">
                <a16:creationId xmlns:a16="http://schemas.microsoft.com/office/drawing/2014/main" id="{0F55BD6E-2E71-4562-9B7B-30CAA95394B4}"/>
              </a:ext>
            </a:extLst>
          </p:cNvPr>
          <p:cNvSpPr>
            <a:spLocks xmlns:a="http://schemas.openxmlformats.org/drawingml/2006/main" noGrp="1"/>
          </p:cNvSpPr>
          <p:nvPr/>
        </p:nvSpPr>
        <p:spPr>
          <a:xfrm xmlns:a="http://schemas.openxmlformats.org/drawingml/2006/main">
            <a:off x="7639050" y="2124075"/>
            <a:ext cx="1466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FFFFFF"/>
                </a:solidFill>
                <a:latin typeface="Calibri"/>
                <a:ea typeface="Calibri"/>
                <a:cs typeface="Calibri"/>
              </a:defRPr>
            </a:pPr>
            <a:r>
              <a:rPr sz="900" b="1" i="0">
                <a:solidFill>
                  <a:srgbClr val="FFFFFF"/>
                </a:solidFill>
                <a:latin typeface="Calibri"/>
                <a:ea typeface="Calibri"/>
                <a:cs typeface="Calibri"/>
              </a:rPr>
              <a:t>EMBEDDED INPUT</a:t>
            </a:r>
          </a:p>
        </p:txBody>
      </p:sp>
      <p:sp>
        <p:nvSpPr>
          <p:cNvPr id="69" name="vector-embedded-title">
            <a:extLst xmlns:a="http://schemas.openxmlformats.org/drawingml/2006/main">
              <a:ext uri="{FF2B5EF4-FFF2-40B4-BE49-F238E27FC236}">
                <a16:creationId xmlns:a16="http://schemas.microsoft.com/office/drawing/2014/main" id="{713956DA-C5DF-495A-A977-FDFB62603EFA}"/>
              </a:ext>
            </a:extLst>
          </p:cNvPr>
          <p:cNvSpPr>
            <a:spLocks xmlns:a="http://schemas.openxmlformats.org/drawingml/2006/main" noGrp="1"/>
          </p:cNvSpPr>
          <p:nvPr/>
        </p:nvSpPr>
        <p:spPr>
          <a:xfrm xmlns:a="http://schemas.openxmlformats.org/drawingml/2006/main">
            <a:off x="7639050" y="253365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173B67"/>
                </a:solidFill>
                <a:latin typeface="Calibri"/>
                <a:ea typeface="Calibri"/>
                <a:cs typeface="Calibri"/>
              </a:defRPr>
            </a:pPr>
            <a:r>
              <a:rPr sz="1350" b="1" i="0">
                <a:solidFill>
                  <a:srgbClr val="173B67"/>
                </a:solidFill>
                <a:latin typeface="Calibri"/>
                <a:ea typeface="Calibri"/>
                <a:cs typeface="Calibri"/>
              </a:rPr>
              <a:t>Semantic text only</a:t>
            </a:r>
          </a:p>
        </p:txBody>
      </p:sp>
      <p:sp>
        <p:nvSpPr>
          <p:cNvPr id="70" name="vector-embedded-body">
            <a:extLst xmlns:a="http://schemas.openxmlformats.org/drawingml/2006/main">
              <a:ext uri="{FF2B5EF4-FFF2-40B4-BE49-F238E27FC236}">
                <a16:creationId xmlns:a16="http://schemas.microsoft.com/office/drawing/2014/main" id="{2AFB46B6-4488-455C-B9DF-0AD99D5C39E8}"/>
              </a:ext>
            </a:extLst>
          </p:cNvPr>
          <p:cNvSpPr>
            <a:spLocks xmlns:a="http://schemas.openxmlformats.org/drawingml/2006/main" noGrp="1"/>
          </p:cNvSpPr>
          <p:nvPr/>
        </p:nvSpPr>
        <p:spPr>
          <a:xfrm xmlns:a="http://schemas.openxmlformats.org/drawingml/2006/main">
            <a:off x="7639050" y="2924175"/>
            <a:ext cx="3714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172B4D"/>
                </a:solidFill>
                <a:latin typeface="Calibri"/>
                <a:ea typeface="Calibri"/>
                <a:cs typeface="Calibri"/>
              </a:defRPr>
            </a:pPr>
            <a:r>
              <a:rPr sz="1125" b="0" i="0">
                <a:solidFill>
                  <a:srgbClr val="172B4D"/>
                </a:solidFill>
                <a:latin typeface="Calibri"/>
                <a:ea typeface="Calibri"/>
                <a:cs typeface="Calibri"/>
              </a:rPr>
              <a:t>Title + competency explanation + anchors.</a:t>
            </a:r>
          </a:p>
          <a:p xmlns:a="http://schemas.openxmlformats.org/drawingml/2006/main">
            <a:r>
              <a:t/>
            </a:r>
          </a:p>
          <a:p xmlns:a="http://schemas.openxmlformats.org/drawingml/2006/main">
            <a:pPr algn="l">
              <a:defRPr sz="1125" b="0" i="0">
                <a:solidFill>
                  <a:srgbClr val="172B4D"/>
                </a:solidFill>
                <a:latin typeface="Calibri"/>
                <a:ea typeface="Calibri"/>
                <a:cs typeface="Calibri"/>
              </a:defRPr>
            </a:pPr>
            <a:r>
              <a:rPr sz="1125" b="0" i="0">
                <a:solidFill>
                  <a:srgbClr val="172B4D"/>
                </a:solidFill>
                <a:latin typeface="Calibri"/>
                <a:ea typeface="Calibri"/>
                <a:cs typeface="Calibri"/>
              </a:rPr>
              <a:t>The embedding captures meaning used by similarity search.</a:t>
            </a:r>
          </a:p>
        </p:txBody>
      </p:sp>
      <p:sp>
        <p:nvSpPr>
          <p:cNvPr id="71" name="vector-meta-panel">
            <a:extLst xmlns:a="http://schemas.openxmlformats.org/drawingml/2006/main">
              <a:ext uri="{FF2B5EF4-FFF2-40B4-BE49-F238E27FC236}">
                <a16:creationId xmlns:a16="http://schemas.microsoft.com/office/drawing/2014/main" id="{CCAF569C-8B14-43B6-8CB1-D6B2325F0D1F}"/>
              </a:ext>
            </a:extLst>
          </p:cNvPr>
          <p:cNvSpPr>
            <a:spLocks xmlns:a="http://schemas.openxmlformats.org/drawingml/2006/main" noGrp="1"/>
          </p:cNvSpPr>
          <p:nvPr/>
        </p:nvSpPr>
        <p:spPr>
          <a:xfrm xmlns:a="http://schemas.openxmlformats.org/drawingml/2006/main">
            <a:off x="7448550" y="3943350"/>
            <a:ext cx="4286250" cy="1962150"/>
          </a:xfrm>
          <a:prstGeom xmlns:a="http://schemas.openxmlformats.org/drawingml/2006/main" prst="roundRect">
            <a:avLst>
              <a:gd name="adj" fmla="val 3883"/>
            </a:avLst>
          </a:prstGeom>
          <a:solidFill xmlns:a="http://schemas.openxmlformats.org/drawingml/2006/main">
            <a:srgbClr val="EAF7F3"/>
          </a:solidFill>
          <a:ln xmlns:a="http://schemas.openxmlformats.org/drawingml/2006/main" w="9525">
            <a:solidFill>
              <a:srgbClr val="B8DED3"/>
            </a:solidFill>
            <a:prstDash val="solid"/>
          </a:ln>
        </p:spPr>
      </p:sp>
      <p:sp>
        <p:nvSpPr>
          <p:cNvPr id="72" name="vector-meta-badge-bg">
            <a:extLst xmlns:a="http://schemas.openxmlformats.org/drawingml/2006/main">
              <a:ext uri="{FF2B5EF4-FFF2-40B4-BE49-F238E27FC236}">
                <a16:creationId xmlns:a16="http://schemas.microsoft.com/office/drawing/2014/main" id="{A493B9FF-DA20-48C9-9E52-CA875100CCA8}"/>
              </a:ext>
            </a:extLst>
          </p:cNvPr>
          <p:cNvSpPr>
            <a:spLocks xmlns:a="http://schemas.openxmlformats.org/drawingml/2006/main" noGrp="1"/>
          </p:cNvSpPr>
          <p:nvPr/>
        </p:nvSpPr>
        <p:spPr>
          <a:xfrm xmlns:a="http://schemas.openxmlformats.org/drawingml/2006/main">
            <a:off x="7639050" y="4114800"/>
            <a:ext cx="1924050" cy="266700"/>
          </a:xfrm>
          <a:prstGeom xmlns:a="http://schemas.openxmlformats.org/drawingml/2006/main" prst="roundRect">
            <a:avLst>
              <a:gd name="adj" fmla="val 28571"/>
            </a:avLst>
          </a:prstGeom>
          <a:solidFill xmlns:a="http://schemas.openxmlformats.org/drawingml/2006/main">
            <a:srgbClr val="16866C"/>
          </a:solidFill>
          <a:ln xmlns:a="http://schemas.openxmlformats.org/drawingml/2006/main" w="0">
            <a:noFill/>
            <a:prstDash val="solid"/>
          </a:ln>
        </p:spPr>
      </p:sp>
      <p:sp>
        <p:nvSpPr>
          <p:cNvPr id="73" name="vector-meta-badge-text">
            <a:extLst xmlns:a="http://schemas.openxmlformats.org/drawingml/2006/main">
              <a:ext uri="{FF2B5EF4-FFF2-40B4-BE49-F238E27FC236}">
                <a16:creationId xmlns:a16="http://schemas.microsoft.com/office/drawing/2014/main" id="{5C267D2B-57FB-419F-B441-89D3B135DB01}"/>
              </a:ext>
            </a:extLst>
          </p:cNvPr>
          <p:cNvSpPr>
            <a:spLocks xmlns:a="http://schemas.openxmlformats.org/drawingml/2006/main" noGrp="1"/>
          </p:cNvSpPr>
          <p:nvPr/>
        </p:nvSpPr>
        <p:spPr>
          <a:xfrm xmlns:a="http://schemas.openxmlformats.org/drawingml/2006/main">
            <a:off x="7639050" y="4124325"/>
            <a:ext cx="1924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FFFFFF"/>
                </a:solidFill>
                <a:latin typeface="Calibri"/>
                <a:ea typeface="Calibri"/>
                <a:cs typeface="Calibri"/>
              </a:defRPr>
            </a:pPr>
            <a:r>
              <a:rPr sz="900" b="1" i="0">
                <a:solidFill>
                  <a:srgbClr val="FFFFFF"/>
                </a:solidFill>
                <a:latin typeface="Calibri"/>
                <a:ea typeface="Calibri"/>
                <a:cs typeface="Calibri"/>
              </a:rPr>
              <a:t>FILTER + AUDIT METADATA</a:t>
            </a:r>
          </a:p>
        </p:txBody>
      </p:sp>
      <p:sp>
        <p:nvSpPr>
          <p:cNvPr id="74" name="vector-meta-title">
            <a:extLst xmlns:a="http://schemas.openxmlformats.org/drawingml/2006/main">
              <a:ext uri="{FF2B5EF4-FFF2-40B4-BE49-F238E27FC236}">
                <a16:creationId xmlns:a16="http://schemas.microsoft.com/office/drawing/2014/main" id="{0FF6DC77-9F15-4175-B638-D9672CD7C52E}"/>
              </a:ext>
            </a:extLst>
          </p:cNvPr>
          <p:cNvSpPr>
            <a:spLocks xmlns:a="http://schemas.openxmlformats.org/drawingml/2006/main" noGrp="1"/>
          </p:cNvSpPr>
          <p:nvPr/>
        </p:nvSpPr>
        <p:spPr>
          <a:xfrm xmlns:a="http://schemas.openxmlformats.org/drawingml/2006/main">
            <a:off x="7639050" y="45339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173B67"/>
                </a:solidFill>
                <a:latin typeface="Calibri"/>
                <a:ea typeface="Calibri"/>
                <a:cs typeface="Calibri"/>
              </a:defRPr>
            </a:pPr>
            <a:r>
              <a:rPr sz="1350" b="1" i="0">
                <a:solidFill>
                  <a:srgbClr val="173B67"/>
                </a:solidFill>
                <a:latin typeface="Calibri"/>
                <a:ea typeface="Calibri"/>
                <a:cs typeface="Calibri"/>
              </a:rPr>
              <a:t>Not embedded as prose</a:t>
            </a:r>
          </a:p>
        </p:txBody>
      </p:sp>
      <p:sp>
        <p:nvSpPr>
          <p:cNvPr id="75" name="vector-meta-body">
            <a:extLst xmlns:a="http://schemas.openxmlformats.org/drawingml/2006/main">
              <a:ext uri="{FF2B5EF4-FFF2-40B4-BE49-F238E27FC236}">
                <a16:creationId xmlns:a16="http://schemas.microsoft.com/office/drawing/2014/main" id="{0E74CC7A-1FFD-4F2D-A2A6-51E67CFD4C1B}"/>
              </a:ext>
            </a:extLst>
          </p:cNvPr>
          <p:cNvSpPr>
            <a:spLocks xmlns:a="http://schemas.openxmlformats.org/drawingml/2006/main" noGrp="1"/>
          </p:cNvSpPr>
          <p:nvPr/>
        </p:nvSpPr>
        <p:spPr>
          <a:xfrm xmlns:a="http://schemas.openxmlformats.org/drawingml/2006/main">
            <a:off x="7639050" y="4895850"/>
            <a:ext cx="3714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210"/>
          </a:bodyPr>
          <a:lstStyle xmlns:a="http://schemas.openxmlformats.org/drawingml/2006/main"/>
          <a:p xmlns:a="http://schemas.openxmlformats.org/drawingml/2006/main">
            <a:pPr algn="l">
              <a:defRPr sz="1125" b="0" i="0">
                <a:solidFill>
                  <a:srgbClr val="172B4D"/>
                </a:solidFill>
                <a:latin typeface="Calibri"/>
                <a:ea typeface="Calibri"/>
                <a:cs typeface="Calibri"/>
              </a:defRPr>
            </a:pPr>
            <a:r>
              <a:rPr sz="1125" b="0" i="0">
                <a:solidFill>
                  <a:srgbClr val="172B4D"/>
                </a:solidFill>
                <a:latin typeface="Calibri"/>
                <a:ea typeface="Calibri"/>
                <a:cs typeface="Calibri"/>
              </a:rPr>
              <a:t>domain • level • source_path • hash</a:t>
            </a:r>
          </a:p>
          <a:p xmlns:a="http://schemas.openxmlformats.org/drawingml/2006/main">
            <a:pPr algn="l">
              <a:defRPr sz="1125" b="0" i="0">
                <a:solidFill>
                  <a:srgbClr val="172B4D"/>
                </a:solidFill>
                <a:latin typeface="Calibri"/>
                <a:ea typeface="Calibri"/>
                <a:cs typeface="Calibri"/>
              </a:defRPr>
            </a:pPr>
            <a:r>
              <a:rPr sz="1125" b="0" i="0">
                <a:solidFill>
                  <a:srgbClr val="172B4D"/>
                </a:solidFill>
                <a:latin typeface="Calibri"/>
                <a:ea typeface="Calibri"/>
                <a:cs typeface="Calibri"/>
              </a:rPr>
              <a:t>model/version • active • updated_at</a:t>
            </a:r>
          </a:p>
          <a:p xmlns:a="http://schemas.openxmlformats.org/drawingml/2006/main">
            <a:r>
              <a:t/>
            </a:r>
          </a:p>
          <a:p xmlns:a="http://schemas.openxmlformats.org/drawingml/2006/main">
            <a:pPr algn="l">
              <a:defRPr sz="1125" b="0" i="0">
                <a:solidFill>
                  <a:srgbClr val="172B4D"/>
                </a:solidFill>
                <a:latin typeface="Calibri"/>
                <a:ea typeface="Calibri"/>
                <a:cs typeface="Calibri"/>
              </a:defRPr>
            </a:pPr>
            <a:r>
              <a:rPr sz="1125" b="0" i="0">
                <a:solidFill>
                  <a:srgbClr val="172B4D"/>
                </a:solidFill>
                <a:latin typeface="Calibri"/>
                <a:ea typeface="Calibri"/>
                <a:cs typeface="Calibri"/>
              </a:rPr>
              <a:t>These fields support pre-filtering, refresh, rollback and traceability.</a:t>
            </a:r>
          </a:p>
        </p:txBody>
      </p:sp>
    </p:spTree>
    <p:extLst>
      <p:ext uri="{BB962C8B-B14F-4D97-AF65-F5344CB8AC3E}">
        <p14:creationId xmlns:p14="http://schemas.microsoft.com/office/powerpoint/2010/main" val="178053844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A0FA84C4-6D56-49A5-B992-E2C7E2CA6BAA}"/>
              </a:ext>
            </a:extLst>
          </p:cNvPr>
          <p:cNvSpPr>
            <a:spLocks xmlns:a="http://schemas.openxmlformats.org/drawingml/2006/main" noGrp="1"/>
          </p:cNvSpPr>
          <p:nvPr/>
        </p:nvSpPr>
        <p:spPr>
          <a:xfrm xmlns:a="http://schemas.openxmlformats.org/drawingml/2006/main">
            <a:off x="400050" y="2857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1356F"/>
                </a:solidFill>
              </a:defRPr>
            </a:pPr>
            <a:r>
              <a:rPr sz="2025" b="1">
                <a:solidFill>
                  <a:srgbClr val="11356F"/>
                </a:solidFill>
              </a:rPr>
              <a:t>3. DATA &amp; KNOWLEDGE PIPELINE</a:t>
            </a:r>
          </a:p>
        </p:txBody>
      </p:sp>
      <p:sp>
        <p:nvSpPr>
          <p:cNvPr id="2" name="">
            <a:extLst xmlns:a="http://schemas.openxmlformats.org/drawingml/2006/main">
              <a:ext uri="{FF2B5EF4-FFF2-40B4-BE49-F238E27FC236}">
                <a16:creationId xmlns:a16="http://schemas.microsoft.com/office/drawing/2014/main" id="{C4EC4226-ADF6-4B35-A367-A8FCBA4608B6}"/>
              </a:ext>
            </a:extLst>
          </p:cNvPr>
          <p:cNvSpPr>
            <a:spLocks xmlns:a="http://schemas.openxmlformats.org/drawingml/2006/main" noGrp="1"/>
          </p:cNvSpPr>
          <p:nvPr/>
        </p:nvSpPr>
        <p:spPr>
          <a:xfrm xmlns:a="http://schemas.openxmlformats.org/drawingml/2006/main">
            <a:off x="400050" y="723900"/>
            <a:ext cx="9715500" cy="9525"/>
          </a:xfrm>
          <a:prstGeom xmlns:a="http://schemas.openxmlformats.org/drawingml/2006/main" prst="line">
            <a:avLst/>
          </a:prstGeom>
          <a:noFill xmlns:a="http://schemas.openxmlformats.org/drawingml/2006/main"/>
          <a:ln xmlns:a="http://schemas.openxmlformats.org/drawingml/2006/main" w="9525">
            <a:solidFill>
              <a:srgbClr val="D8E6FF"/>
            </a:solidFill>
            <a:prstDash val="solid"/>
          </a:ln>
        </p:spPr>
      </p:sp>
      <p:sp>
        <p:nvSpPr>
          <p:cNvPr id="3" name="">
            <a:extLst xmlns:a="http://schemas.openxmlformats.org/drawingml/2006/main">
              <a:ext uri="{FF2B5EF4-FFF2-40B4-BE49-F238E27FC236}">
                <a16:creationId xmlns:a16="http://schemas.microsoft.com/office/drawing/2014/main" id="{7B775F88-E148-4190-B18E-72ECFA9F7B1F}"/>
              </a:ext>
            </a:extLst>
          </p:cNvPr>
          <p:cNvSpPr>
            <a:spLocks xmlns:a="http://schemas.openxmlformats.org/drawingml/2006/main" noGrp="1"/>
          </p:cNvSpPr>
          <p:nvPr/>
        </p:nvSpPr>
        <p:spPr>
          <a:xfrm xmlns:a="http://schemas.openxmlformats.org/drawingml/2006/main">
            <a:off x="400050" y="838200"/>
            <a:ext cx="923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62C52"/>
                </a:solidFill>
              </a:defRPr>
            </a:pPr>
            <a:r>
              <a:rPr sz="1500" b="1">
                <a:solidFill>
                  <a:srgbClr val="162C52"/>
                </a:solidFill>
              </a:rPr>
              <a:t>Cosine Similarity Ranks Direction, Not Raw Magnitude</a:t>
            </a:r>
          </a:p>
        </p:txBody>
      </p:sp>
      <p:sp>
        <p:nvSpPr>
          <p:cNvPr id="4" name="">
            <a:extLst xmlns:a="http://schemas.openxmlformats.org/drawingml/2006/main">
              <a:ext uri="{FF2B5EF4-FFF2-40B4-BE49-F238E27FC236}">
                <a16:creationId xmlns:a16="http://schemas.microsoft.com/office/drawing/2014/main" id="{765338A5-DC9E-48AC-B62E-F735FB259E74}"/>
              </a:ext>
            </a:extLst>
          </p:cNvPr>
          <p:cNvSpPr>
            <a:spLocks xmlns:a="http://schemas.openxmlformats.org/drawingml/2006/main" noGrp="1"/>
          </p:cNvSpPr>
          <p:nvPr/>
        </p:nvSpPr>
        <p:spPr>
          <a:xfrm xmlns:a="http://schemas.openxmlformats.org/drawingml/2006/main">
            <a:off x="400050" y="1114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617391"/>
                </a:solidFill>
              </a:defRPr>
            </a:pPr>
            <a:r>
              <a:rPr sz="1050" b="0">
                <a:solidFill>
                  <a:srgbClr val="617391"/>
                </a:solidFill>
              </a:rPr>
              <a:t>A three-dimensional teaching example explains the proposed 768-dimensional retrieval score.</a:t>
            </a:r>
          </a:p>
        </p:txBody>
      </p:sp>
      <p:sp>
        <p:nvSpPr>
          <p:cNvPr id="5" name="">
            <a:extLst xmlns:a="http://schemas.openxmlformats.org/drawingml/2006/main">
              <a:ext uri="{FF2B5EF4-FFF2-40B4-BE49-F238E27FC236}">
                <a16:creationId xmlns:a16="http://schemas.microsoft.com/office/drawing/2014/main" id="{84131477-4336-450A-B28C-EBCDD42B843C}"/>
              </a:ext>
            </a:extLst>
          </p:cNvPr>
          <p:cNvSpPr>
            <a:spLocks xmlns:a="http://schemas.openxmlformats.org/drawingml/2006/main" noGrp="1"/>
          </p:cNvSpPr>
          <p:nvPr/>
        </p:nvSpPr>
        <p:spPr>
          <a:xfrm xmlns:a="http://schemas.openxmlformats.org/drawingml/2006/main">
            <a:off x="11001375" y="304800"/>
            <a:ext cx="228600" cy="228600"/>
          </a:xfrm>
          <a:prstGeom xmlns:a="http://schemas.openxmlformats.org/drawingml/2006/main" prst="rect">
            <a:avLst/>
          </a:prstGeom>
          <a:solidFill xmlns:a="http://schemas.openxmlformats.org/drawingml/2006/main">
            <a:srgbClr val="D9E5F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FB3F80E-ACEE-41E3-BF84-BD130FD3FF5C}"/>
              </a:ext>
            </a:extLst>
          </p:cNvPr>
          <p:cNvSpPr>
            <a:spLocks xmlns:a="http://schemas.openxmlformats.org/drawingml/2006/main" noGrp="1"/>
          </p:cNvSpPr>
          <p:nvPr/>
        </p:nvSpPr>
        <p:spPr>
          <a:xfrm xmlns:a="http://schemas.openxmlformats.org/drawingml/2006/main">
            <a:off x="11258550" y="304800"/>
            <a:ext cx="228600" cy="228600"/>
          </a:xfrm>
          <a:prstGeom xmlns:a="http://schemas.openxmlformats.org/drawingml/2006/main" prst="rect">
            <a:avLst/>
          </a:prstGeom>
          <a:solidFill xmlns:a="http://schemas.openxmlformats.org/drawingml/2006/main">
            <a:srgbClr val="AFC9F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1E944EB-6E64-456A-9A7C-457DE60B1644}"/>
              </a:ext>
            </a:extLst>
          </p:cNvPr>
          <p:cNvSpPr>
            <a:spLocks xmlns:a="http://schemas.openxmlformats.org/drawingml/2006/main" noGrp="1"/>
          </p:cNvSpPr>
          <p:nvPr/>
        </p:nvSpPr>
        <p:spPr>
          <a:xfrm xmlns:a="http://schemas.openxmlformats.org/drawingml/2006/main">
            <a:off x="11515725" y="304800"/>
            <a:ext cx="228600" cy="228600"/>
          </a:xfrm>
          <a:prstGeom xmlns:a="http://schemas.openxmlformats.org/drawingml/2006/main" prst="rect">
            <a:avLst/>
          </a:prstGeom>
          <a:solidFill xmlns:a="http://schemas.openxmlformats.org/drawingml/2006/main">
            <a:srgbClr val="78A3F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95F19F6-454C-4525-B9E0-2CDC68F7BA63}"/>
              </a:ext>
            </a:extLst>
          </p:cNvPr>
          <p:cNvSpPr>
            <a:spLocks xmlns:a="http://schemas.openxmlformats.org/drawingml/2006/main" noGrp="1"/>
          </p:cNvSpPr>
          <p:nvPr/>
        </p:nvSpPr>
        <p:spPr>
          <a:xfrm xmlns:a="http://schemas.openxmlformats.org/drawingml/2006/main">
            <a:off x="40005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A98AE"/>
                </a:solidFill>
              </a:defRPr>
            </a:pPr>
            <a:r>
              <a:rPr sz="825" b="1">
                <a:solidFill>
                  <a:srgbClr val="8A98AE"/>
                </a:solidFill>
              </a:rPr>
              <a:t>FIPILOT  •  DEFENSE ROUND 1  •  12</a:t>
            </a:r>
          </a:p>
        </p:txBody>
      </p:sp>
      <p:sp>
        <p:nvSpPr>
          <p:cNvPr id="44" name="header-cover-3">
            <a:extLst xmlns:a="http://schemas.openxmlformats.org/drawingml/2006/main">
              <a:ext uri="{FF2B5EF4-FFF2-40B4-BE49-F238E27FC236}">
                <a16:creationId xmlns:a16="http://schemas.microsoft.com/office/drawing/2014/main" id="{6A5A59DA-414C-4856-A8E0-317FB9CD0A42}"/>
              </a:ext>
            </a:extLst>
          </p:cNvPr>
          <p:cNvSpPr>
            <a:spLocks xmlns:a="http://schemas.openxmlformats.org/drawingml/2006/main" noGrp="1"/>
          </p:cNvSpPr>
          <p:nvPr/>
        </p:nvSpPr>
        <p:spPr>
          <a:xfrm xmlns:a="http://schemas.openxmlformats.org/drawingml/2006/main">
            <a:off x="323850" y="190500"/>
            <a:ext cx="11525250" cy="6096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5" name="section-title-3">
            <a:extLst xmlns:a="http://schemas.openxmlformats.org/drawingml/2006/main">
              <a:ext uri="{FF2B5EF4-FFF2-40B4-BE49-F238E27FC236}">
                <a16:creationId xmlns:a16="http://schemas.microsoft.com/office/drawing/2014/main" id="{06A8C362-930D-4F5C-B2F9-F3488EF8B506}"/>
              </a:ext>
            </a:extLst>
          </p:cNvPr>
          <p:cNvSpPr>
            <a:spLocks xmlns:a="http://schemas.openxmlformats.org/drawingml/2006/main" noGrp="1"/>
          </p:cNvSpPr>
          <p:nvPr/>
        </p:nvSpPr>
        <p:spPr>
          <a:xfrm xmlns:a="http://schemas.openxmlformats.org/drawingml/2006/main">
            <a:off x="400050" y="2857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1356F"/>
                </a:solidFill>
              </a:defRPr>
            </a:pPr>
            <a:r>
              <a:rPr sz="2025" b="1">
                <a:solidFill>
                  <a:srgbClr val="11356F"/>
                </a:solidFill>
              </a:rPr>
              <a:t>3. DATA &amp; KNOWLEDGE PIPELINE</a:t>
            </a:r>
          </a:p>
        </p:txBody>
      </p:sp>
      <p:sp>
        <p:nvSpPr>
          <p:cNvPr id="46" name="section-rule-3">
            <a:extLst xmlns:a="http://schemas.openxmlformats.org/drawingml/2006/main">
              <a:ext uri="{FF2B5EF4-FFF2-40B4-BE49-F238E27FC236}">
                <a16:creationId xmlns:a16="http://schemas.microsoft.com/office/drawing/2014/main" id="{95DE4CC3-A856-4C2C-BB50-08032CB56BDD}"/>
              </a:ext>
            </a:extLst>
          </p:cNvPr>
          <p:cNvSpPr>
            <a:spLocks xmlns:a="http://schemas.openxmlformats.org/drawingml/2006/main" noGrp="1"/>
          </p:cNvSpPr>
          <p:nvPr/>
        </p:nvSpPr>
        <p:spPr>
          <a:xfrm xmlns:a="http://schemas.openxmlformats.org/drawingml/2006/main">
            <a:off x="400050" y="723900"/>
            <a:ext cx="9715500" cy="9525"/>
          </a:xfrm>
          <a:prstGeom xmlns:a="http://schemas.openxmlformats.org/drawingml/2006/main" prst="line">
            <a:avLst/>
          </a:prstGeom>
          <a:noFill xmlns:a="http://schemas.openxmlformats.org/drawingml/2006/main"/>
          <a:ln xmlns:a="http://schemas.openxmlformats.org/drawingml/2006/main" w="9525">
            <a:solidFill>
              <a:srgbClr val="D8E6FF"/>
            </a:solidFill>
            <a:prstDash val="solid"/>
          </a:ln>
        </p:spPr>
      </p:sp>
      <p:sp>
        <p:nvSpPr>
          <p:cNvPr id="47" name="brand-square-1-3">
            <a:extLst xmlns:a="http://schemas.openxmlformats.org/drawingml/2006/main">
              <a:ext uri="{FF2B5EF4-FFF2-40B4-BE49-F238E27FC236}">
                <a16:creationId xmlns:a16="http://schemas.microsoft.com/office/drawing/2014/main" id="{5C98C187-5A57-451D-8C81-1F85220D2AC7}"/>
              </a:ext>
            </a:extLst>
          </p:cNvPr>
          <p:cNvSpPr>
            <a:spLocks xmlns:a="http://schemas.openxmlformats.org/drawingml/2006/main" noGrp="1"/>
          </p:cNvSpPr>
          <p:nvPr/>
        </p:nvSpPr>
        <p:spPr>
          <a:xfrm xmlns:a="http://schemas.openxmlformats.org/drawingml/2006/main">
            <a:off x="11001375" y="304800"/>
            <a:ext cx="228600" cy="228600"/>
          </a:xfrm>
          <a:prstGeom xmlns:a="http://schemas.openxmlformats.org/drawingml/2006/main" prst="rect">
            <a:avLst/>
          </a:prstGeom>
          <a:solidFill xmlns:a="http://schemas.openxmlformats.org/drawingml/2006/main">
            <a:srgbClr val="D9E5FB"/>
          </a:solidFill>
          <a:ln xmlns:a="http://schemas.openxmlformats.org/drawingml/2006/main" w="0">
            <a:noFill/>
            <a:prstDash val="solid"/>
          </a:ln>
        </p:spPr>
      </p:sp>
      <p:sp>
        <p:nvSpPr>
          <p:cNvPr id="48" name="brand-square-2-3">
            <a:extLst xmlns:a="http://schemas.openxmlformats.org/drawingml/2006/main">
              <a:ext uri="{FF2B5EF4-FFF2-40B4-BE49-F238E27FC236}">
                <a16:creationId xmlns:a16="http://schemas.microsoft.com/office/drawing/2014/main" id="{0BE5B794-C6F4-4753-8605-268E942FC194}"/>
              </a:ext>
            </a:extLst>
          </p:cNvPr>
          <p:cNvSpPr>
            <a:spLocks xmlns:a="http://schemas.openxmlformats.org/drawingml/2006/main" noGrp="1"/>
          </p:cNvSpPr>
          <p:nvPr/>
        </p:nvSpPr>
        <p:spPr>
          <a:xfrm xmlns:a="http://schemas.openxmlformats.org/drawingml/2006/main">
            <a:off x="11258550" y="304800"/>
            <a:ext cx="228600" cy="228600"/>
          </a:xfrm>
          <a:prstGeom xmlns:a="http://schemas.openxmlformats.org/drawingml/2006/main" prst="rect">
            <a:avLst/>
          </a:prstGeom>
          <a:solidFill xmlns:a="http://schemas.openxmlformats.org/drawingml/2006/main">
            <a:srgbClr val="AFC9F7"/>
          </a:solidFill>
          <a:ln xmlns:a="http://schemas.openxmlformats.org/drawingml/2006/main" w="0">
            <a:noFill/>
            <a:prstDash val="solid"/>
          </a:ln>
        </p:spPr>
      </p:sp>
      <p:sp>
        <p:nvSpPr>
          <p:cNvPr id="49" name="brand-square-3-3">
            <a:extLst xmlns:a="http://schemas.openxmlformats.org/drawingml/2006/main">
              <a:ext uri="{FF2B5EF4-FFF2-40B4-BE49-F238E27FC236}">
                <a16:creationId xmlns:a16="http://schemas.microsoft.com/office/drawing/2014/main" id="{12F86765-BE6C-46AB-A815-6ABBD9E787D2}"/>
              </a:ext>
            </a:extLst>
          </p:cNvPr>
          <p:cNvSpPr>
            <a:spLocks xmlns:a="http://schemas.openxmlformats.org/drawingml/2006/main" noGrp="1"/>
          </p:cNvSpPr>
          <p:nvPr/>
        </p:nvSpPr>
        <p:spPr>
          <a:xfrm xmlns:a="http://schemas.openxmlformats.org/drawingml/2006/main">
            <a:off x="11515725" y="304800"/>
            <a:ext cx="228600" cy="228600"/>
          </a:xfrm>
          <a:prstGeom xmlns:a="http://schemas.openxmlformats.org/drawingml/2006/main" prst="rect">
            <a:avLst/>
          </a:prstGeom>
          <a:solidFill xmlns:a="http://schemas.openxmlformats.org/drawingml/2006/main">
            <a:srgbClr val="78A3F1"/>
          </a:solidFill>
          <a:ln xmlns:a="http://schemas.openxmlformats.org/drawingml/2006/main" w="0">
            <a:noFill/>
            <a:prstDash val="solid"/>
          </a:ln>
        </p:spPr>
      </p:sp>
      <p:sp>
        <p:nvSpPr>
          <p:cNvPr id="50" name="footer-cover-3">
            <a:extLst xmlns:a="http://schemas.openxmlformats.org/drawingml/2006/main">
              <a:ext uri="{FF2B5EF4-FFF2-40B4-BE49-F238E27FC236}">
                <a16:creationId xmlns:a16="http://schemas.microsoft.com/office/drawing/2014/main" id="{D6777E20-D174-424B-98CC-BEB044B1CC22}"/>
              </a:ext>
            </a:extLst>
          </p:cNvPr>
          <p:cNvSpPr>
            <a:spLocks xmlns:a="http://schemas.openxmlformats.org/drawingml/2006/main" noGrp="1"/>
          </p:cNvSpPr>
          <p:nvPr/>
        </p:nvSpPr>
        <p:spPr>
          <a:xfrm xmlns:a="http://schemas.openxmlformats.org/drawingml/2006/main">
            <a:off x="323850" y="6438900"/>
            <a:ext cx="4191000" cy="2667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1" name="footer-3">
            <a:extLst xmlns:a="http://schemas.openxmlformats.org/drawingml/2006/main">
              <a:ext uri="{FF2B5EF4-FFF2-40B4-BE49-F238E27FC236}">
                <a16:creationId xmlns:a16="http://schemas.microsoft.com/office/drawing/2014/main" id="{D88565E7-0D9E-4A95-B9D6-E3C6D715B650}"/>
              </a:ext>
            </a:extLst>
          </p:cNvPr>
          <p:cNvSpPr>
            <a:spLocks xmlns:a="http://schemas.openxmlformats.org/drawingml/2006/main" noGrp="1"/>
          </p:cNvSpPr>
          <p:nvPr/>
        </p:nvSpPr>
        <p:spPr>
          <a:xfrm xmlns:a="http://schemas.openxmlformats.org/drawingml/2006/main">
            <a:off x="40005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A98AE"/>
                </a:solidFill>
              </a:defRPr>
            </a:pPr>
            <a:r>
              <a:rPr sz="825" b="1">
                <a:solidFill>
                  <a:srgbClr val="8A98AE"/>
                </a:solidFill>
              </a:rPr>
              <a:t>FIPILOT  •  DEFENSE ROUND 1  •  12</a:t>
            </a:r>
          </a:p>
        </p:txBody>
      </p:sp>
      <p:sp>
        <p:nvSpPr>
          <p:cNvPr id="53" name="cosine-formula-panel">
            <a:extLst xmlns:a="http://schemas.openxmlformats.org/drawingml/2006/main">
              <a:ext uri="{FF2B5EF4-FFF2-40B4-BE49-F238E27FC236}">
                <a16:creationId xmlns:a16="http://schemas.microsoft.com/office/drawing/2014/main" id="{371A50B2-D180-4223-8B93-FF9B6DFDFD89}"/>
              </a:ext>
            </a:extLst>
          </p:cNvPr>
          <p:cNvSpPr>
            <a:spLocks xmlns:a="http://schemas.openxmlformats.org/drawingml/2006/main" noGrp="1"/>
          </p:cNvSpPr>
          <p:nvPr/>
        </p:nvSpPr>
        <p:spPr>
          <a:xfrm xmlns:a="http://schemas.openxmlformats.org/drawingml/2006/main">
            <a:off x="400050" y="1504950"/>
            <a:ext cx="11334750" cy="590550"/>
          </a:xfrm>
          <a:prstGeom xmlns:a="http://schemas.openxmlformats.org/drawingml/2006/main" prst="roundRect">
            <a:avLst>
              <a:gd name="adj" fmla="val 12903"/>
            </a:avLst>
          </a:prstGeom>
          <a:solidFill xmlns:a="http://schemas.openxmlformats.org/drawingml/2006/main">
            <a:srgbClr val="F2EDFB"/>
          </a:solidFill>
          <a:ln xmlns:a="http://schemas.openxmlformats.org/drawingml/2006/main" w="9525">
            <a:solidFill>
              <a:srgbClr val="D7CBEA"/>
            </a:solidFill>
            <a:prstDash val="solid"/>
          </a:ln>
        </p:spPr>
      </p:sp>
      <p:sp>
        <p:nvSpPr>
          <p:cNvPr id="54" name="cosine-formula">
            <a:extLst xmlns:a="http://schemas.openxmlformats.org/drawingml/2006/main">
              <a:ext uri="{FF2B5EF4-FFF2-40B4-BE49-F238E27FC236}">
                <a16:creationId xmlns:a16="http://schemas.microsoft.com/office/drawing/2014/main" id="{143FBD5C-53F0-455D-ACE0-09B177F5542C}"/>
              </a:ext>
            </a:extLst>
          </p:cNvPr>
          <p:cNvSpPr>
            <a:spLocks xmlns:a="http://schemas.openxmlformats.org/drawingml/2006/main" noGrp="1"/>
          </p:cNvSpPr>
          <p:nvPr/>
        </p:nvSpPr>
        <p:spPr>
          <a:xfrm xmlns:a="http://schemas.openxmlformats.org/drawingml/2006/main">
            <a:off x="590550" y="1657350"/>
            <a:ext cx="885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i="0">
                <a:solidFill>
                  <a:srgbClr val="7652B5"/>
                </a:solidFill>
                <a:latin typeface="Calibri"/>
                <a:ea typeface="Calibri"/>
                <a:cs typeface="Calibri"/>
              </a:defRPr>
            </a:pPr>
            <a:r>
              <a:rPr sz="1500" b="1" i="0">
                <a:solidFill>
                  <a:srgbClr val="7652B5"/>
                </a:solidFill>
                <a:latin typeface="Calibri"/>
                <a:ea typeface="Calibri"/>
                <a:cs typeface="Calibri"/>
              </a:rPr>
              <a:t>cos(q,d) = (q · d) / (‖q‖ × ‖d‖)     •     higher cosine → closer semantic direction</a:t>
            </a:r>
          </a:p>
        </p:txBody>
      </p:sp>
      <p:sp>
        <p:nvSpPr>
          <p:cNvPr id="55" name="cosine-proposed-bg">
            <a:extLst xmlns:a="http://schemas.openxmlformats.org/drawingml/2006/main">
              <a:ext uri="{FF2B5EF4-FFF2-40B4-BE49-F238E27FC236}">
                <a16:creationId xmlns:a16="http://schemas.microsoft.com/office/drawing/2014/main" id="{1A3AA474-AD72-4CF7-BEC5-DD65166BDAD2}"/>
              </a:ext>
            </a:extLst>
          </p:cNvPr>
          <p:cNvSpPr>
            <a:spLocks xmlns:a="http://schemas.openxmlformats.org/drawingml/2006/main" noGrp="1"/>
          </p:cNvSpPr>
          <p:nvPr/>
        </p:nvSpPr>
        <p:spPr>
          <a:xfrm xmlns:a="http://schemas.openxmlformats.org/drawingml/2006/main">
            <a:off x="9620250" y="1666875"/>
            <a:ext cx="1809750" cy="266700"/>
          </a:xfrm>
          <a:prstGeom xmlns:a="http://schemas.openxmlformats.org/drawingml/2006/main" prst="roundRect">
            <a:avLst>
              <a:gd name="adj" fmla="val 28571"/>
            </a:avLst>
          </a:prstGeom>
          <a:solidFill xmlns:a="http://schemas.openxmlformats.org/drawingml/2006/main">
            <a:srgbClr val="7652B5"/>
          </a:solidFill>
          <a:ln xmlns:a="http://schemas.openxmlformats.org/drawingml/2006/main" w="0">
            <a:noFill/>
            <a:prstDash val="solid"/>
          </a:ln>
        </p:spPr>
      </p:sp>
      <p:sp>
        <p:nvSpPr>
          <p:cNvPr id="56" name="cosine-proposed-text">
            <a:extLst xmlns:a="http://schemas.openxmlformats.org/drawingml/2006/main">
              <a:ext uri="{FF2B5EF4-FFF2-40B4-BE49-F238E27FC236}">
                <a16:creationId xmlns:a16="http://schemas.microsoft.com/office/drawing/2014/main" id="{F39E6C45-B11B-4399-AFEB-B7E084205ACB}"/>
              </a:ext>
            </a:extLst>
          </p:cNvPr>
          <p:cNvSpPr>
            <a:spLocks xmlns:a="http://schemas.openxmlformats.org/drawingml/2006/main" noGrp="1"/>
          </p:cNvSpPr>
          <p:nvPr/>
        </p:nvSpPr>
        <p:spPr>
          <a:xfrm xmlns:a="http://schemas.openxmlformats.org/drawingml/2006/main">
            <a:off x="9620250" y="16764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FFFFFF"/>
                </a:solidFill>
                <a:latin typeface="Calibri"/>
                <a:ea typeface="Calibri"/>
                <a:cs typeface="Calibri"/>
              </a:defRPr>
            </a:pPr>
            <a:r>
              <a:rPr sz="900" b="1" i="0">
                <a:solidFill>
                  <a:srgbClr val="FFFFFF"/>
                </a:solidFill>
                <a:latin typeface="Calibri"/>
                <a:ea typeface="Calibri"/>
                <a:cs typeface="Calibri"/>
              </a:rPr>
              <a:t>PROPOSED RETRIEVAL</a:t>
            </a:r>
          </a:p>
        </p:txBody>
      </p:sp>
      <p:sp>
        <p:nvSpPr>
          <p:cNvPr id="57" name="cosine-vector-0">
            <a:extLst xmlns:a="http://schemas.openxmlformats.org/drawingml/2006/main">
              <a:ext uri="{FF2B5EF4-FFF2-40B4-BE49-F238E27FC236}">
                <a16:creationId xmlns:a16="http://schemas.microsoft.com/office/drawing/2014/main" id="{1D831EBE-F1F0-4334-BCC6-3695C31B635A}"/>
              </a:ext>
            </a:extLst>
          </p:cNvPr>
          <p:cNvSpPr>
            <a:spLocks xmlns:a="http://schemas.openxmlformats.org/drawingml/2006/main" noGrp="1"/>
          </p:cNvSpPr>
          <p:nvPr/>
        </p:nvSpPr>
        <p:spPr>
          <a:xfrm xmlns:a="http://schemas.openxmlformats.org/drawingml/2006/main">
            <a:off x="400050" y="2343150"/>
            <a:ext cx="3638550" cy="1466850"/>
          </a:xfrm>
          <a:prstGeom xmlns:a="http://schemas.openxmlformats.org/drawingml/2006/main" prst="roundRect">
            <a:avLst>
              <a:gd name="adj" fmla="val 5195"/>
            </a:avLst>
          </a:prstGeom>
          <a:solidFill xmlns:a="http://schemas.openxmlformats.org/drawingml/2006/main">
            <a:srgbClr val="EAF2FF"/>
          </a:solidFill>
          <a:ln xmlns:a="http://schemas.openxmlformats.org/drawingml/2006/main" w="9525">
            <a:solidFill>
              <a:srgbClr val="173B67"/>
            </a:solidFill>
            <a:prstDash val="solid"/>
          </a:ln>
        </p:spPr>
      </p:sp>
      <p:sp>
        <p:nvSpPr>
          <p:cNvPr id="58" name="cosine-vector-badge-0-bg">
            <a:extLst xmlns:a="http://schemas.openxmlformats.org/drawingml/2006/main">
              <a:ext uri="{FF2B5EF4-FFF2-40B4-BE49-F238E27FC236}">
                <a16:creationId xmlns:a16="http://schemas.microsoft.com/office/drawing/2014/main" id="{AB9C406F-D05B-47C0-A354-BBF8A63CC4B3}"/>
              </a:ext>
            </a:extLst>
          </p:cNvPr>
          <p:cNvSpPr>
            <a:spLocks xmlns:a="http://schemas.openxmlformats.org/drawingml/2006/main" noGrp="1"/>
          </p:cNvSpPr>
          <p:nvPr/>
        </p:nvSpPr>
        <p:spPr>
          <a:xfrm xmlns:a="http://schemas.openxmlformats.org/drawingml/2006/main">
            <a:off x="571500" y="2514600"/>
            <a:ext cx="952500" cy="266700"/>
          </a:xfrm>
          <a:prstGeom xmlns:a="http://schemas.openxmlformats.org/drawingml/2006/main" prst="roundRect">
            <a:avLst>
              <a:gd name="adj" fmla="val 28571"/>
            </a:avLst>
          </a:prstGeom>
          <a:solidFill xmlns:a="http://schemas.openxmlformats.org/drawingml/2006/main">
            <a:srgbClr val="173B67"/>
          </a:solidFill>
          <a:ln xmlns:a="http://schemas.openxmlformats.org/drawingml/2006/main" w="0">
            <a:noFill/>
            <a:prstDash val="solid"/>
          </a:ln>
        </p:spPr>
      </p:sp>
      <p:sp>
        <p:nvSpPr>
          <p:cNvPr id="59" name="cosine-vector-badge-0-text">
            <a:extLst xmlns:a="http://schemas.openxmlformats.org/drawingml/2006/main">
              <a:ext uri="{FF2B5EF4-FFF2-40B4-BE49-F238E27FC236}">
                <a16:creationId xmlns:a16="http://schemas.microsoft.com/office/drawing/2014/main" id="{22897182-BA58-406F-A46F-710012AFAFAE}"/>
              </a:ext>
            </a:extLst>
          </p:cNvPr>
          <p:cNvSpPr>
            <a:spLocks xmlns:a="http://schemas.openxmlformats.org/drawingml/2006/main" noGrp="1"/>
          </p:cNvSpPr>
          <p:nvPr/>
        </p:nvSpPr>
        <p:spPr>
          <a:xfrm xmlns:a="http://schemas.openxmlformats.org/drawingml/2006/main">
            <a:off x="571500" y="2524125"/>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FFFFFF"/>
                </a:solidFill>
                <a:latin typeface="Calibri"/>
                <a:ea typeface="Calibri"/>
                <a:cs typeface="Calibri"/>
              </a:defRPr>
            </a:pPr>
            <a:r>
              <a:rPr sz="900" b="1" i="0">
                <a:solidFill>
                  <a:srgbClr val="FFFFFF"/>
                </a:solidFill>
                <a:latin typeface="Calibri"/>
                <a:ea typeface="Calibri"/>
                <a:cs typeface="Calibri"/>
              </a:rPr>
              <a:t>QUERY</a:t>
            </a:r>
          </a:p>
        </p:txBody>
      </p:sp>
      <p:sp>
        <p:nvSpPr>
          <p:cNvPr id="60" name="cosine-vector-value-0">
            <a:extLst xmlns:a="http://schemas.openxmlformats.org/drawingml/2006/main">
              <a:ext uri="{FF2B5EF4-FFF2-40B4-BE49-F238E27FC236}">
                <a16:creationId xmlns:a16="http://schemas.microsoft.com/office/drawing/2014/main" id="{53A4AD21-7338-4A97-AA0E-5542DE3491FE}"/>
              </a:ext>
            </a:extLst>
          </p:cNvPr>
          <p:cNvSpPr>
            <a:spLocks xmlns:a="http://schemas.openxmlformats.org/drawingml/2006/main" noGrp="1"/>
          </p:cNvSpPr>
          <p:nvPr/>
        </p:nvSpPr>
        <p:spPr>
          <a:xfrm xmlns:a="http://schemas.openxmlformats.org/drawingml/2006/main">
            <a:off x="571500" y="2952750"/>
            <a:ext cx="3295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172B4D"/>
                </a:solidFill>
                <a:latin typeface="Consolas"/>
                <a:ea typeface="Consolas"/>
                <a:cs typeface="Consolas"/>
              </a:defRPr>
            </a:pPr>
            <a:r>
              <a:rPr sz="1425" b="1" i="0">
                <a:solidFill>
                  <a:srgbClr val="172B4D"/>
                </a:solidFill>
                <a:latin typeface="Consolas"/>
                <a:ea typeface="Consolas"/>
                <a:cs typeface="Consolas"/>
              </a:rPr>
              <a:t>q = [1.0, 1.0, 0.0]</a:t>
            </a:r>
          </a:p>
        </p:txBody>
      </p:sp>
      <p:sp>
        <p:nvSpPr>
          <p:cNvPr id="61" name="cosine-vector-meaning-0">
            <a:extLst xmlns:a="http://schemas.openxmlformats.org/drawingml/2006/main">
              <a:ext uri="{FF2B5EF4-FFF2-40B4-BE49-F238E27FC236}">
                <a16:creationId xmlns:a16="http://schemas.microsoft.com/office/drawing/2014/main" id="{45D73B3F-B7F2-4CD7-99C4-472D908E725B}"/>
              </a:ext>
            </a:extLst>
          </p:cNvPr>
          <p:cNvSpPr>
            <a:spLocks xmlns:a="http://schemas.openxmlformats.org/drawingml/2006/main" noGrp="1"/>
          </p:cNvSpPr>
          <p:nvPr/>
        </p:nvSpPr>
        <p:spPr>
          <a:xfrm xmlns:a="http://schemas.openxmlformats.org/drawingml/2006/main">
            <a:off x="571500" y="3371850"/>
            <a:ext cx="3295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5B6B7F"/>
                </a:solidFill>
                <a:latin typeface="Calibri"/>
                <a:ea typeface="Calibri"/>
                <a:cs typeface="Calibri"/>
              </a:defRPr>
            </a:pPr>
            <a:r>
              <a:rPr sz="1050" b="0" i="0">
                <a:solidFill>
                  <a:srgbClr val="5B6B7F"/>
                </a:solidFill>
                <a:latin typeface="Calibri"/>
                <a:ea typeface="Calibri"/>
                <a:cs typeface="Calibri"/>
              </a:rPr>
              <a:t>FastAPI ownership + API design</a:t>
            </a:r>
          </a:p>
        </p:txBody>
      </p:sp>
      <p:sp>
        <p:nvSpPr>
          <p:cNvPr id="62" name="cosine-vector-1">
            <a:extLst xmlns:a="http://schemas.openxmlformats.org/drawingml/2006/main">
              <a:ext uri="{FF2B5EF4-FFF2-40B4-BE49-F238E27FC236}">
                <a16:creationId xmlns:a16="http://schemas.microsoft.com/office/drawing/2014/main" id="{8E9C5353-0E95-4910-B056-EBB980DC2092}"/>
              </a:ext>
            </a:extLst>
          </p:cNvPr>
          <p:cNvSpPr>
            <a:spLocks xmlns:a="http://schemas.openxmlformats.org/drawingml/2006/main" noGrp="1"/>
          </p:cNvSpPr>
          <p:nvPr/>
        </p:nvSpPr>
        <p:spPr>
          <a:xfrm xmlns:a="http://schemas.openxmlformats.org/drawingml/2006/main">
            <a:off x="4248150" y="2343150"/>
            <a:ext cx="3638550" cy="1466850"/>
          </a:xfrm>
          <a:prstGeom xmlns:a="http://schemas.openxmlformats.org/drawingml/2006/main" prst="roundRect">
            <a:avLst>
              <a:gd name="adj" fmla="val 5195"/>
            </a:avLst>
          </a:prstGeom>
          <a:solidFill xmlns:a="http://schemas.openxmlformats.org/drawingml/2006/main">
            <a:srgbClr val="EAF7F3"/>
          </a:solidFill>
          <a:ln xmlns:a="http://schemas.openxmlformats.org/drawingml/2006/main" w="9525">
            <a:solidFill>
              <a:srgbClr val="16866C"/>
            </a:solidFill>
            <a:prstDash val="solid"/>
          </a:ln>
        </p:spPr>
      </p:sp>
      <p:sp>
        <p:nvSpPr>
          <p:cNvPr id="63" name="cosine-vector-badge-1-bg">
            <a:extLst xmlns:a="http://schemas.openxmlformats.org/drawingml/2006/main">
              <a:ext uri="{FF2B5EF4-FFF2-40B4-BE49-F238E27FC236}">
                <a16:creationId xmlns:a16="http://schemas.microsoft.com/office/drawing/2014/main" id="{F977554A-91BD-43BC-B3F5-80DBA1882338}"/>
              </a:ext>
            </a:extLst>
          </p:cNvPr>
          <p:cNvSpPr>
            <a:spLocks xmlns:a="http://schemas.openxmlformats.org/drawingml/2006/main" noGrp="1"/>
          </p:cNvSpPr>
          <p:nvPr/>
        </p:nvSpPr>
        <p:spPr>
          <a:xfrm xmlns:a="http://schemas.openxmlformats.org/drawingml/2006/main">
            <a:off x="4419600" y="2514600"/>
            <a:ext cx="952500" cy="266700"/>
          </a:xfrm>
          <a:prstGeom xmlns:a="http://schemas.openxmlformats.org/drawingml/2006/main" prst="roundRect">
            <a:avLst>
              <a:gd name="adj" fmla="val 28571"/>
            </a:avLst>
          </a:prstGeom>
          <a:solidFill xmlns:a="http://schemas.openxmlformats.org/drawingml/2006/main">
            <a:srgbClr val="16866C"/>
          </a:solidFill>
          <a:ln xmlns:a="http://schemas.openxmlformats.org/drawingml/2006/main" w="0">
            <a:noFill/>
            <a:prstDash val="solid"/>
          </a:ln>
        </p:spPr>
      </p:sp>
      <p:sp>
        <p:nvSpPr>
          <p:cNvPr id="64" name="cosine-vector-badge-1-text">
            <a:extLst xmlns:a="http://schemas.openxmlformats.org/drawingml/2006/main">
              <a:ext uri="{FF2B5EF4-FFF2-40B4-BE49-F238E27FC236}">
                <a16:creationId xmlns:a16="http://schemas.microsoft.com/office/drawing/2014/main" id="{BB683563-8E94-4293-826D-20504A85F2E9}"/>
              </a:ext>
            </a:extLst>
          </p:cNvPr>
          <p:cNvSpPr>
            <a:spLocks xmlns:a="http://schemas.openxmlformats.org/drawingml/2006/main" noGrp="1"/>
          </p:cNvSpPr>
          <p:nvPr/>
        </p:nvSpPr>
        <p:spPr>
          <a:xfrm xmlns:a="http://schemas.openxmlformats.org/drawingml/2006/main">
            <a:off x="4419600" y="2524125"/>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FFFFFF"/>
                </a:solidFill>
                <a:latin typeface="Calibri"/>
                <a:ea typeface="Calibri"/>
                <a:cs typeface="Calibri"/>
              </a:defRPr>
            </a:pPr>
            <a:r>
              <a:rPr sz="900" b="1" i="0">
                <a:solidFill>
                  <a:srgbClr val="FFFFFF"/>
                </a:solidFill>
                <a:latin typeface="Calibri"/>
                <a:ea typeface="Calibri"/>
                <a:cs typeface="Calibri"/>
              </a:rPr>
              <a:t>CHUNK A</a:t>
            </a:r>
          </a:p>
        </p:txBody>
      </p:sp>
      <p:sp>
        <p:nvSpPr>
          <p:cNvPr id="65" name="cosine-vector-value-1">
            <a:extLst xmlns:a="http://schemas.openxmlformats.org/drawingml/2006/main">
              <a:ext uri="{FF2B5EF4-FFF2-40B4-BE49-F238E27FC236}">
                <a16:creationId xmlns:a16="http://schemas.microsoft.com/office/drawing/2014/main" id="{80E0C7F4-D2A0-4EAF-AA96-F8C87133E627}"/>
              </a:ext>
            </a:extLst>
          </p:cNvPr>
          <p:cNvSpPr>
            <a:spLocks xmlns:a="http://schemas.openxmlformats.org/drawingml/2006/main" noGrp="1"/>
          </p:cNvSpPr>
          <p:nvPr/>
        </p:nvSpPr>
        <p:spPr>
          <a:xfrm xmlns:a="http://schemas.openxmlformats.org/drawingml/2006/main">
            <a:off x="4419600" y="2952750"/>
            <a:ext cx="3295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172B4D"/>
                </a:solidFill>
                <a:latin typeface="Consolas"/>
                <a:ea typeface="Consolas"/>
                <a:cs typeface="Consolas"/>
              </a:defRPr>
            </a:pPr>
            <a:r>
              <a:rPr sz="1425" b="1" i="0">
                <a:solidFill>
                  <a:srgbClr val="172B4D"/>
                </a:solidFill>
                <a:latin typeface="Consolas"/>
                <a:ea typeface="Consolas"/>
                <a:cs typeface="Consolas"/>
              </a:rPr>
              <a:t>A = [0.9, 0.8, 0.1]</a:t>
            </a:r>
          </a:p>
        </p:txBody>
      </p:sp>
      <p:sp>
        <p:nvSpPr>
          <p:cNvPr id="66" name="cosine-vector-meaning-1">
            <a:extLst xmlns:a="http://schemas.openxmlformats.org/drawingml/2006/main">
              <a:ext uri="{FF2B5EF4-FFF2-40B4-BE49-F238E27FC236}">
                <a16:creationId xmlns:a16="http://schemas.microsoft.com/office/drawing/2014/main" id="{3DBAD759-F5E2-408F-8DCA-45AE064EBFE8}"/>
              </a:ext>
            </a:extLst>
          </p:cNvPr>
          <p:cNvSpPr>
            <a:spLocks xmlns:a="http://schemas.openxmlformats.org/drawingml/2006/main" noGrp="1"/>
          </p:cNvSpPr>
          <p:nvPr/>
        </p:nvSpPr>
        <p:spPr>
          <a:xfrm xmlns:a="http://schemas.openxmlformats.org/drawingml/2006/main">
            <a:off x="4419600" y="3371850"/>
            <a:ext cx="3295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5B6B7F"/>
                </a:solidFill>
                <a:latin typeface="Calibri"/>
                <a:ea typeface="Calibri"/>
                <a:cs typeface="Calibri"/>
              </a:defRPr>
            </a:pPr>
            <a:r>
              <a:rPr sz="1050" b="0" i="0">
                <a:solidFill>
                  <a:srgbClr val="5B6B7F"/>
                </a:solidFill>
                <a:latin typeface="Calibri"/>
                <a:ea typeface="Calibri"/>
                <a:cs typeface="Calibri"/>
              </a:rPr>
              <a:t>Ownership, routes and idempotency</a:t>
            </a:r>
          </a:p>
        </p:txBody>
      </p:sp>
      <p:sp>
        <p:nvSpPr>
          <p:cNvPr id="67" name="cosine-vector-2">
            <a:extLst xmlns:a="http://schemas.openxmlformats.org/drawingml/2006/main">
              <a:ext uri="{FF2B5EF4-FFF2-40B4-BE49-F238E27FC236}">
                <a16:creationId xmlns:a16="http://schemas.microsoft.com/office/drawing/2014/main" id="{9802A792-5BD3-4108-93B8-B019FDCEDD73}"/>
              </a:ext>
            </a:extLst>
          </p:cNvPr>
          <p:cNvSpPr>
            <a:spLocks xmlns:a="http://schemas.openxmlformats.org/drawingml/2006/main" noGrp="1"/>
          </p:cNvSpPr>
          <p:nvPr/>
        </p:nvSpPr>
        <p:spPr>
          <a:xfrm xmlns:a="http://schemas.openxmlformats.org/drawingml/2006/main">
            <a:off x="8096250" y="2343150"/>
            <a:ext cx="3638550" cy="1466850"/>
          </a:xfrm>
          <a:prstGeom xmlns:a="http://schemas.openxmlformats.org/drawingml/2006/main" prst="roundRect">
            <a:avLst>
              <a:gd name="adj" fmla="val 5195"/>
            </a:avLst>
          </a:prstGeom>
          <a:solidFill xmlns:a="http://schemas.openxmlformats.org/drawingml/2006/main">
            <a:srgbClr val="FFF3E5"/>
          </a:solidFill>
          <a:ln xmlns:a="http://schemas.openxmlformats.org/drawingml/2006/main" w="9525">
            <a:solidFill>
              <a:srgbClr val="D77A24"/>
            </a:solidFill>
            <a:prstDash val="solid"/>
          </a:ln>
        </p:spPr>
      </p:sp>
      <p:sp>
        <p:nvSpPr>
          <p:cNvPr id="68" name="cosine-vector-badge-2-bg">
            <a:extLst xmlns:a="http://schemas.openxmlformats.org/drawingml/2006/main">
              <a:ext uri="{FF2B5EF4-FFF2-40B4-BE49-F238E27FC236}">
                <a16:creationId xmlns:a16="http://schemas.microsoft.com/office/drawing/2014/main" id="{2C94142B-BEEB-48A7-9713-23B44E5BDBD2}"/>
              </a:ext>
            </a:extLst>
          </p:cNvPr>
          <p:cNvSpPr>
            <a:spLocks xmlns:a="http://schemas.openxmlformats.org/drawingml/2006/main" noGrp="1"/>
          </p:cNvSpPr>
          <p:nvPr/>
        </p:nvSpPr>
        <p:spPr>
          <a:xfrm xmlns:a="http://schemas.openxmlformats.org/drawingml/2006/main">
            <a:off x="8267700" y="2514600"/>
            <a:ext cx="952500" cy="266700"/>
          </a:xfrm>
          <a:prstGeom xmlns:a="http://schemas.openxmlformats.org/drawingml/2006/main" prst="roundRect">
            <a:avLst>
              <a:gd name="adj" fmla="val 28571"/>
            </a:avLst>
          </a:prstGeom>
          <a:solidFill xmlns:a="http://schemas.openxmlformats.org/drawingml/2006/main">
            <a:srgbClr val="D77A24"/>
          </a:solidFill>
          <a:ln xmlns:a="http://schemas.openxmlformats.org/drawingml/2006/main" w="0">
            <a:noFill/>
            <a:prstDash val="solid"/>
          </a:ln>
        </p:spPr>
      </p:sp>
      <p:sp>
        <p:nvSpPr>
          <p:cNvPr id="69" name="cosine-vector-badge-2-text">
            <a:extLst xmlns:a="http://schemas.openxmlformats.org/drawingml/2006/main">
              <a:ext uri="{FF2B5EF4-FFF2-40B4-BE49-F238E27FC236}">
                <a16:creationId xmlns:a16="http://schemas.microsoft.com/office/drawing/2014/main" id="{6941A96D-9579-472C-B9EB-967C7CD19E22}"/>
              </a:ext>
            </a:extLst>
          </p:cNvPr>
          <p:cNvSpPr>
            <a:spLocks xmlns:a="http://schemas.openxmlformats.org/drawingml/2006/main" noGrp="1"/>
          </p:cNvSpPr>
          <p:nvPr/>
        </p:nvSpPr>
        <p:spPr>
          <a:xfrm xmlns:a="http://schemas.openxmlformats.org/drawingml/2006/main">
            <a:off x="8267700" y="2524125"/>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FFFFFF"/>
                </a:solidFill>
                <a:latin typeface="Calibri"/>
                <a:ea typeface="Calibri"/>
                <a:cs typeface="Calibri"/>
              </a:defRPr>
            </a:pPr>
            <a:r>
              <a:rPr sz="900" b="1" i="0">
                <a:solidFill>
                  <a:srgbClr val="FFFFFF"/>
                </a:solidFill>
                <a:latin typeface="Calibri"/>
                <a:ea typeface="Calibri"/>
                <a:cs typeface="Calibri"/>
              </a:rPr>
              <a:t>CHUNK B</a:t>
            </a:r>
          </a:p>
        </p:txBody>
      </p:sp>
      <p:sp>
        <p:nvSpPr>
          <p:cNvPr id="70" name="cosine-vector-value-2">
            <a:extLst xmlns:a="http://schemas.openxmlformats.org/drawingml/2006/main">
              <a:ext uri="{FF2B5EF4-FFF2-40B4-BE49-F238E27FC236}">
                <a16:creationId xmlns:a16="http://schemas.microsoft.com/office/drawing/2014/main" id="{1A9DB85A-2E34-4611-A147-0AA5C3A1CDD2}"/>
              </a:ext>
            </a:extLst>
          </p:cNvPr>
          <p:cNvSpPr>
            <a:spLocks xmlns:a="http://schemas.openxmlformats.org/drawingml/2006/main" noGrp="1"/>
          </p:cNvSpPr>
          <p:nvPr/>
        </p:nvSpPr>
        <p:spPr>
          <a:xfrm xmlns:a="http://schemas.openxmlformats.org/drawingml/2006/main">
            <a:off x="8267700" y="2952750"/>
            <a:ext cx="3295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172B4D"/>
                </a:solidFill>
                <a:latin typeface="Consolas"/>
                <a:ea typeface="Consolas"/>
                <a:cs typeface="Consolas"/>
              </a:defRPr>
            </a:pPr>
            <a:r>
              <a:rPr sz="1425" b="1" i="0">
                <a:solidFill>
                  <a:srgbClr val="172B4D"/>
                </a:solidFill>
                <a:latin typeface="Consolas"/>
                <a:ea typeface="Consolas"/>
                <a:cs typeface="Consolas"/>
              </a:rPr>
              <a:t>B = [0.2, 0.1, 0.9]</a:t>
            </a:r>
          </a:p>
        </p:txBody>
      </p:sp>
      <p:sp>
        <p:nvSpPr>
          <p:cNvPr id="71" name="cosine-vector-meaning-2">
            <a:extLst xmlns:a="http://schemas.openxmlformats.org/drawingml/2006/main">
              <a:ext uri="{FF2B5EF4-FFF2-40B4-BE49-F238E27FC236}">
                <a16:creationId xmlns:a16="http://schemas.microsoft.com/office/drawing/2014/main" id="{47F81C47-0BFB-4D9B-BE79-3CDA3D80C47A}"/>
              </a:ext>
            </a:extLst>
          </p:cNvPr>
          <p:cNvSpPr>
            <a:spLocks xmlns:a="http://schemas.openxmlformats.org/drawingml/2006/main" noGrp="1"/>
          </p:cNvSpPr>
          <p:nvPr/>
        </p:nvSpPr>
        <p:spPr>
          <a:xfrm xmlns:a="http://schemas.openxmlformats.org/drawingml/2006/main">
            <a:off x="8267700" y="3371850"/>
            <a:ext cx="3295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5B6B7F"/>
                </a:solidFill>
                <a:latin typeface="Calibri"/>
                <a:ea typeface="Calibri"/>
                <a:cs typeface="Calibri"/>
              </a:defRPr>
            </a:pPr>
            <a:r>
              <a:rPr sz="1050" b="0" i="0">
                <a:solidFill>
                  <a:srgbClr val="5B6B7F"/>
                </a:solidFill>
                <a:latin typeface="Calibri"/>
                <a:ea typeface="Calibri"/>
                <a:cs typeface="Calibri"/>
              </a:rPr>
              <a:t>Image processing and OCR</a:t>
            </a:r>
          </a:p>
        </p:txBody>
      </p:sp>
      <p:sp>
        <p:nvSpPr>
          <p:cNvPr id="72" name="cosine-ranking-panel">
            <a:extLst xmlns:a="http://schemas.openxmlformats.org/drawingml/2006/main">
              <a:ext uri="{FF2B5EF4-FFF2-40B4-BE49-F238E27FC236}">
                <a16:creationId xmlns:a16="http://schemas.microsoft.com/office/drawing/2014/main" id="{D6C78F70-2D2E-4A34-9B42-9E501BD30BA0}"/>
              </a:ext>
            </a:extLst>
          </p:cNvPr>
          <p:cNvSpPr>
            <a:spLocks xmlns:a="http://schemas.openxmlformats.org/drawingml/2006/main" noGrp="1"/>
          </p:cNvSpPr>
          <p:nvPr/>
        </p:nvSpPr>
        <p:spPr>
          <a:xfrm xmlns:a="http://schemas.openxmlformats.org/drawingml/2006/main">
            <a:off x="400050" y="4057650"/>
            <a:ext cx="11334750" cy="1847850"/>
          </a:xfrm>
          <a:prstGeom xmlns:a="http://schemas.openxmlformats.org/drawingml/2006/main" prst="roundRect">
            <a:avLst>
              <a:gd name="adj" fmla="val 4124"/>
            </a:avLst>
          </a:prstGeom>
          <a:solidFill xmlns:a="http://schemas.openxmlformats.org/drawingml/2006/main">
            <a:srgbClr val="FFFFFF"/>
          </a:solidFill>
          <a:ln xmlns:a="http://schemas.openxmlformats.org/drawingml/2006/main" w="9525">
            <a:solidFill>
              <a:srgbClr val="D7E0EA"/>
            </a:solidFill>
            <a:prstDash val="solid"/>
          </a:ln>
        </p:spPr>
      </p:sp>
      <p:sp>
        <p:nvSpPr>
          <p:cNvPr id="73" name="cosine-ranking-title">
            <a:extLst xmlns:a="http://schemas.openxmlformats.org/drawingml/2006/main">
              <a:ext uri="{FF2B5EF4-FFF2-40B4-BE49-F238E27FC236}">
                <a16:creationId xmlns:a16="http://schemas.microsoft.com/office/drawing/2014/main" id="{0F006079-3210-49CD-A3ED-E71655E7F352}"/>
              </a:ext>
            </a:extLst>
          </p:cNvPr>
          <p:cNvSpPr>
            <a:spLocks xmlns:a="http://schemas.openxmlformats.org/drawingml/2006/main" noGrp="1"/>
          </p:cNvSpPr>
          <p:nvPr/>
        </p:nvSpPr>
        <p:spPr>
          <a:xfrm xmlns:a="http://schemas.openxmlformats.org/drawingml/2006/main">
            <a:off x="590550" y="423862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173B67"/>
                </a:solidFill>
                <a:latin typeface="Calibri"/>
                <a:ea typeface="Calibri"/>
                <a:cs typeface="Calibri"/>
              </a:defRPr>
            </a:pPr>
            <a:r>
              <a:rPr sz="1125" b="1" i="0">
                <a:solidFill>
                  <a:srgbClr val="173B67"/>
                </a:solidFill>
                <a:latin typeface="Calibri"/>
                <a:ea typeface="Calibri"/>
                <a:cs typeface="Calibri"/>
              </a:rPr>
              <a:t>WORKED RANKING</a:t>
            </a:r>
          </a:p>
        </p:txBody>
      </p:sp>
      <p:sp>
        <p:nvSpPr>
          <p:cNvPr id="74" name="cosine-a-label">
            <a:extLst xmlns:a="http://schemas.openxmlformats.org/drawingml/2006/main">
              <a:ext uri="{FF2B5EF4-FFF2-40B4-BE49-F238E27FC236}">
                <a16:creationId xmlns:a16="http://schemas.microsoft.com/office/drawing/2014/main" id="{2291AE28-F939-49BB-8050-3A9E0448AEF7}"/>
              </a:ext>
            </a:extLst>
          </p:cNvPr>
          <p:cNvSpPr>
            <a:spLocks xmlns:a="http://schemas.openxmlformats.org/drawingml/2006/main" noGrp="1"/>
          </p:cNvSpPr>
          <p:nvPr/>
        </p:nvSpPr>
        <p:spPr>
          <a:xfrm xmlns:a="http://schemas.openxmlformats.org/drawingml/2006/main">
            <a:off x="590550" y="4629150"/>
            <a:ext cx="1466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172B4D"/>
                </a:solidFill>
                <a:latin typeface="Calibri"/>
                <a:ea typeface="Calibri"/>
                <a:cs typeface="Calibri"/>
              </a:defRPr>
            </a:pPr>
            <a:r>
              <a:rPr sz="1125" b="1" i="0">
                <a:solidFill>
                  <a:srgbClr val="172B4D"/>
                </a:solidFill>
                <a:latin typeface="Calibri"/>
                <a:ea typeface="Calibri"/>
                <a:cs typeface="Calibri"/>
              </a:rPr>
              <a:t>A · API design</a:t>
            </a:r>
          </a:p>
        </p:txBody>
      </p:sp>
      <p:sp>
        <p:nvSpPr>
          <p:cNvPr id="75" name="cosine-a-track">
            <a:extLst xmlns:a="http://schemas.openxmlformats.org/drawingml/2006/main">
              <a:ext uri="{FF2B5EF4-FFF2-40B4-BE49-F238E27FC236}">
                <a16:creationId xmlns:a16="http://schemas.microsoft.com/office/drawing/2014/main" id="{1E042079-9D3F-4B46-983C-C082BC3DB9D9}"/>
              </a:ext>
            </a:extLst>
          </p:cNvPr>
          <p:cNvSpPr>
            <a:spLocks xmlns:a="http://schemas.openxmlformats.org/drawingml/2006/main" noGrp="1"/>
          </p:cNvSpPr>
          <p:nvPr/>
        </p:nvSpPr>
        <p:spPr>
          <a:xfrm xmlns:a="http://schemas.openxmlformats.org/drawingml/2006/main">
            <a:off x="2152650" y="4629150"/>
            <a:ext cx="5905500" cy="228600"/>
          </a:xfrm>
          <a:prstGeom xmlns:a="http://schemas.openxmlformats.org/drawingml/2006/main" prst="roundRect">
            <a:avLst>
              <a:gd name="adj" fmla="val 33333"/>
            </a:avLst>
          </a:prstGeom>
          <a:solidFill xmlns:a="http://schemas.openxmlformats.org/drawingml/2006/main">
            <a:srgbClr val="EDF1F5"/>
          </a:solidFill>
          <a:ln xmlns:a="http://schemas.openxmlformats.org/drawingml/2006/main" w="0">
            <a:noFill/>
            <a:prstDash val="solid"/>
          </a:ln>
        </p:spPr>
      </p:sp>
      <p:sp>
        <p:nvSpPr>
          <p:cNvPr id="76" name="cosine-a-bar">
            <a:extLst xmlns:a="http://schemas.openxmlformats.org/drawingml/2006/main">
              <a:ext uri="{FF2B5EF4-FFF2-40B4-BE49-F238E27FC236}">
                <a16:creationId xmlns:a16="http://schemas.microsoft.com/office/drawing/2014/main" id="{5A66E0B2-35E6-4FBD-A94A-49851F610461}"/>
              </a:ext>
            </a:extLst>
          </p:cNvPr>
          <p:cNvSpPr>
            <a:spLocks xmlns:a="http://schemas.openxmlformats.org/drawingml/2006/main" noGrp="1"/>
          </p:cNvSpPr>
          <p:nvPr/>
        </p:nvSpPr>
        <p:spPr>
          <a:xfrm xmlns:a="http://schemas.openxmlformats.org/drawingml/2006/main">
            <a:off x="2152650" y="4629150"/>
            <a:ext cx="5876925" cy="228600"/>
          </a:xfrm>
          <a:prstGeom xmlns:a="http://schemas.openxmlformats.org/drawingml/2006/main" prst="roundRect">
            <a:avLst>
              <a:gd name="adj" fmla="val 33333"/>
            </a:avLst>
          </a:prstGeom>
          <a:solidFill xmlns:a="http://schemas.openxmlformats.org/drawingml/2006/main">
            <a:srgbClr val="16866C"/>
          </a:solidFill>
          <a:ln xmlns:a="http://schemas.openxmlformats.org/drawingml/2006/main" w="0">
            <a:noFill/>
            <a:prstDash val="solid"/>
          </a:ln>
        </p:spPr>
      </p:sp>
      <p:sp>
        <p:nvSpPr>
          <p:cNvPr id="77" name="cosine-a-score">
            <a:extLst xmlns:a="http://schemas.openxmlformats.org/drawingml/2006/main">
              <a:ext uri="{FF2B5EF4-FFF2-40B4-BE49-F238E27FC236}">
                <a16:creationId xmlns:a16="http://schemas.microsoft.com/office/drawing/2014/main" id="{70DBB20D-D82B-4089-AF1F-76B3DC5831AE}"/>
              </a:ext>
            </a:extLst>
          </p:cNvPr>
          <p:cNvSpPr>
            <a:spLocks xmlns:a="http://schemas.openxmlformats.org/drawingml/2006/main" noGrp="1"/>
          </p:cNvSpPr>
          <p:nvPr/>
        </p:nvSpPr>
        <p:spPr>
          <a:xfrm xmlns:a="http://schemas.openxmlformats.org/drawingml/2006/main">
            <a:off x="8210550" y="4600575"/>
            <a:ext cx="68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i="0">
                <a:solidFill>
                  <a:srgbClr val="16866C"/>
                </a:solidFill>
                <a:latin typeface="Calibri"/>
                <a:ea typeface="Calibri"/>
                <a:cs typeface="Calibri"/>
              </a:defRPr>
            </a:pPr>
            <a:r>
              <a:rPr sz="1350" b="1" i="0">
                <a:solidFill>
                  <a:srgbClr val="16866C"/>
                </a:solidFill>
                <a:latin typeface="Calibri"/>
                <a:ea typeface="Calibri"/>
                <a:cs typeface="Calibri"/>
              </a:rPr>
              <a:t>0.995</a:t>
            </a:r>
          </a:p>
        </p:txBody>
      </p:sp>
      <p:sp>
        <p:nvSpPr>
          <p:cNvPr id="78" name="cosine-b-label">
            <a:extLst xmlns:a="http://schemas.openxmlformats.org/drawingml/2006/main">
              <a:ext uri="{FF2B5EF4-FFF2-40B4-BE49-F238E27FC236}">
                <a16:creationId xmlns:a16="http://schemas.microsoft.com/office/drawing/2014/main" id="{1C66989A-7A5C-443D-9605-8749AF3E4DE6}"/>
              </a:ext>
            </a:extLst>
          </p:cNvPr>
          <p:cNvSpPr>
            <a:spLocks xmlns:a="http://schemas.openxmlformats.org/drawingml/2006/main" noGrp="1"/>
          </p:cNvSpPr>
          <p:nvPr/>
        </p:nvSpPr>
        <p:spPr>
          <a:xfrm xmlns:a="http://schemas.openxmlformats.org/drawingml/2006/main">
            <a:off x="590550" y="5038725"/>
            <a:ext cx="1466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172B4D"/>
                </a:solidFill>
                <a:latin typeface="Calibri"/>
                <a:ea typeface="Calibri"/>
                <a:cs typeface="Calibri"/>
              </a:defRPr>
            </a:pPr>
            <a:r>
              <a:rPr sz="1125" b="1" i="0">
                <a:solidFill>
                  <a:srgbClr val="172B4D"/>
                </a:solidFill>
                <a:latin typeface="Calibri"/>
                <a:ea typeface="Calibri"/>
                <a:cs typeface="Calibri"/>
              </a:rPr>
              <a:t>B · OCR</a:t>
            </a:r>
          </a:p>
        </p:txBody>
      </p:sp>
      <p:sp>
        <p:nvSpPr>
          <p:cNvPr id="79" name="cosine-b-track">
            <a:extLst xmlns:a="http://schemas.openxmlformats.org/drawingml/2006/main">
              <a:ext uri="{FF2B5EF4-FFF2-40B4-BE49-F238E27FC236}">
                <a16:creationId xmlns:a16="http://schemas.microsoft.com/office/drawing/2014/main" id="{A10B3465-FD51-4F76-9B01-EF4B43AAC437}"/>
              </a:ext>
            </a:extLst>
          </p:cNvPr>
          <p:cNvSpPr>
            <a:spLocks xmlns:a="http://schemas.openxmlformats.org/drawingml/2006/main" noGrp="1"/>
          </p:cNvSpPr>
          <p:nvPr/>
        </p:nvSpPr>
        <p:spPr>
          <a:xfrm xmlns:a="http://schemas.openxmlformats.org/drawingml/2006/main">
            <a:off x="2152650" y="5038725"/>
            <a:ext cx="5905500" cy="228600"/>
          </a:xfrm>
          <a:prstGeom xmlns:a="http://schemas.openxmlformats.org/drawingml/2006/main" prst="roundRect">
            <a:avLst>
              <a:gd name="adj" fmla="val 33333"/>
            </a:avLst>
          </a:prstGeom>
          <a:solidFill xmlns:a="http://schemas.openxmlformats.org/drawingml/2006/main">
            <a:srgbClr val="EDF1F5"/>
          </a:solidFill>
          <a:ln xmlns:a="http://schemas.openxmlformats.org/drawingml/2006/main" w="0">
            <a:noFill/>
            <a:prstDash val="solid"/>
          </a:ln>
        </p:spPr>
      </p:sp>
      <p:sp>
        <p:nvSpPr>
          <p:cNvPr id="80" name="cosine-b-bar">
            <a:extLst xmlns:a="http://schemas.openxmlformats.org/drawingml/2006/main">
              <a:ext uri="{FF2B5EF4-FFF2-40B4-BE49-F238E27FC236}">
                <a16:creationId xmlns:a16="http://schemas.microsoft.com/office/drawing/2014/main" id="{40E105C9-9266-401E-827B-5751E20FC86C}"/>
              </a:ext>
            </a:extLst>
          </p:cNvPr>
          <p:cNvSpPr>
            <a:spLocks xmlns:a="http://schemas.openxmlformats.org/drawingml/2006/main" noGrp="1"/>
          </p:cNvSpPr>
          <p:nvPr/>
        </p:nvSpPr>
        <p:spPr>
          <a:xfrm xmlns:a="http://schemas.openxmlformats.org/drawingml/2006/main">
            <a:off x="2152650" y="5038725"/>
            <a:ext cx="1352550" cy="228600"/>
          </a:xfrm>
          <a:prstGeom xmlns:a="http://schemas.openxmlformats.org/drawingml/2006/main" prst="roundRect">
            <a:avLst>
              <a:gd name="adj" fmla="val 33333"/>
            </a:avLst>
          </a:prstGeom>
          <a:solidFill xmlns:a="http://schemas.openxmlformats.org/drawingml/2006/main">
            <a:srgbClr val="D77A24"/>
          </a:solidFill>
          <a:ln xmlns:a="http://schemas.openxmlformats.org/drawingml/2006/main" w="0">
            <a:noFill/>
            <a:prstDash val="solid"/>
          </a:ln>
        </p:spPr>
      </p:sp>
      <p:sp>
        <p:nvSpPr>
          <p:cNvPr id="81" name="cosine-b-score">
            <a:extLst xmlns:a="http://schemas.openxmlformats.org/drawingml/2006/main">
              <a:ext uri="{FF2B5EF4-FFF2-40B4-BE49-F238E27FC236}">
                <a16:creationId xmlns:a16="http://schemas.microsoft.com/office/drawing/2014/main" id="{9F392054-5761-421F-82B1-D6663BD55B5E}"/>
              </a:ext>
            </a:extLst>
          </p:cNvPr>
          <p:cNvSpPr>
            <a:spLocks xmlns:a="http://schemas.openxmlformats.org/drawingml/2006/main" noGrp="1"/>
          </p:cNvSpPr>
          <p:nvPr/>
        </p:nvSpPr>
        <p:spPr>
          <a:xfrm xmlns:a="http://schemas.openxmlformats.org/drawingml/2006/main">
            <a:off x="8210550" y="5010150"/>
            <a:ext cx="68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i="0">
                <a:solidFill>
                  <a:srgbClr val="D77A24"/>
                </a:solidFill>
                <a:latin typeface="Calibri"/>
                <a:ea typeface="Calibri"/>
                <a:cs typeface="Calibri"/>
              </a:defRPr>
            </a:pPr>
            <a:r>
              <a:rPr sz="1350" b="1" i="0">
                <a:solidFill>
                  <a:srgbClr val="D77A24"/>
                </a:solidFill>
                <a:latin typeface="Calibri"/>
                <a:ea typeface="Calibri"/>
                <a:cs typeface="Calibri"/>
              </a:rPr>
              <a:t>0.229</a:t>
            </a:r>
          </a:p>
        </p:txBody>
      </p:sp>
      <p:sp>
        <p:nvSpPr>
          <p:cNvPr id="82" name="cosine-ranking-result">
            <a:extLst xmlns:a="http://schemas.openxmlformats.org/drawingml/2006/main">
              <a:ext uri="{FF2B5EF4-FFF2-40B4-BE49-F238E27FC236}">
                <a16:creationId xmlns:a16="http://schemas.microsoft.com/office/drawing/2014/main" id="{E379B54C-C6DE-4C24-9563-60317F0866EF}"/>
              </a:ext>
            </a:extLst>
          </p:cNvPr>
          <p:cNvSpPr>
            <a:spLocks xmlns:a="http://schemas.openxmlformats.org/drawingml/2006/main" noGrp="1"/>
          </p:cNvSpPr>
          <p:nvPr/>
        </p:nvSpPr>
        <p:spPr>
          <a:xfrm xmlns:a="http://schemas.openxmlformats.org/drawingml/2006/main">
            <a:off x="9124950" y="4562475"/>
            <a:ext cx="23241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5B6B7F"/>
                </a:solidFill>
                <a:latin typeface="Calibri"/>
                <a:ea typeface="Calibri"/>
                <a:cs typeface="Calibri"/>
              </a:defRPr>
            </a:pPr>
            <a:r>
              <a:rPr sz="975" b="1" i="0">
                <a:solidFill>
                  <a:srgbClr val="5B6B7F"/>
                </a:solidFill>
                <a:latin typeface="Calibri"/>
                <a:ea typeface="Calibri"/>
                <a:cs typeface="Calibri"/>
              </a:rPr>
              <a:t>A ranks above B because it points in nearly the same semantic direction as q. Values are calculated for this illustrative 3-D example—not measured system accuracy.</a:t>
            </a:r>
          </a:p>
        </p:txBody>
      </p:sp>
      <p:sp>
        <p:nvSpPr>
          <p:cNvPr id="83" name="cosine-dimensional-note">
            <a:extLst xmlns:a="http://schemas.openxmlformats.org/drawingml/2006/main">
              <a:ext uri="{FF2B5EF4-FFF2-40B4-BE49-F238E27FC236}">
                <a16:creationId xmlns:a16="http://schemas.microsoft.com/office/drawing/2014/main" id="{DFBC3D20-7784-47D6-8B77-6E13D19ACDE4}"/>
              </a:ext>
            </a:extLst>
          </p:cNvPr>
          <p:cNvSpPr>
            <a:spLocks xmlns:a="http://schemas.openxmlformats.org/drawingml/2006/main" noGrp="1"/>
          </p:cNvSpPr>
          <p:nvPr/>
        </p:nvSpPr>
        <p:spPr>
          <a:xfrm xmlns:a="http://schemas.openxmlformats.org/drawingml/2006/main">
            <a:off x="590550" y="5505450"/>
            <a:ext cx="10744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7652B5"/>
                </a:solidFill>
                <a:latin typeface="Calibri"/>
                <a:ea typeface="Calibri"/>
                <a:cs typeface="Calibri"/>
              </a:defRPr>
            </a:pPr>
            <a:r>
              <a:rPr sz="1050" b="1" i="0">
                <a:solidFill>
                  <a:srgbClr val="7652B5"/>
                </a:solidFill>
                <a:latin typeface="Calibri"/>
                <a:ea typeface="Calibri"/>
                <a:cs typeface="Calibri"/>
              </a:rPr>
              <a:t>Proposed production vectors: 768 dimensions; pre-filter by domain, level, active flag and embedding version before Top-K ranking.</a:t>
            </a:r>
          </a:p>
        </p:txBody>
      </p:sp>
    </p:spTree>
    <p:extLst>
      <p:ext uri="{BB962C8B-B14F-4D97-AF65-F5344CB8AC3E}">
        <p14:creationId xmlns:p14="http://schemas.microsoft.com/office/powerpoint/2010/main" val="189607418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B7190E9-D616-450A-A5D3-68FD77502DA7}"/>
              </a:ext>
            </a:extLst>
          </p:cNvPr>
          <p:cNvSpPr>
            <a:spLocks xmlns:a="http://schemas.openxmlformats.org/drawingml/2006/main" noGrp="1"/>
          </p:cNvSpPr>
          <p:nvPr/>
        </p:nvSpPr>
        <p:spPr>
          <a:xfrm xmlns:a="http://schemas.openxmlformats.org/drawingml/2006/main">
            <a:off x="400050" y="723900"/>
            <a:ext cx="9715500" cy="9525"/>
          </a:xfrm>
          <a:prstGeom xmlns:a="http://schemas.openxmlformats.org/drawingml/2006/main" prst="line">
            <a:avLst/>
          </a:prstGeom>
          <a:noFill xmlns:a="http://schemas.openxmlformats.org/drawingml/2006/main"/>
          <a:ln xmlns:a="http://schemas.openxmlformats.org/drawingml/2006/main" w="9525">
            <a:solidFill>
              <a:srgbClr val="D8E6FF"/>
            </a:solidFill>
            <a:prstDash val="solid"/>
          </a:ln>
        </p:spPr>
      </p:sp>
      <p:sp>
        <p:nvSpPr>
          <p:cNvPr id="3" name="">
            <a:extLst xmlns:a="http://schemas.openxmlformats.org/drawingml/2006/main">
              <a:ext uri="{FF2B5EF4-FFF2-40B4-BE49-F238E27FC236}">
                <a16:creationId xmlns:a16="http://schemas.microsoft.com/office/drawing/2014/main" id="{FDD05C5C-FFA2-421C-B2C3-91A869688BD5}"/>
              </a:ext>
            </a:extLst>
          </p:cNvPr>
          <p:cNvSpPr>
            <a:spLocks xmlns:a="http://schemas.openxmlformats.org/drawingml/2006/main" noGrp="1"/>
          </p:cNvSpPr>
          <p:nvPr/>
        </p:nvSpPr>
        <p:spPr>
          <a:xfrm xmlns:a="http://schemas.openxmlformats.org/drawingml/2006/main">
            <a:off x="400050" y="838200"/>
            <a:ext cx="923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62C52"/>
                </a:solidFill>
              </a:defRPr>
            </a:pPr>
            <a:r>
              <a:rPr sz="1500" b="1">
                <a:solidFill>
                  <a:srgbClr val="162C52"/>
                </a:solidFill>
              </a:rPr>
              <a:t>Search Uses Candidate Evidence Plus Role and Level</a:t>
            </a:r>
          </a:p>
        </p:txBody>
      </p:sp>
      <p:sp>
        <p:nvSpPr>
          <p:cNvPr id="4" name="">
            <a:extLst xmlns:a="http://schemas.openxmlformats.org/drawingml/2006/main">
              <a:ext uri="{FF2B5EF4-FFF2-40B4-BE49-F238E27FC236}">
                <a16:creationId xmlns:a16="http://schemas.microsoft.com/office/drawing/2014/main" id="{57C03D8B-0F9E-4334-9886-643D05E26F70}"/>
              </a:ext>
            </a:extLst>
          </p:cNvPr>
          <p:cNvSpPr>
            <a:spLocks xmlns:a="http://schemas.openxmlformats.org/drawingml/2006/main" noGrp="1"/>
          </p:cNvSpPr>
          <p:nvPr/>
        </p:nvSpPr>
        <p:spPr>
          <a:xfrm xmlns:a="http://schemas.openxmlformats.org/drawingml/2006/main">
            <a:off x="400050" y="1114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617391"/>
                </a:solidFill>
              </a:defRPr>
            </a:pPr>
            <a:r>
              <a:rPr sz="1050" b="0">
                <a:solidFill>
                  <a:srgbClr val="617391"/>
                </a:solidFill>
              </a:rPr>
              <a:t>The query is grounded in committed CandidateProfile fields; metadata narrows the corpus before similarity ranking.</a:t>
            </a:r>
          </a:p>
        </p:txBody>
      </p:sp>
      <p:sp>
        <p:nvSpPr>
          <p:cNvPr id="5" name="">
            <a:extLst xmlns:a="http://schemas.openxmlformats.org/drawingml/2006/main">
              <a:ext uri="{FF2B5EF4-FFF2-40B4-BE49-F238E27FC236}">
                <a16:creationId xmlns:a16="http://schemas.microsoft.com/office/drawing/2014/main" id="{3A775D0D-C8FD-4859-9F23-2BE3AAD11256}"/>
              </a:ext>
            </a:extLst>
          </p:cNvPr>
          <p:cNvSpPr>
            <a:spLocks xmlns:a="http://schemas.openxmlformats.org/drawingml/2006/main" noGrp="1"/>
          </p:cNvSpPr>
          <p:nvPr/>
        </p:nvSpPr>
        <p:spPr>
          <a:xfrm xmlns:a="http://schemas.openxmlformats.org/drawingml/2006/main">
            <a:off x="11001375" y="304800"/>
            <a:ext cx="228600" cy="228600"/>
          </a:xfrm>
          <a:prstGeom xmlns:a="http://schemas.openxmlformats.org/drawingml/2006/main" prst="rect">
            <a:avLst/>
          </a:prstGeom>
          <a:solidFill xmlns:a="http://schemas.openxmlformats.org/drawingml/2006/main">
            <a:srgbClr val="D9E5F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A9A46E5-46D4-412D-864D-F1E32692EE96}"/>
              </a:ext>
            </a:extLst>
          </p:cNvPr>
          <p:cNvSpPr>
            <a:spLocks xmlns:a="http://schemas.openxmlformats.org/drawingml/2006/main" noGrp="1"/>
          </p:cNvSpPr>
          <p:nvPr/>
        </p:nvSpPr>
        <p:spPr>
          <a:xfrm xmlns:a="http://schemas.openxmlformats.org/drawingml/2006/main">
            <a:off x="11258550" y="304800"/>
            <a:ext cx="228600" cy="228600"/>
          </a:xfrm>
          <a:prstGeom xmlns:a="http://schemas.openxmlformats.org/drawingml/2006/main" prst="rect">
            <a:avLst/>
          </a:prstGeom>
          <a:solidFill xmlns:a="http://schemas.openxmlformats.org/drawingml/2006/main">
            <a:srgbClr val="AFC9F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4B1ADDC-3612-4AD1-956B-09A596F28941}"/>
              </a:ext>
            </a:extLst>
          </p:cNvPr>
          <p:cNvSpPr>
            <a:spLocks xmlns:a="http://schemas.openxmlformats.org/drawingml/2006/main" noGrp="1"/>
          </p:cNvSpPr>
          <p:nvPr/>
        </p:nvSpPr>
        <p:spPr>
          <a:xfrm xmlns:a="http://schemas.openxmlformats.org/drawingml/2006/main">
            <a:off x="11515725" y="304800"/>
            <a:ext cx="228600" cy="228600"/>
          </a:xfrm>
          <a:prstGeom xmlns:a="http://schemas.openxmlformats.org/drawingml/2006/main" prst="rect">
            <a:avLst/>
          </a:prstGeom>
          <a:solidFill xmlns:a="http://schemas.openxmlformats.org/drawingml/2006/main">
            <a:srgbClr val="78A3F1"/>
          </a:solidFill>
          <a:ln xmlns:a="http://schemas.openxmlformats.org/drawingml/2006/main" w="0">
            <a:noFill/>
            <a:prstDash val="solid"/>
          </a:ln>
        </p:spPr>
      </p:sp>
      <p:sp>
        <p:nvSpPr>
          <p:cNvPr id="19" name="header-cover-2">
            <a:extLst xmlns:a="http://schemas.openxmlformats.org/drawingml/2006/main">
              <a:ext uri="{FF2B5EF4-FFF2-40B4-BE49-F238E27FC236}">
                <a16:creationId xmlns:a16="http://schemas.microsoft.com/office/drawing/2014/main" id="{AB9A832A-3C50-44DE-9323-654F7563CAA4}"/>
              </a:ext>
            </a:extLst>
          </p:cNvPr>
          <p:cNvSpPr>
            <a:spLocks xmlns:a="http://schemas.openxmlformats.org/drawingml/2006/main" noGrp="1"/>
          </p:cNvSpPr>
          <p:nvPr/>
        </p:nvSpPr>
        <p:spPr>
          <a:xfrm xmlns:a="http://schemas.openxmlformats.org/drawingml/2006/main">
            <a:off x="323850" y="190500"/>
            <a:ext cx="11525250" cy="6096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 name="section-rule-2">
            <a:extLst xmlns:a="http://schemas.openxmlformats.org/drawingml/2006/main">
              <a:ext uri="{FF2B5EF4-FFF2-40B4-BE49-F238E27FC236}">
                <a16:creationId xmlns:a16="http://schemas.microsoft.com/office/drawing/2014/main" id="{9BD82AF2-8613-4B61-992C-4B2E06C75A67}"/>
              </a:ext>
            </a:extLst>
          </p:cNvPr>
          <p:cNvSpPr>
            <a:spLocks xmlns:a="http://schemas.openxmlformats.org/drawingml/2006/main" noGrp="1"/>
          </p:cNvSpPr>
          <p:nvPr/>
        </p:nvSpPr>
        <p:spPr>
          <a:xfrm xmlns:a="http://schemas.openxmlformats.org/drawingml/2006/main">
            <a:off x="400050" y="723900"/>
            <a:ext cx="9715500" cy="9525"/>
          </a:xfrm>
          <a:prstGeom xmlns:a="http://schemas.openxmlformats.org/drawingml/2006/main" prst="line">
            <a:avLst/>
          </a:prstGeom>
          <a:noFill xmlns:a="http://schemas.openxmlformats.org/drawingml/2006/main"/>
          <a:ln xmlns:a="http://schemas.openxmlformats.org/drawingml/2006/main" w="9525">
            <a:solidFill>
              <a:srgbClr val="D8E6FF"/>
            </a:solidFill>
            <a:prstDash val="solid"/>
          </a:ln>
        </p:spPr>
      </p:sp>
      <p:sp>
        <p:nvSpPr>
          <p:cNvPr id="22" name="brand-square-1-2">
            <a:extLst xmlns:a="http://schemas.openxmlformats.org/drawingml/2006/main">
              <a:ext uri="{FF2B5EF4-FFF2-40B4-BE49-F238E27FC236}">
                <a16:creationId xmlns:a16="http://schemas.microsoft.com/office/drawing/2014/main" id="{F6C5021A-85D6-4377-99A7-1F6322A02120}"/>
              </a:ext>
            </a:extLst>
          </p:cNvPr>
          <p:cNvSpPr>
            <a:spLocks xmlns:a="http://schemas.openxmlformats.org/drawingml/2006/main" noGrp="1"/>
          </p:cNvSpPr>
          <p:nvPr/>
        </p:nvSpPr>
        <p:spPr>
          <a:xfrm xmlns:a="http://schemas.openxmlformats.org/drawingml/2006/main">
            <a:off x="11001375" y="304800"/>
            <a:ext cx="228600" cy="228600"/>
          </a:xfrm>
          <a:prstGeom xmlns:a="http://schemas.openxmlformats.org/drawingml/2006/main" prst="rect">
            <a:avLst/>
          </a:prstGeom>
          <a:solidFill xmlns:a="http://schemas.openxmlformats.org/drawingml/2006/main">
            <a:srgbClr val="D9E5FB"/>
          </a:solidFill>
          <a:ln xmlns:a="http://schemas.openxmlformats.org/drawingml/2006/main" w="0">
            <a:noFill/>
            <a:prstDash val="solid"/>
          </a:ln>
        </p:spPr>
      </p:sp>
      <p:sp>
        <p:nvSpPr>
          <p:cNvPr id="23" name="brand-square-2-2">
            <a:extLst xmlns:a="http://schemas.openxmlformats.org/drawingml/2006/main">
              <a:ext uri="{FF2B5EF4-FFF2-40B4-BE49-F238E27FC236}">
                <a16:creationId xmlns:a16="http://schemas.microsoft.com/office/drawing/2014/main" id="{DE6BA0CA-7692-4DF5-84B0-0A3942C0EEFA}"/>
              </a:ext>
            </a:extLst>
          </p:cNvPr>
          <p:cNvSpPr>
            <a:spLocks xmlns:a="http://schemas.openxmlformats.org/drawingml/2006/main" noGrp="1"/>
          </p:cNvSpPr>
          <p:nvPr/>
        </p:nvSpPr>
        <p:spPr>
          <a:xfrm xmlns:a="http://schemas.openxmlformats.org/drawingml/2006/main">
            <a:off x="11258550" y="304800"/>
            <a:ext cx="228600" cy="228600"/>
          </a:xfrm>
          <a:prstGeom xmlns:a="http://schemas.openxmlformats.org/drawingml/2006/main" prst="rect">
            <a:avLst/>
          </a:prstGeom>
          <a:solidFill xmlns:a="http://schemas.openxmlformats.org/drawingml/2006/main">
            <a:srgbClr val="AFC9F7"/>
          </a:solidFill>
          <a:ln xmlns:a="http://schemas.openxmlformats.org/drawingml/2006/main" w="0">
            <a:noFill/>
            <a:prstDash val="solid"/>
          </a:ln>
        </p:spPr>
      </p:sp>
      <p:sp>
        <p:nvSpPr>
          <p:cNvPr id="24" name="brand-square-3-2">
            <a:extLst xmlns:a="http://schemas.openxmlformats.org/drawingml/2006/main">
              <a:ext uri="{FF2B5EF4-FFF2-40B4-BE49-F238E27FC236}">
                <a16:creationId xmlns:a16="http://schemas.microsoft.com/office/drawing/2014/main" id="{22494C12-A19E-4466-A141-1CB64CCB1B0C}"/>
              </a:ext>
            </a:extLst>
          </p:cNvPr>
          <p:cNvSpPr>
            <a:spLocks xmlns:a="http://schemas.openxmlformats.org/drawingml/2006/main" noGrp="1"/>
          </p:cNvSpPr>
          <p:nvPr/>
        </p:nvSpPr>
        <p:spPr>
          <a:xfrm xmlns:a="http://schemas.openxmlformats.org/drawingml/2006/main">
            <a:off x="11515725" y="304800"/>
            <a:ext cx="228600" cy="228600"/>
          </a:xfrm>
          <a:prstGeom xmlns:a="http://schemas.openxmlformats.org/drawingml/2006/main" prst="rect">
            <a:avLst/>
          </a:prstGeom>
          <a:solidFill xmlns:a="http://schemas.openxmlformats.org/drawingml/2006/main">
            <a:srgbClr val="78A3F1"/>
          </a:solidFill>
          <a:ln xmlns:a="http://schemas.openxmlformats.org/drawingml/2006/main" w="0">
            <a:noFill/>
            <a:prstDash val="solid"/>
          </a:ln>
        </p:spPr>
      </p:sp>
      <p:sp>
        <p:nvSpPr>
          <p:cNvPr id="25" name="footer-cover-2">
            <a:extLst xmlns:a="http://schemas.openxmlformats.org/drawingml/2006/main">
              <a:ext uri="{FF2B5EF4-FFF2-40B4-BE49-F238E27FC236}">
                <a16:creationId xmlns:a16="http://schemas.microsoft.com/office/drawing/2014/main" id="{6AD74D06-55B1-4D48-B7AA-ACE68586237E}"/>
              </a:ext>
            </a:extLst>
          </p:cNvPr>
          <p:cNvSpPr>
            <a:spLocks xmlns:a="http://schemas.openxmlformats.org/drawingml/2006/main" noGrp="1"/>
          </p:cNvSpPr>
          <p:nvPr/>
        </p:nvSpPr>
        <p:spPr>
          <a:xfrm xmlns:a="http://schemas.openxmlformats.org/drawingml/2006/main">
            <a:off x="323850" y="6438900"/>
            <a:ext cx="4191000" cy="2667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 name="query-profile-panel">
            <a:extLst xmlns:a="http://schemas.openxmlformats.org/drawingml/2006/main">
              <a:ext uri="{FF2B5EF4-FFF2-40B4-BE49-F238E27FC236}">
                <a16:creationId xmlns:a16="http://schemas.microsoft.com/office/drawing/2014/main" id="{98B1FC73-8CAB-4B48-B173-274428E548B8}"/>
              </a:ext>
            </a:extLst>
          </p:cNvPr>
          <p:cNvSpPr>
            <a:spLocks xmlns:a="http://schemas.openxmlformats.org/drawingml/2006/main" noGrp="1"/>
          </p:cNvSpPr>
          <p:nvPr/>
        </p:nvSpPr>
        <p:spPr>
          <a:xfrm xmlns:a="http://schemas.openxmlformats.org/drawingml/2006/main">
            <a:off x="400050" y="1562100"/>
            <a:ext cx="3333750" cy="3486150"/>
          </a:xfrm>
          <a:prstGeom xmlns:a="http://schemas.openxmlformats.org/drawingml/2006/main" prst="roundRect">
            <a:avLst>
              <a:gd name="adj" fmla="val 2286"/>
            </a:avLst>
          </a:prstGeom>
          <a:solidFill xmlns:a="http://schemas.openxmlformats.org/drawingml/2006/main">
            <a:srgbClr val="EAF2FF"/>
          </a:solidFill>
          <a:ln xmlns:a="http://schemas.openxmlformats.org/drawingml/2006/main" w="9525">
            <a:solidFill>
              <a:srgbClr val="B8CDF2"/>
            </a:solidFill>
            <a:prstDash val="solid"/>
          </a:ln>
        </p:spPr>
      </p:sp>
      <p:sp>
        <p:nvSpPr>
          <p:cNvPr id="29" name="query-profile-badge-bg">
            <a:extLst xmlns:a="http://schemas.openxmlformats.org/drawingml/2006/main">
              <a:ext uri="{FF2B5EF4-FFF2-40B4-BE49-F238E27FC236}">
                <a16:creationId xmlns:a16="http://schemas.microsoft.com/office/drawing/2014/main" id="{AA9BBBD2-0B8A-42E2-BDB3-11D5D8433638}"/>
              </a:ext>
            </a:extLst>
          </p:cNvPr>
          <p:cNvSpPr>
            <a:spLocks xmlns:a="http://schemas.openxmlformats.org/drawingml/2006/main" noGrp="1"/>
          </p:cNvSpPr>
          <p:nvPr/>
        </p:nvSpPr>
        <p:spPr>
          <a:xfrm xmlns:a="http://schemas.openxmlformats.org/drawingml/2006/main">
            <a:off x="590550" y="1733550"/>
            <a:ext cx="1562100" cy="266700"/>
          </a:xfrm>
          <a:prstGeom xmlns:a="http://schemas.openxmlformats.org/drawingml/2006/main" prst="roundRect">
            <a:avLst>
              <a:gd name="adj" fmla="val 28571"/>
            </a:avLst>
          </a:prstGeom>
          <a:solidFill xmlns:a="http://schemas.openxmlformats.org/drawingml/2006/main">
            <a:srgbClr val="2A6FDB"/>
          </a:solidFill>
          <a:ln xmlns:a="http://schemas.openxmlformats.org/drawingml/2006/main" w="0">
            <a:noFill/>
            <a:prstDash val="solid"/>
          </a:ln>
        </p:spPr>
      </p:sp>
      <p:sp>
        <p:nvSpPr>
          <p:cNvPr id="30" name="query-profile-badge-text">
            <a:extLst xmlns:a="http://schemas.openxmlformats.org/drawingml/2006/main">
              <a:ext uri="{FF2B5EF4-FFF2-40B4-BE49-F238E27FC236}">
                <a16:creationId xmlns:a16="http://schemas.microsoft.com/office/drawing/2014/main" id="{5194D22C-737E-465E-936D-58E7212B3AD6}"/>
              </a:ext>
            </a:extLst>
          </p:cNvPr>
          <p:cNvSpPr>
            <a:spLocks xmlns:a="http://schemas.openxmlformats.org/drawingml/2006/main" noGrp="1"/>
          </p:cNvSpPr>
          <p:nvPr/>
        </p:nvSpPr>
        <p:spPr>
          <a:xfrm xmlns:a="http://schemas.openxmlformats.org/drawingml/2006/main">
            <a:off x="590550" y="1743075"/>
            <a:ext cx="1562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FFFFFF"/>
                </a:solidFill>
                <a:latin typeface="Calibri"/>
                <a:ea typeface="Calibri"/>
                <a:cs typeface="Calibri"/>
              </a:defRPr>
            </a:pPr>
            <a:r>
              <a:rPr sz="900" b="1" i="0">
                <a:solidFill>
                  <a:srgbClr val="FFFFFF"/>
                </a:solidFill>
                <a:latin typeface="Calibri"/>
                <a:ea typeface="Calibri"/>
                <a:cs typeface="Calibri"/>
              </a:rPr>
              <a:t>COMMITTED PROFILE</a:t>
            </a:r>
          </a:p>
        </p:txBody>
      </p:sp>
      <p:sp>
        <p:nvSpPr>
          <p:cNvPr id="31" name="query-profile-title">
            <a:extLst xmlns:a="http://schemas.openxmlformats.org/drawingml/2006/main">
              <a:ext uri="{FF2B5EF4-FFF2-40B4-BE49-F238E27FC236}">
                <a16:creationId xmlns:a16="http://schemas.microsoft.com/office/drawing/2014/main" id="{3BBB9BB4-FB33-4769-8230-B0B4B80487CC}"/>
              </a:ext>
            </a:extLst>
          </p:cNvPr>
          <p:cNvSpPr>
            <a:spLocks xmlns:a="http://schemas.openxmlformats.org/drawingml/2006/main" noGrp="1"/>
          </p:cNvSpPr>
          <p:nvPr/>
        </p:nvSpPr>
        <p:spPr>
          <a:xfrm xmlns:a="http://schemas.openxmlformats.org/drawingml/2006/main">
            <a:off x="590550" y="215265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173B67"/>
                </a:solidFill>
                <a:latin typeface="Calibri"/>
                <a:ea typeface="Calibri"/>
                <a:cs typeface="Calibri"/>
              </a:defRPr>
            </a:pPr>
            <a:r>
              <a:rPr sz="1125" b="1" i="0">
                <a:solidFill>
                  <a:srgbClr val="173B67"/>
                </a:solidFill>
                <a:latin typeface="Calibri"/>
                <a:ea typeface="Calibri"/>
                <a:cs typeface="Calibri"/>
              </a:rPr>
              <a:t>CandidateProfile → query evidence</a:t>
            </a:r>
          </a:p>
        </p:txBody>
      </p:sp>
      <p:sp>
        <p:nvSpPr>
          <p:cNvPr id="32" name="query-profile-body">
            <a:extLst xmlns:a="http://schemas.openxmlformats.org/drawingml/2006/main">
              <a:ext uri="{FF2B5EF4-FFF2-40B4-BE49-F238E27FC236}">
                <a16:creationId xmlns:a16="http://schemas.microsoft.com/office/drawing/2014/main" id="{63C63362-98A3-46E3-8891-9F40F492A99C}"/>
              </a:ext>
            </a:extLst>
          </p:cNvPr>
          <p:cNvSpPr>
            <a:spLocks xmlns:a="http://schemas.openxmlformats.org/drawingml/2006/main" noGrp="1"/>
          </p:cNvSpPr>
          <p:nvPr/>
        </p:nvSpPr>
        <p:spPr>
          <a:xfrm xmlns:a="http://schemas.openxmlformats.org/drawingml/2006/main">
            <a:off x="590550" y="2543175"/>
            <a:ext cx="28575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0" i="0">
                <a:solidFill>
                  <a:srgbClr val="172B4D"/>
                </a:solidFill>
                <a:latin typeface="Calibri"/>
                <a:ea typeface="Calibri"/>
                <a:cs typeface="Calibri"/>
              </a:defRPr>
            </a:pPr>
            <a:r>
              <a:rPr sz="1125" b="0" i="0">
                <a:solidFill>
                  <a:srgbClr val="172B4D"/>
                </a:solidFill>
                <a:latin typeface="Calibri"/>
                <a:ea typeface="Calibri"/>
                <a:cs typeface="Calibri"/>
              </a:rPr>
              <a:t>specialization</a:t>
            </a:r>
          </a:p>
          <a:p xmlns:a="http://schemas.openxmlformats.org/drawingml/2006/main">
            <a:pPr algn="l">
              <a:lnSpc>
                <a:spcPct val="102000"/>
              </a:lnSpc>
              <a:buNone/>
              <a:defRPr sz="1125" b="0" i="0">
                <a:solidFill>
                  <a:srgbClr val="172B4D"/>
                </a:solidFill>
                <a:latin typeface="Calibri"/>
                <a:ea typeface="Calibri"/>
                <a:cs typeface="Calibri"/>
              </a:defRPr>
            </a:pPr>
            <a:r>
              <a:rPr sz="1125" b="0" i="0">
                <a:solidFill>
                  <a:srgbClr val="172B4D"/>
                </a:solidFill>
                <a:latin typeface="Calibri"/>
                <a:ea typeface="Calibri"/>
                <a:cs typeface="Calibri"/>
              </a:rPr>
              <a:t>Backend Developer</a:t>
            </a:r>
          </a:p>
          <a:p xmlns:a="http://schemas.openxmlformats.org/drawingml/2006/main">
            <a:r>
              <a:t/>
            </a:r>
          </a:p>
          <a:p xmlns:a="http://schemas.openxmlformats.org/drawingml/2006/main">
            <a:pPr algn="l">
              <a:lnSpc>
                <a:spcPct val="102000"/>
              </a:lnSpc>
              <a:buNone/>
              <a:defRPr sz="1125" b="0" i="0">
                <a:solidFill>
                  <a:srgbClr val="172B4D"/>
                </a:solidFill>
                <a:latin typeface="Calibri"/>
                <a:ea typeface="Calibri"/>
                <a:cs typeface="Calibri"/>
              </a:defRPr>
            </a:pPr>
            <a:r>
              <a:rPr sz="1125" b="0" i="0">
                <a:solidFill>
                  <a:srgbClr val="172B4D"/>
                </a:solidFill>
                <a:latin typeface="Calibri"/>
                <a:ea typeface="Calibri"/>
                <a:cs typeface="Calibri"/>
              </a:rPr>
              <a:t>experience_level</a:t>
            </a:r>
          </a:p>
          <a:p xmlns:a="http://schemas.openxmlformats.org/drawingml/2006/main">
            <a:pPr algn="l">
              <a:lnSpc>
                <a:spcPct val="102000"/>
              </a:lnSpc>
              <a:buNone/>
              <a:defRPr sz="1125" b="0" i="0">
                <a:solidFill>
                  <a:srgbClr val="172B4D"/>
                </a:solidFill>
                <a:latin typeface="Calibri"/>
                <a:ea typeface="Calibri"/>
                <a:cs typeface="Calibri"/>
              </a:defRPr>
            </a:pPr>
            <a:r>
              <a:rPr sz="1125" b="0" i="0">
                <a:solidFill>
                  <a:srgbClr val="172B4D"/>
                </a:solidFill>
                <a:latin typeface="Calibri"/>
                <a:ea typeface="Calibri"/>
                <a:cs typeface="Calibri"/>
              </a:rPr>
              <a:t>Junior</a:t>
            </a:r>
          </a:p>
          <a:p xmlns:a="http://schemas.openxmlformats.org/drawingml/2006/main">
            <a:r>
              <a:t/>
            </a:r>
          </a:p>
          <a:p xmlns:a="http://schemas.openxmlformats.org/drawingml/2006/main">
            <a:pPr algn="l">
              <a:lnSpc>
                <a:spcPct val="102000"/>
              </a:lnSpc>
              <a:buNone/>
              <a:defRPr sz="1125" b="0" i="0">
                <a:solidFill>
                  <a:srgbClr val="172B4D"/>
                </a:solidFill>
                <a:latin typeface="Calibri"/>
                <a:ea typeface="Calibri"/>
                <a:cs typeface="Calibri"/>
              </a:defRPr>
            </a:pPr>
            <a:r>
              <a:rPr sz="1125" b="0" i="0">
                <a:solidFill>
                  <a:srgbClr val="172B4D"/>
                </a:solidFill>
                <a:latin typeface="Calibri"/>
                <a:ea typeface="Calibri"/>
                <a:cs typeface="Calibri"/>
              </a:rPr>
              <a:t>skills</a:t>
            </a:r>
          </a:p>
          <a:p xmlns:a="http://schemas.openxmlformats.org/drawingml/2006/main">
            <a:pPr algn="l">
              <a:lnSpc>
                <a:spcPct val="102000"/>
              </a:lnSpc>
              <a:buNone/>
              <a:defRPr sz="1125" b="0" i="0">
                <a:solidFill>
                  <a:srgbClr val="172B4D"/>
                </a:solidFill>
                <a:latin typeface="Calibri"/>
                <a:ea typeface="Calibri"/>
                <a:cs typeface="Calibri"/>
              </a:defRPr>
            </a:pPr>
            <a:r>
              <a:rPr sz="1125" b="0" i="0">
                <a:solidFill>
                  <a:srgbClr val="172B4D"/>
                </a:solidFill>
                <a:latin typeface="Calibri"/>
                <a:ea typeface="Calibri"/>
                <a:cs typeface="Calibri"/>
              </a:rPr>
              <a:t>FastAPI · PostgreSQL · Docker</a:t>
            </a:r>
          </a:p>
          <a:p xmlns:a="http://schemas.openxmlformats.org/drawingml/2006/main">
            <a:r>
              <a:t/>
            </a:r>
          </a:p>
          <a:p xmlns:a="http://schemas.openxmlformats.org/drawingml/2006/main">
            <a:pPr algn="l">
              <a:lnSpc>
                <a:spcPct val="102000"/>
              </a:lnSpc>
              <a:buNone/>
              <a:defRPr sz="1125" b="0" i="0">
                <a:solidFill>
                  <a:srgbClr val="172B4D"/>
                </a:solidFill>
                <a:latin typeface="Calibri"/>
                <a:ea typeface="Calibri"/>
                <a:cs typeface="Calibri"/>
              </a:defRPr>
            </a:pPr>
            <a:r>
              <a:rPr sz="1125" b="0" i="0">
                <a:solidFill>
                  <a:srgbClr val="172B4D"/>
                </a:solidFill>
                <a:latin typeface="Calibri"/>
                <a:ea typeface="Calibri"/>
                <a:cs typeface="Calibri"/>
              </a:rPr>
              <a:t>strongest evidence</a:t>
            </a:r>
          </a:p>
          <a:p xmlns:a="http://schemas.openxmlformats.org/drawingml/2006/main">
            <a:pPr algn="l">
              <a:lnSpc>
                <a:spcPct val="102000"/>
              </a:lnSpc>
              <a:buNone/>
              <a:defRPr sz="1125" b="0" i="0">
                <a:solidFill>
                  <a:srgbClr val="172B4D"/>
                </a:solidFill>
                <a:latin typeface="Calibri"/>
                <a:ea typeface="Calibri"/>
                <a:cs typeface="Calibri"/>
              </a:defRPr>
            </a:pPr>
            <a:r>
              <a:rPr sz="1125" b="0" i="0">
                <a:solidFill>
                  <a:srgbClr val="172B4D"/>
                </a:solidFill>
                <a:latin typeface="Calibri"/>
                <a:ea typeface="Calibri"/>
                <a:cs typeface="Calibri"/>
              </a:rPr>
              <a:t>Built REST APIs with validation, ownership checks and Docker deployment.</a:t>
            </a:r>
          </a:p>
        </p:txBody>
      </p:sp>
      <p:sp>
        <p:nvSpPr>
          <p:cNvPr id="33" name="query-compose-panel">
            <a:extLst xmlns:a="http://schemas.openxmlformats.org/drawingml/2006/main">
              <a:ext uri="{FF2B5EF4-FFF2-40B4-BE49-F238E27FC236}">
                <a16:creationId xmlns:a16="http://schemas.microsoft.com/office/drawing/2014/main" id="{3E9740BD-9904-4FE2-ABC6-958E7E7AAA17}"/>
              </a:ext>
            </a:extLst>
          </p:cNvPr>
          <p:cNvSpPr>
            <a:spLocks xmlns:a="http://schemas.openxmlformats.org/drawingml/2006/main" noGrp="1"/>
          </p:cNvSpPr>
          <p:nvPr/>
        </p:nvSpPr>
        <p:spPr>
          <a:xfrm xmlns:a="http://schemas.openxmlformats.org/drawingml/2006/main">
            <a:off x="3962400" y="1562100"/>
            <a:ext cx="3619500" cy="3486150"/>
          </a:xfrm>
          <a:prstGeom xmlns:a="http://schemas.openxmlformats.org/drawingml/2006/main" prst="roundRect">
            <a:avLst>
              <a:gd name="adj" fmla="val 2186"/>
            </a:avLst>
          </a:prstGeom>
          <a:solidFill xmlns:a="http://schemas.openxmlformats.org/drawingml/2006/main">
            <a:srgbClr val="F6F8FB"/>
          </a:solidFill>
          <a:ln xmlns:a="http://schemas.openxmlformats.org/drawingml/2006/main" w="9525">
            <a:solidFill>
              <a:srgbClr val="D7E0EA"/>
            </a:solidFill>
            <a:prstDash val="solid"/>
          </a:ln>
        </p:spPr>
      </p:sp>
      <p:sp>
        <p:nvSpPr>
          <p:cNvPr id="34" name="query-compose-badge-bg">
            <a:extLst xmlns:a="http://schemas.openxmlformats.org/drawingml/2006/main">
              <a:ext uri="{FF2B5EF4-FFF2-40B4-BE49-F238E27FC236}">
                <a16:creationId xmlns:a16="http://schemas.microsoft.com/office/drawing/2014/main" id="{9F7785BF-F990-4CB5-8B5C-D303B9A1D210}"/>
              </a:ext>
            </a:extLst>
          </p:cNvPr>
          <p:cNvSpPr>
            <a:spLocks xmlns:a="http://schemas.openxmlformats.org/drawingml/2006/main" noGrp="1"/>
          </p:cNvSpPr>
          <p:nvPr/>
        </p:nvSpPr>
        <p:spPr>
          <a:xfrm xmlns:a="http://schemas.openxmlformats.org/drawingml/2006/main">
            <a:off x="4152900" y="1733550"/>
            <a:ext cx="1619250" cy="266700"/>
          </a:xfrm>
          <a:prstGeom xmlns:a="http://schemas.openxmlformats.org/drawingml/2006/main" prst="roundRect">
            <a:avLst>
              <a:gd name="adj" fmla="val 28571"/>
            </a:avLst>
          </a:prstGeom>
          <a:solidFill xmlns:a="http://schemas.openxmlformats.org/drawingml/2006/main">
            <a:srgbClr val="7652B5"/>
          </a:solidFill>
          <a:ln xmlns:a="http://schemas.openxmlformats.org/drawingml/2006/main" w="0">
            <a:noFill/>
            <a:prstDash val="solid"/>
          </a:ln>
        </p:spPr>
      </p:sp>
      <p:sp>
        <p:nvSpPr>
          <p:cNvPr id="35" name="query-compose-badge-text">
            <a:extLst xmlns:a="http://schemas.openxmlformats.org/drawingml/2006/main">
              <a:ext uri="{FF2B5EF4-FFF2-40B4-BE49-F238E27FC236}">
                <a16:creationId xmlns:a16="http://schemas.microsoft.com/office/drawing/2014/main" id="{D5877A9D-1651-442A-9CB7-2B012C116E57}"/>
              </a:ext>
            </a:extLst>
          </p:cNvPr>
          <p:cNvSpPr>
            <a:spLocks xmlns:a="http://schemas.openxmlformats.org/drawingml/2006/main" noGrp="1"/>
          </p:cNvSpPr>
          <p:nvPr/>
        </p:nvSpPr>
        <p:spPr>
          <a:xfrm xmlns:a="http://schemas.openxmlformats.org/drawingml/2006/main">
            <a:off x="4152900" y="1743075"/>
            <a:ext cx="161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FFFFFF"/>
                </a:solidFill>
                <a:latin typeface="Calibri"/>
                <a:ea typeface="Calibri"/>
                <a:cs typeface="Calibri"/>
              </a:defRPr>
            </a:pPr>
            <a:r>
              <a:rPr sz="900" b="1" i="0">
                <a:solidFill>
                  <a:srgbClr val="FFFFFF"/>
                </a:solidFill>
                <a:latin typeface="Calibri"/>
                <a:ea typeface="Calibri"/>
                <a:cs typeface="Calibri"/>
              </a:rPr>
              <a:t>QUERY COMPOSITION</a:t>
            </a:r>
          </a:p>
        </p:txBody>
      </p:sp>
      <p:sp>
        <p:nvSpPr>
          <p:cNvPr id="36" name="query-compose-title">
            <a:extLst xmlns:a="http://schemas.openxmlformats.org/drawingml/2006/main">
              <a:ext uri="{FF2B5EF4-FFF2-40B4-BE49-F238E27FC236}">
                <a16:creationId xmlns:a16="http://schemas.microsoft.com/office/drawing/2014/main" id="{E3407A12-9888-403F-890F-3BB63A91C8A1}"/>
              </a:ext>
            </a:extLst>
          </p:cNvPr>
          <p:cNvSpPr>
            <a:spLocks xmlns:a="http://schemas.openxmlformats.org/drawingml/2006/main" noGrp="1"/>
          </p:cNvSpPr>
          <p:nvPr/>
        </p:nvSpPr>
        <p:spPr>
          <a:xfrm xmlns:a="http://schemas.openxmlformats.org/drawingml/2006/main">
            <a:off x="4152900" y="2152650"/>
            <a:ext cx="314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173B67"/>
                </a:solidFill>
                <a:latin typeface="Calibri"/>
                <a:ea typeface="Calibri"/>
                <a:cs typeface="Calibri"/>
              </a:defRPr>
            </a:pPr>
            <a:r>
              <a:rPr sz="1125" b="1" i="0">
                <a:solidFill>
                  <a:srgbClr val="173B67"/>
                </a:solidFill>
                <a:latin typeface="Calibri"/>
                <a:ea typeface="Calibri"/>
                <a:cs typeface="Calibri"/>
              </a:rPr>
              <a:t>Text sent to the embedding model</a:t>
            </a:r>
          </a:p>
        </p:txBody>
      </p:sp>
      <p:sp>
        <p:nvSpPr>
          <p:cNvPr id="37" name="query-compose-text">
            <a:extLst xmlns:a="http://schemas.openxmlformats.org/drawingml/2006/main">
              <a:ext uri="{FF2B5EF4-FFF2-40B4-BE49-F238E27FC236}">
                <a16:creationId xmlns:a16="http://schemas.microsoft.com/office/drawing/2014/main" id="{AACB2FB8-2B38-49A1-B17C-DDA2F8D2D112}"/>
              </a:ext>
            </a:extLst>
          </p:cNvPr>
          <p:cNvSpPr>
            <a:spLocks xmlns:a="http://schemas.openxmlformats.org/drawingml/2006/main" noGrp="1"/>
          </p:cNvSpPr>
          <p:nvPr/>
        </p:nvSpPr>
        <p:spPr>
          <a:xfrm xmlns:a="http://schemas.openxmlformats.org/drawingml/2006/main">
            <a:off x="4152900" y="2562225"/>
            <a:ext cx="3143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1">
                <a:solidFill>
                  <a:srgbClr val="172B4D"/>
                </a:solidFill>
                <a:latin typeface="Calibri"/>
                <a:ea typeface="Calibri"/>
                <a:cs typeface="Calibri"/>
              </a:defRPr>
            </a:pPr>
            <a:r>
              <a:rPr sz="1200" b="0" i="1">
                <a:solidFill>
                  <a:srgbClr val="172B4D"/>
                </a:solidFill>
                <a:latin typeface="Calibri"/>
                <a:ea typeface="Calibri"/>
                <a:cs typeface="Calibri"/>
              </a:rPr>
              <a:t>"Junior Backend Developer with evidence in FastAPI REST APIs, PostgreSQL validation and Docker deployment; retrieve interview competencies on API design, ownership, transactions and deployment."</a:t>
            </a:r>
          </a:p>
        </p:txBody>
      </p:sp>
      <p:sp>
        <p:nvSpPr>
          <p:cNvPr id="38" name="query-filter-label">
            <a:extLst xmlns:a="http://schemas.openxmlformats.org/drawingml/2006/main">
              <a:ext uri="{FF2B5EF4-FFF2-40B4-BE49-F238E27FC236}">
                <a16:creationId xmlns:a16="http://schemas.microsoft.com/office/drawing/2014/main" id="{941C64A0-9509-4C31-9E63-9861ACF91A07}"/>
              </a:ext>
            </a:extLst>
          </p:cNvPr>
          <p:cNvSpPr>
            <a:spLocks xmlns:a="http://schemas.openxmlformats.org/drawingml/2006/main" noGrp="1"/>
          </p:cNvSpPr>
          <p:nvPr/>
        </p:nvSpPr>
        <p:spPr>
          <a:xfrm xmlns:a="http://schemas.openxmlformats.org/drawingml/2006/main">
            <a:off x="4152900" y="398145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7652B5"/>
                </a:solidFill>
                <a:latin typeface="Calibri"/>
                <a:ea typeface="Calibri"/>
                <a:cs typeface="Calibri"/>
              </a:defRPr>
            </a:pPr>
            <a:r>
              <a:rPr sz="975" b="1" i="0">
                <a:solidFill>
                  <a:srgbClr val="7652B5"/>
                </a:solidFill>
                <a:latin typeface="Calibri"/>
                <a:ea typeface="Calibri"/>
                <a:cs typeface="Calibri"/>
              </a:rPr>
              <a:t>PRE-FILTER</a:t>
            </a:r>
          </a:p>
        </p:txBody>
      </p:sp>
      <p:sp>
        <p:nvSpPr>
          <p:cNvPr id="39" name="query-filter">
            <a:extLst xmlns:a="http://schemas.openxmlformats.org/drawingml/2006/main">
              <a:ext uri="{FF2B5EF4-FFF2-40B4-BE49-F238E27FC236}">
                <a16:creationId xmlns:a16="http://schemas.microsoft.com/office/drawing/2014/main" id="{7606F57F-F8D6-4D5D-B723-85998E2D5FF6}"/>
              </a:ext>
            </a:extLst>
          </p:cNvPr>
          <p:cNvSpPr>
            <a:spLocks xmlns:a="http://schemas.openxmlformats.org/drawingml/2006/main" noGrp="1"/>
          </p:cNvSpPr>
          <p:nvPr/>
        </p:nvSpPr>
        <p:spPr>
          <a:xfrm xmlns:a="http://schemas.openxmlformats.org/drawingml/2006/main">
            <a:off x="4152900" y="4257675"/>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172B4D"/>
                </a:solidFill>
                <a:latin typeface="Consolas"/>
                <a:ea typeface="Consolas"/>
                <a:cs typeface="Consolas"/>
              </a:defRPr>
            </a:pPr>
            <a:r>
              <a:rPr sz="1050" b="0" i="0">
                <a:solidFill>
                  <a:srgbClr val="172B4D"/>
                </a:solidFill>
                <a:latin typeface="Consolas"/>
                <a:ea typeface="Consolas"/>
                <a:cs typeface="Consolas"/>
              </a:rPr>
              <a:t>domain=backend</a:t>
            </a:r>
          </a:p>
          <a:p xmlns:a="http://schemas.openxmlformats.org/drawingml/2006/main">
            <a:pPr algn="l">
              <a:defRPr sz="1050" b="0" i="0">
                <a:solidFill>
                  <a:srgbClr val="172B4D"/>
                </a:solidFill>
                <a:latin typeface="Consolas"/>
                <a:ea typeface="Consolas"/>
                <a:cs typeface="Consolas"/>
              </a:defRPr>
            </a:pPr>
            <a:r>
              <a:rPr sz="1050" b="0" i="0">
                <a:solidFill>
                  <a:srgbClr val="172B4D"/>
                </a:solidFill>
                <a:latin typeface="Consolas"/>
                <a:ea typeface="Consolas"/>
                <a:cs typeface="Consolas"/>
              </a:rPr>
              <a:t>level∈{junior, foundational}</a:t>
            </a:r>
          </a:p>
          <a:p xmlns:a="http://schemas.openxmlformats.org/drawingml/2006/main">
            <a:pPr algn="l">
              <a:defRPr sz="1050" b="0" i="0">
                <a:solidFill>
                  <a:srgbClr val="172B4D"/>
                </a:solidFill>
                <a:latin typeface="Consolas"/>
                <a:ea typeface="Consolas"/>
                <a:cs typeface="Consolas"/>
              </a:defRPr>
            </a:pPr>
            <a:r>
              <a:rPr sz="1050" b="0" i="0">
                <a:solidFill>
                  <a:srgbClr val="172B4D"/>
                </a:solidFill>
                <a:latin typeface="Consolas"/>
                <a:ea typeface="Consolas"/>
                <a:cs typeface="Consolas"/>
              </a:rPr>
              <a:t>active=true · embedding_version=v1</a:t>
            </a:r>
          </a:p>
        </p:txBody>
      </p:sp>
      <p:sp>
        <p:nvSpPr>
          <p:cNvPr id="40" name="query-results-panel">
            <a:extLst xmlns:a="http://schemas.openxmlformats.org/drawingml/2006/main">
              <a:ext uri="{FF2B5EF4-FFF2-40B4-BE49-F238E27FC236}">
                <a16:creationId xmlns:a16="http://schemas.microsoft.com/office/drawing/2014/main" id="{0E684882-E70D-4523-A701-7B49BDD341B2}"/>
              </a:ext>
            </a:extLst>
          </p:cNvPr>
          <p:cNvSpPr>
            <a:spLocks xmlns:a="http://schemas.openxmlformats.org/drawingml/2006/main" noGrp="1"/>
          </p:cNvSpPr>
          <p:nvPr/>
        </p:nvSpPr>
        <p:spPr>
          <a:xfrm xmlns:a="http://schemas.openxmlformats.org/drawingml/2006/main">
            <a:off x="7810500" y="1562100"/>
            <a:ext cx="3924300" cy="3486150"/>
          </a:xfrm>
          <a:prstGeom xmlns:a="http://schemas.openxmlformats.org/drawingml/2006/main" prst="roundRect">
            <a:avLst>
              <a:gd name="adj" fmla="val 2186"/>
            </a:avLst>
          </a:prstGeom>
          <a:solidFill xmlns:a="http://schemas.openxmlformats.org/drawingml/2006/main">
            <a:srgbClr val="EAF7F3"/>
          </a:solidFill>
          <a:ln xmlns:a="http://schemas.openxmlformats.org/drawingml/2006/main" w="9525">
            <a:solidFill>
              <a:srgbClr val="B8DED3"/>
            </a:solidFill>
            <a:prstDash val="solid"/>
          </a:ln>
        </p:spPr>
      </p:sp>
      <p:sp>
        <p:nvSpPr>
          <p:cNvPr id="41" name="query-results-badge-bg">
            <a:extLst xmlns:a="http://schemas.openxmlformats.org/drawingml/2006/main">
              <a:ext uri="{FF2B5EF4-FFF2-40B4-BE49-F238E27FC236}">
                <a16:creationId xmlns:a16="http://schemas.microsoft.com/office/drawing/2014/main" id="{83D14859-B25B-453B-8151-199C1C6AF6BA}"/>
              </a:ext>
            </a:extLst>
          </p:cNvPr>
          <p:cNvSpPr>
            <a:spLocks xmlns:a="http://schemas.openxmlformats.org/drawingml/2006/main" noGrp="1"/>
          </p:cNvSpPr>
          <p:nvPr/>
        </p:nvSpPr>
        <p:spPr>
          <a:xfrm xmlns:a="http://schemas.openxmlformats.org/drawingml/2006/main">
            <a:off x="8001000" y="1733550"/>
            <a:ext cx="1428750" cy="266700"/>
          </a:xfrm>
          <a:prstGeom xmlns:a="http://schemas.openxmlformats.org/drawingml/2006/main" prst="roundRect">
            <a:avLst>
              <a:gd name="adj" fmla="val 28571"/>
            </a:avLst>
          </a:prstGeom>
          <a:solidFill xmlns:a="http://schemas.openxmlformats.org/drawingml/2006/main">
            <a:srgbClr val="16866C"/>
          </a:solidFill>
          <a:ln xmlns:a="http://schemas.openxmlformats.org/drawingml/2006/main" w="0">
            <a:noFill/>
            <a:prstDash val="solid"/>
          </a:ln>
        </p:spPr>
      </p:sp>
      <p:sp>
        <p:nvSpPr>
          <p:cNvPr id="42" name="query-results-badge-text">
            <a:extLst xmlns:a="http://schemas.openxmlformats.org/drawingml/2006/main">
              <a:ext uri="{FF2B5EF4-FFF2-40B4-BE49-F238E27FC236}">
                <a16:creationId xmlns:a16="http://schemas.microsoft.com/office/drawing/2014/main" id="{BC216D10-C426-4F50-B77A-15A095AC5308}"/>
              </a:ext>
            </a:extLst>
          </p:cNvPr>
          <p:cNvSpPr>
            <a:spLocks xmlns:a="http://schemas.openxmlformats.org/drawingml/2006/main" noGrp="1"/>
          </p:cNvSpPr>
          <p:nvPr/>
        </p:nvSpPr>
        <p:spPr>
          <a:xfrm xmlns:a="http://schemas.openxmlformats.org/drawingml/2006/main">
            <a:off x="8001000" y="1743075"/>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FFFFFF"/>
                </a:solidFill>
                <a:latin typeface="Calibri"/>
                <a:ea typeface="Calibri"/>
                <a:cs typeface="Calibri"/>
              </a:defRPr>
            </a:pPr>
            <a:r>
              <a:rPr sz="900" b="1" i="0">
                <a:solidFill>
                  <a:srgbClr val="FFFFFF"/>
                </a:solidFill>
                <a:latin typeface="Calibri"/>
                <a:ea typeface="Calibri"/>
                <a:cs typeface="Calibri"/>
              </a:rPr>
              <a:t>TOP-5 PROPOSED</a:t>
            </a:r>
          </a:p>
        </p:txBody>
      </p:sp>
      <p:sp>
        <p:nvSpPr>
          <p:cNvPr id="43" name="query-results-title">
            <a:extLst xmlns:a="http://schemas.openxmlformats.org/drawingml/2006/main">
              <a:ext uri="{FF2B5EF4-FFF2-40B4-BE49-F238E27FC236}">
                <a16:creationId xmlns:a16="http://schemas.microsoft.com/office/drawing/2014/main" id="{A60E3A69-C9B6-41B8-8DD6-3A6ED1F34FE0}"/>
              </a:ext>
            </a:extLst>
          </p:cNvPr>
          <p:cNvSpPr>
            <a:spLocks xmlns:a="http://schemas.openxmlformats.org/drawingml/2006/main" noGrp="1"/>
          </p:cNvSpPr>
          <p:nvPr/>
        </p:nvSpPr>
        <p:spPr>
          <a:xfrm xmlns:a="http://schemas.openxmlformats.org/drawingml/2006/main">
            <a:off x="8001000" y="2152650"/>
            <a:ext cx="323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173B67"/>
                </a:solidFill>
                <a:latin typeface="Calibri"/>
                <a:ea typeface="Calibri"/>
                <a:cs typeface="Calibri"/>
              </a:defRPr>
            </a:pPr>
            <a:r>
              <a:rPr sz="1125" b="1" i="0">
                <a:solidFill>
                  <a:srgbClr val="173B67"/>
                </a:solidFill>
                <a:latin typeface="Calibri"/>
                <a:ea typeface="Calibri"/>
                <a:cs typeface="Calibri"/>
              </a:rPr>
              <a:t>Illustrative ranking</a:t>
            </a:r>
          </a:p>
        </p:txBody>
      </p:sp>
      <p:sp>
        <p:nvSpPr>
          <p:cNvPr id="44" name="query-rank-0-bg">
            <a:extLst xmlns:a="http://schemas.openxmlformats.org/drawingml/2006/main">
              <a:ext uri="{FF2B5EF4-FFF2-40B4-BE49-F238E27FC236}">
                <a16:creationId xmlns:a16="http://schemas.microsoft.com/office/drawing/2014/main" id="{7110428C-03CD-4688-9D6E-AEC7E278D357}"/>
              </a:ext>
            </a:extLst>
          </p:cNvPr>
          <p:cNvSpPr>
            <a:spLocks xmlns:a="http://schemas.openxmlformats.org/drawingml/2006/main" noGrp="1"/>
          </p:cNvSpPr>
          <p:nvPr/>
        </p:nvSpPr>
        <p:spPr>
          <a:xfrm xmlns:a="http://schemas.openxmlformats.org/drawingml/2006/main">
            <a:off x="8001000" y="2543175"/>
            <a:ext cx="285750" cy="266700"/>
          </a:xfrm>
          <a:prstGeom xmlns:a="http://schemas.openxmlformats.org/drawingml/2006/main" prst="roundRect">
            <a:avLst>
              <a:gd name="adj" fmla="val 28571"/>
            </a:avLst>
          </a:prstGeom>
          <a:solidFill xmlns:a="http://schemas.openxmlformats.org/drawingml/2006/main">
            <a:srgbClr val="16866C"/>
          </a:solidFill>
          <a:ln xmlns:a="http://schemas.openxmlformats.org/drawingml/2006/main" w="0">
            <a:noFill/>
            <a:prstDash val="solid"/>
          </a:ln>
        </p:spPr>
      </p:sp>
      <p:sp>
        <p:nvSpPr>
          <p:cNvPr id="45" name="query-rank-0-text">
            <a:extLst xmlns:a="http://schemas.openxmlformats.org/drawingml/2006/main">
              <a:ext uri="{FF2B5EF4-FFF2-40B4-BE49-F238E27FC236}">
                <a16:creationId xmlns:a16="http://schemas.microsoft.com/office/drawing/2014/main" id="{990DE305-550E-445C-80BA-8F1905E1BA54}"/>
              </a:ext>
            </a:extLst>
          </p:cNvPr>
          <p:cNvSpPr>
            <a:spLocks xmlns:a="http://schemas.openxmlformats.org/drawingml/2006/main" noGrp="1"/>
          </p:cNvSpPr>
          <p:nvPr/>
        </p:nvSpPr>
        <p:spPr>
          <a:xfrm xmlns:a="http://schemas.openxmlformats.org/drawingml/2006/main">
            <a:off x="8001000" y="2552700"/>
            <a:ext cx="28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FFFFFF"/>
                </a:solidFill>
                <a:latin typeface="Calibri"/>
                <a:ea typeface="Calibri"/>
                <a:cs typeface="Calibri"/>
              </a:defRPr>
            </a:pPr>
            <a:r>
              <a:rPr sz="900" b="1" i="0">
                <a:solidFill>
                  <a:srgbClr val="FFFFFF"/>
                </a:solidFill>
                <a:latin typeface="Calibri"/>
                <a:ea typeface="Calibri"/>
                <a:cs typeface="Calibri"/>
              </a:rPr>
              <a:t>1</a:t>
            </a:r>
          </a:p>
        </p:txBody>
      </p:sp>
      <p:sp>
        <p:nvSpPr>
          <p:cNvPr id="46" name="query-result-label-0">
            <a:extLst xmlns:a="http://schemas.openxmlformats.org/drawingml/2006/main">
              <a:ext uri="{FF2B5EF4-FFF2-40B4-BE49-F238E27FC236}">
                <a16:creationId xmlns:a16="http://schemas.microsoft.com/office/drawing/2014/main" id="{10C4DCA9-E28C-4EB2-A78C-D5F813A855E6}"/>
              </a:ext>
            </a:extLst>
          </p:cNvPr>
          <p:cNvSpPr>
            <a:spLocks xmlns:a="http://schemas.openxmlformats.org/drawingml/2006/main" noGrp="1"/>
          </p:cNvSpPr>
          <p:nvPr/>
        </p:nvSpPr>
        <p:spPr>
          <a:xfrm xmlns:a="http://schemas.openxmlformats.org/drawingml/2006/main">
            <a:off x="8401050" y="2562225"/>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172B4D"/>
                </a:solidFill>
                <a:latin typeface="Calibri"/>
                <a:ea typeface="Calibri"/>
                <a:cs typeface="Calibri"/>
              </a:defRPr>
            </a:pPr>
            <a:r>
              <a:rPr sz="1050" b="1" i="0">
                <a:solidFill>
                  <a:srgbClr val="172B4D"/>
                </a:solidFill>
                <a:latin typeface="Calibri"/>
                <a:ea typeface="Calibri"/>
                <a:cs typeface="Calibri"/>
              </a:rPr>
              <a:t>API ownership &amp; idempotency</a:t>
            </a:r>
          </a:p>
        </p:txBody>
      </p:sp>
      <p:sp>
        <p:nvSpPr>
          <p:cNvPr id="47" name="query-result-score-0">
            <a:extLst xmlns:a="http://schemas.openxmlformats.org/drawingml/2006/main">
              <a:ext uri="{FF2B5EF4-FFF2-40B4-BE49-F238E27FC236}">
                <a16:creationId xmlns:a16="http://schemas.microsoft.com/office/drawing/2014/main" id="{CAAA3E23-95AA-4517-B195-7633FBD53D10}"/>
              </a:ext>
            </a:extLst>
          </p:cNvPr>
          <p:cNvSpPr>
            <a:spLocks xmlns:a="http://schemas.openxmlformats.org/drawingml/2006/main" noGrp="1"/>
          </p:cNvSpPr>
          <p:nvPr/>
        </p:nvSpPr>
        <p:spPr>
          <a:xfrm xmlns:a="http://schemas.openxmlformats.org/drawingml/2006/main">
            <a:off x="10687050" y="2552700"/>
            <a:ext cx="704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i="0">
                <a:solidFill>
                  <a:srgbClr val="16866C"/>
                </a:solidFill>
                <a:latin typeface="Calibri"/>
                <a:ea typeface="Calibri"/>
                <a:cs typeface="Calibri"/>
              </a:defRPr>
            </a:pPr>
            <a:r>
              <a:rPr sz="1200" b="1" i="0">
                <a:solidFill>
                  <a:srgbClr val="16866C"/>
                </a:solidFill>
                <a:latin typeface="Calibri"/>
                <a:ea typeface="Calibri"/>
                <a:cs typeface="Calibri"/>
              </a:rPr>
              <a:t>0.91</a:t>
            </a:r>
          </a:p>
        </p:txBody>
      </p:sp>
      <p:sp>
        <p:nvSpPr>
          <p:cNvPr id="48" name="query-result-line-0">
            <a:extLst xmlns:a="http://schemas.openxmlformats.org/drawingml/2006/main">
              <a:ext uri="{FF2B5EF4-FFF2-40B4-BE49-F238E27FC236}">
                <a16:creationId xmlns:a16="http://schemas.microsoft.com/office/drawing/2014/main" id="{FDC8117E-9CE7-42A9-84F5-325FA3814A00}"/>
              </a:ext>
            </a:extLst>
          </p:cNvPr>
          <p:cNvSpPr>
            <a:spLocks xmlns:a="http://schemas.openxmlformats.org/drawingml/2006/main" noGrp="1"/>
          </p:cNvSpPr>
          <p:nvPr/>
        </p:nvSpPr>
        <p:spPr>
          <a:xfrm xmlns:a="http://schemas.openxmlformats.org/drawingml/2006/main">
            <a:off x="8401050" y="2876550"/>
            <a:ext cx="2990850" cy="0"/>
          </a:xfrm>
          <a:prstGeom xmlns:a="http://schemas.openxmlformats.org/drawingml/2006/main" prst="line">
            <a:avLst/>
          </a:prstGeom>
          <a:noFill xmlns:a="http://schemas.openxmlformats.org/drawingml/2006/main"/>
          <a:ln xmlns:a="http://schemas.openxmlformats.org/drawingml/2006/main" w="9525">
            <a:solidFill>
              <a:srgbClr val="CEE7DF"/>
            </a:solidFill>
            <a:prstDash val="solid"/>
          </a:ln>
        </p:spPr>
      </p:sp>
      <p:sp>
        <p:nvSpPr>
          <p:cNvPr id="49" name="query-rank-1-bg">
            <a:extLst xmlns:a="http://schemas.openxmlformats.org/drawingml/2006/main">
              <a:ext uri="{FF2B5EF4-FFF2-40B4-BE49-F238E27FC236}">
                <a16:creationId xmlns:a16="http://schemas.microsoft.com/office/drawing/2014/main" id="{A46D18C7-F2A1-4766-B2FB-D4D05F74C1B4}"/>
              </a:ext>
            </a:extLst>
          </p:cNvPr>
          <p:cNvSpPr>
            <a:spLocks xmlns:a="http://schemas.openxmlformats.org/drawingml/2006/main" noGrp="1"/>
          </p:cNvSpPr>
          <p:nvPr/>
        </p:nvSpPr>
        <p:spPr>
          <a:xfrm xmlns:a="http://schemas.openxmlformats.org/drawingml/2006/main">
            <a:off x="8001000" y="2990850"/>
            <a:ext cx="285750" cy="266700"/>
          </a:xfrm>
          <a:prstGeom xmlns:a="http://schemas.openxmlformats.org/drawingml/2006/main" prst="roundRect">
            <a:avLst>
              <a:gd name="adj" fmla="val 28571"/>
            </a:avLst>
          </a:prstGeom>
          <a:solidFill xmlns:a="http://schemas.openxmlformats.org/drawingml/2006/main">
            <a:srgbClr val="16866C"/>
          </a:solidFill>
          <a:ln xmlns:a="http://schemas.openxmlformats.org/drawingml/2006/main" w="0">
            <a:noFill/>
            <a:prstDash val="solid"/>
          </a:ln>
        </p:spPr>
      </p:sp>
      <p:sp>
        <p:nvSpPr>
          <p:cNvPr id="50" name="query-rank-1-text">
            <a:extLst xmlns:a="http://schemas.openxmlformats.org/drawingml/2006/main">
              <a:ext uri="{FF2B5EF4-FFF2-40B4-BE49-F238E27FC236}">
                <a16:creationId xmlns:a16="http://schemas.microsoft.com/office/drawing/2014/main" id="{C33448F4-41FC-4E5A-B22D-704EB17E8A49}"/>
              </a:ext>
            </a:extLst>
          </p:cNvPr>
          <p:cNvSpPr>
            <a:spLocks xmlns:a="http://schemas.openxmlformats.org/drawingml/2006/main" noGrp="1"/>
          </p:cNvSpPr>
          <p:nvPr/>
        </p:nvSpPr>
        <p:spPr>
          <a:xfrm xmlns:a="http://schemas.openxmlformats.org/drawingml/2006/main">
            <a:off x="8001000" y="3000375"/>
            <a:ext cx="28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FFFFFF"/>
                </a:solidFill>
                <a:latin typeface="Calibri"/>
                <a:ea typeface="Calibri"/>
                <a:cs typeface="Calibri"/>
              </a:defRPr>
            </a:pPr>
            <a:r>
              <a:rPr sz="900" b="1" i="0">
                <a:solidFill>
                  <a:srgbClr val="FFFFFF"/>
                </a:solidFill>
                <a:latin typeface="Calibri"/>
                <a:ea typeface="Calibri"/>
                <a:cs typeface="Calibri"/>
              </a:rPr>
              <a:t>2</a:t>
            </a:r>
          </a:p>
        </p:txBody>
      </p:sp>
      <p:sp>
        <p:nvSpPr>
          <p:cNvPr id="51" name="query-result-label-1">
            <a:extLst xmlns:a="http://schemas.openxmlformats.org/drawingml/2006/main">
              <a:ext uri="{FF2B5EF4-FFF2-40B4-BE49-F238E27FC236}">
                <a16:creationId xmlns:a16="http://schemas.microsoft.com/office/drawing/2014/main" id="{0916F4C9-553B-498C-AC18-4504BB3F948C}"/>
              </a:ext>
            </a:extLst>
          </p:cNvPr>
          <p:cNvSpPr>
            <a:spLocks xmlns:a="http://schemas.openxmlformats.org/drawingml/2006/main" noGrp="1"/>
          </p:cNvSpPr>
          <p:nvPr/>
        </p:nvSpPr>
        <p:spPr>
          <a:xfrm xmlns:a="http://schemas.openxmlformats.org/drawingml/2006/main">
            <a:off x="8401050" y="300990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172B4D"/>
                </a:solidFill>
                <a:latin typeface="Calibri"/>
                <a:ea typeface="Calibri"/>
                <a:cs typeface="Calibri"/>
              </a:defRPr>
            </a:pPr>
            <a:r>
              <a:rPr sz="1050" b="1" i="0">
                <a:solidFill>
                  <a:srgbClr val="172B4D"/>
                </a:solidFill>
                <a:latin typeface="Calibri"/>
                <a:ea typeface="Calibri"/>
                <a:cs typeface="Calibri"/>
              </a:rPr>
              <a:t>PostgreSQL transactions</a:t>
            </a:r>
          </a:p>
        </p:txBody>
      </p:sp>
      <p:sp>
        <p:nvSpPr>
          <p:cNvPr id="52" name="query-result-score-1">
            <a:extLst xmlns:a="http://schemas.openxmlformats.org/drawingml/2006/main">
              <a:ext uri="{FF2B5EF4-FFF2-40B4-BE49-F238E27FC236}">
                <a16:creationId xmlns:a16="http://schemas.microsoft.com/office/drawing/2014/main" id="{FC975668-930F-44D5-B9F4-7C28E895252D}"/>
              </a:ext>
            </a:extLst>
          </p:cNvPr>
          <p:cNvSpPr>
            <a:spLocks xmlns:a="http://schemas.openxmlformats.org/drawingml/2006/main" noGrp="1"/>
          </p:cNvSpPr>
          <p:nvPr/>
        </p:nvSpPr>
        <p:spPr>
          <a:xfrm xmlns:a="http://schemas.openxmlformats.org/drawingml/2006/main">
            <a:off x="10687050" y="3000375"/>
            <a:ext cx="704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i="0">
                <a:solidFill>
                  <a:srgbClr val="16866C"/>
                </a:solidFill>
                <a:latin typeface="Calibri"/>
                <a:ea typeface="Calibri"/>
                <a:cs typeface="Calibri"/>
              </a:defRPr>
            </a:pPr>
            <a:r>
              <a:rPr sz="1200" b="1" i="0">
                <a:solidFill>
                  <a:srgbClr val="16866C"/>
                </a:solidFill>
                <a:latin typeface="Calibri"/>
                <a:ea typeface="Calibri"/>
                <a:cs typeface="Calibri"/>
              </a:rPr>
              <a:t>0.86</a:t>
            </a:r>
          </a:p>
        </p:txBody>
      </p:sp>
      <p:sp>
        <p:nvSpPr>
          <p:cNvPr id="53" name="query-result-line-1">
            <a:extLst xmlns:a="http://schemas.openxmlformats.org/drawingml/2006/main">
              <a:ext uri="{FF2B5EF4-FFF2-40B4-BE49-F238E27FC236}">
                <a16:creationId xmlns:a16="http://schemas.microsoft.com/office/drawing/2014/main" id="{2861B71D-B377-4F73-9869-AF037F4353C5}"/>
              </a:ext>
            </a:extLst>
          </p:cNvPr>
          <p:cNvSpPr>
            <a:spLocks xmlns:a="http://schemas.openxmlformats.org/drawingml/2006/main" noGrp="1"/>
          </p:cNvSpPr>
          <p:nvPr/>
        </p:nvSpPr>
        <p:spPr>
          <a:xfrm xmlns:a="http://schemas.openxmlformats.org/drawingml/2006/main">
            <a:off x="8401050" y="3324225"/>
            <a:ext cx="2990850" cy="0"/>
          </a:xfrm>
          <a:prstGeom xmlns:a="http://schemas.openxmlformats.org/drawingml/2006/main" prst="line">
            <a:avLst/>
          </a:prstGeom>
          <a:noFill xmlns:a="http://schemas.openxmlformats.org/drawingml/2006/main"/>
          <a:ln xmlns:a="http://schemas.openxmlformats.org/drawingml/2006/main" w="9525">
            <a:solidFill>
              <a:srgbClr val="CEE7DF"/>
            </a:solidFill>
            <a:prstDash val="solid"/>
          </a:ln>
        </p:spPr>
      </p:sp>
      <p:sp>
        <p:nvSpPr>
          <p:cNvPr id="54" name="query-rank-2-bg">
            <a:extLst xmlns:a="http://schemas.openxmlformats.org/drawingml/2006/main">
              <a:ext uri="{FF2B5EF4-FFF2-40B4-BE49-F238E27FC236}">
                <a16:creationId xmlns:a16="http://schemas.microsoft.com/office/drawing/2014/main" id="{A784325B-E408-4E7D-99E5-21FD8AB36388}"/>
              </a:ext>
            </a:extLst>
          </p:cNvPr>
          <p:cNvSpPr>
            <a:spLocks xmlns:a="http://schemas.openxmlformats.org/drawingml/2006/main" noGrp="1"/>
          </p:cNvSpPr>
          <p:nvPr/>
        </p:nvSpPr>
        <p:spPr>
          <a:xfrm xmlns:a="http://schemas.openxmlformats.org/drawingml/2006/main">
            <a:off x="8001000" y="3438525"/>
            <a:ext cx="285750" cy="266700"/>
          </a:xfrm>
          <a:prstGeom xmlns:a="http://schemas.openxmlformats.org/drawingml/2006/main" prst="roundRect">
            <a:avLst>
              <a:gd name="adj" fmla="val 28571"/>
            </a:avLst>
          </a:prstGeom>
          <a:solidFill xmlns:a="http://schemas.openxmlformats.org/drawingml/2006/main">
            <a:srgbClr val="16866C"/>
          </a:solidFill>
          <a:ln xmlns:a="http://schemas.openxmlformats.org/drawingml/2006/main" w="0">
            <a:noFill/>
            <a:prstDash val="solid"/>
          </a:ln>
        </p:spPr>
      </p:sp>
      <p:sp>
        <p:nvSpPr>
          <p:cNvPr id="55" name="query-rank-2-text">
            <a:extLst xmlns:a="http://schemas.openxmlformats.org/drawingml/2006/main">
              <a:ext uri="{FF2B5EF4-FFF2-40B4-BE49-F238E27FC236}">
                <a16:creationId xmlns:a16="http://schemas.microsoft.com/office/drawing/2014/main" id="{8DF2C16D-3370-49BC-B8F2-CD07F667D919}"/>
              </a:ext>
            </a:extLst>
          </p:cNvPr>
          <p:cNvSpPr>
            <a:spLocks xmlns:a="http://schemas.openxmlformats.org/drawingml/2006/main" noGrp="1"/>
          </p:cNvSpPr>
          <p:nvPr/>
        </p:nvSpPr>
        <p:spPr>
          <a:xfrm xmlns:a="http://schemas.openxmlformats.org/drawingml/2006/main">
            <a:off x="8001000" y="3448050"/>
            <a:ext cx="28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FFFFFF"/>
                </a:solidFill>
                <a:latin typeface="Calibri"/>
                <a:ea typeface="Calibri"/>
                <a:cs typeface="Calibri"/>
              </a:defRPr>
            </a:pPr>
            <a:r>
              <a:rPr sz="900" b="1" i="0">
                <a:solidFill>
                  <a:srgbClr val="FFFFFF"/>
                </a:solidFill>
                <a:latin typeface="Calibri"/>
                <a:ea typeface="Calibri"/>
                <a:cs typeface="Calibri"/>
              </a:rPr>
              <a:t>3</a:t>
            </a:r>
          </a:p>
        </p:txBody>
      </p:sp>
      <p:sp>
        <p:nvSpPr>
          <p:cNvPr id="56" name="query-result-label-2">
            <a:extLst xmlns:a="http://schemas.openxmlformats.org/drawingml/2006/main">
              <a:ext uri="{FF2B5EF4-FFF2-40B4-BE49-F238E27FC236}">
                <a16:creationId xmlns:a16="http://schemas.microsoft.com/office/drawing/2014/main" id="{1BA59B74-BD78-46B6-A5AC-860D2BBE4EE6}"/>
              </a:ext>
            </a:extLst>
          </p:cNvPr>
          <p:cNvSpPr>
            <a:spLocks xmlns:a="http://schemas.openxmlformats.org/drawingml/2006/main" noGrp="1"/>
          </p:cNvSpPr>
          <p:nvPr/>
        </p:nvSpPr>
        <p:spPr>
          <a:xfrm xmlns:a="http://schemas.openxmlformats.org/drawingml/2006/main">
            <a:off x="8401050" y="3457575"/>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172B4D"/>
                </a:solidFill>
                <a:latin typeface="Calibri"/>
                <a:ea typeface="Calibri"/>
                <a:cs typeface="Calibri"/>
              </a:defRPr>
            </a:pPr>
            <a:r>
              <a:rPr sz="1050" b="1" i="0">
                <a:solidFill>
                  <a:srgbClr val="172B4D"/>
                </a:solidFill>
                <a:latin typeface="Calibri"/>
                <a:ea typeface="Calibri"/>
                <a:cs typeface="Calibri"/>
              </a:rPr>
              <a:t>Docker deployment</a:t>
            </a:r>
          </a:p>
        </p:txBody>
      </p:sp>
      <p:sp>
        <p:nvSpPr>
          <p:cNvPr id="57" name="query-result-score-2">
            <a:extLst xmlns:a="http://schemas.openxmlformats.org/drawingml/2006/main">
              <a:ext uri="{FF2B5EF4-FFF2-40B4-BE49-F238E27FC236}">
                <a16:creationId xmlns:a16="http://schemas.microsoft.com/office/drawing/2014/main" id="{3C71FE95-3FBB-43BF-B44F-59E2EE90083A}"/>
              </a:ext>
            </a:extLst>
          </p:cNvPr>
          <p:cNvSpPr>
            <a:spLocks xmlns:a="http://schemas.openxmlformats.org/drawingml/2006/main" noGrp="1"/>
          </p:cNvSpPr>
          <p:nvPr/>
        </p:nvSpPr>
        <p:spPr>
          <a:xfrm xmlns:a="http://schemas.openxmlformats.org/drawingml/2006/main">
            <a:off x="10687050" y="3448050"/>
            <a:ext cx="704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i="0">
                <a:solidFill>
                  <a:srgbClr val="16866C"/>
                </a:solidFill>
                <a:latin typeface="Calibri"/>
                <a:ea typeface="Calibri"/>
                <a:cs typeface="Calibri"/>
              </a:defRPr>
            </a:pPr>
            <a:r>
              <a:rPr sz="1200" b="1" i="0">
                <a:solidFill>
                  <a:srgbClr val="16866C"/>
                </a:solidFill>
                <a:latin typeface="Calibri"/>
                <a:ea typeface="Calibri"/>
                <a:cs typeface="Calibri"/>
              </a:rPr>
              <a:t>0.79</a:t>
            </a:r>
          </a:p>
        </p:txBody>
      </p:sp>
      <p:sp>
        <p:nvSpPr>
          <p:cNvPr id="58" name="query-result-line-2">
            <a:extLst xmlns:a="http://schemas.openxmlformats.org/drawingml/2006/main">
              <a:ext uri="{FF2B5EF4-FFF2-40B4-BE49-F238E27FC236}">
                <a16:creationId xmlns:a16="http://schemas.microsoft.com/office/drawing/2014/main" id="{A4778433-496D-46D6-AD69-E3C1312E98D1}"/>
              </a:ext>
            </a:extLst>
          </p:cNvPr>
          <p:cNvSpPr>
            <a:spLocks xmlns:a="http://schemas.openxmlformats.org/drawingml/2006/main" noGrp="1"/>
          </p:cNvSpPr>
          <p:nvPr/>
        </p:nvSpPr>
        <p:spPr>
          <a:xfrm xmlns:a="http://schemas.openxmlformats.org/drawingml/2006/main">
            <a:off x="8401050" y="3771900"/>
            <a:ext cx="2990850" cy="0"/>
          </a:xfrm>
          <a:prstGeom xmlns:a="http://schemas.openxmlformats.org/drawingml/2006/main" prst="line">
            <a:avLst/>
          </a:prstGeom>
          <a:noFill xmlns:a="http://schemas.openxmlformats.org/drawingml/2006/main"/>
          <a:ln xmlns:a="http://schemas.openxmlformats.org/drawingml/2006/main" w="9525">
            <a:solidFill>
              <a:srgbClr val="CEE7DF"/>
            </a:solidFill>
            <a:prstDash val="solid"/>
          </a:ln>
        </p:spPr>
      </p:sp>
      <p:sp>
        <p:nvSpPr>
          <p:cNvPr id="59" name="query-rank-3-bg">
            <a:extLst xmlns:a="http://schemas.openxmlformats.org/drawingml/2006/main">
              <a:ext uri="{FF2B5EF4-FFF2-40B4-BE49-F238E27FC236}">
                <a16:creationId xmlns:a16="http://schemas.microsoft.com/office/drawing/2014/main" id="{AE981DBE-3EDB-464F-A90D-D0616045E8D3}"/>
              </a:ext>
            </a:extLst>
          </p:cNvPr>
          <p:cNvSpPr>
            <a:spLocks xmlns:a="http://schemas.openxmlformats.org/drawingml/2006/main" noGrp="1"/>
          </p:cNvSpPr>
          <p:nvPr/>
        </p:nvSpPr>
        <p:spPr>
          <a:xfrm xmlns:a="http://schemas.openxmlformats.org/drawingml/2006/main">
            <a:off x="8001000" y="3886200"/>
            <a:ext cx="285750" cy="266700"/>
          </a:xfrm>
          <a:prstGeom xmlns:a="http://schemas.openxmlformats.org/drawingml/2006/main" prst="roundRect">
            <a:avLst>
              <a:gd name="adj" fmla="val 28571"/>
            </a:avLst>
          </a:prstGeom>
          <a:solidFill xmlns:a="http://schemas.openxmlformats.org/drawingml/2006/main">
            <a:srgbClr val="16866C"/>
          </a:solidFill>
          <a:ln xmlns:a="http://schemas.openxmlformats.org/drawingml/2006/main" w="0">
            <a:noFill/>
            <a:prstDash val="solid"/>
          </a:ln>
        </p:spPr>
      </p:sp>
      <p:sp>
        <p:nvSpPr>
          <p:cNvPr id="60" name="query-rank-3-text">
            <a:extLst xmlns:a="http://schemas.openxmlformats.org/drawingml/2006/main">
              <a:ext uri="{FF2B5EF4-FFF2-40B4-BE49-F238E27FC236}">
                <a16:creationId xmlns:a16="http://schemas.microsoft.com/office/drawing/2014/main" id="{56C310BB-7C81-470C-BB69-5AD29E4342FA}"/>
              </a:ext>
            </a:extLst>
          </p:cNvPr>
          <p:cNvSpPr>
            <a:spLocks xmlns:a="http://schemas.openxmlformats.org/drawingml/2006/main" noGrp="1"/>
          </p:cNvSpPr>
          <p:nvPr/>
        </p:nvSpPr>
        <p:spPr>
          <a:xfrm xmlns:a="http://schemas.openxmlformats.org/drawingml/2006/main">
            <a:off x="8001000" y="3895725"/>
            <a:ext cx="28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FFFFFF"/>
                </a:solidFill>
                <a:latin typeface="Calibri"/>
                <a:ea typeface="Calibri"/>
                <a:cs typeface="Calibri"/>
              </a:defRPr>
            </a:pPr>
            <a:r>
              <a:rPr sz="900" b="1" i="0">
                <a:solidFill>
                  <a:srgbClr val="FFFFFF"/>
                </a:solidFill>
                <a:latin typeface="Calibri"/>
                <a:ea typeface="Calibri"/>
                <a:cs typeface="Calibri"/>
              </a:rPr>
              <a:t>4</a:t>
            </a:r>
          </a:p>
        </p:txBody>
      </p:sp>
      <p:sp>
        <p:nvSpPr>
          <p:cNvPr id="61" name="query-result-label-3">
            <a:extLst xmlns:a="http://schemas.openxmlformats.org/drawingml/2006/main">
              <a:ext uri="{FF2B5EF4-FFF2-40B4-BE49-F238E27FC236}">
                <a16:creationId xmlns:a16="http://schemas.microsoft.com/office/drawing/2014/main" id="{BE4ED120-B976-49CE-9E5B-82456EBDB1A5}"/>
              </a:ext>
            </a:extLst>
          </p:cNvPr>
          <p:cNvSpPr>
            <a:spLocks xmlns:a="http://schemas.openxmlformats.org/drawingml/2006/main" noGrp="1"/>
          </p:cNvSpPr>
          <p:nvPr/>
        </p:nvSpPr>
        <p:spPr>
          <a:xfrm xmlns:a="http://schemas.openxmlformats.org/drawingml/2006/main">
            <a:off x="8401050" y="390525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172B4D"/>
                </a:solidFill>
                <a:latin typeface="Calibri"/>
                <a:ea typeface="Calibri"/>
                <a:cs typeface="Calibri"/>
              </a:defRPr>
            </a:pPr>
            <a:r>
              <a:rPr sz="1050" b="1" i="0">
                <a:solidFill>
                  <a:srgbClr val="172B4D"/>
                </a:solidFill>
                <a:latin typeface="Calibri"/>
                <a:ea typeface="Calibri"/>
                <a:cs typeface="Calibri"/>
              </a:rPr>
              <a:t>Error contracts</a:t>
            </a:r>
          </a:p>
        </p:txBody>
      </p:sp>
      <p:sp>
        <p:nvSpPr>
          <p:cNvPr id="62" name="query-result-score-3">
            <a:extLst xmlns:a="http://schemas.openxmlformats.org/drawingml/2006/main">
              <a:ext uri="{FF2B5EF4-FFF2-40B4-BE49-F238E27FC236}">
                <a16:creationId xmlns:a16="http://schemas.microsoft.com/office/drawing/2014/main" id="{1980A4E7-9907-48AF-AFAB-1450C1F69257}"/>
              </a:ext>
            </a:extLst>
          </p:cNvPr>
          <p:cNvSpPr>
            <a:spLocks xmlns:a="http://schemas.openxmlformats.org/drawingml/2006/main" noGrp="1"/>
          </p:cNvSpPr>
          <p:nvPr/>
        </p:nvSpPr>
        <p:spPr>
          <a:xfrm xmlns:a="http://schemas.openxmlformats.org/drawingml/2006/main">
            <a:off x="10687050" y="3895725"/>
            <a:ext cx="704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i="0">
                <a:solidFill>
                  <a:srgbClr val="16866C"/>
                </a:solidFill>
                <a:latin typeface="Calibri"/>
                <a:ea typeface="Calibri"/>
                <a:cs typeface="Calibri"/>
              </a:defRPr>
            </a:pPr>
            <a:r>
              <a:rPr sz="1200" b="1" i="0">
                <a:solidFill>
                  <a:srgbClr val="16866C"/>
                </a:solidFill>
                <a:latin typeface="Calibri"/>
                <a:ea typeface="Calibri"/>
                <a:cs typeface="Calibri"/>
              </a:rPr>
              <a:t>0.76</a:t>
            </a:r>
          </a:p>
        </p:txBody>
      </p:sp>
      <p:sp>
        <p:nvSpPr>
          <p:cNvPr id="63" name="query-result-line-3">
            <a:extLst xmlns:a="http://schemas.openxmlformats.org/drawingml/2006/main">
              <a:ext uri="{FF2B5EF4-FFF2-40B4-BE49-F238E27FC236}">
                <a16:creationId xmlns:a16="http://schemas.microsoft.com/office/drawing/2014/main" id="{051174AB-1839-4665-95F7-263D2C831324}"/>
              </a:ext>
            </a:extLst>
          </p:cNvPr>
          <p:cNvSpPr>
            <a:spLocks xmlns:a="http://schemas.openxmlformats.org/drawingml/2006/main" noGrp="1"/>
          </p:cNvSpPr>
          <p:nvPr/>
        </p:nvSpPr>
        <p:spPr>
          <a:xfrm xmlns:a="http://schemas.openxmlformats.org/drawingml/2006/main">
            <a:off x="8401050" y="4219575"/>
            <a:ext cx="2990850" cy="0"/>
          </a:xfrm>
          <a:prstGeom xmlns:a="http://schemas.openxmlformats.org/drawingml/2006/main" prst="line">
            <a:avLst/>
          </a:prstGeom>
          <a:noFill xmlns:a="http://schemas.openxmlformats.org/drawingml/2006/main"/>
          <a:ln xmlns:a="http://schemas.openxmlformats.org/drawingml/2006/main" w="9525">
            <a:solidFill>
              <a:srgbClr val="CEE7DF"/>
            </a:solidFill>
            <a:prstDash val="solid"/>
          </a:ln>
        </p:spPr>
      </p:sp>
      <p:sp>
        <p:nvSpPr>
          <p:cNvPr id="64" name="query-rank-4-bg">
            <a:extLst xmlns:a="http://schemas.openxmlformats.org/drawingml/2006/main">
              <a:ext uri="{FF2B5EF4-FFF2-40B4-BE49-F238E27FC236}">
                <a16:creationId xmlns:a16="http://schemas.microsoft.com/office/drawing/2014/main" id="{DCC9824A-4207-483C-A901-7AABD4DCE052}"/>
              </a:ext>
            </a:extLst>
          </p:cNvPr>
          <p:cNvSpPr>
            <a:spLocks xmlns:a="http://schemas.openxmlformats.org/drawingml/2006/main" noGrp="1"/>
          </p:cNvSpPr>
          <p:nvPr/>
        </p:nvSpPr>
        <p:spPr>
          <a:xfrm xmlns:a="http://schemas.openxmlformats.org/drawingml/2006/main">
            <a:off x="8001000" y="4333875"/>
            <a:ext cx="285750" cy="266700"/>
          </a:xfrm>
          <a:prstGeom xmlns:a="http://schemas.openxmlformats.org/drawingml/2006/main" prst="roundRect">
            <a:avLst>
              <a:gd name="adj" fmla="val 28571"/>
            </a:avLst>
          </a:prstGeom>
          <a:solidFill xmlns:a="http://schemas.openxmlformats.org/drawingml/2006/main">
            <a:srgbClr val="16866C"/>
          </a:solidFill>
          <a:ln xmlns:a="http://schemas.openxmlformats.org/drawingml/2006/main" w="0">
            <a:noFill/>
            <a:prstDash val="solid"/>
          </a:ln>
        </p:spPr>
      </p:sp>
      <p:sp>
        <p:nvSpPr>
          <p:cNvPr id="65" name="query-rank-4-text">
            <a:extLst xmlns:a="http://schemas.openxmlformats.org/drawingml/2006/main">
              <a:ext uri="{FF2B5EF4-FFF2-40B4-BE49-F238E27FC236}">
                <a16:creationId xmlns:a16="http://schemas.microsoft.com/office/drawing/2014/main" id="{ED811301-F875-4852-850B-17D841FE620D}"/>
              </a:ext>
            </a:extLst>
          </p:cNvPr>
          <p:cNvSpPr>
            <a:spLocks xmlns:a="http://schemas.openxmlformats.org/drawingml/2006/main" noGrp="1"/>
          </p:cNvSpPr>
          <p:nvPr/>
        </p:nvSpPr>
        <p:spPr>
          <a:xfrm xmlns:a="http://schemas.openxmlformats.org/drawingml/2006/main">
            <a:off x="8001000" y="4343400"/>
            <a:ext cx="28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FFFFFF"/>
                </a:solidFill>
                <a:latin typeface="Calibri"/>
                <a:ea typeface="Calibri"/>
                <a:cs typeface="Calibri"/>
              </a:defRPr>
            </a:pPr>
            <a:r>
              <a:rPr sz="900" b="1" i="0">
                <a:solidFill>
                  <a:srgbClr val="FFFFFF"/>
                </a:solidFill>
                <a:latin typeface="Calibri"/>
                <a:ea typeface="Calibri"/>
                <a:cs typeface="Calibri"/>
              </a:rPr>
              <a:t>5</a:t>
            </a:r>
          </a:p>
        </p:txBody>
      </p:sp>
      <p:sp>
        <p:nvSpPr>
          <p:cNvPr id="66" name="query-result-label-4">
            <a:extLst xmlns:a="http://schemas.openxmlformats.org/drawingml/2006/main">
              <a:ext uri="{FF2B5EF4-FFF2-40B4-BE49-F238E27FC236}">
                <a16:creationId xmlns:a16="http://schemas.microsoft.com/office/drawing/2014/main" id="{1667555B-850C-4944-84D2-C1DB4DB0AB03}"/>
              </a:ext>
            </a:extLst>
          </p:cNvPr>
          <p:cNvSpPr>
            <a:spLocks xmlns:a="http://schemas.openxmlformats.org/drawingml/2006/main" noGrp="1"/>
          </p:cNvSpPr>
          <p:nvPr/>
        </p:nvSpPr>
        <p:spPr>
          <a:xfrm xmlns:a="http://schemas.openxmlformats.org/drawingml/2006/main">
            <a:off x="8401050" y="4352925"/>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172B4D"/>
                </a:solidFill>
                <a:latin typeface="Calibri"/>
                <a:ea typeface="Calibri"/>
                <a:cs typeface="Calibri"/>
              </a:defRPr>
            </a:pPr>
            <a:r>
              <a:rPr sz="1050" b="1" i="0">
                <a:solidFill>
                  <a:srgbClr val="172B4D"/>
                </a:solidFill>
                <a:latin typeface="Calibri"/>
                <a:ea typeface="Calibri"/>
                <a:cs typeface="Calibri"/>
              </a:rPr>
              <a:t>Observability basics</a:t>
            </a:r>
          </a:p>
        </p:txBody>
      </p:sp>
      <p:sp>
        <p:nvSpPr>
          <p:cNvPr id="67" name="query-result-score-4">
            <a:extLst xmlns:a="http://schemas.openxmlformats.org/drawingml/2006/main">
              <a:ext uri="{FF2B5EF4-FFF2-40B4-BE49-F238E27FC236}">
                <a16:creationId xmlns:a16="http://schemas.microsoft.com/office/drawing/2014/main" id="{46B32A39-3053-4F9B-98F2-0A9F60DD342D}"/>
              </a:ext>
            </a:extLst>
          </p:cNvPr>
          <p:cNvSpPr>
            <a:spLocks xmlns:a="http://schemas.openxmlformats.org/drawingml/2006/main" noGrp="1"/>
          </p:cNvSpPr>
          <p:nvPr/>
        </p:nvSpPr>
        <p:spPr>
          <a:xfrm xmlns:a="http://schemas.openxmlformats.org/drawingml/2006/main">
            <a:off x="10687050" y="4343400"/>
            <a:ext cx="704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i="0">
                <a:solidFill>
                  <a:srgbClr val="16866C"/>
                </a:solidFill>
                <a:latin typeface="Calibri"/>
                <a:ea typeface="Calibri"/>
                <a:cs typeface="Calibri"/>
              </a:defRPr>
            </a:pPr>
            <a:r>
              <a:rPr sz="1200" b="1" i="0">
                <a:solidFill>
                  <a:srgbClr val="16866C"/>
                </a:solidFill>
                <a:latin typeface="Calibri"/>
                <a:ea typeface="Calibri"/>
                <a:cs typeface="Calibri"/>
              </a:rPr>
              <a:t>0.71</a:t>
            </a:r>
          </a:p>
        </p:txBody>
      </p:sp>
      <p:sp>
        <p:nvSpPr>
          <p:cNvPr id="68" name="query-grounding-band">
            <a:extLst xmlns:a="http://schemas.openxmlformats.org/drawingml/2006/main">
              <a:ext uri="{FF2B5EF4-FFF2-40B4-BE49-F238E27FC236}">
                <a16:creationId xmlns:a16="http://schemas.microsoft.com/office/drawing/2014/main" id="{1DED3B2A-F19C-452F-B860-CD302F7C04EF}"/>
              </a:ext>
            </a:extLst>
          </p:cNvPr>
          <p:cNvSpPr>
            <a:spLocks xmlns:a="http://schemas.openxmlformats.org/drawingml/2006/main" noGrp="1"/>
          </p:cNvSpPr>
          <p:nvPr/>
        </p:nvSpPr>
        <p:spPr>
          <a:xfrm xmlns:a="http://schemas.openxmlformats.org/drawingml/2006/main">
            <a:off x="400050" y="5276850"/>
            <a:ext cx="11334750" cy="685800"/>
          </a:xfrm>
          <a:prstGeom xmlns:a="http://schemas.openxmlformats.org/drawingml/2006/main" prst="roundRect">
            <a:avLst>
              <a:gd name="adj" fmla="val 11111"/>
            </a:avLst>
          </a:prstGeom>
          <a:solidFill xmlns:a="http://schemas.openxmlformats.org/drawingml/2006/main">
            <a:srgbClr val="FFF3E5"/>
          </a:solidFill>
          <a:ln xmlns:a="http://schemas.openxmlformats.org/drawingml/2006/main" w="9525">
            <a:solidFill>
              <a:srgbClr val="F0D0A9"/>
            </a:solidFill>
            <a:prstDash val="solid"/>
          </a:ln>
        </p:spPr>
      </p:sp>
      <p:sp>
        <p:nvSpPr>
          <p:cNvPr id="69" name="query-grounding-label">
            <a:extLst xmlns:a="http://schemas.openxmlformats.org/drawingml/2006/main">
              <a:ext uri="{FF2B5EF4-FFF2-40B4-BE49-F238E27FC236}">
                <a16:creationId xmlns:a16="http://schemas.microsoft.com/office/drawing/2014/main" id="{A7DBC36C-2915-42B8-8083-A08821D47D97}"/>
              </a:ext>
            </a:extLst>
          </p:cNvPr>
          <p:cNvSpPr>
            <a:spLocks xmlns:a="http://schemas.openxmlformats.org/drawingml/2006/main" noGrp="1"/>
          </p:cNvSpPr>
          <p:nvPr/>
        </p:nvSpPr>
        <p:spPr>
          <a:xfrm xmlns:a="http://schemas.openxmlformats.org/drawingml/2006/main">
            <a:off x="590550" y="543877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i="0">
                <a:solidFill>
                  <a:srgbClr val="D77A24"/>
                </a:solidFill>
                <a:latin typeface="Calibri"/>
                <a:ea typeface="Calibri"/>
                <a:cs typeface="Calibri"/>
              </a:defRPr>
            </a:pPr>
            <a:r>
              <a:rPr sz="1050" b="1" i="0">
                <a:solidFill>
                  <a:srgbClr val="D77A24"/>
                </a:solidFill>
                <a:latin typeface="Calibri"/>
                <a:ea typeface="Calibri"/>
                <a:cs typeface="Calibri"/>
              </a:rPr>
              <a:t>GROUNDING RULE</a:t>
            </a:r>
          </a:p>
        </p:txBody>
      </p:sp>
      <p:sp>
        <p:nvSpPr>
          <p:cNvPr id="70" name="query-grounding-text">
            <a:extLst xmlns:a="http://schemas.openxmlformats.org/drawingml/2006/main">
              <a:ext uri="{FF2B5EF4-FFF2-40B4-BE49-F238E27FC236}">
                <a16:creationId xmlns:a16="http://schemas.microsoft.com/office/drawing/2014/main" id="{A922C94F-89D7-4123-9B01-6E7C3FAEA4F8}"/>
              </a:ext>
            </a:extLst>
          </p:cNvPr>
          <p:cNvSpPr>
            <a:spLocks xmlns:a="http://schemas.openxmlformats.org/drawingml/2006/main" noGrp="1"/>
          </p:cNvSpPr>
          <p:nvPr/>
        </p:nvSpPr>
        <p:spPr>
          <a:xfrm xmlns:a="http://schemas.openxmlformats.org/drawingml/2006/main">
            <a:off x="2209800" y="5419725"/>
            <a:ext cx="923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444"/>
          </a:bodyPr>
          <a:lstStyle xmlns:a="http://schemas.openxmlformats.org/drawingml/2006/main"/>
          <a:p xmlns:a="http://schemas.openxmlformats.org/drawingml/2006/main">
            <a:pPr algn="l">
              <a:defRPr sz="1125" b="0" i="0">
                <a:solidFill>
                  <a:srgbClr val="172B4D"/>
                </a:solidFill>
                <a:latin typeface="Calibri"/>
                <a:ea typeface="Calibri"/>
                <a:cs typeface="Calibri"/>
              </a:defRPr>
            </a:pPr>
            <a:r>
              <a:rPr sz="1125" b="0" i="0">
                <a:solidFill>
                  <a:srgbClr val="172B4D"/>
                </a:solidFill>
                <a:latin typeface="Calibri"/>
                <a:ea typeface="Calibri"/>
                <a:cs typeface="Calibri"/>
              </a:rPr>
              <a:t>Use only the latest committed, owned CandidateProfile; keep chunk_id/source_path with every result. Scores above are illustrative and must not be presented as measured accuracy.</a:t>
            </a:r>
          </a:p>
        </p:txBody>
      </p:sp>
      <p:sp>
        <p:nvSpPr>
          <p:cNvPr id="71" name="query-header-overlay">
            <a:extLst xmlns:a="http://schemas.openxmlformats.org/drawingml/2006/main">
              <a:ext uri="{FF2B5EF4-FFF2-40B4-BE49-F238E27FC236}">
                <a16:creationId xmlns:a16="http://schemas.microsoft.com/office/drawing/2014/main" id="{C18CEFFC-FD03-4CC5-8D4C-CBC5F5C5E70F}"/>
              </a:ext>
            </a:extLst>
          </p:cNvPr>
          <p:cNvSpPr>
            <a:spLocks xmlns:a="http://schemas.openxmlformats.org/drawingml/2006/main" noGrp="1"/>
          </p:cNvSpPr>
          <p:nvPr/>
        </p:nvSpPr>
        <p:spPr>
          <a:xfrm xmlns:a="http://schemas.openxmlformats.org/drawingml/2006/main">
            <a:off x="400050" y="2857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025" b="1" i="0">
                <a:solidFill>
                  <a:srgbClr val="173B67"/>
                </a:solidFill>
                <a:latin typeface="Calibri"/>
                <a:ea typeface="Calibri"/>
                <a:cs typeface="Calibri"/>
              </a:defRPr>
            </a:pPr>
            <a:r>
              <a:rPr sz="2025" b="1" i="0">
                <a:solidFill>
                  <a:srgbClr val="173B67"/>
                </a:solidFill>
                <a:latin typeface="Calibri"/>
                <a:ea typeface="Calibri"/>
                <a:cs typeface="Calibri"/>
              </a:rPr>
              <a:t>3. DATA &amp; KNOWLEDGE PIPELINE</a:t>
            </a:r>
          </a:p>
        </p:txBody>
      </p:sp>
      <p:sp>
        <p:nvSpPr>
          <p:cNvPr id="72" name="query-header-rule-overlay">
            <a:extLst xmlns:a="http://schemas.openxmlformats.org/drawingml/2006/main">
              <a:ext uri="{FF2B5EF4-FFF2-40B4-BE49-F238E27FC236}">
                <a16:creationId xmlns:a16="http://schemas.microsoft.com/office/drawing/2014/main" id="{9F70DBD5-A06A-4023-8553-6D8212975036}"/>
              </a:ext>
            </a:extLst>
          </p:cNvPr>
          <p:cNvSpPr>
            <a:spLocks xmlns:a="http://schemas.openxmlformats.org/drawingml/2006/main" noGrp="1"/>
          </p:cNvSpPr>
          <p:nvPr/>
        </p:nvSpPr>
        <p:spPr>
          <a:xfrm xmlns:a="http://schemas.openxmlformats.org/drawingml/2006/main">
            <a:off x="400050" y="723900"/>
            <a:ext cx="9715500" cy="0"/>
          </a:xfrm>
          <a:prstGeom xmlns:a="http://schemas.openxmlformats.org/drawingml/2006/main" prst="line">
            <a:avLst/>
          </a:prstGeom>
          <a:noFill xmlns:a="http://schemas.openxmlformats.org/drawingml/2006/main"/>
          <a:ln xmlns:a="http://schemas.openxmlformats.org/drawingml/2006/main" w="9525">
            <a:solidFill>
              <a:srgbClr val="D8E4F2"/>
            </a:solidFill>
            <a:prstDash val="solid"/>
          </a:ln>
        </p:spPr>
      </p:sp>
      <p:sp>
        <p:nvSpPr>
          <p:cNvPr id="73" name="query-header-swatch-0">
            <a:extLst xmlns:a="http://schemas.openxmlformats.org/drawingml/2006/main">
              <a:ext uri="{FF2B5EF4-FFF2-40B4-BE49-F238E27FC236}">
                <a16:creationId xmlns:a16="http://schemas.microsoft.com/office/drawing/2014/main" id="{4D5B7766-F325-41E4-B459-C179E5857329}"/>
              </a:ext>
            </a:extLst>
          </p:cNvPr>
          <p:cNvSpPr>
            <a:spLocks xmlns:a="http://schemas.openxmlformats.org/drawingml/2006/main" noGrp="1"/>
          </p:cNvSpPr>
          <p:nvPr/>
        </p:nvSpPr>
        <p:spPr>
          <a:xfrm xmlns:a="http://schemas.openxmlformats.org/drawingml/2006/main">
            <a:off x="11001375" y="304800"/>
            <a:ext cx="228600" cy="228600"/>
          </a:xfrm>
          <a:prstGeom xmlns:a="http://schemas.openxmlformats.org/drawingml/2006/main" prst="rect">
            <a:avLst/>
          </a:prstGeom>
          <a:solidFill xmlns:a="http://schemas.openxmlformats.org/drawingml/2006/main">
            <a:srgbClr val="DCE9F8"/>
          </a:solidFill>
          <a:ln xmlns:a="http://schemas.openxmlformats.org/drawingml/2006/main" w="0">
            <a:noFill/>
            <a:prstDash val="solid"/>
          </a:ln>
        </p:spPr>
      </p:sp>
      <p:sp>
        <p:nvSpPr>
          <p:cNvPr id="74" name="query-header-swatch-1">
            <a:extLst xmlns:a="http://schemas.openxmlformats.org/drawingml/2006/main">
              <a:ext uri="{FF2B5EF4-FFF2-40B4-BE49-F238E27FC236}">
                <a16:creationId xmlns:a16="http://schemas.microsoft.com/office/drawing/2014/main" id="{F080CE3C-D05D-4746-A231-5A7A4B6B2E4D}"/>
              </a:ext>
            </a:extLst>
          </p:cNvPr>
          <p:cNvSpPr>
            <a:spLocks xmlns:a="http://schemas.openxmlformats.org/drawingml/2006/main" noGrp="1"/>
          </p:cNvSpPr>
          <p:nvPr/>
        </p:nvSpPr>
        <p:spPr>
          <a:xfrm xmlns:a="http://schemas.openxmlformats.org/drawingml/2006/main">
            <a:off x="11258550" y="304800"/>
            <a:ext cx="228600" cy="228600"/>
          </a:xfrm>
          <a:prstGeom xmlns:a="http://schemas.openxmlformats.org/drawingml/2006/main" prst="rect">
            <a:avLst/>
          </a:prstGeom>
          <a:solidFill xmlns:a="http://schemas.openxmlformats.org/drawingml/2006/main">
            <a:srgbClr val="ADC8EE"/>
          </a:solidFill>
          <a:ln xmlns:a="http://schemas.openxmlformats.org/drawingml/2006/main" w="0">
            <a:noFill/>
            <a:prstDash val="solid"/>
          </a:ln>
        </p:spPr>
      </p:sp>
      <p:sp>
        <p:nvSpPr>
          <p:cNvPr id="75" name="query-header-swatch-2">
            <a:extLst xmlns:a="http://schemas.openxmlformats.org/drawingml/2006/main">
              <a:ext uri="{FF2B5EF4-FFF2-40B4-BE49-F238E27FC236}">
                <a16:creationId xmlns:a16="http://schemas.microsoft.com/office/drawing/2014/main" id="{C4BC04EE-C5C0-4578-BB3C-FB3DE7E52DDD}"/>
              </a:ext>
            </a:extLst>
          </p:cNvPr>
          <p:cNvSpPr>
            <a:spLocks xmlns:a="http://schemas.openxmlformats.org/drawingml/2006/main" noGrp="1"/>
          </p:cNvSpPr>
          <p:nvPr/>
        </p:nvSpPr>
        <p:spPr>
          <a:xfrm xmlns:a="http://schemas.openxmlformats.org/drawingml/2006/main">
            <a:off x="11515725" y="304800"/>
            <a:ext cx="228600" cy="228600"/>
          </a:xfrm>
          <a:prstGeom xmlns:a="http://schemas.openxmlformats.org/drawingml/2006/main" prst="rect">
            <a:avLst/>
          </a:prstGeom>
          <a:solidFill xmlns:a="http://schemas.openxmlformats.org/drawingml/2006/main">
            <a:srgbClr val="6F9FE3"/>
          </a:solidFill>
          <a:ln xmlns:a="http://schemas.openxmlformats.org/drawingml/2006/main" w="0">
            <a:noFill/>
            <a:prstDash val="solid"/>
          </a:ln>
        </p:spPr>
      </p:sp>
      <p:sp>
        <p:nvSpPr>
          <p:cNvPr id="76" name="query-footer-overlay">
            <a:extLst xmlns:a="http://schemas.openxmlformats.org/drawingml/2006/main">
              <a:ext uri="{FF2B5EF4-FFF2-40B4-BE49-F238E27FC236}">
                <a16:creationId xmlns:a16="http://schemas.microsoft.com/office/drawing/2014/main" id="{66871A28-2DE2-4BCE-AD88-DF049622F157}"/>
              </a:ext>
            </a:extLst>
          </p:cNvPr>
          <p:cNvSpPr>
            <a:spLocks xmlns:a="http://schemas.openxmlformats.org/drawingml/2006/main" noGrp="1"/>
          </p:cNvSpPr>
          <p:nvPr/>
        </p:nvSpPr>
        <p:spPr>
          <a:xfrm xmlns:a="http://schemas.openxmlformats.org/drawingml/2006/main">
            <a:off x="40005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675" b="1" i="0">
                <a:solidFill>
                  <a:srgbClr val="8193AA"/>
                </a:solidFill>
                <a:latin typeface="Calibri"/>
                <a:ea typeface="Calibri"/>
                <a:cs typeface="Calibri"/>
              </a:defRPr>
            </a:pPr>
            <a:r>
              <a:rPr sz="675" b="1" i="0">
                <a:solidFill>
                  <a:srgbClr val="8193AA"/>
                </a:solidFill>
                <a:latin typeface="Calibri"/>
                <a:ea typeface="Calibri"/>
                <a:cs typeface="Calibri"/>
              </a:rPr>
              <a:t>FIPILOT  •  DEFENSE ROUND 1  •  13</a:t>
            </a:r>
          </a:p>
        </p:txBody>
      </p:sp>
    </p:spTree>
    <p:extLst>
      <p:ext uri="{BB962C8B-B14F-4D97-AF65-F5344CB8AC3E}">
        <p14:creationId xmlns:p14="http://schemas.microsoft.com/office/powerpoint/2010/main" val="101987575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 name="">
            <a:extLst xmlns:a="http://schemas.openxmlformats.org/drawingml/2006/main">
              <a:ext uri="{FF2B5EF4-FFF2-40B4-BE49-F238E27FC236}">
                <a16:creationId xmlns:a16="http://schemas.microsoft.com/office/drawing/2014/main" id="{AA3F8621-F04E-4F8D-97E9-A53F04938E5C}"/>
              </a:ext>
            </a:extLst>
          </p:cNvPr>
          <p:cNvSpPr>
            <a:spLocks xmlns:a="http://schemas.openxmlformats.org/drawingml/2006/main" noGrp="1"/>
          </p:cNvSpPr>
          <p:nvPr/>
        </p:nvSpPr>
        <p:spPr>
          <a:xfrm xmlns:a="http://schemas.openxmlformats.org/drawingml/2006/main">
            <a:off x="400050" y="2857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1356F"/>
                </a:solidFill>
              </a:defRPr>
            </a:pPr>
            <a:r>
              <a:rPr sz="2025" b="1">
                <a:solidFill>
                  <a:srgbClr val="11356F"/>
                </a:solidFill>
              </a:rPr>
              <a:t>3. DATA &amp; KNOWLEDGE PIPELINE</a:t>
            </a:r>
          </a:p>
        </p:txBody>
      </p:sp>
      <p:sp>
        <p:nvSpPr>
          <p:cNvPr id="2" name="">
            <a:extLst xmlns:a="http://schemas.openxmlformats.org/drawingml/2006/main">
              <a:ext uri="{FF2B5EF4-FFF2-40B4-BE49-F238E27FC236}">
                <a16:creationId xmlns:a16="http://schemas.microsoft.com/office/drawing/2014/main" id="{22ABD73C-D41E-4471-B6FE-F82F14FDF2D8}"/>
              </a:ext>
            </a:extLst>
          </p:cNvPr>
          <p:cNvSpPr>
            <a:spLocks xmlns:a="http://schemas.openxmlformats.org/drawingml/2006/main" noGrp="1"/>
          </p:cNvSpPr>
          <p:nvPr/>
        </p:nvSpPr>
        <p:spPr>
          <a:xfrm xmlns:a="http://schemas.openxmlformats.org/drawingml/2006/main">
            <a:off x="400050" y="723900"/>
            <a:ext cx="9715500" cy="9525"/>
          </a:xfrm>
          <a:prstGeom xmlns:a="http://schemas.openxmlformats.org/drawingml/2006/main" prst="line">
            <a:avLst/>
          </a:prstGeom>
          <a:noFill xmlns:a="http://schemas.openxmlformats.org/drawingml/2006/main"/>
          <a:ln xmlns:a="http://schemas.openxmlformats.org/drawingml/2006/main" w="9525">
            <a:solidFill>
              <a:srgbClr val="D8E6FF"/>
            </a:solidFill>
            <a:prstDash val="solid"/>
          </a:ln>
        </p:spPr>
      </p:sp>
      <p:sp>
        <p:nvSpPr>
          <p:cNvPr id="3" name="">
            <a:extLst xmlns:a="http://schemas.openxmlformats.org/drawingml/2006/main">
              <a:ext uri="{FF2B5EF4-FFF2-40B4-BE49-F238E27FC236}">
                <a16:creationId xmlns:a16="http://schemas.microsoft.com/office/drawing/2014/main" id="{5985A23D-9B0E-4C3D-A905-4C7908EE1184}"/>
              </a:ext>
            </a:extLst>
          </p:cNvPr>
          <p:cNvSpPr>
            <a:spLocks xmlns:a="http://schemas.openxmlformats.org/drawingml/2006/main" noGrp="1"/>
          </p:cNvSpPr>
          <p:nvPr/>
        </p:nvSpPr>
        <p:spPr>
          <a:xfrm xmlns:a="http://schemas.openxmlformats.org/drawingml/2006/main">
            <a:off x="400050" y="838200"/>
            <a:ext cx="923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62C52"/>
                </a:solidFill>
              </a:defRPr>
            </a:pPr>
            <a:r>
              <a:rPr sz="1500" b="1">
                <a:solidFill>
                  <a:srgbClr val="162C52"/>
                </a:solidFill>
              </a:rPr>
              <a:t>Content Hash Decides Whether a Chunk Is Re-Embedded</a:t>
            </a:r>
          </a:p>
        </p:txBody>
      </p:sp>
      <p:sp>
        <p:nvSpPr>
          <p:cNvPr id="4" name="">
            <a:extLst xmlns:a="http://schemas.openxmlformats.org/drawingml/2006/main">
              <a:ext uri="{FF2B5EF4-FFF2-40B4-BE49-F238E27FC236}">
                <a16:creationId xmlns:a16="http://schemas.microsoft.com/office/drawing/2014/main" id="{7016A2B9-6551-4884-884D-BD1D37EED7BB}"/>
              </a:ext>
            </a:extLst>
          </p:cNvPr>
          <p:cNvSpPr>
            <a:spLocks xmlns:a="http://schemas.openxmlformats.org/drawingml/2006/main" noGrp="1"/>
          </p:cNvSpPr>
          <p:nvPr/>
        </p:nvSpPr>
        <p:spPr>
          <a:xfrm xmlns:a="http://schemas.openxmlformats.org/drawingml/2006/main">
            <a:off x="400050" y="1114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617391"/>
                </a:solidFill>
              </a:defRPr>
            </a:pPr>
            <a:r>
              <a:rPr sz="1050" b="0">
                <a:solidFill>
                  <a:srgbClr val="617391"/>
                </a:solidFill>
              </a:rPr>
              <a:t>Incremental updates avoid unnecessary embedding calls; model or chunker changes trigger a versioned rebuild.</a:t>
            </a:r>
          </a:p>
        </p:txBody>
      </p:sp>
      <p:sp>
        <p:nvSpPr>
          <p:cNvPr id="5" name="">
            <a:extLst xmlns:a="http://schemas.openxmlformats.org/drawingml/2006/main">
              <a:ext uri="{FF2B5EF4-FFF2-40B4-BE49-F238E27FC236}">
                <a16:creationId xmlns:a16="http://schemas.microsoft.com/office/drawing/2014/main" id="{8B2F03E5-5963-4C01-BA99-FEF46567262D}"/>
              </a:ext>
            </a:extLst>
          </p:cNvPr>
          <p:cNvSpPr>
            <a:spLocks xmlns:a="http://schemas.openxmlformats.org/drawingml/2006/main" noGrp="1"/>
          </p:cNvSpPr>
          <p:nvPr/>
        </p:nvSpPr>
        <p:spPr>
          <a:xfrm xmlns:a="http://schemas.openxmlformats.org/drawingml/2006/main">
            <a:off x="11001375" y="304800"/>
            <a:ext cx="228600" cy="228600"/>
          </a:xfrm>
          <a:prstGeom xmlns:a="http://schemas.openxmlformats.org/drawingml/2006/main" prst="rect">
            <a:avLst/>
          </a:prstGeom>
          <a:solidFill xmlns:a="http://schemas.openxmlformats.org/drawingml/2006/main">
            <a:srgbClr val="D9E5F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6BAC9B8-82E5-4160-A028-362E30904C7D}"/>
              </a:ext>
            </a:extLst>
          </p:cNvPr>
          <p:cNvSpPr>
            <a:spLocks xmlns:a="http://schemas.openxmlformats.org/drawingml/2006/main" noGrp="1"/>
          </p:cNvSpPr>
          <p:nvPr/>
        </p:nvSpPr>
        <p:spPr>
          <a:xfrm xmlns:a="http://schemas.openxmlformats.org/drawingml/2006/main">
            <a:off x="11258550" y="304800"/>
            <a:ext cx="228600" cy="228600"/>
          </a:xfrm>
          <a:prstGeom xmlns:a="http://schemas.openxmlformats.org/drawingml/2006/main" prst="rect">
            <a:avLst/>
          </a:prstGeom>
          <a:solidFill xmlns:a="http://schemas.openxmlformats.org/drawingml/2006/main">
            <a:srgbClr val="AFC9F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C4D620C-820D-4597-9F19-84C898BB22C7}"/>
              </a:ext>
            </a:extLst>
          </p:cNvPr>
          <p:cNvSpPr>
            <a:spLocks xmlns:a="http://schemas.openxmlformats.org/drawingml/2006/main" noGrp="1"/>
          </p:cNvSpPr>
          <p:nvPr/>
        </p:nvSpPr>
        <p:spPr>
          <a:xfrm xmlns:a="http://schemas.openxmlformats.org/drawingml/2006/main">
            <a:off x="11515725" y="304800"/>
            <a:ext cx="228600" cy="228600"/>
          </a:xfrm>
          <a:prstGeom xmlns:a="http://schemas.openxmlformats.org/drawingml/2006/main" prst="rect">
            <a:avLst/>
          </a:prstGeom>
          <a:solidFill xmlns:a="http://schemas.openxmlformats.org/drawingml/2006/main">
            <a:srgbClr val="78A3F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E9F106B-AFE5-4CC0-9475-55C4DA126E7F}"/>
              </a:ext>
            </a:extLst>
          </p:cNvPr>
          <p:cNvSpPr>
            <a:spLocks xmlns:a="http://schemas.openxmlformats.org/drawingml/2006/main" noGrp="1"/>
          </p:cNvSpPr>
          <p:nvPr/>
        </p:nvSpPr>
        <p:spPr>
          <a:xfrm xmlns:a="http://schemas.openxmlformats.org/drawingml/2006/main">
            <a:off x="40005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A98AE"/>
                </a:solidFill>
              </a:defRPr>
            </a:pPr>
            <a:r>
              <a:rPr sz="825" b="1">
                <a:solidFill>
                  <a:srgbClr val="8A98AE"/>
                </a:solidFill>
              </a:rPr>
              <a:t>FIPILOT  •  DEFENSE ROUND 1  •  14</a:t>
            </a:r>
          </a:p>
        </p:txBody>
      </p:sp>
      <p:sp>
        <p:nvSpPr>
          <p:cNvPr id="47" name="header-cover-4">
            <a:extLst xmlns:a="http://schemas.openxmlformats.org/drawingml/2006/main">
              <a:ext uri="{FF2B5EF4-FFF2-40B4-BE49-F238E27FC236}">
                <a16:creationId xmlns:a16="http://schemas.microsoft.com/office/drawing/2014/main" id="{84AB1E49-77A2-4FF8-B420-1F19352968A7}"/>
              </a:ext>
            </a:extLst>
          </p:cNvPr>
          <p:cNvSpPr>
            <a:spLocks xmlns:a="http://schemas.openxmlformats.org/drawingml/2006/main" noGrp="1"/>
          </p:cNvSpPr>
          <p:nvPr/>
        </p:nvSpPr>
        <p:spPr>
          <a:xfrm xmlns:a="http://schemas.openxmlformats.org/drawingml/2006/main">
            <a:off x="323850" y="190500"/>
            <a:ext cx="11525250" cy="6096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8" name="section-title-4">
            <a:extLst xmlns:a="http://schemas.openxmlformats.org/drawingml/2006/main">
              <a:ext uri="{FF2B5EF4-FFF2-40B4-BE49-F238E27FC236}">
                <a16:creationId xmlns:a16="http://schemas.microsoft.com/office/drawing/2014/main" id="{33128DAE-87EB-479D-8952-7A7C97CDB02F}"/>
              </a:ext>
            </a:extLst>
          </p:cNvPr>
          <p:cNvSpPr>
            <a:spLocks xmlns:a="http://schemas.openxmlformats.org/drawingml/2006/main" noGrp="1"/>
          </p:cNvSpPr>
          <p:nvPr/>
        </p:nvSpPr>
        <p:spPr>
          <a:xfrm xmlns:a="http://schemas.openxmlformats.org/drawingml/2006/main">
            <a:off x="400050" y="2857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1356F"/>
                </a:solidFill>
              </a:defRPr>
            </a:pPr>
            <a:r>
              <a:rPr sz="2025" b="1">
                <a:solidFill>
                  <a:srgbClr val="11356F"/>
                </a:solidFill>
              </a:rPr>
              <a:t>3. DATA &amp; KNOWLEDGE PIPELINE</a:t>
            </a:r>
          </a:p>
        </p:txBody>
      </p:sp>
      <p:sp>
        <p:nvSpPr>
          <p:cNvPr id="49" name="section-rule-4">
            <a:extLst xmlns:a="http://schemas.openxmlformats.org/drawingml/2006/main">
              <a:ext uri="{FF2B5EF4-FFF2-40B4-BE49-F238E27FC236}">
                <a16:creationId xmlns:a16="http://schemas.microsoft.com/office/drawing/2014/main" id="{2EFCB5A5-A6DA-4726-ABED-488502693AC1}"/>
              </a:ext>
            </a:extLst>
          </p:cNvPr>
          <p:cNvSpPr>
            <a:spLocks xmlns:a="http://schemas.openxmlformats.org/drawingml/2006/main" noGrp="1"/>
          </p:cNvSpPr>
          <p:nvPr/>
        </p:nvSpPr>
        <p:spPr>
          <a:xfrm xmlns:a="http://schemas.openxmlformats.org/drawingml/2006/main">
            <a:off x="400050" y="723900"/>
            <a:ext cx="9715500" cy="9525"/>
          </a:xfrm>
          <a:prstGeom xmlns:a="http://schemas.openxmlformats.org/drawingml/2006/main" prst="line">
            <a:avLst/>
          </a:prstGeom>
          <a:noFill xmlns:a="http://schemas.openxmlformats.org/drawingml/2006/main"/>
          <a:ln xmlns:a="http://schemas.openxmlformats.org/drawingml/2006/main" w="9525">
            <a:solidFill>
              <a:srgbClr val="D8E6FF"/>
            </a:solidFill>
            <a:prstDash val="solid"/>
          </a:ln>
        </p:spPr>
      </p:sp>
      <p:sp>
        <p:nvSpPr>
          <p:cNvPr id="50" name="brand-square-1-4">
            <a:extLst xmlns:a="http://schemas.openxmlformats.org/drawingml/2006/main">
              <a:ext uri="{FF2B5EF4-FFF2-40B4-BE49-F238E27FC236}">
                <a16:creationId xmlns:a16="http://schemas.microsoft.com/office/drawing/2014/main" id="{06FE1893-8210-45E3-8578-D82174268A7C}"/>
              </a:ext>
            </a:extLst>
          </p:cNvPr>
          <p:cNvSpPr>
            <a:spLocks xmlns:a="http://schemas.openxmlformats.org/drawingml/2006/main" noGrp="1"/>
          </p:cNvSpPr>
          <p:nvPr/>
        </p:nvSpPr>
        <p:spPr>
          <a:xfrm xmlns:a="http://schemas.openxmlformats.org/drawingml/2006/main">
            <a:off x="11001375" y="304800"/>
            <a:ext cx="228600" cy="228600"/>
          </a:xfrm>
          <a:prstGeom xmlns:a="http://schemas.openxmlformats.org/drawingml/2006/main" prst="rect">
            <a:avLst/>
          </a:prstGeom>
          <a:solidFill xmlns:a="http://schemas.openxmlformats.org/drawingml/2006/main">
            <a:srgbClr val="D9E5FB"/>
          </a:solidFill>
          <a:ln xmlns:a="http://schemas.openxmlformats.org/drawingml/2006/main" w="0">
            <a:noFill/>
            <a:prstDash val="solid"/>
          </a:ln>
        </p:spPr>
      </p:sp>
      <p:sp>
        <p:nvSpPr>
          <p:cNvPr id="51" name="brand-square-2-4">
            <a:extLst xmlns:a="http://schemas.openxmlformats.org/drawingml/2006/main">
              <a:ext uri="{FF2B5EF4-FFF2-40B4-BE49-F238E27FC236}">
                <a16:creationId xmlns:a16="http://schemas.microsoft.com/office/drawing/2014/main" id="{4388A234-FF8B-4A15-9317-07D899398544}"/>
              </a:ext>
            </a:extLst>
          </p:cNvPr>
          <p:cNvSpPr>
            <a:spLocks xmlns:a="http://schemas.openxmlformats.org/drawingml/2006/main" noGrp="1"/>
          </p:cNvSpPr>
          <p:nvPr/>
        </p:nvSpPr>
        <p:spPr>
          <a:xfrm xmlns:a="http://schemas.openxmlformats.org/drawingml/2006/main">
            <a:off x="11258550" y="304800"/>
            <a:ext cx="228600" cy="228600"/>
          </a:xfrm>
          <a:prstGeom xmlns:a="http://schemas.openxmlformats.org/drawingml/2006/main" prst="rect">
            <a:avLst/>
          </a:prstGeom>
          <a:solidFill xmlns:a="http://schemas.openxmlformats.org/drawingml/2006/main">
            <a:srgbClr val="AFC9F7"/>
          </a:solidFill>
          <a:ln xmlns:a="http://schemas.openxmlformats.org/drawingml/2006/main" w="0">
            <a:noFill/>
            <a:prstDash val="solid"/>
          </a:ln>
        </p:spPr>
      </p:sp>
      <p:sp>
        <p:nvSpPr>
          <p:cNvPr id="52" name="brand-square-3-4">
            <a:extLst xmlns:a="http://schemas.openxmlformats.org/drawingml/2006/main">
              <a:ext uri="{FF2B5EF4-FFF2-40B4-BE49-F238E27FC236}">
                <a16:creationId xmlns:a16="http://schemas.microsoft.com/office/drawing/2014/main" id="{66DD80C4-1146-4857-A5E3-277A31633C76}"/>
              </a:ext>
            </a:extLst>
          </p:cNvPr>
          <p:cNvSpPr>
            <a:spLocks xmlns:a="http://schemas.openxmlformats.org/drawingml/2006/main" noGrp="1"/>
          </p:cNvSpPr>
          <p:nvPr/>
        </p:nvSpPr>
        <p:spPr>
          <a:xfrm xmlns:a="http://schemas.openxmlformats.org/drawingml/2006/main">
            <a:off x="11515725" y="304800"/>
            <a:ext cx="228600" cy="228600"/>
          </a:xfrm>
          <a:prstGeom xmlns:a="http://schemas.openxmlformats.org/drawingml/2006/main" prst="rect">
            <a:avLst/>
          </a:prstGeom>
          <a:solidFill xmlns:a="http://schemas.openxmlformats.org/drawingml/2006/main">
            <a:srgbClr val="78A3F1"/>
          </a:solidFill>
          <a:ln xmlns:a="http://schemas.openxmlformats.org/drawingml/2006/main" w="0">
            <a:noFill/>
            <a:prstDash val="solid"/>
          </a:ln>
        </p:spPr>
      </p:sp>
      <p:sp>
        <p:nvSpPr>
          <p:cNvPr id="53" name="footer-cover-4">
            <a:extLst xmlns:a="http://schemas.openxmlformats.org/drawingml/2006/main">
              <a:ext uri="{FF2B5EF4-FFF2-40B4-BE49-F238E27FC236}">
                <a16:creationId xmlns:a16="http://schemas.microsoft.com/office/drawing/2014/main" id="{0167442A-BD69-4D4D-9E3A-7E02B3828F3E}"/>
              </a:ext>
            </a:extLst>
          </p:cNvPr>
          <p:cNvSpPr>
            <a:spLocks xmlns:a="http://schemas.openxmlformats.org/drawingml/2006/main" noGrp="1"/>
          </p:cNvSpPr>
          <p:nvPr/>
        </p:nvSpPr>
        <p:spPr>
          <a:xfrm xmlns:a="http://schemas.openxmlformats.org/drawingml/2006/main">
            <a:off x="323850" y="6438900"/>
            <a:ext cx="4191000" cy="2667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4" name="footer-4">
            <a:extLst xmlns:a="http://schemas.openxmlformats.org/drawingml/2006/main">
              <a:ext uri="{FF2B5EF4-FFF2-40B4-BE49-F238E27FC236}">
                <a16:creationId xmlns:a16="http://schemas.microsoft.com/office/drawing/2014/main" id="{CA510900-5C0F-4177-A41D-C4BE9E9FC6AA}"/>
              </a:ext>
            </a:extLst>
          </p:cNvPr>
          <p:cNvSpPr>
            <a:spLocks xmlns:a="http://schemas.openxmlformats.org/drawingml/2006/main" noGrp="1"/>
          </p:cNvSpPr>
          <p:nvPr/>
        </p:nvSpPr>
        <p:spPr>
          <a:xfrm xmlns:a="http://schemas.openxmlformats.org/drawingml/2006/main">
            <a:off x="40005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A98AE"/>
                </a:solidFill>
              </a:defRPr>
            </a:pPr>
            <a:r>
              <a:rPr sz="825" b="1">
                <a:solidFill>
                  <a:srgbClr val="8A98AE"/>
                </a:solidFill>
              </a:rPr>
              <a:t>FIPILOT  •  DEFENSE ROUND 1  •  14</a:t>
            </a:r>
          </a:p>
        </p:txBody>
      </p:sp>
      <p:sp>
        <p:nvSpPr>
          <p:cNvPr id="55" name="vector-header-reset">
            <a:extLst xmlns:a="http://schemas.openxmlformats.org/drawingml/2006/main">
              <a:ext uri="{FF2B5EF4-FFF2-40B4-BE49-F238E27FC236}">
                <a16:creationId xmlns:a16="http://schemas.microsoft.com/office/drawing/2014/main" id="{7554C84E-030F-48C8-A3B9-B1E64D62A1DD}"/>
              </a:ext>
            </a:extLst>
          </p:cNvPr>
          <p:cNvSpPr>
            <a:spLocks xmlns:a="http://schemas.openxmlformats.org/drawingml/2006/main" noGrp="1"/>
          </p:cNvSpPr>
          <p:nvPr/>
        </p:nvSpPr>
        <p:spPr>
          <a:xfrm xmlns:a="http://schemas.openxmlformats.org/drawingml/2006/main">
            <a:off x="0" y="0"/>
            <a:ext cx="12192000" cy="8001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6" name="vector-section-banner">
            <a:extLst xmlns:a="http://schemas.openxmlformats.org/drawingml/2006/main">
              <a:ext uri="{FF2B5EF4-FFF2-40B4-BE49-F238E27FC236}">
                <a16:creationId xmlns:a16="http://schemas.microsoft.com/office/drawing/2014/main" id="{7994A2A8-56A6-4A50-AA3E-87953A0EC266}"/>
              </a:ext>
            </a:extLst>
          </p:cNvPr>
          <p:cNvSpPr>
            <a:spLocks xmlns:a="http://schemas.openxmlformats.org/drawingml/2006/main" noGrp="1"/>
          </p:cNvSpPr>
          <p:nvPr/>
        </p:nvSpPr>
        <p:spPr>
          <a:xfrm xmlns:a="http://schemas.openxmlformats.org/drawingml/2006/main">
            <a:off x="400050" y="247650"/>
            <a:ext cx="4762500" cy="400050"/>
          </a:xfrm>
          <a:prstGeom xmlns:a="http://schemas.openxmlformats.org/drawingml/2006/main" prst="rect">
            <a:avLst/>
          </a:prstGeom>
          <a:solidFill xmlns:a="http://schemas.openxmlformats.org/drawingml/2006/main">
            <a:srgbClr val="11356F"/>
          </a:solidFill>
          <a:ln xmlns:a="http://schemas.openxmlformats.org/drawingml/2006/main" w="9525">
            <a:solidFill>
              <a:srgbClr val="11356F"/>
            </a:solid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FFFFFF"/>
                </a:solidFill>
              </a:defRPr>
            </a:pPr>
            <a:r>
              <a:rPr sz="1650" b="1">
                <a:solidFill>
                  <a:srgbClr val="FFFFFF"/>
                </a:solidFill>
              </a:rPr>
              <a:t>3. DATA &amp; KNOWLEDGE PIPELINE</a:t>
            </a:r>
          </a:p>
        </p:txBody>
      </p:sp>
      <p:sp>
        <p:nvSpPr>
          <p:cNvPr id="57" name="vector-footer-reset">
            <a:extLst xmlns:a="http://schemas.openxmlformats.org/drawingml/2006/main">
              <a:ext uri="{FF2B5EF4-FFF2-40B4-BE49-F238E27FC236}">
                <a16:creationId xmlns:a16="http://schemas.microsoft.com/office/drawing/2014/main" id="{7F769F11-72BE-4B23-8769-6F35F4EE1053}"/>
              </a:ext>
            </a:extLst>
          </p:cNvPr>
          <p:cNvSpPr>
            <a:spLocks xmlns:a="http://schemas.openxmlformats.org/drawingml/2006/main" noGrp="1"/>
          </p:cNvSpPr>
          <p:nvPr/>
        </p:nvSpPr>
        <p:spPr>
          <a:xfrm xmlns:a="http://schemas.openxmlformats.org/drawingml/2006/main">
            <a:off x="323850" y="6419850"/>
            <a:ext cx="4191000" cy="3048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8" name="vector-footer">
            <a:extLst xmlns:a="http://schemas.openxmlformats.org/drawingml/2006/main">
              <a:ext uri="{FF2B5EF4-FFF2-40B4-BE49-F238E27FC236}">
                <a16:creationId xmlns:a16="http://schemas.microsoft.com/office/drawing/2014/main" id="{2E1B71A8-6109-4B3D-AC5F-DA942070FCDB}"/>
              </a:ext>
            </a:extLst>
          </p:cNvPr>
          <p:cNvSpPr>
            <a:spLocks xmlns:a="http://schemas.openxmlformats.org/drawingml/2006/main" noGrp="1"/>
          </p:cNvSpPr>
          <p:nvPr/>
        </p:nvSpPr>
        <p:spPr>
          <a:xfrm xmlns:a="http://schemas.openxmlformats.org/drawingml/2006/main">
            <a:off x="400050" y="6486525"/>
            <a:ext cx="876300" cy="171450"/>
          </a:xfrm>
          <a:prstGeom xmlns:a="http://schemas.openxmlformats.org/drawingml/2006/main" prst="rect">
            <a:avLst/>
          </a:prstGeom>
          <a:solidFill xmlns:a="http://schemas.openxmlformats.org/drawingml/2006/main">
            <a:srgbClr val="11356F"/>
          </a:solidFill>
          <a:ln xmlns:a="http://schemas.openxmlformats.org/drawingml/2006/main" w="9525">
            <a:solidFill>
              <a:srgbClr val="11356F"/>
            </a:solidFill>
            <a:prstDash val="solid"/>
          </a:ln>
        </p:spPr>
        <p:txBody>
          <a:bodyPr xmlns:a="http://schemas.openxmlformats.org/drawingml/2006/main" anchor="ctr"/>
          <a:lstStyle xmlns:a="http://schemas.openxmlformats.org/drawingml/2006/main"/>
          <a:p xmlns:a="http://schemas.openxmlformats.org/drawingml/2006/main">
            <a:pPr algn="ctr">
              <a:buNone/>
              <a:defRPr sz="750" b="1">
                <a:solidFill>
                  <a:srgbClr val="FFFFFF"/>
                </a:solidFill>
              </a:defRPr>
            </a:pPr>
            <a:r>
              <a:rPr sz="750" b="1">
                <a:solidFill>
                  <a:srgbClr val="FFFFFF"/>
                </a:solidFill>
              </a:rPr>
              <a:t>FIPILOT  •  14</a:t>
            </a:r>
          </a:p>
        </p:txBody>
      </p:sp>
      <p:sp>
        <p:nvSpPr>
          <p:cNvPr id="60" name="update-status-bg">
            <a:extLst xmlns:a="http://schemas.openxmlformats.org/drawingml/2006/main">
              <a:ext uri="{FF2B5EF4-FFF2-40B4-BE49-F238E27FC236}">
                <a16:creationId xmlns:a16="http://schemas.microsoft.com/office/drawing/2014/main" id="{CB030135-AEFA-4E27-9111-C26546A2257D}"/>
              </a:ext>
            </a:extLst>
          </p:cNvPr>
          <p:cNvSpPr>
            <a:spLocks xmlns:a="http://schemas.openxmlformats.org/drawingml/2006/main" noGrp="1"/>
          </p:cNvSpPr>
          <p:nvPr/>
        </p:nvSpPr>
        <p:spPr>
          <a:xfrm xmlns:a="http://schemas.openxmlformats.org/drawingml/2006/main">
            <a:off x="400050" y="1504950"/>
            <a:ext cx="2095500" cy="266700"/>
          </a:xfrm>
          <a:prstGeom xmlns:a="http://schemas.openxmlformats.org/drawingml/2006/main" prst="roundRect">
            <a:avLst>
              <a:gd name="adj" fmla="val 28571"/>
            </a:avLst>
          </a:prstGeom>
          <a:solidFill xmlns:a="http://schemas.openxmlformats.org/drawingml/2006/main">
            <a:srgbClr val="D77A24"/>
          </a:solidFill>
          <a:ln xmlns:a="http://schemas.openxmlformats.org/drawingml/2006/main" w="0">
            <a:noFill/>
            <a:prstDash val="solid"/>
          </a:ln>
        </p:spPr>
      </p:sp>
      <p:sp>
        <p:nvSpPr>
          <p:cNvPr id="61" name="update-status-text">
            <a:extLst xmlns:a="http://schemas.openxmlformats.org/drawingml/2006/main">
              <a:ext uri="{FF2B5EF4-FFF2-40B4-BE49-F238E27FC236}">
                <a16:creationId xmlns:a16="http://schemas.microsoft.com/office/drawing/2014/main" id="{46F37776-908C-4E64-9DA6-81922DE659D5}"/>
              </a:ext>
            </a:extLst>
          </p:cNvPr>
          <p:cNvSpPr>
            <a:spLocks xmlns:a="http://schemas.openxmlformats.org/drawingml/2006/main" noGrp="1"/>
          </p:cNvSpPr>
          <p:nvPr/>
        </p:nvSpPr>
        <p:spPr>
          <a:xfrm xmlns:a="http://schemas.openxmlformats.org/drawingml/2006/main">
            <a:off x="400050" y="1514475"/>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FFFFFF"/>
                </a:solidFill>
                <a:latin typeface="Calibri"/>
                <a:ea typeface="Calibri"/>
                <a:cs typeface="Calibri"/>
              </a:defRPr>
            </a:pPr>
            <a:r>
              <a:rPr sz="900" b="1" i="0">
                <a:solidFill>
                  <a:srgbClr val="FFFFFF"/>
                </a:solidFill>
                <a:latin typeface="Calibri"/>
                <a:ea typeface="Calibri"/>
                <a:cs typeface="Calibri"/>
              </a:rPr>
              <a:t>PROPOSED INDEX LIFECYCLE</a:t>
            </a:r>
          </a:p>
        </p:txBody>
      </p:sp>
      <p:sp>
        <p:nvSpPr>
          <p:cNvPr id="62" name="update-header-0">
            <a:extLst xmlns:a="http://schemas.openxmlformats.org/drawingml/2006/main">
              <a:ext uri="{FF2B5EF4-FFF2-40B4-BE49-F238E27FC236}">
                <a16:creationId xmlns:a16="http://schemas.microsoft.com/office/drawing/2014/main" id="{4AE2C098-F379-4D00-935E-4C573D085CFA}"/>
              </a:ext>
            </a:extLst>
          </p:cNvPr>
          <p:cNvSpPr>
            <a:spLocks xmlns:a="http://schemas.openxmlformats.org/drawingml/2006/main" noGrp="1"/>
          </p:cNvSpPr>
          <p:nvPr/>
        </p:nvSpPr>
        <p:spPr>
          <a:xfrm xmlns:a="http://schemas.openxmlformats.org/drawingml/2006/main">
            <a:off x="400050" y="1924050"/>
            <a:ext cx="1752600" cy="400050"/>
          </a:xfrm>
          <a:prstGeom xmlns:a="http://schemas.openxmlformats.org/drawingml/2006/main" prst="rect">
            <a:avLst/>
          </a:prstGeom>
          <a:solidFill xmlns:a="http://schemas.openxmlformats.org/drawingml/2006/main">
            <a:srgbClr val="173B67"/>
          </a:solidFill>
          <a:ln xmlns:a="http://schemas.openxmlformats.org/drawingml/2006/main" w="0">
            <a:noFill/>
            <a:prstDash val="solid"/>
          </a:ln>
        </p:spPr>
      </p:sp>
      <p:sp>
        <p:nvSpPr>
          <p:cNvPr id="63" name="update-header-text-0">
            <a:extLst xmlns:a="http://schemas.openxmlformats.org/drawingml/2006/main">
              <a:ext uri="{FF2B5EF4-FFF2-40B4-BE49-F238E27FC236}">
                <a16:creationId xmlns:a16="http://schemas.microsoft.com/office/drawing/2014/main" id="{34AFCC8C-CBED-481E-9EAD-4D33BDA11ECC}"/>
              </a:ext>
            </a:extLst>
          </p:cNvPr>
          <p:cNvSpPr>
            <a:spLocks xmlns:a="http://schemas.openxmlformats.org/drawingml/2006/main" noGrp="1"/>
          </p:cNvSpPr>
          <p:nvPr/>
        </p:nvSpPr>
        <p:spPr>
          <a:xfrm xmlns:a="http://schemas.openxmlformats.org/drawingml/2006/main">
            <a:off x="514350" y="2000250"/>
            <a:ext cx="152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1" i="0">
                <a:solidFill>
                  <a:srgbClr val="FFFFFF"/>
                </a:solidFill>
                <a:latin typeface="Calibri"/>
                <a:ea typeface="Calibri"/>
                <a:cs typeface="Calibri"/>
              </a:defRPr>
            </a:pPr>
            <a:r>
              <a:rPr sz="975" b="1" i="0">
                <a:solidFill>
                  <a:srgbClr val="FFFFFF"/>
                </a:solidFill>
                <a:latin typeface="Calibri"/>
                <a:ea typeface="Calibri"/>
                <a:cs typeface="Calibri"/>
              </a:rPr>
              <a:t>CONTENT STATE</a:t>
            </a:r>
          </a:p>
        </p:txBody>
      </p:sp>
      <p:sp>
        <p:nvSpPr>
          <p:cNvPr id="64" name="update-header-1">
            <a:extLst xmlns:a="http://schemas.openxmlformats.org/drawingml/2006/main">
              <a:ext uri="{FF2B5EF4-FFF2-40B4-BE49-F238E27FC236}">
                <a16:creationId xmlns:a16="http://schemas.microsoft.com/office/drawing/2014/main" id="{F6CEC30B-2778-424E-BC6C-22D59503D0A1}"/>
              </a:ext>
            </a:extLst>
          </p:cNvPr>
          <p:cNvSpPr>
            <a:spLocks xmlns:a="http://schemas.openxmlformats.org/drawingml/2006/main" noGrp="1"/>
          </p:cNvSpPr>
          <p:nvPr/>
        </p:nvSpPr>
        <p:spPr>
          <a:xfrm xmlns:a="http://schemas.openxmlformats.org/drawingml/2006/main">
            <a:off x="2152650" y="1924050"/>
            <a:ext cx="2286000" cy="400050"/>
          </a:xfrm>
          <a:prstGeom xmlns:a="http://schemas.openxmlformats.org/drawingml/2006/main" prst="rect">
            <a:avLst/>
          </a:prstGeom>
          <a:solidFill xmlns:a="http://schemas.openxmlformats.org/drawingml/2006/main">
            <a:srgbClr val="173B67"/>
          </a:solidFill>
          <a:ln xmlns:a="http://schemas.openxmlformats.org/drawingml/2006/main" w="0">
            <a:noFill/>
            <a:prstDash val="solid"/>
          </a:ln>
        </p:spPr>
      </p:sp>
      <p:sp>
        <p:nvSpPr>
          <p:cNvPr id="65" name="update-header-text-1">
            <a:extLst xmlns:a="http://schemas.openxmlformats.org/drawingml/2006/main">
              <a:ext uri="{FF2B5EF4-FFF2-40B4-BE49-F238E27FC236}">
                <a16:creationId xmlns:a16="http://schemas.microsoft.com/office/drawing/2014/main" id="{D988CD19-F601-4807-A7E6-4497D912E005}"/>
              </a:ext>
            </a:extLst>
          </p:cNvPr>
          <p:cNvSpPr>
            <a:spLocks xmlns:a="http://schemas.openxmlformats.org/drawingml/2006/main" noGrp="1"/>
          </p:cNvSpPr>
          <p:nvPr/>
        </p:nvSpPr>
        <p:spPr>
          <a:xfrm xmlns:a="http://schemas.openxmlformats.org/drawingml/2006/main">
            <a:off x="2266950" y="2000250"/>
            <a:ext cx="2057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1" i="0">
                <a:solidFill>
                  <a:srgbClr val="FFFFFF"/>
                </a:solidFill>
                <a:latin typeface="Calibri"/>
                <a:ea typeface="Calibri"/>
                <a:cs typeface="Calibri"/>
              </a:defRPr>
            </a:pPr>
            <a:r>
              <a:rPr sz="975" b="1" i="0">
                <a:solidFill>
                  <a:srgbClr val="FFFFFF"/>
                </a:solidFill>
                <a:latin typeface="Calibri"/>
                <a:ea typeface="Calibri"/>
                <a:cs typeface="Calibri"/>
              </a:rPr>
              <a:t>HASH DECISION</a:t>
            </a:r>
          </a:p>
        </p:txBody>
      </p:sp>
      <p:sp>
        <p:nvSpPr>
          <p:cNvPr id="66" name="update-header-2">
            <a:extLst xmlns:a="http://schemas.openxmlformats.org/drawingml/2006/main">
              <a:ext uri="{FF2B5EF4-FFF2-40B4-BE49-F238E27FC236}">
                <a16:creationId xmlns:a16="http://schemas.microsoft.com/office/drawing/2014/main" id="{56291291-F07B-4AA1-8E41-BF6D5317675E}"/>
              </a:ext>
            </a:extLst>
          </p:cNvPr>
          <p:cNvSpPr>
            <a:spLocks xmlns:a="http://schemas.openxmlformats.org/drawingml/2006/main" noGrp="1"/>
          </p:cNvSpPr>
          <p:nvPr/>
        </p:nvSpPr>
        <p:spPr>
          <a:xfrm xmlns:a="http://schemas.openxmlformats.org/drawingml/2006/main">
            <a:off x="4438650" y="1924050"/>
            <a:ext cx="3333750" cy="400050"/>
          </a:xfrm>
          <a:prstGeom xmlns:a="http://schemas.openxmlformats.org/drawingml/2006/main" prst="rect">
            <a:avLst/>
          </a:prstGeom>
          <a:solidFill xmlns:a="http://schemas.openxmlformats.org/drawingml/2006/main">
            <a:srgbClr val="173B67"/>
          </a:solidFill>
          <a:ln xmlns:a="http://schemas.openxmlformats.org/drawingml/2006/main" w="0">
            <a:noFill/>
            <a:prstDash val="solid"/>
          </a:ln>
        </p:spPr>
      </p:sp>
      <p:sp>
        <p:nvSpPr>
          <p:cNvPr id="67" name="update-header-text-2">
            <a:extLst xmlns:a="http://schemas.openxmlformats.org/drawingml/2006/main">
              <a:ext uri="{FF2B5EF4-FFF2-40B4-BE49-F238E27FC236}">
                <a16:creationId xmlns:a16="http://schemas.microsoft.com/office/drawing/2014/main" id="{B57F1067-3AB1-4FF6-8C4B-E9776CD49223}"/>
              </a:ext>
            </a:extLst>
          </p:cNvPr>
          <p:cNvSpPr>
            <a:spLocks xmlns:a="http://schemas.openxmlformats.org/drawingml/2006/main" noGrp="1"/>
          </p:cNvSpPr>
          <p:nvPr/>
        </p:nvSpPr>
        <p:spPr>
          <a:xfrm xmlns:a="http://schemas.openxmlformats.org/drawingml/2006/main">
            <a:off x="4552950" y="2000250"/>
            <a:ext cx="3105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1" i="0">
                <a:solidFill>
                  <a:srgbClr val="FFFFFF"/>
                </a:solidFill>
                <a:latin typeface="Calibri"/>
                <a:ea typeface="Calibri"/>
                <a:cs typeface="Calibri"/>
              </a:defRPr>
            </a:pPr>
            <a:r>
              <a:rPr sz="975" b="1" i="0">
                <a:solidFill>
                  <a:srgbClr val="FFFFFF"/>
                </a:solidFill>
                <a:latin typeface="Calibri"/>
                <a:ea typeface="Calibri"/>
                <a:cs typeface="Calibri"/>
              </a:rPr>
              <a:t>INDEX ACTION</a:t>
            </a:r>
          </a:p>
        </p:txBody>
      </p:sp>
      <p:sp>
        <p:nvSpPr>
          <p:cNvPr id="68" name="update-header-3">
            <a:extLst xmlns:a="http://schemas.openxmlformats.org/drawingml/2006/main">
              <a:ext uri="{FF2B5EF4-FFF2-40B4-BE49-F238E27FC236}">
                <a16:creationId xmlns:a16="http://schemas.microsoft.com/office/drawing/2014/main" id="{61CBC085-7CB8-4168-AABC-916D8875F01A}"/>
              </a:ext>
            </a:extLst>
          </p:cNvPr>
          <p:cNvSpPr>
            <a:spLocks xmlns:a="http://schemas.openxmlformats.org/drawingml/2006/main" noGrp="1"/>
          </p:cNvSpPr>
          <p:nvPr/>
        </p:nvSpPr>
        <p:spPr>
          <a:xfrm xmlns:a="http://schemas.openxmlformats.org/drawingml/2006/main">
            <a:off x="7772400" y="1924050"/>
            <a:ext cx="3962400" cy="400050"/>
          </a:xfrm>
          <a:prstGeom xmlns:a="http://schemas.openxmlformats.org/drawingml/2006/main" prst="rect">
            <a:avLst/>
          </a:prstGeom>
          <a:solidFill xmlns:a="http://schemas.openxmlformats.org/drawingml/2006/main">
            <a:srgbClr val="173B67"/>
          </a:solidFill>
          <a:ln xmlns:a="http://schemas.openxmlformats.org/drawingml/2006/main" w="0">
            <a:noFill/>
            <a:prstDash val="solid"/>
          </a:ln>
        </p:spPr>
      </p:sp>
      <p:sp>
        <p:nvSpPr>
          <p:cNvPr id="69" name="update-header-text-3">
            <a:extLst xmlns:a="http://schemas.openxmlformats.org/drawingml/2006/main">
              <a:ext uri="{FF2B5EF4-FFF2-40B4-BE49-F238E27FC236}">
                <a16:creationId xmlns:a16="http://schemas.microsoft.com/office/drawing/2014/main" id="{86DF28FC-117C-4DB4-8731-138474EFBDAE}"/>
              </a:ext>
            </a:extLst>
          </p:cNvPr>
          <p:cNvSpPr>
            <a:spLocks xmlns:a="http://schemas.openxmlformats.org/drawingml/2006/main" noGrp="1"/>
          </p:cNvSpPr>
          <p:nvPr/>
        </p:nvSpPr>
        <p:spPr>
          <a:xfrm xmlns:a="http://schemas.openxmlformats.org/drawingml/2006/main">
            <a:off x="7886700" y="2000250"/>
            <a:ext cx="3733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1" i="0">
                <a:solidFill>
                  <a:srgbClr val="FFFFFF"/>
                </a:solidFill>
                <a:latin typeface="Calibri"/>
                <a:ea typeface="Calibri"/>
                <a:cs typeface="Calibri"/>
              </a:defRPr>
            </a:pPr>
            <a:r>
              <a:rPr sz="975" b="1" i="0">
                <a:solidFill>
                  <a:srgbClr val="FFFFFF"/>
                </a:solidFill>
                <a:latin typeface="Calibri"/>
                <a:ea typeface="Calibri"/>
                <a:cs typeface="Calibri"/>
              </a:rPr>
              <a:t>VERSION / AUDIT RESULT</a:t>
            </a:r>
          </a:p>
        </p:txBody>
      </p:sp>
      <p:sp>
        <p:nvSpPr>
          <p:cNvPr id="70" name="update-cell-0-0">
            <a:extLst xmlns:a="http://schemas.openxmlformats.org/drawingml/2006/main">
              <a:ext uri="{FF2B5EF4-FFF2-40B4-BE49-F238E27FC236}">
                <a16:creationId xmlns:a16="http://schemas.microsoft.com/office/drawing/2014/main" id="{B62B12D3-FC98-4BAD-91B0-9094B2145477}"/>
              </a:ext>
            </a:extLst>
          </p:cNvPr>
          <p:cNvSpPr>
            <a:spLocks xmlns:a="http://schemas.openxmlformats.org/drawingml/2006/main" noGrp="1"/>
          </p:cNvSpPr>
          <p:nvPr/>
        </p:nvSpPr>
        <p:spPr>
          <a:xfrm xmlns:a="http://schemas.openxmlformats.org/drawingml/2006/main">
            <a:off x="400050" y="2324100"/>
            <a:ext cx="17526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prstDash val="solid"/>
          </a:ln>
        </p:spPr>
      </p:sp>
      <p:sp>
        <p:nvSpPr>
          <p:cNvPr id="71" name="update-cell-text-0-0">
            <a:extLst xmlns:a="http://schemas.openxmlformats.org/drawingml/2006/main">
              <a:ext uri="{FF2B5EF4-FFF2-40B4-BE49-F238E27FC236}">
                <a16:creationId xmlns:a16="http://schemas.microsoft.com/office/drawing/2014/main" id="{F105C41A-B355-4BFE-9F8A-FDB354B84635}"/>
              </a:ext>
            </a:extLst>
          </p:cNvPr>
          <p:cNvSpPr>
            <a:spLocks xmlns:a="http://schemas.openxmlformats.org/drawingml/2006/main" noGrp="1"/>
          </p:cNvSpPr>
          <p:nvPr/>
        </p:nvSpPr>
        <p:spPr>
          <a:xfrm xmlns:a="http://schemas.openxmlformats.org/drawingml/2006/main">
            <a:off x="514350" y="24003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i="0">
                <a:solidFill>
                  <a:srgbClr val="173B67"/>
                </a:solidFill>
                <a:latin typeface="Calibri"/>
                <a:ea typeface="Calibri"/>
                <a:cs typeface="Calibri"/>
              </a:defRPr>
            </a:pPr>
            <a:r>
              <a:rPr sz="1050" b="1" i="0">
                <a:solidFill>
                  <a:srgbClr val="173B67"/>
                </a:solidFill>
                <a:latin typeface="Calibri"/>
                <a:ea typeface="Calibri"/>
                <a:cs typeface="Calibri"/>
              </a:rPr>
              <a:t>Unchanged chunk</a:t>
            </a:r>
          </a:p>
        </p:txBody>
      </p:sp>
      <p:sp>
        <p:nvSpPr>
          <p:cNvPr id="72" name="update-cell-0-1">
            <a:extLst xmlns:a="http://schemas.openxmlformats.org/drawingml/2006/main">
              <a:ext uri="{FF2B5EF4-FFF2-40B4-BE49-F238E27FC236}">
                <a16:creationId xmlns:a16="http://schemas.microsoft.com/office/drawing/2014/main" id="{5CF4FCE9-6F3E-49D0-964A-FBB279294FE3}"/>
              </a:ext>
            </a:extLst>
          </p:cNvPr>
          <p:cNvSpPr>
            <a:spLocks xmlns:a="http://schemas.openxmlformats.org/drawingml/2006/main" noGrp="1"/>
          </p:cNvSpPr>
          <p:nvPr/>
        </p:nvSpPr>
        <p:spPr>
          <a:xfrm xmlns:a="http://schemas.openxmlformats.org/drawingml/2006/main">
            <a:off x="2152650" y="2324100"/>
            <a:ext cx="2286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prstDash val="solid"/>
          </a:ln>
        </p:spPr>
      </p:sp>
      <p:sp>
        <p:nvSpPr>
          <p:cNvPr id="73" name="update-cell-text-0-1">
            <a:extLst xmlns:a="http://schemas.openxmlformats.org/drawingml/2006/main">
              <a:ext uri="{FF2B5EF4-FFF2-40B4-BE49-F238E27FC236}">
                <a16:creationId xmlns:a16="http://schemas.microsoft.com/office/drawing/2014/main" id="{DF45AFDD-7A0C-4E3D-BED4-1830382C2445}"/>
              </a:ext>
            </a:extLst>
          </p:cNvPr>
          <p:cNvSpPr>
            <a:spLocks xmlns:a="http://schemas.openxmlformats.org/drawingml/2006/main" noGrp="1"/>
          </p:cNvSpPr>
          <p:nvPr/>
        </p:nvSpPr>
        <p:spPr>
          <a:xfrm xmlns:a="http://schemas.openxmlformats.org/drawingml/2006/main">
            <a:off x="2266950" y="2400300"/>
            <a:ext cx="2057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0" i="0">
                <a:solidFill>
                  <a:srgbClr val="172B4D"/>
                </a:solidFill>
                <a:latin typeface="Calibri"/>
                <a:ea typeface="Calibri"/>
                <a:cs typeface="Calibri"/>
              </a:defRPr>
            </a:pPr>
            <a:r>
              <a:rPr sz="975" b="0" i="0">
                <a:solidFill>
                  <a:srgbClr val="172B4D"/>
                </a:solidFill>
                <a:latin typeface="Calibri"/>
                <a:ea typeface="Calibri"/>
                <a:cs typeface="Calibri"/>
              </a:rPr>
              <a:t>same SHA-256</a:t>
            </a:r>
          </a:p>
        </p:txBody>
      </p:sp>
      <p:sp>
        <p:nvSpPr>
          <p:cNvPr id="74" name="update-cell-0-2">
            <a:extLst xmlns:a="http://schemas.openxmlformats.org/drawingml/2006/main">
              <a:ext uri="{FF2B5EF4-FFF2-40B4-BE49-F238E27FC236}">
                <a16:creationId xmlns:a16="http://schemas.microsoft.com/office/drawing/2014/main" id="{987FA6F3-42AB-4269-9087-14DFE14EC7B3}"/>
              </a:ext>
            </a:extLst>
          </p:cNvPr>
          <p:cNvSpPr>
            <a:spLocks xmlns:a="http://schemas.openxmlformats.org/drawingml/2006/main" noGrp="1"/>
          </p:cNvSpPr>
          <p:nvPr/>
        </p:nvSpPr>
        <p:spPr>
          <a:xfrm xmlns:a="http://schemas.openxmlformats.org/drawingml/2006/main">
            <a:off x="4438650" y="2324100"/>
            <a:ext cx="33337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prstDash val="solid"/>
          </a:ln>
        </p:spPr>
      </p:sp>
      <p:sp>
        <p:nvSpPr>
          <p:cNvPr id="75" name="update-cell-text-0-2">
            <a:extLst xmlns:a="http://schemas.openxmlformats.org/drawingml/2006/main">
              <a:ext uri="{FF2B5EF4-FFF2-40B4-BE49-F238E27FC236}">
                <a16:creationId xmlns:a16="http://schemas.microsoft.com/office/drawing/2014/main" id="{AFF6F96C-BE31-4F40-B32F-045FE67A814D}"/>
              </a:ext>
            </a:extLst>
          </p:cNvPr>
          <p:cNvSpPr>
            <a:spLocks xmlns:a="http://schemas.openxmlformats.org/drawingml/2006/main" noGrp="1"/>
          </p:cNvSpPr>
          <p:nvPr/>
        </p:nvSpPr>
        <p:spPr>
          <a:xfrm xmlns:a="http://schemas.openxmlformats.org/drawingml/2006/main">
            <a:off x="4552950" y="2400300"/>
            <a:ext cx="3105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0" i="0">
                <a:solidFill>
                  <a:srgbClr val="172B4D"/>
                </a:solidFill>
                <a:latin typeface="Calibri"/>
                <a:ea typeface="Calibri"/>
                <a:cs typeface="Calibri"/>
              </a:defRPr>
            </a:pPr>
            <a:r>
              <a:rPr sz="975" b="0" i="0">
                <a:solidFill>
                  <a:srgbClr val="172B4D"/>
                </a:solidFill>
                <a:latin typeface="Calibri"/>
                <a:ea typeface="Calibri"/>
                <a:cs typeface="Calibri"/>
              </a:rPr>
              <a:t>Reuse existing vector</a:t>
            </a:r>
          </a:p>
        </p:txBody>
      </p:sp>
      <p:sp>
        <p:nvSpPr>
          <p:cNvPr id="76" name="update-cell-0-3">
            <a:extLst xmlns:a="http://schemas.openxmlformats.org/drawingml/2006/main">
              <a:ext uri="{FF2B5EF4-FFF2-40B4-BE49-F238E27FC236}">
                <a16:creationId xmlns:a16="http://schemas.microsoft.com/office/drawing/2014/main" id="{DE234898-4108-4F13-B031-29F43EAFD26E}"/>
              </a:ext>
            </a:extLst>
          </p:cNvPr>
          <p:cNvSpPr>
            <a:spLocks xmlns:a="http://schemas.openxmlformats.org/drawingml/2006/main" noGrp="1"/>
          </p:cNvSpPr>
          <p:nvPr/>
        </p:nvSpPr>
        <p:spPr>
          <a:xfrm xmlns:a="http://schemas.openxmlformats.org/drawingml/2006/main">
            <a:off x="7772400" y="2324100"/>
            <a:ext cx="39624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prstDash val="solid"/>
          </a:ln>
        </p:spPr>
      </p:sp>
      <p:sp>
        <p:nvSpPr>
          <p:cNvPr id="77" name="update-cell-text-0-3">
            <a:extLst xmlns:a="http://schemas.openxmlformats.org/drawingml/2006/main">
              <a:ext uri="{FF2B5EF4-FFF2-40B4-BE49-F238E27FC236}">
                <a16:creationId xmlns:a16="http://schemas.microsoft.com/office/drawing/2014/main" id="{234BB5B3-3D84-490F-AC94-E9EE3B933F08}"/>
              </a:ext>
            </a:extLst>
          </p:cNvPr>
          <p:cNvSpPr>
            <a:spLocks xmlns:a="http://schemas.openxmlformats.org/drawingml/2006/main" noGrp="1"/>
          </p:cNvSpPr>
          <p:nvPr/>
        </p:nvSpPr>
        <p:spPr>
          <a:xfrm xmlns:a="http://schemas.openxmlformats.org/drawingml/2006/main">
            <a:off x="7886700" y="2400300"/>
            <a:ext cx="3733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0" i="0">
                <a:solidFill>
                  <a:srgbClr val="172B4D"/>
                </a:solidFill>
                <a:latin typeface="Calibri"/>
                <a:ea typeface="Calibri"/>
                <a:cs typeface="Calibri"/>
              </a:defRPr>
            </a:pPr>
            <a:r>
              <a:rPr sz="975" b="0" i="0">
                <a:solidFill>
                  <a:srgbClr val="172B4D"/>
                </a:solidFill>
                <a:latin typeface="Calibri"/>
                <a:ea typeface="Calibri"/>
                <a:cs typeface="Calibri"/>
              </a:rPr>
              <a:t>Keep embedding_version and updated_at</a:t>
            </a:r>
          </a:p>
        </p:txBody>
      </p:sp>
      <p:sp>
        <p:nvSpPr>
          <p:cNvPr id="78" name="update-cell-1-0">
            <a:extLst xmlns:a="http://schemas.openxmlformats.org/drawingml/2006/main">
              <a:ext uri="{FF2B5EF4-FFF2-40B4-BE49-F238E27FC236}">
                <a16:creationId xmlns:a16="http://schemas.microsoft.com/office/drawing/2014/main" id="{CA98131D-3012-4740-A58D-2BD623E5F598}"/>
              </a:ext>
            </a:extLst>
          </p:cNvPr>
          <p:cNvSpPr>
            <a:spLocks xmlns:a="http://schemas.openxmlformats.org/drawingml/2006/main" noGrp="1"/>
          </p:cNvSpPr>
          <p:nvPr/>
        </p:nvSpPr>
        <p:spPr>
          <a:xfrm xmlns:a="http://schemas.openxmlformats.org/drawingml/2006/main">
            <a:off x="400050" y="2876550"/>
            <a:ext cx="1752600" cy="552450"/>
          </a:xfrm>
          <a:prstGeom xmlns:a="http://schemas.openxmlformats.org/drawingml/2006/main" prst="rect">
            <a:avLst/>
          </a:prstGeom>
          <a:solidFill xmlns:a="http://schemas.openxmlformats.org/drawingml/2006/main">
            <a:srgbClr val="F6F8FB"/>
          </a:solidFill>
          <a:ln xmlns:a="http://schemas.openxmlformats.org/drawingml/2006/main" w="9525">
            <a:solidFill>
              <a:srgbClr val="D7E0EA"/>
            </a:solidFill>
            <a:prstDash val="solid"/>
          </a:ln>
        </p:spPr>
      </p:sp>
      <p:sp>
        <p:nvSpPr>
          <p:cNvPr id="79" name="update-cell-text-1-0">
            <a:extLst xmlns:a="http://schemas.openxmlformats.org/drawingml/2006/main">
              <a:ext uri="{FF2B5EF4-FFF2-40B4-BE49-F238E27FC236}">
                <a16:creationId xmlns:a16="http://schemas.microsoft.com/office/drawing/2014/main" id="{E875426A-FDAC-439E-8E43-8386A35097DB}"/>
              </a:ext>
            </a:extLst>
          </p:cNvPr>
          <p:cNvSpPr>
            <a:spLocks xmlns:a="http://schemas.openxmlformats.org/drawingml/2006/main" noGrp="1"/>
          </p:cNvSpPr>
          <p:nvPr/>
        </p:nvSpPr>
        <p:spPr>
          <a:xfrm xmlns:a="http://schemas.openxmlformats.org/drawingml/2006/main">
            <a:off x="514350" y="295275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i="0">
                <a:solidFill>
                  <a:srgbClr val="173B67"/>
                </a:solidFill>
                <a:latin typeface="Calibri"/>
                <a:ea typeface="Calibri"/>
                <a:cs typeface="Calibri"/>
              </a:defRPr>
            </a:pPr>
            <a:r>
              <a:rPr sz="1050" b="1" i="0">
                <a:solidFill>
                  <a:srgbClr val="173B67"/>
                </a:solidFill>
                <a:latin typeface="Calibri"/>
                <a:ea typeface="Calibri"/>
                <a:cs typeface="Calibri"/>
              </a:rPr>
              <a:t>Edited text</a:t>
            </a:r>
          </a:p>
        </p:txBody>
      </p:sp>
      <p:sp>
        <p:nvSpPr>
          <p:cNvPr id="80" name="update-cell-1-1">
            <a:extLst xmlns:a="http://schemas.openxmlformats.org/drawingml/2006/main">
              <a:ext uri="{FF2B5EF4-FFF2-40B4-BE49-F238E27FC236}">
                <a16:creationId xmlns:a16="http://schemas.microsoft.com/office/drawing/2014/main" id="{A7267354-C1EE-406E-9D6B-825480458BE7}"/>
              </a:ext>
            </a:extLst>
          </p:cNvPr>
          <p:cNvSpPr>
            <a:spLocks xmlns:a="http://schemas.openxmlformats.org/drawingml/2006/main" noGrp="1"/>
          </p:cNvSpPr>
          <p:nvPr/>
        </p:nvSpPr>
        <p:spPr>
          <a:xfrm xmlns:a="http://schemas.openxmlformats.org/drawingml/2006/main">
            <a:off x="2152650" y="2876550"/>
            <a:ext cx="2286000" cy="552450"/>
          </a:xfrm>
          <a:prstGeom xmlns:a="http://schemas.openxmlformats.org/drawingml/2006/main" prst="rect">
            <a:avLst/>
          </a:prstGeom>
          <a:solidFill xmlns:a="http://schemas.openxmlformats.org/drawingml/2006/main">
            <a:srgbClr val="F6F8FB"/>
          </a:solidFill>
          <a:ln xmlns:a="http://schemas.openxmlformats.org/drawingml/2006/main" w="9525">
            <a:solidFill>
              <a:srgbClr val="D7E0EA"/>
            </a:solidFill>
            <a:prstDash val="solid"/>
          </a:ln>
        </p:spPr>
      </p:sp>
      <p:sp>
        <p:nvSpPr>
          <p:cNvPr id="81" name="update-cell-text-1-1">
            <a:extLst xmlns:a="http://schemas.openxmlformats.org/drawingml/2006/main">
              <a:ext uri="{FF2B5EF4-FFF2-40B4-BE49-F238E27FC236}">
                <a16:creationId xmlns:a16="http://schemas.microsoft.com/office/drawing/2014/main" id="{1D5A61E8-626C-4C12-9CB0-C932CE0C38E0}"/>
              </a:ext>
            </a:extLst>
          </p:cNvPr>
          <p:cNvSpPr>
            <a:spLocks xmlns:a="http://schemas.openxmlformats.org/drawingml/2006/main" noGrp="1"/>
          </p:cNvSpPr>
          <p:nvPr/>
        </p:nvSpPr>
        <p:spPr>
          <a:xfrm xmlns:a="http://schemas.openxmlformats.org/drawingml/2006/main">
            <a:off x="2266950" y="2952750"/>
            <a:ext cx="2057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0" i="0">
                <a:solidFill>
                  <a:srgbClr val="172B4D"/>
                </a:solidFill>
                <a:latin typeface="Calibri"/>
                <a:ea typeface="Calibri"/>
                <a:cs typeface="Calibri"/>
              </a:defRPr>
            </a:pPr>
            <a:r>
              <a:rPr sz="975" b="0" i="0">
                <a:solidFill>
                  <a:srgbClr val="172B4D"/>
                </a:solidFill>
                <a:latin typeface="Calibri"/>
                <a:ea typeface="Calibri"/>
                <a:cs typeface="Calibri"/>
              </a:rPr>
              <a:t>hash changed</a:t>
            </a:r>
          </a:p>
        </p:txBody>
      </p:sp>
      <p:sp>
        <p:nvSpPr>
          <p:cNvPr id="82" name="update-cell-1-2">
            <a:extLst xmlns:a="http://schemas.openxmlformats.org/drawingml/2006/main">
              <a:ext uri="{FF2B5EF4-FFF2-40B4-BE49-F238E27FC236}">
                <a16:creationId xmlns:a16="http://schemas.microsoft.com/office/drawing/2014/main" id="{B6275BD4-7FB9-4F59-8DD7-41798F9775DC}"/>
              </a:ext>
            </a:extLst>
          </p:cNvPr>
          <p:cNvSpPr>
            <a:spLocks xmlns:a="http://schemas.openxmlformats.org/drawingml/2006/main" noGrp="1"/>
          </p:cNvSpPr>
          <p:nvPr/>
        </p:nvSpPr>
        <p:spPr>
          <a:xfrm xmlns:a="http://schemas.openxmlformats.org/drawingml/2006/main">
            <a:off x="4438650" y="2876550"/>
            <a:ext cx="3333750" cy="552450"/>
          </a:xfrm>
          <a:prstGeom xmlns:a="http://schemas.openxmlformats.org/drawingml/2006/main" prst="rect">
            <a:avLst/>
          </a:prstGeom>
          <a:solidFill xmlns:a="http://schemas.openxmlformats.org/drawingml/2006/main">
            <a:srgbClr val="F6F8FB"/>
          </a:solidFill>
          <a:ln xmlns:a="http://schemas.openxmlformats.org/drawingml/2006/main" w="9525">
            <a:solidFill>
              <a:srgbClr val="D7E0EA"/>
            </a:solidFill>
            <a:prstDash val="solid"/>
          </a:ln>
        </p:spPr>
      </p:sp>
      <p:sp>
        <p:nvSpPr>
          <p:cNvPr id="83" name="update-cell-text-1-2">
            <a:extLst xmlns:a="http://schemas.openxmlformats.org/drawingml/2006/main">
              <a:ext uri="{FF2B5EF4-FFF2-40B4-BE49-F238E27FC236}">
                <a16:creationId xmlns:a16="http://schemas.microsoft.com/office/drawing/2014/main" id="{FAB03D83-30EB-49FC-A2C7-EFCDD2CFCE08}"/>
              </a:ext>
            </a:extLst>
          </p:cNvPr>
          <p:cNvSpPr>
            <a:spLocks xmlns:a="http://schemas.openxmlformats.org/drawingml/2006/main" noGrp="1"/>
          </p:cNvSpPr>
          <p:nvPr/>
        </p:nvSpPr>
        <p:spPr>
          <a:xfrm xmlns:a="http://schemas.openxmlformats.org/drawingml/2006/main">
            <a:off x="4552950" y="2952750"/>
            <a:ext cx="3105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0" i="0">
                <a:solidFill>
                  <a:srgbClr val="172B4D"/>
                </a:solidFill>
                <a:latin typeface="Calibri"/>
                <a:ea typeface="Calibri"/>
                <a:cs typeface="Calibri"/>
              </a:defRPr>
            </a:pPr>
            <a:r>
              <a:rPr sz="975" b="0" i="0">
                <a:solidFill>
                  <a:srgbClr val="172B4D"/>
                </a:solidFill>
                <a:latin typeface="Calibri"/>
                <a:ea typeface="Calibri"/>
                <a:cs typeface="Calibri"/>
              </a:rPr>
              <a:t>Embed + upsert</a:t>
            </a:r>
          </a:p>
        </p:txBody>
      </p:sp>
      <p:sp>
        <p:nvSpPr>
          <p:cNvPr id="84" name="update-cell-1-3">
            <a:extLst xmlns:a="http://schemas.openxmlformats.org/drawingml/2006/main">
              <a:ext uri="{FF2B5EF4-FFF2-40B4-BE49-F238E27FC236}">
                <a16:creationId xmlns:a16="http://schemas.microsoft.com/office/drawing/2014/main" id="{E2617099-F38E-4CBC-B221-BFE813E208D0}"/>
              </a:ext>
            </a:extLst>
          </p:cNvPr>
          <p:cNvSpPr>
            <a:spLocks xmlns:a="http://schemas.openxmlformats.org/drawingml/2006/main" noGrp="1"/>
          </p:cNvSpPr>
          <p:nvPr/>
        </p:nvSpPr>
        <p:spPr>
          <a:xfrm xmlns:a="http://schemas.openxmlformats.org/drawingml/2006/main">
            <a:off x="7772400" y="2876550"/>
            <a:ext cx="3962400" cy="552450"/>
          </a:xfrm>
          <a:prstGeom xmlns:a="http://schemas.openxmlformats.org/drawingml/2006/main" prst="rect">
            <a:avLst/>
          </a:prstGeom>
          <a:solidFill xmlns:a="http://schemas.openxmlformats.org/drawingml/2006/main">
            <a:srgbClr val="F6F8FB"/>
          </a:solidFill>
          <a:ln xmlns:a="http://schemas.openxmlformats.org/drawingml/2006/main" w="9525">
            <a:solidFill>
              <a:srgbClr val="D7E0EA"/>
            </a:solidFill>
            <a:prstDash val="solid"/>
          </a:ln>
        </p:spPr>
      </p:sp>
      <p:sp>
        <p:nvSpPr>
          <p:cNvPr id="85" name="update-cell-text-1-3">
            <a:extLst xmlns:a="http://schemas.openxmlformats.org/drawingml/2006/main">
              <a:ext uri="{FF2B5EF4-FFF2-40B4-BE49-F238E27FC236}">
                <a16:creationId xmlns:a16="http://schemas.microsoft.com/office/drawing/2014/main" id="{CEBFB290-348E-4588-9EC0-457F28D736F4}"/>
              </a:ext>
            </a:extLst>
          </p:cNvPr>
          <p:cNvSpPr>
            <a:spLocks xmlns:a="http://schemas.openxmlformats.org/drawingml/2006/main" noGrp="1"/>
          </p:cNvSpPr>
          <p:nvPr/>
        </p:nvSpPr>
        <p:spPr>
          <a:xfrm xmlns:a="http://schemas.openxmlformats.org/drawingml/2006/main">
            <a:off x="7886700" y="2952750"/>
            <a:ext cx="3733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0" i="0">
                <a:solidFill>
                  <a:srgbClr val="172B4D"/>
                </a:solidFill>
                <a:latin typeface="Calibri"/>
                <a:ea typeface="Calibri"/>
                <a:cs typeface="Calibri"/>
              </a:defRPr>
            </a:pPr>
            <a:r>
              <a:rPr sz="975" b="0" i="0">
                <a:solidFill>
                  <a:srgbClr val="172B4D"/>
                </a:solidFill>
                <a:latin typeface="Calibri"/>
                <a:ea typeface="Calibri"/>
                <a:cs typeface="Calibri"/>
              </a:rPr>
              <a:t>Write new hash; retain source provenance</a:t>
            </a:r>
          </a:p>
        </p:txBody>
      </p:sp>
      <p:sp>
        <p:nvSpPr>
          <p:cNvPr id="86" name="update-cell-2-0">
            <a:extLst xmlns:a="http://schemas.openxmlformats.org/drawingml/2006/main">
              <a:ext uri="{FF2B5EF4-FFF2-40B4-BE49-F238E27FC236}">
                <a16:creationId xmlns:a16="http://schemas.microsoft.com/office/drawing/2014/main" id="{19C38DDC-FBB0-4C4E-9921-DCBEBC3AAE99}"/>
              </a:ext>
            </a:extLst>
          </p:cNvPr>
          <p:cNvSpPr>
            <a:spLocks xmlns:a="http://schemas.openxmlformats.org/drawingml/2006/main" noGrp="1"/>
          </p:cNvSpPr>
          <p:nvPr/>
        </p:nvSpPr>
        <p:spPr>
          <a:xfrm xmlns:a="http://schemas.openxmlformats.org/drawingml/2006/main">
            <a:off x="400050" y="3429000"/>
            <a:ext cx="17526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prstDash val="solid"/>
          </a:ln>
        </p:spPr>
      </p:sp>
      <p:sp>
        <p:nvSpPr>
          <p:cNvPr id="87" name="update-cell-text-2-0">
            <a:extLst xmlns:a="http://schemas.openxmlformats.org/drawingml/2006/main">
              <a:ext uri="{FF2B5EF4-FFF2-40B4-BE49-F238E27FC236}">
                <a16:creationId xmlns:a16="http://schemas.microsoft.com/office/drawing/2014/main" id="{C9F601A9-BDC3-4C92-9DC4-F9E7C7C8FA38}"/>
              </a:ext>
            </a:extLst>
          </p:cNvPr>
          <p:cNvSpPr>
            <a:spLocks xmlns:a="http://schemas.openxmlformats.org/drawingml/2006/main" noGrp="1"/>
          </p:cNvSpPr>
          <p:nvPr/>
        </p:nvSpPr>
        <p:spPr>
          <a:xfrm xmlns:a="http://schemas.openxmlformats.org/drawingml/2006/main">
            <a:off x="514350" y="35052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i="0">
                <a:solidFill>
                  <a:srgbClr val="173B67"/>
                </a:solidFill>
                <a:latin typeface="Calibri"/>
                <a:ea typeface="Calibri"/>
                <a:cs typeface="Calibri"/>
              </a:defRPr>
            </a:pPr>
            <a:r>
              <a:rPr sz="1050" b="1" i="0">
                <a:solidFill>
                  <a:srgbClr val="173B67"/>
                </a:solidFill>
                <a:latin typeface="Calibri"/>
                <a:ea typeface="Calibri"/>
                <a:cs typeface="Calibri"/>
              </a:rPr>
              <a:t>New chunk</a:t>
            </a:r>
          </a:p>
        </p:txBody>
      </p:sp>
      <p:sp>
        <p:nvSpPr>
          <p:cNvPr id="88" name="update-cell-2-1">
            <a:extLst xmlns:a="http://schemas.openxmlformats.org/drawingml/2006/main">
              <a:ext uri="{FF2B5EF4-FFF2-40B4-BE49-F238E27FC236}">
                <a16:creationId xmlns:a16="http://schemas.microsoft.com/office/drawing/2014/main" id="{85FDAAF7-CEA1-4D6D-803A-EAD463B8F564}"/>
              </a:ext>
            </a:extLst>
          </p:cNvPr>
          <p:cNvSpPr>
            <a:spLocks xmlns:a="http://schemas.openxmlformats.org/drawingml/2006/main" noGrp="1"/>
          </p:cNvSpPr>
          <p:nvPr/>
        </p:nvSpPr>
        <p:spPr>
          <a:xfrm xmlns:a="http://schemas.openxmlformats.org/drawingml/2006/main">
            <a:off x="2152650" y="3429000"/>
            <a:ext cx="2286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prstDash val="solid"/>
          </a:ln>
        </p:spPr>
      </p:sp>
      <p:sp>
        <p:nvSpPr>
          <p:cNvPr id="89" name="update-cell-text-2-1">
            <a:extLst xmlns:a="http://schemas.openxmlformats.org/drawingml/2006/main">
              <a:ext uri="{FF2B5EF4-FFF2-40B4-BE49-F238E27FC236}">
                <a16:creationId xmlns:a16="http://schemas.microsoft.com/office/drawing/2014/main" id="{62E73F5C-922F-439B-B14F-AAF98A79C1E1}"/>
              </a:ext>
            </a:extLst>
          </p:cNvPr>
          <p:cNvSpPr>
            <a:spLocks xmlns:a="http://schemas.openxmlformats.org/drawingml/2006/main" noGrp="1"/>
          </p:cNvSpPr>
          <p:nvPr/>
        </p:nvSpPr>
        <p:spPr>
          <a:xfrm xmlns:a="http://schemas.openxmlformats.org/drawingml/2006/main">
            <a:off x="2266950" y="3505200"/>
            <a:ext cx="2057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0" i="0">
                <a:solidFill>
                  <a:srgbClr val="172B4D"/>
                </a:solidFill>
                <a:latin typeface="Calibri"/>
                <a:ea typeface="Calibri"/>
                <a:cs typeface="Calibri"/>
              </a:defRPr>
            </a:pPr>
            <a:r>
              <a:rPr sz="975" b="0" i="0">
                <a:solidFill>
                  <a:srgbClr val="172B4D"/>
                </a:solidFill>
                <a:latin typeface="Calibri"/>
                <a:ea typeface="Calibri"/>
                <a:cs typeface="Calibri"/>
              </a:rPr>
              <a:t>no prior hash</a:t>
            </a:r>
          </a:p>
        </p:txBody>
      </p:sp>
      <p:sp>
        <p:nvSpPr>
          <p:cNvPr id="90" name="update-cell-2-2">
            <a:extLst xmlns:a="http://schemas.openxmlformats.org/drawingml/2006/main">
              <a:ext uri="{FF2B5EF4-FFF2-40B4-BE49-F238E27FC236}">
                <a16:creationId xmlns:a16="http://schemas.microsoft.com/office/drawing/2014/main" id="{914D88A2-ABEA-401E-8A25-ED9536DA6A1A}"/>
              </a:ext>
            </a:extLst>
          </p:cNvPr>
          <p:cNvSpPr>
            <a:spLocks xmlns:a="http://schemas.openxmlformats.org/drawingml/2006/main" noGrp="1"/>
          </p:cNvSpPr>
          <p:nvPr/>
        </p:nvSpPr>
        <p:spPr>
          <a:xfrm xmlns:a="http://schemas.openxmlformats.org/drawingml/2006/main">
            <a:off x="4438650" y="3429000"/>
            <a:ext cx="33337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prstDash val="solid"/>
          </a:ln>
        </p:spPr>
      </p:sp>
      <p:sp>
        <p:nvSpPr>
          <p:cNvPr id="91" name="update-cell-text-2-2">
            <a:extLst xmlns:a="http://schemas.openxmlformats.org/drawingml/2006/main">
              <a:ext uri="{FF2B5EF4-FFF2-40B4-BE49-F238E27FC236}">
                <a16:creationId xmlns:a16="http://schemas.microsoft.com/office/drawing/2014/main" id="{3C7DA82A-C55B-49DE-9AFA-783980865FC3}"/>
              </a:ext>
            </a:extLst>
          </p:cNvPr>
          <p:cNvSpPr>
            <a:spLocks xmlns:a="http://schemas.openxmlformats.org/drawingml/2006/main" noGrp="1"/>
          </p:cNvSpPr>
          <p:nvPr/>
        </p:nvSpPr>
        <p:spPr>
          <a:xfrm xmlns:a="http://schemas.openxmlformats.org/drawingml/2006/main">
            <a:off x="4552950" y="3505200"/>
            <a:ext cx="3105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0" i="0">
                <a:solidFill>
                  <a:srgbClr val="172B4D"/>
                </a:solidFill>
                <a:latin typeface="Calibri"/>
                <a:ea typeface="Calibri"/>
                <a:cs typeface="Calibri"/>
              </a:defRPr>
            </a:pPr>
            <a:r>
              <a:rPr sz="975" b="0" i="0">
                <a:solidFill>
                  <a:srgbClr val="172B4D"/>
                </a:solidFill>
                <a:latin typeface="Calibri"/>
                <a:ea typeface="Calibri"/>
                <a:cs typeface="Calibri"/>
              </a:rPr>
              <a:t>Embed + insert</a:t>
            </a:r>
          </a:p>
        </p:txBody>
      </p:sp>
      <p:sp>
        <p:nvSpPr>
          <p:cNvPr id="92" name="update-cell-2-3">
            <a:extLst xmlns:a="http://schemas.openxmlformats.org/drawingml/2006/main">
              <a:ext uri="{FF2B5EF4-FFF2-40B4-BE49-F238E27FC236}">
                <a16:creationId xmlns:a16="http://schemas.microsoft.com/office/drawing/2014/main" id="{2DF45E85-6B1F-4DE3-AD73-75D91A024C34}"/>
              </a:ext>
            </a:extLst>
          </p:cNvPr>
          <p:cNvSpPr>
            <a:spLocks xmlns:a="http://schemas.openxmlformats.org/drawingml/2006/main" noGrp="1"/>
          </p:cNvSpPr>
          <p:nvPr/>
        </p:nvSpPr>
        <p:spPr>
          <a:xfrm xmlns:a="http://schemas.openxmlformats.org/drawingml/2006/main">
            <a:off x="7772400" y="3429000"/>
            <a:ext cx="39624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prstDash val="solid"/>
          </a:ln>
        </p:spPr>
      </p:sp>
      <p:sp>
        <p:nvSpPr>
          <p:cNvPr id="93" name="update-cell-text-2-3">
            <a:extLst xmlns:a="http://schemas.openxmlformats.org/drawingml/2006/main">
              <a:ext uri="{FF2B5EF4-FFF2-40B4-BE49-F238E27FC236}">
                <a16:creationId xmlns:a16="http://schemas.microsoft.com/office/drawing/2014/main" id="{BFED1DAE-9A96-4596-AAEB-CB393B9A5485}"/>
              </a:ext>
            </a:extLst>
          </p:cNvPr>
          <p:cNvSpPr>
            <a:spLocks xmlns:a="http://schemas.openxmlformats.org/drawingml/2006/main" noGrp="1"/>
          </p:cNvSpPr>
          <p:nvPr/>
        </p:nvSpPr>
        <p:spPr>
          <a:xfrm xmlns:a="http://schemas.openxmlformats.org/drawingml/2006/main">
            <a:off x="7886700" y="3505200"/>
            <a:ext cx="3733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0" i="0">
                <a:solidFill>
                  <a:srgbClr val="172B4D"/>
                </a:solidFill>
                <a:latin typeface="Calibri"/>
                <a:ea typeface="Calibri"/>
                <a:cs typeface="Calibri"/>
              </a:defRPr>
            </a:pPr>
            <a:r>
              <a:rPr sz="975" b="0" i="0">
                <a:solidFill>
                  <a:srgbClr val="172B4D"/>
                </a:solidFill>
                <a:latin typeface="Calibri"/>
                <a:ea typeface="Calibri"/>
                <a:cs typeface="Calibri"/>
              </a:rPr>
              <a:t>Create stable chunk_id and audit timestamp</a:t>
            </a:r>
          </a:p>
        </p:txBody>
      </p:sp>
      <p:sp>
        <p:nvSpPr>
          <p:cNvPr id="94" name="update-cell-3-0">
            <a:extLst xmlns:a="http://schemas.openxmlformats.org/drawingml/2006/main">
              <a:ext uri="{FF2B5EF4-FFF2-40B4-BE49-F238E27FC236}">
                <a16:creationId xmlns:a16="http://schemas.microsoft.com/office/drawing/2014/main" id="{BC672C93-B881-4EDD-9846-042B0D755525}"/>
              </a:ext>
            </a:extLst>
          </p:cNvPr>
          <p:cNvSpPr>
            <a:spLocks xmlns:a="http://schemas.openxmlformats.org/drawingml/2006/main" noGrp="1"/>
          </p:cNvSpPr>
          <p:nvPr/>
        </p:nvSpPr>
        <p:spPr>
          <a:xfrm xmlns:a="http://schemas.openxmlformats.org/drawingml/2006/main">
            <a:off x="400050" y="3981450"/>
            <a:ext cx="1752600" cy="552450"/>
          </a:xfrm>
          <a:prstGeom xmlns:a="http://schemas.openxmlformats.org/drawingml/2006/main" prst="rect">
            <a:avLst/>
          </a:prstGeom>
          <a:solidFill xmlns:a="http://schemas.openxmlformats.org/drawingml/2006/main">
            <a:srgbClr val="F6F8FB"/>
          </a:solidFill>
          <a:ln xmlns:a="http://schemas.openxmlformats.org/drawingml/2006/main" w="9525">
            <a:solidFill>
              <a:srgbClr val="D7E0EA"/>
            </a:solidFill>
            <a:prstDash val="solid"/>
          </a:ln>
        </p:spPr>
      </p:sp>
      <p:sp>
        <p:nvSpPr>
          <p:cNvPr id="95" name="update-cell-text-3-0">
            <a:extLst xmlns:a="http://schemas.openxmlformats.org/drawingml/2006/main">
              <a:ext uri="{FF2B5EF4-FFF2-40B4-BE49-F238E27FC236}">
                <a16:creationId xmlns:a16="http://schemas.microsoft.com/office/drawing/2014/main" id="{7DD73413-E34B-4F8C-8963-4AC895B3209F}"/>
              </a:ext>
            </a:extLst>
          </p:cNvPr>
          <p:cNvSpPr>
            <a:spLocks xmlns:a="http://schemas.openxmlformats.org/drawingml/2006/main" noGrp="1"/>
          </p:cNvSpPr>
          <p:nvPr/>
        </p:nvSpPr>
        <p:spPr>
          <a:xfrm xmlns:a="http://schemas.openxmlformats.org/drawingml/2006/main">
            <a:off x="514350" y="405765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i="0">
                <a:solidFill>
                  <a:srgbClr val="173B67"/>
                </a:solidFill>
                <a:latin typeface="Calibri"/>
                <a:ea typeface="Calibri"/>
                <a:cs typeface="Calibri"/>
              </a:defRPr>
            </a:pPr>
            <a:r>
              <a:rPr sz="1050" b="1" i="0">
                <a:solidFill>
                  <a:srgbClr val="173B67"/>
                </a:solidFill>
                <a:latin typeface="Calibri"/>
                <a:ea typeface="Calibri"/>
                <a:cs typeface="Calibri"/>
              </a:rPr>
              <a:t>Removed source</a:t>
            </a:r>
          </a:p>
        </p:txBody>
      </p:sp>
      <p:sp>
        <p:nvSpPr>
          <p:cNvPr id="96" name="update-cell-3-1">
            <a:extLst xmlns:a="http://schemas.openxmlformats.org/drawingml/2006/main">
              <a:ext uri="{FF2B5EF4-FFF2-40B4-BE49-F238E27FC236}">
                <a16:creationId xmlns:a16="http://schemas.microsoft.com/office/drawing/2014/main" id="{C6D0522B-F78A-4C97-9E81-E4813B278A78}"/>
              </a:ext>
            </a:extLst>
          </p:cNvPr>
          <p:cNvSpPr>
            <a:spLocks xmlns:a="http://schemas.openxmlformats.org/drawingml/2006/main" noGrp="1"/>
          </p:cNvSpPr>
          <p:nvPr/>
        </p:nvSpPr>
        <p:spPr>
          <a:xfrm xmlns:a="http://schemas.openxmlformats.org/drawingml/2006/main">
            <a:off x="2152650" y="3981450"/>
            <a:ext cx="2286000" cy="552450"/>
          </a:xfrm>
          <a:prstGeom xmlns:a="http://schemas.openxmlformats.org/drawingml/2006/main" prst="rect">
            <a:avLst/>
          </a:prstGeom>
          <a:solidFill xmlns:a="http://schemas.openxmlformats.org/drawingml/2006/main">
            <a:srgbClr val="F6F8FB"/>
          </a:solidFill>
          <a:ln xmlns:a="http://schemas.openxmlformats.org/drawingml/2006/main" w="9525">
            <a:solidFill>
              <a:srgbClr val="D7E0EA"/>
            </a:solidFill>
            <a:prstDash val="solid"/>
          </a:ln>
        </p:spPr>
      </p:sp>
      <p:sp>
        <p:nvSpPr>
          <p:cNvPr id="97" name="update-cell-text-3-1">
            <a:extLst xmlns:a="http://schemas.openxmlformats.org/drawingml/2006/main">
              <a:ext uri="{FF2B5EF4-FFF2-40B4-BE49-F238E27FC236}">
                <a16:creationId xmlns:a16="http://schemas.microsoft.com/office/drawing/2014/main" id="{D43203BA-56B0-4509-945D-69ACCB5C5BCD}"/>
              </a:ext>
            </a:extLst>
          </p:cNvPr>
          <p:cNvSpPr>
            <a:spLocks xmlns:a="http://schemas.openxmlformats.org/drawingml/2006/main" noGrp="1"/>
          </p:cNvSpPr>
          <p:nvPr/>
        </p:nvSpPr>
        <p:spPr>
          <a:xfrm xmlns:a="http://schemas.openxmlformats.org/drawingml/2006/main">
            <a:off x="2266950" y="4057650"/>
            <a:ext cx="2057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0" i="0">
                <a:solidFill>
                  <a:srgbClr val="172B4D"/>
                </a:solidFill>
                <a:latin typeface="Calibri"/>
                <a:ea typeface="Calibri"/>
                <a:cs typeface="Calibri"/>
              </a:defRPr>
            </a:pPr>
            <a:r>
              <a:rPr sz="975" b="0" i="0">
                <a:solidFill>
                  <a:srgbClr val="172B4D"/>
                </a:solidFill>
                <a:latin typeface="Calibri"/>
                <a:ea typeface="Calibri"/>
                <a:cs typeface="Calibri"/>
              </a:rPr>
              <a:t>missing from manifest</a:t>
            </a:r>
          </a:p>
        </p:txBody>
      </p:sp>
      <p:sp>
        <p:nvSpPr>
          <p:cNvPr id="98" name="update-cell-3-2">
            <a:extLst xmlns:a="http://schemas.openxmlformats.org/drawingml/2006/main">
              <a:ext uri="{FF2B5EF4-FFF2-40B4-BE49-F238E27FC236}">
                <a16:creationId xmlns:a16="http://schemas.microsoft.com/office/drawing/2014/main" id="{AED0D0BC-9070-402B-9350-A050B35D1DE7}"/>
              </a:ext>
            </a:extLst>
          </p:cNvPr>
          <p:cNvSpPr>
            <a:spLocks xmlns:a="http://schemas.openxmlformats.org/drawingml/2006/main" noGrp="1"/>
          </p:cNvSpPr>
          <p:nvPr/>
        </p:nvSpPr>
        <p:spPr>
          <a:xfrm xmlns:a="http://schemas.openxmlformats.org/drawingml/2006/main">
            <a:off x="4438650" y="3981450"/>
            <a:ext cx="3333750" cy="552450"/>
          </a:xfrm>
          <a:prstGeom xmlns:a="http://schemas.openxmlformats.org/drawingml/2006/main" prst="rect">
            <a:avLst/>
          </a:prstGeom>
          <a:solidFill xmlns:a="http://schemas.openxmlformats.org/drawingml/2006/main">
            <a:srgbClr val="F6F8FB"/>
          </a:solidFill>
          <a:ln xmlns:a="http://schemas.openxmlformats.org/drawingml/2006/main" w="9525">
            <a:solidFill>
              <a:srgbClr val="D7E0EA"/>
            </a:solidFill>
            <a:prstDash val="solid"/>
          </a:ln>
        </p:spPr>
      </p:sp>
      <p:sp>
        <p:nvSpPr>
          <p:cNvPr id="99" name="update-cell-text-3-2">
            <a:extLst xmlns:a="http://schemas.openxmlformats.org/drawingml/2006/main">
              <a:ext uri="{FF2B5EF4-FFF2-40B4-BE49-F238E27FC236}">
                <a16:creationId xmlns:a16="http://schemas.microsoft.com/office/drawing/2014/main" id="{A7F0D27C-66B3-43C4-9567-EB253F71EF2C}"/>
              </a:ext>
            </a:extLst>
          </p:cNvPr>
          <p:cNvSpPr>
            <a:spLocks xmlns:a="http://schemas.openxmlformats.org/drawingml/2006/main" noGrp="1"/>
          </p:cNvSpPr>
          <p:nvPr/>
        </p:nvSpPr>
        <p:spPr>
          <a:xfrm xmlns:a="http://schemas.openxmlformats.org/drawingml/2006/main">
            <a:off x="4552950" y="4057650"/>
            <a:ext cx="3105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0" i="0">
                <a:solidFill>
                  <a:srgbClr val="172B4D"/>
                </a:solidFill>
                <a:latin typeface="Calibri"/>
                <a:ea typeface="Calibri"/>
                <a:cs typeface="Calibri"/>
              </a:defRPr>
            </a:pPr>
            <a:r>
              <a:rPr sz="975" b="0" i="0">
                <a:solidFill>
                  <a:srgbClr val="172B4D"/>
                </a:solidFill>
                <a:latin typeface="Calibri"/>
                <a:ea typeface="Calibri"/>
                <a:cs typeface="Calibri"/>
              </a:rPr>
              <a:t>Set active=false</a:t>
            </a:r>
          </a:p>
        </p:txBody>
      </p:sp>
      <p:sp>
        <p:nvSpPr>
          <p:cNvPr id="100" name="update-cell-3-3">
            <a:extLst xmlns:a="http://schemas.openxmlformats.org/drawingml/2006/main">
              <a:ext uri="{FF2B5EF4-FFF2-40B4-BE49-F238E27FC236}">
                <a16:creationId xmlns:a16="http://schemas.microsoft.com/office/drawing/2014/main" id="{F7EE2F51-9F4A-40E7-AD42-7BC472758FC8}"/>
              </a:ext>
            </a:extLst>
          </p:cNvPr>
          <p:cNvSpPr>
            <a:spLocks xmlns:a="http://schemas.openxmlformats.org/drawingml/2006/main" noGrp="1"/>
          </p:cNvSpPr>
          <p:nvPr/>
        </p:nvSpPr>
        <p:spPr>
          <a:xfrm xmlns:a="http://schemas.openxmlformats.org/drawingml/2006/main">
            <a:off x="7772400" y="3981450"/>
            <a:ext cx="3962400" cy="552450"/>
          </a:xfrm>
          <a:prstGeom xmlns:a="http://schemas.openxmlformats.org/drawingml/2006/main" prst="rect">
            <a:avLst/>
          </a:prstGeom>
          <a:solidFill xmlns:a="http://schemas.openxmlformats.org/drawingml/2006/main">
            <a:srgbClr val="F6F8FB"/>
          </a:solidFill>
          <a:ln xmlns:a="http://schemas.openxmlformats.org/drawingml/2006/main" w="9525">
            <a:solidFill>
              <a:srgbClr val="D7E0EA"/>
            </a:solidFill>
            <a:prstDash val="solid"/>
          </a:ln>
        </p:spPr>
      </p:sp>
      <p:sp>
        <p:nvSpPr>
          <p:cNvPr id="101" name="update-cell-text-3-3">
            <a:extLst xmlns:a="http://schemas.openxmlformats.org/drawingml/2006/main">
              <a:ext uri="{FF2B5EF4-FFF2-40B4-BE49-F238E27FC236}">
                <a16:creationId xmlns:a16="http://schemas.microsoft.com/office/drawing/2014/main" id="{E5938DF8-B578-4D54-BCD4-D4A6B26966B6}"/>
              </a:ext>
            </a:extLst>
          </p:cNvPr>
          <p:cNvSpPr>
            <a:spLocks xmlns:a="http://schemas.openxmlformats.org/drawingml/2006/main" noGrp="1"/>
          </p:cNvSpPr>
          <p:nvPr/>
        </p:nvSpPr>
        <p:spPr>
          <a:xfrm xmlns:a="http://schemas.openxmlformats.org/drawingml/2006/main">
            <a:off x="7886700" y="4057650"/>
            <a:ext cx="3733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0" i="0">
                <a:solidFill>
                  <a:srgbClr val="172B4D"/>
                </a:solidFill>
                <a:latin typeface="Calibri"/>
                <a:ea typeface="Calibri"/>
                <a:cs typeface="Calibri"/>
              </a:defRPr>
            </a:pPr>
            <a:r>
              <a:rPr sz="975" b="0" i="0">
                <a:solidFill>
                  <a:srgbClr val="172B4D"/>
                </a:solidFill>
                <a:latin typeface="Calibri"/>
                <a:ea typeface="Calibri"/>
                <a:cs typeface="Calibri"/>
              </a:rPr>
              <a:t>Tombstone first; delete only after retention</a:t>
            </a:r>
          </a:p>
        </p:txBody>
      </p:sp>
      <p:sp>
        <p:nvSpPr>
          <p:cNvPr id="102" name="update-cell-4-0">
            <a:extLst xmlns:a="http://schemas.openxmlformats.org/drawingml/2006/main">
              <a:ext uri="{FF2B5EF4-FFF2-40B4-BE49-F238E27FC236}">
                <a16:creationId xmlns:a16="http://schemas.microsoft.com/office/drawing/2014/main" id="{EEED0CFE-2B2A-403C-A74C-62DFFA47BEEA}"/>
              </a:ext>
            </a:extLst>
          </p:cNvPr>
          <p:cNvSpPr>
            <a:spLocks xmlns:a="http://schemas.openxmlformats.org/drawingml/2006/main" noGrp="1"/>
          </p:cNvSpPr>
          <p:nvPr/>
        </p:nvSpPr>
        <p:spPr>
          <a:xfrm xmlns:a="http://schemas.openxmlformats.org/drawingml/2006/main">
            <a:off x="400050" y="4533900"/>
            <a:ext cx="17526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prstDash val="solid"/>
          </a:ln>
        </p:spPr>
      </p:sp>
      <p:sp>
        <p:nvSpPr>
          <p:cNvPr id="103" name="update-cell-text-4-0">
            <a:extLst xmlns:a="http://schemas.openxmlformats.org/drawingml/2006/main">
              <a:ext uri="{FF2B5EF4-FFF2-40B4-BE49-F238E27FC236}">
                <a16:creationId xmlns:a16="http://schemas.microsoft.com/office/drawing/2014/main" id="{D1FFBF69-642F-4360-A3CD-D3D3DAAE755F}"/>
              </a:ext>
            </a:extLst>
          </p:cNvPr>
          <p:cNvSpPr>
            <a:spLocks xmlns:a="http://schemas.openxmlformats.org/drawingml/2006/main" noGrp="1"/>
          </p:cNvSpPr>
          <p:nvPr/>
        </p:nvSpPr>
        <p:spPr>
          <a:xfrm xmlns:a="http://schemas.openxmlformats.org/drawingml/2006/main">
            <a:off x="514350" y="46101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i="0">
                <a:solidFill>
                  <a:srgbClr val="173B67"/>
                </a:solidFill>
                <a:latin typeface="Calibri"/>
                <a:ea typeface="Calibri"/>
                <a:cs typeface="Calibri"/>
              </a:defRPr>
            </a:pPr>
            <a:r>
              <a:rPr sz="1050" b="1" i="0">
                <a:solidFill>
                  <a:srgbClr val="173B67"/>
                </a:solidFill>
                <a:latin typeface="Calibri"/>
                <a:ea typeface="Calibri"/>
                <a:cs typeface="Calibri"/>
              </a:rPr>
              <a:t>Model / chunker change</a:t>
            </a:r>
          </a:p>
        </p:txBody>
      </p:sp>
      <p:sp>
        <p:nvSpPr>
          <p:cNvPr id="104" name="update-cell-4-1">
            <a:extLst xmlns:a="http://schemas.openxmlformats.org/drawingml/2006/main">
              <a:ext uri="{FF2B5EF4-FFF2-40B4-BE49-F238E27FC236}">
                <a16:creationId xmlns:a16="http://schemas.microsoft.com/office/drawing/2014/main" id="{3891E5E8-528A-49C6-ADC3-729746ADD9A9}"/>
              </a:ext>
            </a:extLst>
          </p:cNvPr>
          <p:cNvSpPr>
            <a:spLocks xmlns:a="http://schemas.openxmlformats.org/drawingml/2006/main" noGrp="1"/>
          </p:cNvSpPr>
          <p:nvPr/>
        </p:nvSpPr>
        <p:spPr>
          <a:xfrm xmlns:a="http://schemas.openxmlformats.org/drawingml/2006/main">
            <a:off x="2152650" y="4533900"/>
            <a:ext cx="2286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prstDash val="solid"/>
          </a:ln>
        </p:spPr>
      </p:sp>
      <p:sp>
        <p:nvSpPr>
          <p:cNvPr id="105" name="update-cell-text-4-1">
            <a:extLst xmlns:a="http://schemas.openxmlformats.org/drawingml/2006/main">
              <a:ext uri="{FF2B5EF4-FFF2-40B4-BE49-F238E27FC236}">
                <a16:creationId xmlns:a16="http://schemas.microsoft.com/office/drawing/2014/main" id="{A4305840-97ED-4921-A78A-07D11CA50AD2}"/>
              </a:ext>
            </a:extLst>
          </p:cNvPr>
          <p:cNvSpPr>
            <a:spLocks xmlns:a="http://schemas.openxmlformats.org/drawingml/2006/main" noGrp="1"/>
          </p:cNvSpPr>
          <p:nvPr/>
        </p:nvSpPr>
        <p:spPr>
          <a:xfrm xmlns:a="http://schemas.openxmlformats.org/drawingml/2006/main">
            <a:off x="2266950" y="4610100"/>
            <a:ext cx="2057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0" i="0">
                <a:solidFill>
                  <a:srgbClr val="172B4D"/>
                </a:solidFill>
                <a:latin typeface="Calibri"/>
                <a:ea typeface="Calibri"/>
                <a:cs typeface="Calibri"/>
              </a:defRPr>
            </a:pPr>
            <a:r>
              <a:rPr sz="975" b="0" i="0">
                <a:solidFill>
                  <a:srgbClr val="172B4D"/>
                </a:solidFill>
                <a:latin typeface="Calibri"/>
                <a:ea typeface="Calibri"/>
                <a:cs typeface="Calibri"/>
              </a:rPr>
              <a:t>version mismatch</a:t>
            </a:r>
          </a:p>
        </p:txBody>
      </p:sp>
      <p:sp>
        <p:nvSpPr>
          <p:cNvPr id="106" name="update-cell-4-2">
            <a:extLst xmlns:a="http://schemas.openxmlformats.org/drawingml/2006/main">
              <a:ext uri="{FF2B5EF4-FFF2-40B4-BE49-F238E27FC236}">
                <a16:creationId xmlns:a16="http://schemas.microsoft.com/office/drawing/2014/main" id="{E62E9863-88C0-49F3-BE0D-C1013E8045CA}"/>
              </a:ext>
            </a:extLst>
          </p:cNvPr>
          <p:cNvSpPr>
            <a:spLocks xmlns:a="http://schemas.openxmlformats.org/drawingml/2006/main" noGrp="1"/>
          </p:cNvSpPr>
          <p:nvPr/>
        </p:nvSpPr>
        <p:spPr>
          <a:xfrm xmlns:a="http://schemas.openxmlformats.org/drawingml/2006/main">
            <a:off x="4438650" y="4533900"/>
            <a:ext cx="33337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prstDash val="solid"/>
          </a:ln>
        </p:spPr>
      </p:sp>
      <p:sp>
        <p:nvSpPr>
          <p:cNvPr id="107" name="update-cell-text-4-2">
            <a:extLst xmlns:a="http://schemas.openxmlformats.org/drawingml/2006/main">
              <a:ext uri="{FF2B5EF4-FFF2-40B4-BE49-F238E27FC236}">
                <a16:creationId xmlns:a16="http://schemas.microsoft.com/office/drawing/2014/main" id="{B6F27933-1538-4A45-8E1B-FAAEAB19BA33}"/>
              </a:ext>
            </a:extLst>
          </p:cNvPr>
          <p:cNvSpPr>
            <a:spLocks xmlns:a="http://schemas.openxmlformats.org/drawingml/2006/main" noGrp="1"/>
          </p:cNvSpPr>
          <p:nvPr/>
        </p:nvSpPr>
        <p:spPr>
          <a:xfrm xmlns:a="http://schemas.openxmlformats.org/drawingml/2006/main">
            <a:off x="4552950" y="4610100"/>
            <a:ext cx="3105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0" i="0">
                <a:solidFill>
                  <a:srgbClr val="172B4D"/>
                </a:solidFill>
                <a:latin typeface="Calibri"/>
                <a:ea typeface="Calibri"/>
                <a:cs typeface="Calibri"/>
              </a:defRPr>
            </a:pPr>
            <a:r>
              <a:rPr sz="975" b="0" i="0">
                <a:solidFill>
                  <a:srgbClr val="172B4D"/>
                </a:solidFill>
                <a:latin typeface="Calibri"/>
                <a:ea typeface="Calibri"/>
                <a:cs typeface="Calibri"/>
              </a:rPr>
              <a:t>Full versioned re-index</a:t>
            </a:r>
          </a:p>
        </p:txBody>
      </p:sp>
      <p:sp>
        <p:nvSpPr>
          <p:cNvPr id="108" name="update-cell-4-3">
            <a:extLst xmlns:a="http://schemas.openxmlformats.org/drawingml/2006/main">
              <a:ext uri="{FF2B5EF4-FFF2-40B4-BE49-F238E27FC236}">
                <a16:creationId xmlns:a16="http://schemas.microsoft.com/office/drawing/2014/main" id="{2E7513B7-D054-4A2D-8C68-5AEBE745DF8E}"/>
              </a:ext>
            </a:extLst>
          </p:cNvPr>
          <p:cNvSpPr>
            <a:spLocks xmlns:a="http://schemas.openxmlformats.org/drawingml/2006/main" noGrp="1"/>
          </p:cNvSpPr>
          <p:nvPr/>
        </p:nvSpPr>
        <p:spPr>
          <a:xfrm xmlns:a="http://schemas.openxmlformats.org/drawingml/2006/main">
            <a:off x="7772400" y="4533900"/>
            <a:ext cx="39624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prstDash val="solid"/>
          </a:ln>
        </p:spPr>
      </p:sp>
      <p:sp>
        <p:nvSpPr>
          <p:cNvPr id="109" name="update-cell-text-4-3">
            <a:extLst xmlns:a="http://schemas.openxmlformats.org/drawingml/2006/main">
              <a:ext uri="{FF2B5EF4-FFF2-40B4-BE49-F238E27FC236}">
                <a16:creationId xmlns:a16="http://schemas.microsoft.com/office/drawing/2014/main" id="{0271C239-B308-40C9-8649-5DCFB3B159C7}"/>
              </a:ext>
            </a:extLst>
          </p:cNvPr>
          <p:cNvSpPr>
            <a:spLocks xmlns:a="http://schemas.openxmlformats.org/drawingml/2006/main" noGrp="1"/>
          </p:cNvSpPr>
          <p:nvPr/>
        </p:nvSpPr>
        <p:spPr>
          <a:xfrm xmlns:a="http://schemas.openxmlformats.org/drawingml/2006/main">
            <a:off x="7886700" y="4610100"/>
            <a:ext cx="3733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0" i="0">
                <a:solidFill>
                  <a:srgbClr val="172B4D"/>
                </a:solidFill>
                <a:latin typeface="Calibri"/>
                <a:ea typeface="Calibri"/>
                <a:cs typeface="Calibri"/>
              </a:defRPr>
            </a:pPr>
            <a:r>
              <a:rPr sz="975" b="0" i="0">
                <a:solidFill>
                  <a:srgbClr val="172B4D"/>
                </a:solidFill>
                <a:latin typeface="Calibri"/>
                <a:ea typeface="Calibri"/>
                <a:cs typeface="Calibri"/>
              </a:rPr>
              <a:t>Build v2 → validate → atomically switch alias</a:t>
            </a:r>
          </a:p>
        </p:txBody>
      </p:sp>
      <p:sp>
        <p:nvSpPr>
          <p:cNvPr id="110" name="update-switch-band">
            <a:extLst xmlns:a="http://schemas.openxmlformats.org/drawingml/2006/main">
              <a:ext uri="{FF2B5EF4-FFF2-40B4-BE49-F238E27FC236}">
                <a16:creationId xmlns:a16="http://schemas.microsoft.com/office/drawing/2014/main" id="{4A3C141A-D8EC-464C-902B-1040F809D879}"/>
              </a:ext>
            </a:extLst>
          </p:cNvPr>
          <p:cNvSpPr>
            <a:spLocks xmlns:a="http://schemas.openxmlformats.org/drawingml/2006/main" noGrp="1"/>
          </p:cNvSpPr>
          <p:nvPr/>
        </p:nvSpPr>
        <p:spPr>
          <a:xfrm xmlns:a="http://schemas.openxmlformats.org/drawingml/2006/main">
            <a:off x="400050" y="5314950"/>
            <a:ext cx="11334750" cy="647700"/>
          </a:xfrm>
          <a:prstGeom xmlns:a="http://schemas.openxmlformats.org/drawingml/2006/main" prst="roundRect">
            <a:avLst>
              <a:gd name="adj" fmla="val 11765"/>
            </a:avLst>
          </a:prstGeom>
          <a:solidFill xmlns:a="http://schemas.openxmlformats.org/drawingml/2006/main">
            <a:srgbClr val="EAF7F3"/>
          </a:solidFill>
          <a:ln xmlns:a="http://schemas.openxmlformats.org/drawingml/2006/main" w="9525">
            <a:solidFill>
              <a:srgbClr val="B8DED3"/>
            </a:solidFill>
            <a:prstDash val="solid"/>
          </a:ln>
        </p:spPr>
      </p:sp>
      <p:sp>
        <p:nvSpPr>
          <p:cNvPr id="111" name="update-switch-label">
            <a:extLst xmlns:a="http://schemas.openxmlformats.org/drawingml/2006/main">
              <a:ext uri="{FF2B5EF4-FFF2-40B4-BE49-F238E27FC236}">
                <a16:creationId xmlns:a16="http://schemas.microsoft.com/office/drawing/2014/main" id="{DFB6A34C-3289-42DF-B1E5-3370BD8FF974}"/>
              </a:ext>
            </a:extLst>
          </p:cNvPr>
          <p:cNvSpPr>
            <a:spLocks xmlns:a="http://schemas.openxmlformats.org/drawingml/2006/main" noGrp="1"/>
          </p:cNvSpPr>
          <p:nvPr/>
        </p:nvSpPr>
        <p:spPr>
          <a:xfrm xmlns:a="http://schemas.openxmlformats.org/drawingml/2006/main">
            <a:off x="590550" y="5486400"/>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16866C"/>
                </a:solidFill>
                <a:latin typeface="Calibri"/>
                <a:ea typeface="Calibri"/>
                <a:cs typeface="Calibri"/>
              </a:defRPr>
            </a:pPr>
            <a:r>
              <a:rPr sz="1050" b="1" i="0">
                <a:solidFill>
                  <a:srgbClr val="16866C"/>
                </a:solidFill>
                <a:latin typeface="Calibri"/>
                <a:ea typeface="Calibri"/>
                <a:cs typeface="Calibri"/>
              </a:rPr>
              <a:t>SAFE RELEASE</a:t>
            </a:r>
          </a:p>
        </p:txBody>
      </p:sp>
      <p:sp>
        <p:nvSpPr>
          <p:cNvPr id="112" name="update-switch-text">
            <a:extLst xmlns:a="http://schemas.openxmlformats.org/drawingml/2006/main">
              <a:ext uri="{FF2B5EF4-FFF2-40B4-BE49-F238E27FC236}">
                <a16:creationId xmlns:a16="http://schemas.microsoft.com/office/drawing/2014/main" id="{77D0A1BB-F9D2-4A78-A934-1C73F2997070}"/>
              </a:ext>
            </a:extLst>
          </p:cNvPr>
          <p:cNvSpPr>
            <a:spLocks xmlns:a="http://schemas.openxmlformats.org/drawingml/2006/main" noGrp="1"/>
          </p:cNvSpPr>
          <p:nvPr/>
        </p:nvSpPr>
        <p:spPr>
          <a:xfrm xmlns:a="http://schemas.openxmlformats.org/drawingml/2006/main">
            <a:off x="2000250" y="5457825"/>
            <a:ext cx="942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i="0">
                <a:solidFill>
                  <a:srgbClr val="172B4D"/>
                </a:solidFill>
                <a:latin typeface="Calibri"/>
                <a:ea typeface="Calibri"/>
                <a:cs typeface="Calibri"/>
              </a:defRPr>
            </a:pPr>
            <a:r>
              <a:rPr sz="1125" b="0" i="0">
                <a:solidFill>
                  <a:srgbClr val="172B4D"/>
                </a:solidFill>
                <a:latin typeface="Calibri"/>
                <a:ea typeface="Calibri"/>
                <a:cs typeface="Calibri"/>
              </a:rPr>
              <a:t>Do not overwrite the live index in place: build a new embedding_version, run retrieval evaluation, switch the active version, and retain rollback metadata.</a:t>
            </a:r>
          </a:p>
        </p:txBody>
      </p:sp>
    </p:spTree>
    <p:extLst>
      <p:ext uri="{BB962C8B-B14F-4D97-AF65-F5344CB8AC3E}">
        <p14:creationId xmlns:p14="http://schemas.microsoft.com/office/powerpoint/2010/main" val="178053844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A0FA84C4-6D56-49A5-B992-E2C7E2CA6BAA}"/>
              </a:ext>
            </a:extLst>
          </p:cNvPr>
          <p:cNvSpPr>
            <a:spLocks xmlns:a="http://schemas.openxmlformats.org/drawingml/2006/main" noGrp="1"/>
          </p:cNvSpPr>
          <p:nvPr/>
        </p:nvSpPr>
        <p:spPr>
          <a:xfrm xmlns:a="http://schemas.openxmlformats.org/drawingml/2006/main">
            <a:off x="400050" y="2857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1356F"/>
                </a:solidFill>
              </a:defRPr>
            </a:pPr>
            <a:r>
              <a:rPr sz="2025" b="1">
                <a:solidFill>
                  <a:srgbClr val="11356F"/>
                </a:solidFill>
              </a:rPr>
              <a:t>4. TRAINING &amp; EVALUATION</a:t>
            </a:r>
          </a:p>
        </p:txBody>
      </p:sp>
      <p:sp>
        <p:nvSpPr>
          <p:cNvPr id="2" name="">
            <a:extLst xmlns:a="http://schemas.openxmlformats.org/drawingml/2006/main">
              <a:ext uri="{FF2B5EF4-FFF2-40B4-BE49-F238E27FC236}">
                <a16:creationId xmlns:a16="http://schemas.microsoft.com/office/drawing/2014/main" id="{C4EC4226-ADF6-4B35-A367-A8FCBA4608B6}"/>
              </a:ext>
            </a:extLst>
          </p:cNvPr>
          <p:cNvSpPr>
            <a:spLocks xmlns:a="http://schemas.openxmlformats.org/drawingml/2006/main" noGrp="1"/>
          </p:cNvSpPr>
          <p:nvPr/>
        </p:nvSpPr>
        <p:spPr>
          <a:xfrm xmlns:a="http://schemas.openxmlformats.org/drawingml/2006/main">
            <a:off x="400050" y="723900"/>
            <a:ext cx="9715500" cy="9525"/>
          </a:xfrm>
          <a:prstGeom xmlns:a="http://schemas.openxmlformats.org/drawingml/2006/main" prst="line">
            <a:avLst/>
          </a:prstGeom>
          <a:noFill xmlns:a="http://schemas.openxmlformats.org/drawingml/2006/main"/>
          <a:ln xmlns:a="http://schemas.openxmlformats.org/drawingml/2006/main" w="9525">
            <a:solidFill>
              <a:srgbClr val="D8E6FF"/>
            </a:solidFill>
            <a:prstDash val="solid"/>
          </a:ln>
        </p:spPr>
      </p:sp>
      <p:sp>
        <p:nvSpPr>
          <p:cNvPr id="3" name="">
            <a:extLst xmlns:a="http://schemas.openxmlformats.org/drawingml/2006/main">
              <a:ext uri="{FF2B5EF4-FFF2-40B4-BE49-F238E27FC236}">
                <a16:creationId xmlns:a16="http://schemas.microsoft.com/office/drawing/2014/main" id="{7B775F88-E148-4190-B18E-72ECFA9F7B1F}"/>
              </a:ext>
            </a:extLst>
          </p:cNvPr>
          <p:cNvSpPr>
            <a:spLocks xmlns:a="http://schemas.openxmlformats.org/drawingml/2006/main" noGrp="1"/>
          </p:cNvSpPr>
          <p:nvPr/>
        </p:nvSpPr>
        <p:spPr>
          <a:xfrm xmlns:a="http://schemas.openxmlformats.org/drawingml/2006/main">
            <a:off x="400050" y="838200"/>
            <a:ext cx="923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62C52"/>
                </a:solidFill>
              </a:defRPr>
            </a:pPr>
            <a:r>
              <a:rPr sz="1500" b="1">
                <a:solidFill>
                  <a:srgbClr val="162C52"/>
                </a:solidFill>
              </a:rPr>
              <a:t>A Defensible Benchmark Separates Dataset, Metric and Claim</a:t>
            </a:r>
          </a:p>
        </p:txBody>
      </p:sp>
      <p:sp>
        <p:nvSpPr>
          <p:cNvPr id="4" name="">
            <a:extLst xmlns:a="http://schemas.openxmlformats.org/drawingml/2006/main">
              <a:ext uri="{FF2B5EF4-FFF2-40B4-BE49-F238E27FC236}">
                <a16:creationId xmlns:a16="http://schemas.microsoft.com/office/drawing/2014/main" id="{765338A5-DC9E-48AC-B62E-F735FB259E74}"/>
              </a:ext>
            </a:extLst>
          </p:cNvPr>
          <p:cNvSpPr>
            <a:spLocks xmlns:a="http://schemas.openxmlformats.org/drawingml/2006/main" noGrp="1"/>
          </p:cNvSpPr>
          <p:nvPr/>
        </p:nvSpPr>
        <p:spPr>
          <a:xfrm xmlns:a="http://schemas.openxmlformats.org/drawingml/2006/main">
            <a:off x="400050" y="1114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617391"/>
                </a:solidFill>
              </a:defRPr>
            </a:pPr>
            <a:r>
              <a:rPr sz="1050" b="0">
                <a:solidFill>
                  <a:srgbClr val="617391"/>
                </a:solidFill>
              </a:rPr>
              <a:t>There is no model fine-tuning; pre-trained models must be evaluated on a frozen, labelled and consented dataset.</a:t>
            </a:r>
          </a:p>
        </p:txBody>
      </p:sp>
      <p:sp>
        <p:nvSpPr>
          <p:cNvPr id="5" name="">
            <a:extLst xmlns:a="http://schemas.openxmlformats.org/drawingml/2006/main">
              <a:ext uri="{FF2B5EF4-FFF2-40B4-BE49-F238E27FC236}">
                <a16:creationId xmlns:a16="http://schemas.microsoft.com/office/drawing/2014/main" id="{84131477-4336-450A-B28C-EBCDD42B843C}"/>
              </a:ext>
            </a:extLst>
          </p:cNvPr>
          <p:cNvSpPr>
            <a:spLocks xmlns:a="http://schemas.openxmlformats.org/drawingml/2006/main" noGrp="1"/>
          </p:cNvSpPr>
          <p:nvPr/>
        </p:nvSpPr>
        <p:spPr>
          <a:xfrm xmlns:a="http://schemas.openxmlformats.org/drawingml/2006/main">
            <a:off x="11001375" y="304800"/>
            <a:ext cx="228600" cy="228600"/>
          </a:xfrm>
          <a:prstGeom xmlns:a="http://schemas.openxmlformats.org/drawingml/2006/main" prst="rect">
            <a:avLst/>
          </a:prstGeom>
          <a:solidFill xmlns:a="http://schemas.openxmlformats.org/drawingml/2006/main">
            <a:srgbClr val="D9E5F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FB3F80E-ACEE-41E3-BF84-BD130FD3FF5C}"/>
              </a:ext>
            </a:extLst>
          </p:cNvPr>
          <p:cNvSpPr>
            <a:spLocks xmlns:a="http://schemas.openxmlformats.org/drawingml/2006/main" noGrp="1"/>
          </p:cNvSpPr>
          <p:nvPr/>
        </p:nvSpPr>
        <p:spPr>
          <a:xfrm xmlns:a="http://schemas.openxmlformats.org/drawingml/2006/main">
            <a:off x="11258550" y="304800"/>
            <a:ext cx="228600" cy="228600"/>
          </a:xfrm>
          <a:prstGeom xmlns:a="http://schemas.openxmlformats.org/drawingml/2006/main" prst="rect">
            <a:avLst/>
          </a:prstGeom>
          <a:solidFill xmlns:a="http://schemas.openxmlformats.org/drawingml/2006/main">
            <a:srgbClr val="AFC9F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1E944EB-6E64-456A-9A7C-457DE60B1644}"/>
              </a:ext>
            </a:extLst>
          </p:cNvPr>
          <p:cNvSpPr>
            <a:spLocks xmlns:a="http://schemas.openxmlformats.org/drawingml/2006/main" noGrp="1"/>
          </p:cNvSpPr>
          <p:nvPr/>
        </p:nvSpPr>
        <p:spPr>
          <a:xfrm xmlns:a="http://schemas.openxmlformats.org/drawingml/2006/main">
            <a:off x="11515725" y="304800"/>
            <a:ext cx="228600" cy="228600"/>
          </a:xfrm>
          <a:prstGeom xmlns:a="http://schemas.openxmlformats.org/drawingml/2006/main" prst="rect">
            <a:avLst/>
          </a:prstGeom>
          <a:solidFill xmlns:a="http://schemas.openxmlformats.org/drawingml/2006/main">
            <a:srgbClr val="78A3F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95F19F6-454C-4525-B9E0-2CDC68F7BA63}"/>
              </a:ext>
            </a:extLst>
          </p:cNvPr>
          <p:cNvSpPr>
            <a:spLocks xmlns:a="http://schemas.openxmlformats.org/drawingml/2006/main" noGrp="1"/>
          </p:cNvSpPr>
          <p:nvPr/>
        </p:nvSpPr>
        <p:spPr>
          <a:xfrm xmlns:a="http://schemas.openxmlformats.org/drawingml/2006/main">
            <a:off x="40005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A98AE"/>
                </a:solidFill>
              </a:defRPr>
            </a:pPr>
            <a:r>
              <a:rPr sz="825" b="1">
                <a:solidFill>
                  <a:srgbClr val="8A98AE"/>
                </a:solidFill>
              </a:rPr>
              <a:t>FIPILOT  •  DEFENSE ROUND 1  •  15</a:t>
            </a:r>
          </a:p>
        </p:txBody>
      </p:sp>
      <p:sp>
        <p:nvSpPr>
          <p:cNvPr id="44" name="header-cover-3">
            <a:extLst xmlns:a="http://schemas.openxmlformats.org/drawingml/2006/main">
              <a:ext uri="{FF2B5EF4-FFF2-40B4-BE49-F238E27FC236}">
                <a16:creationId xmlns:a16="http://schemas.microsoft.com/office/drawing/2014/main" id="{6A5A59DA-414C-4856-A8E0-317FB9CD0A42}"/>
              </a:ext>
            </a:extLst>
          </p:cNvPr>
          <p:cNvSpPr>
            <a:spLocks xmlns:a="http://schemas.openxmlformats.org/drawingml/2006/main" noGrp="1"/>
          </p:cNvSpPr>
          <p:nvPr/>
        </p:nvSpPr>
        <p:spPr>
          <a:xfrm xmlns:a="http://schemas.openxmlformats.org/drawingml/2006/main">
            <a:off x="323850" y="190500"/>
            <a:ext cx="11525250" cy="6096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5" name="section-title-3">
            <a:extLst xmlns:a="http://schemas.openxmlformats.org/drawingml/2006/main">
              <a:ext uri="{FF2B5EF4-FFF2-40B4-BE49-F238E27FC236}">
                <a16:creationId xmlns:a16="http://schemas.microsoft.com/office/drawing/2014/main" id="{06A8C362-930D-4F5C-B2F9-F3488EF8B506}"/>
              </a:ext>
            </a:extLst>
          </p:cNvPr>
          <p:cNvSpPr>
            <a:spLocks xmlns:a="http://schemas.openxmlformats.org/drawingml/2006/main" noGrp="1"/>
          </p:cNvSpPr>
          <p:nvPr/>
        </p:nvSpPr>
        <p:spPr>
          <a:xfrm xmlns:a="http://schemas.openxmlformats.org/drawingml/2006/main">
            <a:off x="400050" y="2857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1356F"/>
                </a:solidFill>
              </a:defRPr>
            </a:pPr>
            <a:r>
              <a:rPr sz="2025" b="1">
                <a:solidFill>
                  <a:srgbClr val="11356F"/>
                </a:solidFill>
              </a:rPr>
              <a:t>4. TRAINING &amp; EVALUATION</a:t>
            </a:r>
          </a:p>
        </p:txBody>
      </p:sp>
      <p:sp>
        <p:nvSpPr>
          <p:cNvPr id="46" name="section-rule-3">
            <a:extLst xmlns:a="http://schemas.openxmlformats.org/drawingml/2006/main">
              <a:ext uri="{FF2B5EF4-FFF2-40B4-BE49-F238E27FC236}">
                <a16:creationId xmlns:a16="http://schemas.microsoft.com/office/drawing/2014/main" id="{95DE4CC3-A856-4C2C-BB50-08032CB56BDD}"/>
              </a:ext>
            </a:extLst>
          </p:cNvPr>
          <p:cNvSpPr>
            <a:spLocks xmlns:a="http://schemas.openxmlformats.org/drawingml/2006/main" noGrp="1"/>
          </p:cNvSpPr>
          <p:nvPr/>
        </p:nvSpPr>
        <p:spPr>
          <a:xfrm xmlns:a="http://schemas.openxmlformats.org/drawingml/2006/main">
            <a:off x="400050" y="723900"/>
            <a:ext cx="9715500" cy="9525"/>
          </a:xfrm>
          <a:prstGeom xmlns:a="http://schemas.openxmlformats.org/drawingml/2006/main" prst="line">
            <a:avLst/>
          </a:prstGeom>
          <a:noFill xmlns:a="http://schemas.openxmlformats.org/drawingml/2006/main"/>
          <a:ln xmlns:a="http://schemas.openxmlformats.org/drawingml/2006/main" w="9525">
            <a:solidFill>
              <a:srgbClr val="D8E6FF"/>
            </a:solidFill>
            <a:prstDash val="solid"/>
          </a:ln>
        </p:spPr>
      </p:sp>
      <p:sp>
        <p:nvSpPr>
          <p:cNvPr id="47" name="brand-square-1-3">
            <a:extLst xmlns:a="http://schemas.openxmlformats.org/drawingml/2006/main">
              <a:ext uri="{FF2B5EF4-FFF2-40B4-BE49-F238E27FC236}">
                <a16:creationId xmlns:a16="http://schemas.microsoft.com/office/drawing/2014/main" id="{5C98C187-5A57-451D-8C81-1F85220D2AC7}"/>
              </a:ext>
            </a:extLst>
          </p:cNvPr>
          <p:cNvSpPr>
            <a:spLocks xmlns:a="http://schemas.openxmlformats.org/drawingml/2006/main" noGrp="1"/>
          </p:cNvSpPr>
          <p:nvPr/>
        </p:nvSpPr>
        <p:spPr>
          <a:xfrm xmlns:a="http://schemas.openxmlformats.org/drawingml/2006/main">
            <a:off x="11001375" y="304800"/>
            <a:ext cx="228600" cy="228600"/>
          </a:xfrm>
          <a:prstGeom xmlns:a="http://schemas.openxmlformats.org/drawingml/2006/main" prst="rect">
            <a:avLst/>
          </a:prstGeom>
          <a:solidFill xmlns:a="http://schemas.openxmlformats.org/drawingml/2006/main">
            <a:srgbClr val="D9E5FB"/>
          </a:solidFill>
          <a:ln xmlns:a="http://schemas.openxmlformats.org/drawingml/2006/main" w="0">
            <a:noFill/>
            <a:prstDash val="solid"/>
          </a:ln>
        </p:spPr>
      </p:sp>
      <p:sp>
        <p:nvSpPr>
          <p:cNvPr id="48" name="brand-square-2-3">
            <a:extLst xmlns:a="http://schemas.openxmlformats.org/drawingml/2006/main">
              <a:ext uri="{FF2B5EF4-FFF2-40B4-BE49-F238E27FC236}">
                <a16:creationId xmlns:a16="http://schemas.microsoft.com/office/drawing/2014/main" id="{0BE5B794-C6F4-4753-8605-268E942FC194}"/>
              </a:ext>
            </a:extLst>
          </p:cNvPr>
          <p:cNvSpPr>
            <a:spLocks xmlns:a="http://schemas.openxmlformats.org/drawingml/2006/main" noGrp="1"/>
          </p:cNvSpPr>
          <p:nvPr/>
        </p:nvSpPr>
        <p:spPr>
          <a:xfrm xmlns:a="http://schemas.openxmlformats.org/drawingml/2006/main">
            <a:off x="11258550" y="304800"/>
            <a:ext cx="228600" cy="228600"/>
          </a:xfrm>
          <a:prstGeom xmlns:a="http://schemas.openxmlformats.org/drawingml/2006/main" prst="rect">
            <a:avLst/>
          </a:prstGeom>
          <a:solidFill xmlns:a="http://schemas.openxmlformats.org/drawingml/2006/main">
            <a:srgbClr val="AFC9F7"/>
          </a:solidFill>
          <a:ln xmlns:a="http://schemas.openxmlformats.org/drawingml/2006/main" w="0">
            <a:noFill/>
            <a:prstDash val="solid"/>
          </a:ln>
        </p:spPr>
      </p:sp>
      <p:sp>
        <p:nvSpPr>
          <p:cNvPr id="49" name="brand-square-3-3">
            <a:extLst xmlns:a="http://schemas.openxmlformats.org/drawingml/2006/main">
              <a:ext uri="{FF2B5EF4-FFF2-40B4-BE49-F238E27FC236}">
                <a16:creationId xmlns:a16="http://schemas.microsoft.com/office/drawing/2014/main" id="{12F86765-BE6C-46AB-A815-6ABBD9E787D2}"/>
              </a:ext>
            </a:extLst>
          </p:cNvPr>
          <p:cNvSpPr>
            <a:spLocks xmlns:a="http://schemas.openxmlformats.org/drawingml/2006/main" noGrp="1"/>
          </p:cNvSpPr>
          <p:nvPr/>
        </p:nvSpPr>
        <p:spPr>
          <a:xfrm xmlns:a="http://schemas.openxmlformats.org/drawingml/2006/main">
            <a:off x="11515725" y="304800"/>
            <a:ext cx="228600" cy="228600"/>
          </a:xfrm>
          <a:prstGeom xmlns:a="http://schemas.openxmlformats.org/drawingml/2006/main" prst="rect">
            <a:avLst/>
          </a:prstGeom>
          <a:solidFill xmlns:a="http://schemas.openxmlformats.org/drawingml/2006/main">
            <a:srgbClr val="78A3F1"/>
          </a:solidFill>
          <a:ln xmlns:a="http://schemas.openxmlformats.org/drawingml/2006/main" w="0">
            <a:noFill/>
            <a:prstDash val="solid"/>
          </a:ln>
        </p:spPr>
      </p:sp>
      <p:sp>
        <p:nvSpPr>
          <p:cNvPr id="50" name="footer-cover-3">
            <a:extLst xmlns:a="http://schemas.openxmlformats.org/drawingml/2006/main">
              <a:ext uri="{FF2B5EF4-FFF2-40B4-BE49-F238E27FC236}">
                <a16:creationId xmlns:a16="http://schemas.microsoft.com/office/drawing/2014/main" id="{D6777E20-D174-424B-98CC-BEB044B1CC22}"/>
              </a:ext>
            </a:extLst>
          </p:cNvPr>
          <p:cNvSpPr>
            <a:spLocks xmlns:a="http://schemas.openxmlformats.org/drawingml/2006/main" noGrp="1"/>
          </p:cNvSpPr>
          <p:nvPr/>
        </p:nvSpPr>
        <p:spPr>
          <a:xfrm xmlns:a="http://schemas.openxmlformats.org/drawingml/2006/main">
            <a:off x="323850" y="6438900"/>
            <a:ext cx="4191000" cy="2667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1" name="footer-3">
            <a:extLst xmlns:a="http://schemas.openxmlformats.org/drawingml/2006/main">
              <a:ext uri="{FF2B5EF4-FFF2-40B4-BE49-F238E27FC236}">
                <a16:creationId xmlns:a16="http://schemas.microsoft.com/office/drawing/2014/main" id="{D88565E7-0D9E-4A95-B9D6-E3C6D715B650}"/>
              </a:ext>
            </a:extLst>
          </p:cNvPr>
          <p:cNvSpPr>
            <a:spLocks xmlns:a="http://schemas.openxmlformats.org/drawingml/2006/main" noGrp="1"/>
          </p:cNvSpPr>
          <p:nvPr/>
        </p:nvSpPr>
        <p:spPr>
          <a:xfrm xmlns:a="http://schemas.openxmlformats.org/drawingml/2006/main">
            <a:off x="40005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A98AE"/>
                </a:solidFill>
              </a:defRPr>
            </a:pPr>
            <a:r>
              <a:rPr sz="825" b="1">
                <a:solidFill>
                  <a:srgbClr val="8A98AE"/>
                </a:solidFill>
              </a:rPr>
              <a:t>FIPILOT  •  DEFENSE ROUND 1  •  15</a:t>
            </a:r>
          </a:p>
        </p:txBody>
      </p:sp>
      <p:sp>
        <p:nvSpPr>
          <p:cNvPr id="53" name="eval-phase-0">
            <a:extLst xmlns:a="http://schemas.openxmlformats.org/drawingml/2006/main">
              <a:ext uri="{FF2B5EF4-FFF2-40B4-BE49-F238E27FC236}">
                <a16:creationId xmlns:a16="http://schemas.microsoft.com/office/drawing/2014/main" id="{0D74153E-B551-4704-BE1E-34C3B46DDAC0}"/>
              </a:ext>
            </a:extLst>
          </p:cNvPr>
          <p:cNvSpPr>
            <a:spLocks xmlns:a="http://schemas.openxmlformats.org/drawingml/2006/main" noGrp="1"/>
          </p:cNvSpPr>
          <p:nvPr/>
        </p:nvSpPr>
        <p:spPr>
          <a:xfrm xmlns:a="http://schemas.openxmlformats.org/drawingml/2006/main">
            <a:off x="400050" y="1524000"/>
            <a:ext cx="1962150" cy="628650"/>
          </a:xfrm>
          <a:prstGeom xmlns:a="http://schemas.openxmlformats.org/drawingml/2006/main" prst="roundRect">
            <a:avLst>
              <a:gd name="adj" fmla="val 12121"/>
            </a:avLst>
          </a:prstGeom>
          <a:solidFill xmlns:a="http://schemas.openxmlformats.org/drawingml/2006/main">
            <a:srgbClr val="EAF2FF"/>
          </a:solidFill>
          <a:ln xmlns:a="http://schemas.openxmlformats.org/drawingml/2006/main" w="9525">
            <a:solidFill>
              <a:srgbClr val="B8CDF2"/>
            </a:solidFill>
            <a:prstDash val="solid"/>
          </a:ln>
        </p:spPr>
      </p:sp>
      <p:sp>
        <p:nvSpPr>
          <p:cNvPr id="54" name="eval-phase-text-0">
            <a:extLst xmlns:a="http://schemas.openxmlformats.org/drawingml/2006/main">
              <a:ext uri="{FF2B5EF4-FFF2-40B4-BE49-F238E27FC236}">
                <a16:creationId xmlns:a16="http://schemas.microsoft.com/office/drawing/2014/main" id="{00751C61-DF01-4BE3-9A30-22BBC3D82753}"/>
              </a:ext>
            </a:extLst>
          </p:cNvPr>
          <p:cNvSpPr>
            <a:spLocks xmlns:a="http://schemas.openxmlformats.org/drawingml/2006/main" noGrp="1"/>
          </p:cNvSpPr>
          <p:nvPr/>
        </p:nvSpPr>
        <p:spPr>
          <a:xfrm xmlns:a="http://schemas.openxmlformats.org/drawingml/2006/main">
            <a:off x="495300" y="1685925"/>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i="0">
                <a:solidFill>
                  <a:srgbClr val="2A6FDB"/>
                </a:solidFill>
                <a:latin typeface="Calibri"/>
                <a:ea typeface="Calibri"/>
                <a:cs typeface="Calibri"/>
              </a:defRPr>
            </a:pPr>
            <a:r>
              <a:rPr sz="1125" b="1" i="0">
                <a:solidFill>
                  <a:srgbClr val="2A6FDB"/>
                </a:solidFill>
                <a:latin typeface="Calibri"/>
                <a:ea typeface="Calibri"/>
                <a:cs typeface="Calibri"/>
              </a:rPr>
              <a:t>1 · Label</a:t>
            </a:r>
          </a:p>
        </p:txBody>
      </p:sp>
      <p:sp>
        <p:nvSpPr>
          <p:cNvPr id="55" name="eval-phase-arrow-0">
            <a:extLst xmlns:a="http://schemas.openxmlformats.org/drawingml/2006/main">
              <a:ext uri="{FF2B5EF4-FFF2-40B4-BE49-F238E27FC236}">
                <a16:creationId xmlns:a16="http://schemas.microsoft.com/office/drawing/2014/main" id="{56D16FF1-1B91-4E8E-ADAF-6CD3758EB3BE}"/>
              </a:ext>
            </a:extLst>
          </p:cNvPr>
          <p:cNvSpPr>
            <a:spLocks xmlns:a="http://schemas.openxmlformats.org/drawingml/2006/main" noGrp="1"/>
          </p:cNvSpPr>
          <p:nvPr/>
        </p:nvSpPr>
        <p:spPr>
          <a:xfrm xmlns:a="http://schemas.openxmlformats.org/drawingml/2006/main">
            <a:off x="2371725" y="1695450"/>
            <a:ext cx="2952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5B6B7F"/>
                </a:solidFill>
                <a:latin typeface="Calibri"/>
                <a:ea typeface="Calibri"/>
                <a:cs typeface="Calibri"/>
              </a:defRPr>
            </a:pPr>
            <a:r>
              <a:rPr sz="1500" b="1" i="0">
                <a:solidFill>
                  <a:srgbClr val="5B6B7F"/>
                </a:solidFill>
                <a:latin typeface="Calibri"/>
                <a:ea typeface="Calibri"/>
                <a:cs typeface="Calibri"/>
              </a:rPr>
              <a:t>→</a:t>
            </a:r>
          </a:p>
        </p:txBody>
      </p:sp>
      <p:sp>
        <p:nvSpPr>
          <p:cNvPr id="56" name="eval-phase-1">
            <a:extLst xmlns:a="http://schemas.openxmlformats.org/drawingml/2006/main">
              <a:ext uri="{FF2B5EF4-FFF2-40B4-BE49-F238E27FC236}">
                <a16:creationId xmlns:a16="http://schemas.microsoft.com/office/drawing/2014/main" id="{61271A6A-9ECF-4F6B-A7F2-4540F1A1D20B}"/>
              </a:ext>
            </a:extLst>
          </p:cNvPr>
          <p:cNvSpPr>
            <a:spLocks xmlns:a="http://schemas.openxmlformats.org/drawingml/2006/main" noGrp="1"/>
          </p:cNvSpPr>
          <p:nvPr/>
        </p:nvSpPr>
        <p:spPr>
          <a:xfrm xmlns:a="http://schemas.openxmlformats.org/drawingml/2006/main">
            <a:off x="2667000" y="1524000"/>
            <a:ext cx="1962150" cy="628650"/>
          </a:xfrm>
          <a:prstGeom xmlns:a="http://schemas.openxmlformats.org/drawingml/2006/main" prst="roundRect">
            <a:avLst>
              <a:gd name="adj" fmla="val 12121"/>
            </a:avLst>
          </a:prstGeom>
          <a:solidFill xmlns:a="http://schemas.openxmlformats.org/drawingml/2006/main">
            <a:srgbClr val="EAF2FF"/>
          </a:solidFill>
          <a:ln xmlns:a="http://schemas.openxmlformats.org/drawingml/2006/main" w="9525">
            <a:solidFill>
              <a:srgbClr val="B8CDF2"/>
            </a:solidFill>
            <a:prstDash val="solid"/>
          </a:ln>
        </p:spPr>
      </p:sp>
      <p:sp>
        <p:nvSpPr>
          <p:cNvPr id="57" name="eval-phase-text-1">
            <a:extLst xmlns:a="http://schemas.openxmlformats.org/drawingml/2006/main">
              <a:ext uri="{FF2B5EF4-FFF2-40B4-BE49-F238E27FC236}">
                <a16:creationId xmlns:a16="http://schemas.microsoft.com/office/drawing/2014/main" id="{C2AE3C23-A06A-48F6-A48E-6A135FA2B0C8}"/>
              </a:ext>
            </a:extLst>
          </p:cNvPr>
          <p:cNvSpPr>
            <a:spLocks xmlns:a="http://schemas.openxmlformats.org/drawingml/2006/main" noGrp="1"/>
          </p:cNvSpPr>
          <p:nvPr/>
        </p:nvSpPr>
        <p:spPr>
          <a:xfrm xmlns:a="http://schemas.openxmlformats.org/drawingml/2006/main">
            <a:off x="2762250" y="1685925"/>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i="0">
                <a:solidFill>
                  <a:srgbClr val="2A6FDB"/>
                </a:solidFill>
                <a:latin typeface="Calibri"/>
                <a:ea typeface="Calibri"/>
                <a:cs typeface="Calibri"/>
              </a:defRPr>
            </a:pPr>
            <a:r>
              <a:rPr sz="1125" b="1" i="0">
                <a:solidFill>
                  <a:srgbClr val="2A6FDB"/>
                </a:solidFill>
                <a:latin typeface="Calibri"/>
                <a:ea typeface="Calibri"/>
                <a:cs typeface="Calibri"/>
              </a:rPr>
              <a:t>2 · Freeze split</a:t>
            </a:r>
          </a:p>
        </p:txBody>
      </p:sp>
      <p:sp>
        <p:nvSpPr>
          <p:cNvPr id="58" name="eval-phase-arrow-1">
            <a:extLst xmlns:a="http://schemas.openxmlformats.org/drawingml/2006/main">
              <a:ext uri="{FF2B5EF4-FFF2-40B4-BE49-F238E27FC236}">
                <a16:creationId xmlns:a16="http://schemas.microsoft.com/office/drawing/2014/main" id="{4F4A7B78-1D02-4641-B4DB-84BF553A19F8}"/>
              </a:ext>
            </a:extLst>
          </p:cNvPr>
          <p:cNvSpPr>
            <a:spLocks xmlns:a="http://schemas.openxmlformats.org/drawingml/2006/main" noGrp="1"/>
          </p:cNvSpPr>
          <p:nvPr/>
        </p:nvSpPr>
        <p:spPr>
          <a:xfrm xmlns:a="http://schemas.openxmlformats.org/drawingml/2006/main">
            <a:off x="4638675" y="1695450"/>
            <a:ext cx="2952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5B6B7F"/>
                </a:solidFill>
                <a:latin typeface="Calibri"/>
                <a:ea typeface="Calibri"/>
                <a:cs typeface="Calibri"/>
              </a:defRPr>
            </a:pPr>
            <a:r>
              <a:rPr sz="1500" b="1" i="0">
                <a:solidFill>
                  <a:srgbClr val="5B6B7F"/>
                </a:solidFill>
                <a:latin typeface="Calibri"/>
                <a:ea typeface="Calibri"/>
                <a:cs typeface="Calibri"/>
              </a:rPr>
              <a:t>→</a:t>
            </a:r>
          </a:p>
        </p:txBody>
      </p:sp>
      <p:sp>
        <p:nvSpPr>
          <p:cNvPr id="59" name="eval-phase-2">
            <a:extLst xmlns:a="http://schemas.openxmlformats.org/drawingml/2006/main">
              <a:ext uri="{FF2B5EF4-FFF2-40B4-BE49-F238E27FC236}">
                <a16:creationId xmlns:a16="http://schemas.microsoft.com/office/drawing/2014/main" id="{E0C686F0-08A8-4A99-BF68-B0C0B44F2A9E}"/>
              </a:ext>
            </a:extLst>
          </p:cNvPr>
          <p:cNvSpPr>
            <a:spLocks xmlns:a="http://schemas.openxmlformats.org/drawingml/2006/main" noGrp="1"/>
          </p:cNvSpPr>
          <p:nvPr/>
        </p:nvSpPr>
        <p:spPr>
          <a:xfrm xmlns:a="http://schemas.openxmlformats.org/drawingml/2006/main">
            <a:off x="4933950" y="1524000"/>
            <a:ext cx="1962150" cy="628650"/>
          </a:xfrm>
          <a:prstGeom xmlns:a="http://schemas.openxmlformats.org/drawingml/2006/main" prst="roundRect">
            <a:avLst>
              <a:gd name="adj" fmla="val 12121"/>
            </a:avLst>
          </a:prstGeom>
          <a:solidFill xmlns:a="http://schemas.openxmlformats.org/drawingml/2006/main">
            <a:srgbClr val="EAF2FF"/>
          </a:solidFill>
          <a:ln xmlns:a="http://schemas.openxmlformats.org/drawingml/2006/main" w="9525">
            <a:solidFill>
              <a:srgbClr val="B8CDF2"/>
            </a:solidFill>
            <a:prstDash val="solid"/>
          </a:ln>
        </p:spPr>
      </p:sp>
      <p:sp>
        <p:nvSpPr>
          <p:cNvPr id="60" name="eval-phase-text-2">
            <a:extLst xmlns:a="http://schemas.openxmlformats.org/drawingml/2006/main">
              <a:ext uri="{FF2B5EF4-FFF2-40B4-BE49-F238E27FC236}">
                <a16:creationId xmlns:a16="http://schemas.microsoft.com/office/drawing/2014/main" id="{2C0C50A7-AA13-4758-AC67-3F2D2ED215DB}"/>
              </a:ext>
            </a:extLst>
          </p:cNvPr>
          <p:cNvSpPr>
            <a:spLocks xmlns:a="http://schemas.openxmlformats.org/drawingml/2006/main" noGrp="1"/>
          </p:cNvSpPr>
          <p:nvPr/>
        </p:nvSpPr>
        <p:spPr>
          <a:xfrm xmlns:a="http://schemas.openxmlformats.org/drawingml/2006/main">
            <a:off x="5029200" y="1685925"/>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i="0">
                <a:solidFill>
                  <a:srgbClr val="2A6FDB"/>
                </a:solidFill>
                <a:latin typeface="Calibri"/>
                <a:ea typeface="Calibri"/>
                <a:cs typeface="Calibri"/>
              </a:defRPr>
            </a:pPr>
            <a:r>
              <a:rPr sz="1125" b="1" i="0">
                <a:solidFill>
                  <a:srgbClr val="2A6FDB"/>
                </a:solidFill>
                <a:latin typeface="Calibri"/>
                <a:ea typeface="Calibri"/>
                <a:cs typeface="Calibri"/>
              </a:rPr>
              <a:t>3 · Run systems</a:t>
            </a:r>
          </a:p>
        </p:txBody>
      </p:sp>
      <p:sp>
        <p:nvSpPr>
          <p:cNvPr id="61" name="eval-phase-arrow-2">
            <a:extLst xmlns:a="http://schemas.openxmlformats.org/drawingml/2006/main">
              <a:ext uri="{FF2B5EF4-FFF2-40B4-BE49-F238E27FC236}">
                <a16:creationId xmlns:a16="http://schemas.microsoft.com/office/drawing/2014/main" id="{52679FCB-2C97-461D-A1F9-3B503C08E6AA}"/>
              </a:ext>
            </a:extLst>
          </p:cNvPr>
          <p:cNvSpPr>
            <a:spLocks xmlns:a="http://schemas.openxmlformats.org/drawingml/2006/main" noGrp="1"/>
          </p:cNvSpPr>
          <p:nvPr/>
        </p:nvSpPr>
        <p:spPr>
          <a:xfrm xmlns:a="http://schemas.openxmlformats.org/drawingml/2006/main">
            <a:off x="6905625" y="1695450"/>
            <a:ext cx="2952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5B6B7F"/>
                </a:solidFill>
                <a:latin typeface="Calibri"/>
                <a:ea typeface="Calibri"/>
                <a:cs typeface="Calibri"/>
              </a:defRPr>
            </a:pPr>
            <a:r>
              <a:rPr sz="1500" b="1" i="0">
                <a:solidFill>
                  <a:srgbClr val="5B6B7F"/>
                </a:solidFill>
                <a:latin typeface="Calibri"/>
                <a:ea typeface="Calibri"/>
                <a:cs typeface="Calibri"/>
              </a:rPr>
              <a:t>→</a:t>
            </a:r>
          </a:p>
        </p:txBody>
      </p:sp>
      <p:sp>
        <p:nvSpPr>
          <p:cNvPr id="62" name="eval-phase-3">
            <a:extLst xmlns:a="http://schemas.openxmlformats.org/drawingml/2006/main">
              <a:ext uri="{FF2B5EF4-FFF2-40B4-BE49-F238E27FC236}">
                <a16:creationId xmlns:a16="http://schemas.microsoft.com/office/drawing/2014/main" id="{356834F3-AA59-431A-8196-F6F76A7B43E7}"/>
              </a:ext>
            </a:extLst>
          </p:cNvPr>
          <p:cNvSpPr>
            <a:spLocks xmlns:a="http://schemas.openxmlformats.org/drawingml/2006/main" noGrp="1"/>
          </p:cNvSpPr>
          <p:nvPr/>
        </p:nvSpPr>
        <p:spPr>
          <a:xfrm xmlns:a="http://schemas.openxmlformats.org/drawingml/2006/main">
            <a:off x="7200900" y="1524000"/>
            <a:ext cx="1962150" cy="628650"/>
          </a:xfrm>
          <a:prstGeom xmlns:a="http://schemas.openxmlformats.org/drawingml/2006/main" prst="roundRect">
            <a:avLst>
              <a:gd name="adj" fmla="val 12121"/>
            </a:avLst>
          </a:prstGeom>
          <a:solidFill xmlns:a="http://schemas.openxmlformats.org/drawingml/2006/main">
            <a:srgbClr val="EAF2FF"/>
          </a:solidFill>
          <a:ln xmlns:a="http://schemas.openxmlformats.org/drawingml/2006/main" w="9525">
            <a:solidFill>
              <a:srgbClr val="B8CDF2"/>
            </a:solidFill>
            <a:prstDash val="solid"/>
          </a:ln>
        </p:spPr>
      </p:sp>
      <p:sp>
        <p:nvSpPr>
          <p:cNvPr id="63" name="eval-phase-text-3">
            <a:extLst xmlns:a="http://schemas.openxmlformats.org/drawingml/2006/main">
              <a:ext uri="{FF2B5EF4-FFF2-40B4-BE49-F238E27FC236}">
                <a16:creationId xmlns:a16="http://schemas.microsoft.com/office/drawing/2014/main" id="{A3A97AE0-69A0-4C70-ADF6-6B11307B8606}"/>
              </a:ext>
            </a:extLst>
          </p:cNvPr>
          <p:cNvSpPr>
            <a:spLocks xmlns:a="http://schemas.openxmlformats.org/drawingml/2006/main" noGrp="1"/>
          </p:cNvSpPr>
          <p:nvPr/>
        </p:nvSpPr>
        <p:spPr>
          <a:xfrm xmlns:a="http://schemas.openxmlformats.org/drawingml/2006/main">
            <a:off x="7296150" y="1685925"/>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i="0">
                <a:solidFill>
                  <a:srgbClr val="2A6FDB"/>
                </a:solidFill>
                <a:latin typeface="Calibri"/>
                <a:ea typeface="Calibri"/>
                <a:cs typeface="Calibri"/>
              </a:defRPr>
            </a:pPr>
            <a:r>
              <a:rPr sz="1125" b="1" i="0">
                <a:solidFill>
                  <a:srgbClr val="2A6FDB"/>
                </a:solidFill>
                <a:latin typeface="Calibri"/>
                <a:ea typeface="Calibri"/>
                <a:cs typeface="Calibri"/>
              </a:rPr>
              <a:t>4 · Score</a:t>
            </a:r>
          </a:p>
        </p:txBody>
      </p:sp>
      <p:sp>
        <p:nvSpPr>
          <p:cNvPr id="64" name="eval-phase-arrow-3">
            <a:extLst xmlns:a="http://schemas.openxmlformats.org/drawingml/2006/main">
              <a:ext uri="{FF2B5EF4-FFF2-40B4-BE49-F238E27FC236}">
                <a16:creationId xmlns:a16="http://schemas.microsoft.com/office/drawing/2014/main" id="{C8882ED1-D889-4C1F-A828-90EBD24ADD78}"/>
              </a:ext>
            </a:extLst>
          </p:cNvPr>
          <p:cNvSpPr>
            <a:spLocks xmlns:a="http://schemas.openxmlformats.org/drawingml/2006/main" noGrp="1"/>
          </p:cNvSpPr>
          <p:nvPr/>
        </p:nvSpPr>
        <p:spPr>
          <a:xfrm xmlns:a="http://schemas.openxmlformats.org/drawingml/2006/main">
            <a:off x="9172575" y="1695450"/>
            <a:ext cx="2952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5B6B7F"/>
                </a:solidFill>
                <a:latin typeface="Calibri"/>
                <a:ea typeface="Calibri"/>
                <a:cs typeface="Calibri"/>
              </a:defRPr>
            </a:pPr>
            <a:r>
              <a:rPr sz="1500" b="1" i="0">
                <a:solidFill>
                  <a:srgbClr val="5B6B7F"/>
                </a:solidFill>
                <a:latin typeface="Calibri"/>
                <a:ea typeface="Calibri"/>
                <a:cs typeface="Calibri"/>
              </a:rPr>
              <a:t>→</a:t>
            </a:r>
          </a:p>
        </p:txBody>
      </p:sp>
      <p:sp>
        <p:nvSpPr>
          <p:cNvPr id="65" name="eval-phase-4">
            <a:extLst xmlns:a="http://schemas.openxmlformats.org/drawingml/2006/main">
              <a:ext uri="{FF2B5EF4-FFF2-40B4-BE49-F238E27FC236}">
                <a16:creationId xmlns:a16="http://schemas.microsoft.com/office/drawing/2014/main" id="{88AD7C20-086B-4F7F-9EE0-344488279F75}"/>
              </a:ext>
            </a:extLst>
          </p:cNvPr>
          <p:cNvSpPr>
            <a:spLocks xmlns:a="http://schemas.openxmlformats.org/drawingml/2006/main" noGrp="1"/>
          </p:cNvSpPr>
          <p:nvPr/>
        </p:nvSpPr>
        <p:spPr>
          <a:xfrm xmlns:a="http://schemas.openxmlformats.org/drawingml/2006/main">
            <a:off x="9467850" y="1524000"/>
            <a:ext cx="1962150" cy="628650"/>
          </a:xfrm>
          <a:prstGeom xmlns:a="http://schemas.openxmlformats.org/drawingml/2006/main" prst="roundRect">
            <a:avLst>
              <a:gd name="adj" fmla="val 12121"/>
            </a:avLst>
          </a:prstGeom>
          <a:solidFill xmlns:a="http://schemas.openxmlformats.org/drawingml/2006/main">
            <a:srgbClr val="EAF7F3"/>
          </a:solidFill>
          <a:ln xmlns:a="http://schemas.openxmlformats.org/drawingml/2006/main" w="9525">
            <a:solidFill>
              <a:srgbClr val="B8DED3"/>
            </a:solidFill>
            <a:prstDash val="solid"/>
          </a:ln>
        </p:spPr>
      </p:sp>
      <p:sp>
        <p:nvSpPr>
          <p:cNvPr id="66" name="eval-phase-text-4">
            <a:extLst xmlns:a="http://schemas.openxmlformats.org/drawingml/2006/main">
              <a:ext uri="{FF2B5EF4-FFF2-40B4-BE49-F238E27FC236}">
                <a16:creationId xmlns:a16="http://schemas.microsoft.com/office/drawing/2014/main" id="{E317F2A8-3940-4F10-9872-3A8ABDC969D5}"/>
              </a:ext>
            </a:extLst>
          </p:cNvPr>
          <p:cNvSpPr>
            <a:spLocks xmlns:a="http://schemas.openxmlformats.org/drawingml/2006/main" noGrp="1"/>
          </p:cNvSpPr>
          <p:nvPr/>
        </p:nvSpPr>
        <p:spPr>
          <a:xfrm xmlns:a="http://schemas.openxmlformats.org/drawingml/2006/main">
            <a:off x="9563100" y="1685925"/>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i="0">
                <a:solidFill>
                  <a:srgbClr val="16866C"/>
                </a:solidFill>
                <a:latin typeface="Calibri"/>
                <a:ea typeface="Calibri"/>
                <a:cs typeface="Calibri"/>
              </a:defRPr>
            </a:pPr>
            <a:r>
              <a:rPr sz="1125" b="1" i="0">
                <a:solidFill>
                  <a:srgbClr val="16866C"/>
                </a:solidFill>
                <a:latin typeface="Calibri"/>
                <a:ea typeface="Calibri"/>
                <a:cs typeface="Calibri"/>
              </a:rPr>
              <a:t>5 · Review failures</a:t>
            </a:r>
          </a:p>
        </p:txBody>
      </p:sp>
      <p:sp>
        <p:nvSpPr>
          <p:cNvPr id="67" name="eval-header-0">
            <a:extLst xmlns:a="http://schemas.openxmlformats.org/drawingml/2006/main">
              <a:ext uri="{FF2B5EF4-FFF2-40B4-BE49-F238E27FC236}">
                <a16:creationId xmlns:a16="http://schemas.microsoft.com/office/drawing/2014/main" id="{D0EAEAB7-D4E2-47CD-88C3-CB86B227A39C}"/>
              </a:ext>
            </a:extLst>
          </p:cNvPr>
          <p:cNvSpPr>
            <a:spLocks xmlns:a="http://schemas.openxmlformats.org/drawingml/2006/main" noGrp="1"/>
          </p:cNvSpPr>
          <p:nvPr/>
        </p:nvSpPr>
        <p:spPr>
          <a:xfrm xmlns:a="http://schemas.openxmlformats.org/drawingml/2006/main">
            <a:off x="400050" y="2381250"/>
            <a:ext cx="2057400" cy="400050"/>
          </a:xfrm>
          <a:prstGeom xmlns:a="http://schemas.openxmlformats.org/drawingml/2006/main" prst="rect">
            <a:avLst/>
          </a:prstGeom>
          <a:solidFill xmlns:a="http://schemas.openxmlformats.org/drawingml/2006/main">
            <a:srgbClr val="173B67"/>
          </a:solidFill>
          <a:ln xmlns:a="http://schemas.openxmlformats.org/drawingml/2006/main" w="0">
            <a:noFill/>
            <a:prstDash val="solid"/>
          </a:ln>
        </p:spPr>
      </p:sp>
      <p:sp>
        <p:nvSpPr>
          <p:cNvPr id="68" name="eval-header-text-0">
            <a:extLst xmlns:a="http://schemas.openxmlformats.org/drawingml/2006/main">
              <a:ext uri="{FF2B5EF4-FFF2-40B4-BE49-F238E27FC236}">
                <a16:creationId xmlns:a16="http://schemas.microsoft.com/office/drawing/2014/main" id="{7987E8EC-FFEF-4FB0-B094-53165E070E7F}"/>
              </a:ext>
            </a:extLst>
          </p:cNvPr>
          <p:cNvSpPr>
            <a:spLocks xmlns:a="http://schemas.openxmlformats.org/drawingml/2006/main" noGrp="1"/>
          </p:cNvSpPr>
          <p:nvPr/>
        </p:nvSpPr>
        <p:spPr>
          <a:xfrm xmlns:a="http://schemas.openxmlformats.org/drawingml/2006/main">
            <a:off x="514350" y="2457450"/>
            <a:ext cx="1828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1" i="0">
                <a:solidFill>
                  <a:srgbClr val="FFFFFF"/>
                </a:solidFill>
                <a:latin typeface="Calibri"/>
                <a:ea typeface="Calibri"/>
                <a:cs typeface="Calibri"/>
              </a:defRPr>
            </a:pPr>
            <a:r>
              <a:rPr sz="900" b="1" i="0">
                <a:solidFill>
                  <a:srgbClr val="FFFFFF"/>
                </a:solidFill>
                <a:latin typeface="Calibri"/>
                <a:ea typeface="Calibri"/>
                <a:cs typeface="Calibri"/>
              </a:rPr>
              <a:t>AREA</a:t>
            </a:r>
          </a:p>
        </p:txBody>
      </p:sp>
      <p:sp>
        <p:nvSpPr>
          <p:cNvPr id="69" name="eval-header-1">
            <a:extLst xmlns:a="http://schemas.openxmlformats.org/drawingml/2006/main">
              <a:ext uri="{FF2B5EF4-FFF2-40B4-BE49-F238E27FC236}">
                <a16:creationId xmlns:a16="http://schemas.microsoft.com/office/drawing/2014/main" id="{92286056-F2DD-4452-8667-E2D5B74E9B42}"/>
              </a:ext>
            </a:extLst>
          </p:cNvPr>
          <p:cNvSpPr>
            <a:spLocks xmlns:a="http://schemas.openxmlformats.org/drawingml/2006/main" noGrp="1"/>
          </p:cNvSpPr>
          <p:nvPr/>
        </p:nvSpPr>
        <p:spPr>
          <a:xfrm xmlns:a="http://schemas.openxmlformats.org/drawingml/2006/main">
            <a:off x="2457450" y="2381250"/>
            <a:ext cx="3733800" cy="400050"/>
          </a:xfrm>
          <a:prstGeom xmlns:a="http://schemas.openxmlformats.org/drawingml/2006/main" prst="rect">
            <a:avLst/>
          </a:prstGeom>
          <a:solidFill xmlns:a="http://schemas.openxmlformats.org/drawingml/2006/main">
            <a:srgbClr val="173B67"/>
          </a:solidFill>
          <a:ln xmlns:a="http://schemas.openxmlformats.org/drawingml/2006/main" w="0">
            <a:noFill/>
            <a:prstDash val="solid"/>
          </a:ln>
        </p:spPr>
      </p:sp>
      <p:sp>
        <p:nvSpPr>
          <p:cNvPr id="70" name="eval-header-text-1">
            <a:extLst xmlns:a="http://schemas.openxmlformats.org/drawingml/2006/main">
              <a:ext uri="{FF2B5EF4-FFF2-40B4-BE49-F238E27FC236}">
                <a16:creationId xmlns:a16="http://schemas.microsoft.com/office/drawing/2014/main" id="{376BC8CF-4185-46BE-8B53-92C8F360F41C}"/>
              </a:ext>
            </a:extLst>
          </p:cNvPr>
          <p:cNvSpPr>
            <a:spLocks xmlns:a="http://schemas.openxmlformats.org/drawingml/2006/main" noGrp="1"/>
          </p:cNvSpPr>
          <p:nvPr/>
        </p:nvSpPr>
        <p:spPr>
          <a:xfrm xmlns:a="http://schemas.openxmlformats.org/drawingml/2006/main">
            <a:off x="2571750" y="2457450"/>
            <a:ext cx="3505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1" i="0">
                <a:solidFill>
                  <a:srgbClr val="FFFFFF"/>
                </a:solidFill>
                <a:latin typeface="Calibri"/>
                <a:ea typeface="Calibri"/>
                <a:cs typeface="Calibri"/>
              </a:defRPr>
            </a:pPr>
            <a:r>
              <a:rPr sz="900" b="1" i="0">
                <a:solidFill>
                  <a:srgbClr val="FFFFFF"/>
                </a:solidFill>
                <a:latin typeface="Calibri"/>
                <a:ea typeface="Calibri"/>
                <a:cs typeface="Calibri"/>
              </a:rPr>
              <a:t>LABELLED DATA / SPLIT</a:t>
            </a:r>
          </a:p>
        </p:txBody>
      </p:sp>
      <p:sp>
        <p:nvSpPr>
          <p:cNvPr id="71" name="eval-header-2">
            <a:extLst xmlns:a="http://schemas.openxmlformats.org/drawingml/2006/main">
              <a:ext uri="{FF2B5EF4-FFF2-40B4-BE49-F238E27FC236}">
                <a16:creationId xmlns:a16="http://schemas.microsoft.com/office/drawing/2014/main" id="{453FC140-2178-4D34-B331-A8FBA82726B9}"/>
              </a:ext>
            </a:extLst>
          </p:cNvPr>
          <p:cNvSpPr>
            <a:spLocks xmlns:a="http://schemas.openxmlformats.org/drawingml/2006/main" noGrp="1"/>
          </p:cNvSpPr>
          <p:nvPr/>
        </p:nvSpPr>
        <p:spPr>
          <a:xfrm xmlns:a="http://schemas.openxmlformats.org/drawingml/2006/main">
            <a:off x="6191250" y="2381250"/>
            <a:ext cx="2743200" cy="400050"/>
          </a:xfrm>
          <a:prstGeom xmlns:a="http://schemas.openxmlformats.org/drawingml/2006/main" prst="rect">
            <a:avLst/>
          </a:prstGeom>
          <a:solidFill xmlns:a="http://schemas.openxmlformats.org/drawingml/2006/main">
            <a:srgbClr val="173B67"/>
          </a:solidFill>
          <a:ln xmlns:a="http://schemas.openxmlformats.org/drawingml/2006/main" w="0">
            <a:noFill/>
            <a:prstDash val="solid"/>
          </a:ln>
        </p:spPr>
      </p:sp>
      <p:sp>
        <p:nvSpPr>
          <p:cNvPr id="72" name="eval-header-text-2">
            <a:extLst xmlns:a="http://schemas.openxmlformats.org/drawingml/2006/main">
              <a:ext uri="{FF2B5EF4-FFF2-40B4-BE49-F238E27FC236}">
                <a16:creationId xmlns:a16="http://schemas.microsoft.com/office/drawing/2014/main" id="{38B5121C-4A6F-417B-A2DA-1B9708A56DE2}"/>
              </a:ext>
            </a:extLst>
          </p:cNvPr>
          <p:cNvSpPr>
            <a:spLocks xmlns:a="http://schemas.openxmlformats.org/drawingml/2006/main" noGrp="1"/>
          </p:cNvSpPr>
          <p:nvPr/>
        </p:nvSpPr>
        <p:spPr>
          <a:xfrm xmlns:a="http://schemas.openxmlformats.org/drawingml/2006/main">
            <a:off x="6305550" y="2457450"/>
            <a:ext cx="2514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1" i="0">
                <a:solidFill>
                  <a:srgbClr val="FFFFFF"/>
                </a:solidFill>
                <a:latin typeface="Calibri"/>
                <a:ea typeface="Calibri"/>
                <a:cs typeface="Calibri"/>
              </a:defRPr>
            </a:pPr>
            <a:r>
              <a:rPr sz="900" b="1" i="0">
                <a:solidFill>
                  <a:srgbClr val="FFFFFF"/>
                </a:solidFill>
                <a:latin typeface="Calibri"/>
                <a:ea typeface="Calibri"/>
                <a:cs typeface="Calibri"/>
              </a:rPr>
              <a:t>PRIMARY METRIC</a:t>
            </a:r>
          </a:p>
        </p:txBody>
      </p:sp>
      <p:sp>
        <p:nvSpPr>
          <p:cNvPr id="73" name="eval-header-3">
            <a:extLst xmlns:a="http://schemas.openxmlformats.org/drawingml/2006/main">
              <a:ext uri="{FF2B5EF4-FFF2-40B4-BE49-F238E27FC236}">
                <a16:creationId xmlns:a16="http://schemas.microsoft.com/office/drawing/2014/main" id="{E59EC46F-CE98-4977-8FFE-FDEA7038FDA9}"/>
              </a:ext>
            </a:extLst>
          </p:cNvPr>
          <p:cNvSpPr>
            <a:spLocks xmlns:a="http://schemas.openxmlformats.org/drawingml/2006/main" noGrp="1"/>
          </p:cNvSpPr>
          <p:nvPr/>
        </p:nvSpPr>
        <p:spPr>
          <a:xfrm xmlns:a="http://schemas.openxmlformats.org/drawingml/2006/main">
            <a:off x="8934450" y="2381250"/>
            <a:ext cx="2800350" cy="400050"/>
          </a:xfrm>
          <a:prstGeom xmlns:a="http://schemas.openxmlformats.org/drawingml/2006/main" prst="rect">
            <a:avLst/>
          </a:prstGeom>
          <a:solidFill xmlns:a="http://schemas.openxmlformats.org/drawingml/2006/main">
            <a:srgbClr val="173B67"/>
          </a:solidFill>
          <a:ln xmlns:a="http://schemas.openxmlformats.org/drawingml/2006/main" w="0">
            <a:noFill/>
            <a:prstDash val="solid"/>
          </a:ln>
        </p:spPr>
      </p:sp>
      <p:sp>
        <p:nvSpPr>
          <p:cNvPr id="74" name="eval-header-text-3">
            <a:extLst xmlns:a="http://schemas.openxmlformats.org/drawingml/2006/main">
              <a:ext uri="{FF2B5EF4-FFF2-40B4-BE49-F238E27FC236}">
                <a16:creationId xmlns:a16="http://schemas.microsoft.com/office/drawing/2014/main" id="{8F543AE3-4156-4549-A983-96751057A7CB}"/>
              </a:ext>
            </a:extLst>
          </p:cNvPr>
          <p:cNvSpPr>
            <a:spLocks xmlns:a="http://schemas.openxmlformats.org/drawingml/2006/main" noGrp="1"/>
          </p:cNvSpPr>
          <p:nvPr/>
        </p:nvSpPr>
        <p:spPr>
          <a:xfrm xmlns:a="http://schemas.openxmlformats.org/drawingml/2006/main">
            <a:off x="9048750" y="2457450"/>
            <a:ext cx="2571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1" i="0">
                <a:solidFill>
                  <a:srgbClr val="FFFFFF"/>
                </a:solidFill>
                <a:latin typeface="Calibri"/>
                <a:ea typeface="Calibri"/>
                <a:cs typeface="Calibri"/>
              </a:defRPr>
            </a:pPr>
            <a:r>
              <a:rPr sz="900" b="1" i="0">
                <a:solidFill>
                  <a:srgbClr val="FFFFFF"/>
                </a:solidFill>
                <a:latin typeface="Calibri"/>
                <a:ea typeface="Calibri"/>
                <a:cs typeface="Calibri"/>
              </a:rPr>
              <a:t>WHAT THE METRIC ANSWERS</a:t>
            </a:r>
          </a:p>
        </p:txBody>
      </p:sp>
      <p:sp>
        <p:nvSpPr>
          <p:cNvPr id="75" name="eval-cell-0-0">
            <a:extLst xmlns:a="http://schemas.openxmlformats.org/drawingml/2006/main">
              <a:ext uri="{FF2B5EF4-FFF2-40B4-BE49-F238E27FC236}">
                <a16:creationId xmlns:a16="http://schemas.microsoft.com/office/drawing/2014/main" id="{D19C1EDC-9F43-4E5C-B2F0-99609FD70D6B}"/>
              </a:ext>
            </a:extLst>
          </p:cNvPr>
          <p:cNvSpPr>
            <a:spLocks xmlns:a="http://schemas.openxmlformats.org/drawingml/2006/main" noGrp="1"/>
          </p:cNvSpPr>
          <p:nvPr/>
        </p:nvSpPr>
        <p:spPr>
          <a:xfrm xmlns:a="http://schemas.openxmlformats.org/drawingml/2006/main">
            <a:off x="400050" y="2781300"/>
            <a:ext cx="20574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prstDash val="solid"/>
          </a:ln>
        </p:spPr>
      </p:sp>
      <p:sp>
        <p:nvSpPr>
          <p:cNvPr id="76" name="eval-cell-text-0-0">
            <a:extLst xmlns:a="http://schemas.openxmlformats.org/drawingml/2006/main">
              <a:ext uri="{FF2B5EF4-FFF2-40B4-BE49-F238E27FC236}">
                <a16:creationId xmlns:a16="http://schemas.microsoft.com/office/drawing/2014/main" id="{C22B3B7A-3680-458C-A4F8-1EDA22A021AF}"/>
              </a:ext>
            </a:extLst>
          </p:cNvPr>
          <p:cNvSpPr>
            <a:spLocks xmlns:a="http://schemas.openxmlformats.org/drawingml/2006/main" noGrp="1"/>
          </p:cNvSpPr>
          <p:nvPr/>
        </p:nvSpPr>
        <p:spPr>
          <a:xfrm xmlns:a="http://schemas.openxmlformats.org/drawingml/2006/main">
            <a:off x="495300" y="2847975"/>
            <a:ext cx="1866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1" i="0">
                <a:solidFill>
                  <a:srgbClr val="173B67"/>
                </a:solidFill>
                <a:latin typeface="Calibri"/>
                <a:ea typeface="Calibri"/>
                <a:cs typeface="Calibri"/>
              </a:defRPr>
            </a:pPr>
            <a:r>
              <a:rPr sz="975" b="1" i="0">
                <a:solidFill>
                  <a:srgbClr val="173B67"/>
                </a:solidFill>
                <a:latin typeface="Calibri"/>
                <a:ea typeface="Calibri"/>
                <a:cs typeface="Calibri"/>
              </a:rPr>
              <a:t>CV extraction</a:t>
            </a:r>
          </a:p>
        </p:txBody>
      </p:sp>
      <p:sp>
        <p:nvSpPr>
          <p:cNvPr id="77" name="eval-cell-0-1">
            <a:extLst xmlns:a="http://schemas.openxmlformats.org/drawingml/2006/main">
              <a:ext uri="{FF2B5EF4-FFF2-40B4-BE49-F238E27FC236}">
                <a16:creationId xmlns:a16="http://schemas.microsoft.com/office/drawing/2014/main" id="{EA50D38F-9DD2-4798-9ECF-E9E52185BD04}"/>
              </a:ext>
            </a:extLst>
          </p:cNvPr>
          <p:cNvSpPr>
            <a:spLocks xmlns:a="http://schemas.openxmlformats.org/drawingml/2006/main" noGrp="1"/>
          </p:cNvSpPr>
          <p:nvPr/>
        </p:nvSpPr>
        <p:spPr>
          <a:xfrm xmlns:a="http://schemas.openxmlformats.org/drawingml/2006/main">
            <a:off x="2457450" y="2781300"/>
            <a:ext cx="37338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prstDash val="solid"/>
          </a:ln>
        </p:spPr>
      </p:sp>
      <p:sp>
        <p:nvSpPr>
          <p:cNvPr id="78" name="eval-cell-text-0-1">
            <a:extLst xmlns:a="http://schemas.openxmlformats.org/drawingml/2006/main">
              <a:ext uri="{FF2B5EF4-FFF2-40B4-BE49-F238E27FC236}">
                <a16:creationId xmlns:a16="http://schemas.microsoft.com/office/drawing/2014/main" id="{E45CE8E1-F1DE-4403-B506-21567CEBF3D3}"/>
              </a:ext>
            </a:extLst>
          </p:cNvPr>
          <p:cNvSpPr>
            <a:spLocks xmlns:a="http://schemas.openxmlformats.org/drawingml/2006/main" noGrp="1"/>
          </p:cNvSpPr>
          <p:nvPr/>
        </p:nvSpPr>
        <p:spPr>
          <a:xfrm xmlns:a="http://schemas.openxmlformats.org/drawingml/2006/main">
            <a:off x="2552700" y="2847975"/>
            <a:ext cx="3543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38" b="0" i="0">
                <a:solidFill>
                  <a:srgbClr val="172B4D"/>
                </a:solidFill>
                <a:latin typeface="Calibri"/>
                <a:ea typeface="Calibri"/>
                <a:cs typeface="Calibri"/>
              </a:defRPr>
            </a:pPr>
            <a:r>
              <a:rPr sz="938" b="0" i="0">
                <a:solidFill>
                  <a:srgbClr val="172B4D"/>
                </a:solidFill>
                <a:latin typeface="Calibri"/>
                <a:ea typeface="Calibri"/>
                <a:cs typeface="Calibri"/>
              </a:rPr>
              <a:t>Human-labelled fields; template/vendor holdout</a:t>
            </a:r>
          </a:p>
        </p:txBody>
      </p:sp>
      <p:sp>
        <p:nvSpPr>
          <p:cNvPr id="79" name="eval-cell-0-2">
            <a:extLst xmlns:a="http://schemas.openxmlformats.org/drawingml/2006/main">
              <a:ext uri="{FF2B5EF4-FFF2-40B4-BE49-F238E27FC236}">
                <a16:creationId xmlns:a16="http://schemas.microsoft.com/office/drawing/2014/main" id="{7A91049B-9554-4922-9136-D5A6446E8650}"/>
              </a:ext>
            </a:extLst>
          </p:cNvPr>
          <p:cNvSpPr>
            <a:spLocks xmlns:a="http://schemas.openxmlformats.org/drawingml/2006/main" noGrp="1"/>
          </p:cNvSpPr>
          <p:nvPr/>
        </p:nvSpPr>
        <p:spPr>
          <a:xfrm xmlns:a="http://schemas.openxmlformats.org/drawingml/2006/main">
            <a:off x="6191250" y="2781300"/>
            <a:ext cx="27432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prstDash val="solid"/>
          </a:ln>
        </p:spPr>
      </p:sp>
      <p:sp>
        <p:nvSpPr>
          <p:cNvPr id="80" name="eval-cell-text-0-2">
            <a:extLst xmlns:a="http://schemas.openxmlformats.org/drawingml/2006/main">
              <a:ext uri="{FF2B5EF4-FFF2-40B4-BE49-F238E27FC236}">
                <a16:creationId xmlns:a16="http://schemas.microsoft.com/office/drawing/2014/main" id="{8A2FFE92-922F-4524-841D-79342A4F25B6}"/>
              </a:ext>
            </a:extLst>
          </p:cNvPr>
          <p:cNvSpPr>
            <a:spLocks xmlns:a="http://schemas.openxmlformats.org/drawingml/2006/main" noGrp="1"/>
          </p:cNvSpPr>
          <p:nvPr/>
        </p:nvSpPr>
        <p:spPr>
          <a:xfrm xmlns:a="http://schemas.openxmlformats.org/drawingml/2006/main">
            <a:off x="6286500" y="2847975"/>
            <a:ext cx="2552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38" b="0" i="0">
                <a:solidFill>
                  <a:srgbClr val="172B4D"/>
                </a:solidFill>
                <a:latin typeface="Calibri"/>
                <a:ea typeface="Calibri"/>
                <a:cs typeface="Calibri"/>
              </a:defRPr>
            </a:pPr>
            <a:r>
              <a:rPr sz="938" b="0" i="0">
                <a:solidFill>
                  <a:srgbClr val="172B4D"/>
                </a:solidFill>
                <a:latin typeface="Calibri"/>
                <a:ea typeface="Calibri"/>
                <a:cs typeface="Calibri"/>
              </a:rPr>
              <a:t>Field accuracy · skill P/R/F1</a:t>
            </a:r>
          </a:p>
        </p:txBody>
      </p:sp>
      <p:sp>
        <p:nvSpPr>
          <p:cNvPr id="81" name="eval-cell-0-3">
            <a:extLst xmlns:a="http://schemas.openxmlformats.org/drawingml/2006/main">
              <a:ext uri="{FF2B5EF4-FFF2-40B4-BE49-F238E27FC236}">
                <a16:creationId xmlns:a16="http://schemas.microsoft.com/office/drawing/2014/main" id="{593E5211-F935-4E1A-AC25-4996025C3E02}"/>
              </a:ext>
            </a:extLst>
          </p:cNvPr>
          <p:cNvSpPr>
            <a:spLocks xmlns:a="http://schemas.openxmlformats.org/drawingml/2006/main" noGrp="1"/>
          </p:cNvSpPr>
          <p:nvPr/>
        </p:nvSpPr>
        <p:spPr>
          <a:xfrm xmlns:a="http://schemas.openxmlformats.org/drawingml/2006/main">
            <a:off x="8934450" y="2781300"/>
            <a:ext cx="28003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prstDash val="solid"/>
          </a:ln>
        </p:spPr>
      </p:sp>
      <p:sp>
        <p:nvSpPr>
          <p:cNvPr id="82" name="eval-cell-text-0-3">
            <a:extLst xmlns:a="http://schemas.openxmlformats.org/drawingml/2006/main">
              <a:ext uri="{FF2B5EF4-FFF2-40B4-BE49-F238E27FC236}">
                <a16:creationId xmlns:a16="http://schemas.microsoft.com/office/drawing/2014/main" id="{75510CCC-7C6D-4EBD-A0D4-C2CD2F3AF700}"/>
              </a:ext>
            </a:extLst>
          </p:cNvPr>
          <p:cNvSpPr>
            <a:spLocks xmlns:a="http://schemas.openxmlformats.org/drawingml/2006/main" noGrp="1"/>
          </p:cNvSpPr>
          <p:nvPr/>
        </p:nvSpPr>
        <p:spPr>
          <a:xfrm xmlns:a="http://schemas.openxmlformats.org/drawingml/2006/main">
            <a:off x="9029700" y="2847975"/>
            <a:ext cx="2609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38" b="0" i="0">
                <a:solidFill>
                  <a:srgbClr val="172B4D"/>
                </a:solidFill>
                <a:latin typeface="Calibri"/>
                <a:ea typeface="Calibri"/>
                <a:cs typeface="Calibri"/>
              </a:defRPr>
            </a:pPr>
            <a:r>
              <a:rPr sz="938" b="0" i="0">
                <a:solidFill>
                  <a:srgbClr val="172B4D"/>
                </a:solidFill>
                <a:latin typeface="Calibri"/>
                <a:ea typeface="Calibri"/>
                <a:cs typeface="Calibri"/>
              </a:rPr>
              <a:t>Are profile fields and skills extracted correctly?</a:t>
            </a:r>
          </a:p>
        </p:txBody>
      </p:sp>
      <p:sp>
        <p:nvSpPr>
          <p:cNvPr id="83" name="eval-cell-1-0">
            <a:extLst xmlns:a="http://schemas.openxmlformats.org/drawingml/2006/main">
              <a:ext uri="{FF2B5EF4-FFF2-40B4-BE49-F238E27FC236}">
                <a16:creationId xmlns:a16="http://schemas.microsoft.com/office/drawing/2014/main" id="{7A035786-6AB8-4187-ADC1-E337F89FE824}"/>
              </a:ext>
            </a:extLst>
          </p:cNvPr>
          <p:cNvSpPr>
            <a:spLocks xmlns:a="http://schemas.openxmlformats.org/drawingml/2006/main" noGrp="1"/>
          </p:cNvSpPr>
          <p:nvPr/>
        </p:nvSpPr>
        <p:spPr>
          <a:xfrm xmlns:a="http://schemas.openxmlformats.org/drawingml/2006/main">
            <a:off x="400050" y="3333750"/>
            <a:ext cx="2057400" cy="552450"/>
          </a:xfrm>
          <a:prstGeom xmlns:a="http://schemas.openxmlformats.org/drawingml/2006/main" prst="rect">
            <a:avLst/>
          </a:prstGeom>
          <a:solidFill xmlns:a="http://schemas.openxmlformats.org/drawingml/2006/main">
            <a:srgbClr val="F6F8FB"/>
          </a:solidFill>
          <a:ln xmlns:a="http://schemas.openxmlformats.org/drawingml/2006/main" w="9525">
            <a:solidFill>
              <a:srgbClr val="D7E0EA"/>
            </a:solidFill>
            <a:prstDash val="solid"/>
          </a:ln>
        </p:spPr>
      </p:sp>
      <p:sp>
        <p:nvSpPr>
          <p:cNvPr id="84" name="eval-cell-text-1-0">
            <a:extLst xmlns:a="http://schemas.openxmlformats.org/drawingml/2006/main">
              <a:ext uri="{FF2B5EF4-FFF2-40B4-BE49-F238E27FC236}">
                <a16:creationId xmlns:a16="http://schemas.microsoft.com/office/drawing/2014/main" id="{1637BCCB-68CB-462E-8372-28F3F71217EF}"/>
              </a:ext>
            </a:extLst>
          </p:cNvPr>
          <p:cNvSpPr>
            <a:spLocks xmlns:a="http://schemas.openxmlformats.org/drawingml/2006/main" noGrp="1"/>
          </p:cNvSpPr>
          <p:nvPr/>
        </p:nvSpPr>
        <p:spPr>
          <a:xfrm xmlns:a="http://schemas.openxmlformats.org/drawingml/2006/main">
            <a:off x="495300" y="3400425"/>
            <a:ext cx="1866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1" i="0">
                <a:solidFill>
                  <a:srgbClr val="173B67"/>
                </a:solidFill>
                <a:latin typeface="Calibri"/>
                <a:ea typeface="Calibri"/>
                <a:cs typeface="Calibri"/>
              </a:defRPr>
            </a:pPr>
            <a:r>
              <a:rPr sz="975" b="1" i="0">
                <a:solidFill>
                  <a:srgbClr val="173B67"/>
                </a:solidFill>
                <a:latin typeface="Calibri"/>
                <a:ea typeface="Calibri"/>
                <a:cs typeface="Calibri"/>
              </a:rPr>
              <a:t>OCR fallback</a:t>
            </a:r>
          </a:p>
        </p:txBody>
      </p:sp>
      <p:sp>
        <p:nvSpPr>
          <p:cNvPr id="85" name="eval-cell-1-1">
            <a:extLst xmlns:a="http://schemas.openxmlformats.org/drawingml/2006/main">
              <a:ext uri="{FF2B5EF4-FFF2-40B4-BE49-F238E27FC236}">
                <a16:creationId xmlns:a16="http://schemas.microsoft.com/office/drawing/2014/main" id="{36311197-B597-4632-BD46-E575C929605F}"/>
              </a:ext>
            </a:extLst>
          </p:cNvPr>
          <p:cNvSpPr>
            <a:spLocks xmlns:a="http://schemas.openxmlformats.org/drawingml/2006/main" noGrp="1"/>
          </p:cNvSpPr>
          <p:nvPr/>
        </p:nvSpPr>
        <p:spPr>
          <a:xfrm xmlns:a="http://schemas.openxmlformats.org/drawingml/2006/main">
            <a:off x="2457450" y="3333750"/>
            <a:ext cx="3733800" cy="552450"/>
          </a:xfrm>
          <a:prstGeom xmlns:a="http://schemas.openxmlformats.org/drawingml/2006/main" prst="rect">
            <a:avLst/>
          </a:prstGeom>
          <a:solidFill xmlns:a="http://schemas.openxmlformats.org/drawingml/2006/main">
            <a:srgbClr val="F6F8FB"/>
          </a:solidFill>
          <a:ln xmlns:a="http://schemas.openxmlformats.org/drawingml/2006/main" w="9525">
            <a:solidFill>
              <a:srgbClr val="D7E0EA"/>
            </a:solidFill>
            <a:prstDash val="solid"/>
          </a:ln>
        </p:spPr>
      </p:sp>
      <p:sp>
        <p:nvSpPr>
          <p:cNvPr id="86" name="eval-cell-text-1-1">
            <a:extLst xmlns:a="http://schemas.openxmlformats.org/drawingml/2006/main">
              <a:ext uri="{FF2B5EF4-FFF2-40B4-BE49-F238E27FC236}">
                <a16:creationId xmlns:a16="http://schemas.microsoft.com/office/drawing/2014/main" id="{74A81DFA-C2B1-4750-8FA3-B2F8924064F4}"/>
              </a:ext>
            </a:extLst>
          </p:cNvPr>
          <p:cNvSpPr>
            <a:spLocks xmlns:a="http://schemas.openxmlformats.org/drawingml/2006/main" noGrp="1"/>
          </p:cNvSpPr>
          <p:nvPr/>
        </p:nvSpPr>
        <p:spPr>
          <a:xfrm xmlns:a="http://schemas.openxmlformats.org/drawingml/2006/main">
            <a:off x="2552700" y="3400425"/>
            <a:ext cx="3543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38" b="0" i="0">
                <a:solidFill>
                  <a:srgbClr val="172B4D"/>
                </a:solidFill>
                <a:latin typeface="Calibri"/>
                <a:ea typeface="Calibri"/>
                <a:cs typeface="Calibri"/>
              </a:defRPr>
            </a:pPr>
            <a:r>
              <a:rPr sz="938" b="0" i="0">
                <a:solidFill>
                  <a:srgbClr val="172B4D"/>
                </a:solidFill>
                <a:latin typeface="Calibri"/>
                <a:ea typeface="Calibri"/>
                <a:cs typeface="Calibri"/>
              </a:rPr>
              <a:t>Scanned pages paired with ground-truth text</a:t>
            </a:r>
          </a:p>
        </p:txBody>
      </p:sp>
      <p:sp>
        <p:nvSpPr>
          <p:cNvPr id="87" name="eval-cell-1-2">
            <a:extLst xmlns:a="http://schemas.openxmlformats.org/drawingml/2006/main">
              <a:ext uri="{FF2B5EF4-FFF2-40B4-BE49-F238E27FC236}">
                <a16:creationId xmlns:a16="http://schemas.microsoft.com/office/drawing/2014/main" id="{B5B37FD8-C242-4FF3-81ED-62A37CAC2A5D}"/>
              </a:ext>
            </a:extLst>
          </p:cNvPr>
          <p:cNvSpPr>
            <a:spLocks xmlns:a="http://schemas.openxmlformats.org/drawingml/2006/main" noGrp="1"/>
          </p:cNvSpPr>
          <p:nvPr/>
        </p:nvSpPr>
        <p:spPr>
          <a:xfrm xmlns:a="http://schemas.openxmlformats.org/drawingml/2006/main">
            <a:off x="6191250" y="3333750"/>
            <a:ext cx="2743200" cy="552450"/>
          </a:xfrm>
          <a:prstGeom xmlns:a="http://schemas.openxmlformats.org/drawingml/2006/main" prst="rect">
            <a:avLst/>
          </a:prstGeom>
          <a:solidFill xmlns:a="http://schemas.openxmlformats.org/drawingml/2006/main">
            <a:srgbClr val="F6F8FB"/>
          </a:solidFill>
          <a:ln xmlns:a="http://schemas.openxmlformats.org/drawingml/2006/main" w="9525">
            <a:solidFill>
              <a:srgbClr val="D7E0EA"/>
            </a:solidFill>
            <a:prstDash val="solid"/>
          </a:ln>
        </p:spPr>
      </p:sp>
      <p:sp>
        <p:nvSpPr>
          <p:cNvPr id="88" name="eval-cell-text-1-2">
            <a:extLst xmlns:a="http://schemas.openxmlformats.org/drawingml/2006/main">
              <a:ext uri="{FF2B5EF4-FFF2-40B4-BE49-F238E27FC236}">
                <a16:creationId xmlns:a16="http://schemas.microsoft.com/office/drawing/2014/main" id="{42DD2BD7-AF08-4ADF-99BA-93A10BC10D43}"/>
              </a:ext>
            </a:extLst>
          </p:cNvPr>
          <p:cNvSpPr>
            <a:spLocks xmlns:a="http://schemas.openxmlformats.org/drawingml/2006/main" noGrp="1"/>
          </p:cNvSpPr>
          <p:nvPr/>
        </p:nvSpPr>
        <p:spPr>
          <a:xfrm xmlns:a="http://schemas.openxmlformats.org/drawingml/2006/main">
            <a:off x="6286500" y="3400425"/>
            <a:ext cx="2552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38" b="0" i="0">
                <a:solidFill>
                  <a:srgbClr val="172B4D"/>
                </a:solidFill>
                <a:latin typeface="Calibri"/>
                <a:ea typeface="Calibri"/>
                <a:cs typeface="Calibri"/>
              </a:defRPr>
            </a:pPr>
            <a:r>
              <a:rPr sz="938" b="0" i="0">
                <a:solidFill>
                  <a:srgbClr val="172B4D"/>
                </a:solidFill>
                <a:latin typeface="Calibri"/>
                <a:ea typeface="Calibri"/>
                <a:cs typeface="Calibri"/>
              </a:rPr>
              <a:t>CER · coverage recovery</a:t>
            </a:r>
          </a:p>
        </p:txBody>
      </p:sp>
      <p:sp>
        <p:nvSpPr>
          <p:cNvPr id="89" name="eval-cell-1-3">
            <a:extLst xmlns:a="http://schemas.openxmlformats.org/drawingml/2006/main">
              <a:ext uri="{FF2B5EF4-FFF2-40B4-BE49-F238E27FC236}">
                <a16:creationId xmlns:a16="http://schemas.microsoft.com/office/drawing/2014/main" id="{D17C4B7D-E69A-4940-87A5-E2A86E04393C}"/>
              </a:ext>
            </a:extLst>
          </p:cNvPr>
          <p:cNvSpPr>
            <a:spLocks xmlns:a="http://schemas.openxmlformats.org/drawingml/2006/main" noGrp="1"/>
          </p:cNvSpPr>
          <p:nvPr/>
        </p:nvSpPr>
        <p:spPr>
          <a:xfrm xmlns:a="http://schemas.openxmlformats.org/drawingml/2006/main">
            <a:off x="8934450" y="3333750"/>
            <a:ext cx="2800350" cy="552450"/>
          </a:xfrm>
          <a:prstGeom xmlns:a="http://schemas.openxmlformats.org/drawingml/2006/main" prst="rect">
            <a:avLst/>
          </a:prstGeom>
          <a:solidFill xmlns:a="http://schemas.openxmlformats.org/drawingml/2006/main">
            <a:srgbClr val="F6F8FB"/>
          </a:solidFill>
          <a:ln xmlns:a="http://schemas.openxmlformats.org/drawingml/2006/main" w="9525">
            <a:solidFill>
              <a:srgbClr val="D7E0EA"/>
            </a:solidFill>
            <a:prstDash val="solid"/>
          </a:ln>
        </p:spPr>
      </p:sp>
      <p:sp>
        <p:nvSpPr>
          <p:cNvPr id="90" name="eval-cell-text-1-3">
            <a:extLst xmlns:a="http://schemas.openxmlformats.org/drawingml/2006/main">
              <a:ext uri="{FF2B5EF4-FFF2-40B4-BE49-F238E27FC236}">
                <a16:creationId xmlns:a16="http://schemas.microsoft.com/office/drawing/2014/main" id="{FE3D136B-1D00-4461-9EAD-F89AE3273FED}"/>
              </a:ext>
            </a:extLst>
          </p:cNvPr>
          <p:cNvSpPr>
            <a:spLocks xmlns:a="http://schemas.openxmlformats.org/drawingml/2006/main" noGrp="1"/>
          </p:cNvSpPr>
          <p:nvPr/>
        </p:nvSpPr>
        <p:spPr>
          <a:xfrm xmlns:a="http://schemas.openxmlformats.org/drawingml/2006/main">
            <a:off x="9029700" y="3400425"/>
            <a:ext cx="2609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38" b="0" i="0">
                <a:solidFill>
                  <a:srgbClr val="172B4D"/>
                </a:solidFill>
                <a:latin typeface="Calibri"/>
                <a:ea typeface="Calibri"/>
                <a:cs typeface="Calibri"/>
              </a:defRPr>
            </a:pPr>
            <a:r>
              <a:rPr sz="938" b="0" i="0">
                <a:solidFill>
                  <a:srgbClr val="172B4D"/>
                </a:solidFill>
                <a:latin typeface="Calibri"/>
                <a:ea typeface="Calibri"/>
                <a:cs typeface="Calibri"/>
              </a:rPr>
              <a:t>What text was recovered and how noisy is it?</a:t>
            </a:r>
          </a:p>
        </p:txBody>
      </p:sp>
      <p:sp>
        <p:nvSpPr>
          <p:cNvPr id="91" name="eval-cell-2-0">
            <a:extLst xmlns:a="http://schemas.openxmlformats.org/drawingml/2006/main">
              <a:ext uri="{FF2B5EF4-FFF2-40B4-BE49-F238E27FC236}">
                <a16:creationId xmlns:a16="http://schemas.microsoft.com/office/drawing/2014/main" id="{5FE95D8F-3533-45FF-8E41-7F378B1266AE}"/>
              </a:ext>
            </a:extLst>
          </p:cNvPr>
          <p:cNvSpPr>
            <a:spLocks xmlns:a="http://schemas.openxmlformats.org/drawingml/2006/main" noGrp="1"/>
          </p:cNvSpPr>
          <p:nvPr/>
        </p:nvSpPr>
        <p:spPr>
          <a:xfrm xmlns:a="http://schemas.openxmlformats.org/drawingml/2006/main">
            <a:off x="400050" y="3886200"/>
            <a:ext cx="20574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prstDash val="solid"/>
          </a:ln>
        </p:spPr>
      </p:sp>
      <p:sp>
        <p:nvSpPr>
          <p:cNvPr id="92" name="eval-cell-text-2-0">
            <a:extLst xmlns:a="http://schemas.openxmlformats.org/drawingml/2006/main">
              <a:ext uri="{FF2B5EF4-FFF2-40B4-BE49-F238E27FC236}">
                <a16:creationId xmlns:a16="http://schemas.microsoft.com/office/drawing/2014/main" id="{8075B1E3-03D7-4439-8CD1-ADF6311F7637}"/>
              </a:ext>
            </a:extLst>
          </p:cNvPr>
          <p:cNvSpPr>
            <a:spLocks xmlns:a="http://schemas.openxmlformats.org/drawingml/2006/main" noGrp="1"/>
          </p:cNvSpPr>
          <p:nvPr/>
        </p:nvSpPr>
        <p:spPr>
          <a:xfrm xmlns:a="http://schemas.openxmlformats.org/drawingml/2006/main">
            <a:off x="495300" y="3952875"/>
            <a:ext cx="1866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1" i="0">
                <a:solidFill>
                  <a:srgbClr val="173B67"/>
                </a:solidFill>
                <a:latin typeface="Calibri"/>
                <a:ea typeface="Calibri"/>
                <a:cs typeface="Calibri"/>
              </a:defRPr>
            </a:pPr>
            <a:r>
              <a:rPr sz="975" b="1" i="0">
                <a:solidFill>
                  <a:srgbClr val="173B67"/>
                </a:solidFill>
                <a:latin typeface="Calibri"/>
                <a:ea typeface="Calibri"/>
                <a:cs typeface="Calibri"/>
              </a:rPr>
              <a:t>Retrieval</a:t>
            </a:r>
          </a:p>
        </p:txBody>
      </p:sp>
      <p:sp>
        <p:nvSpPr>
          <p:cNvPr id="93" name="eval-cell-2-1">
            <a:extLst xmlns:a="http://schemas.openxmlformats.org/drawingml/2006/main">
              <a:ext uri="{FF2B5EF4-FFF2-40B4-BE49-F238E27FC236}">
                <a16:creationId xmlns:a16="http://schemas.microsoft.com/office/drawing/2014/main" id="{CF0938BF-FED4-47C6-A097-7DDA9CC59D4E}"/>
              </a:ext>
            </a:extLst>
          </p:cNvPr>
          <p:cNvSpPr>
            <a:spLocks xmlns:a="http://schemas.openxmlformats.org/drawingml/2006/main" noGrp="1"/>
          </p:cNvSpPr>
          <p:nvPr/>
        </p:nvSpPr>
        <p:spPr>
          <a:xfrm xmlns:a="http://schemas.openxmlformats.org/drawingml/2006/main">
            <a:off x="2457450" y="3886200"/>
            <a:ext cx="37338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prstDash val="solid"/>
          </a:ln>
        </p:spPr>
      </p:sp>
      <p:sp>
        <p:nvSpPr>
          <p:cNvPr id="94" name="eval-cell-text-2-1">
            <a:extLst xmlns:a="http://schemas.openxmlformats.org/drawingml/2006/main">
              <a:ext uri="{FF2B5EF4-FFF2-40B4-BE49-F238E27FC236}">
                <a16:creationId xmlns:a16="http://schemas.microsoft.com/office/drawing/2014/main" id="{D3423D62-8BFC-4344-8968-F615B834587C}"/>
              </a:ext>
            </a:extLst>
          </p:cNvPr>
          <p:cNvSpPr>
            <a:spLocks xmlns:a="http://schemas.openxmlformats.org/drawingml/2006/main" noGrp="1"/>
          </p:cNvSpPr>
          <p:nvPr/>
        </p:nvSpPr>
        <p:spPr>
          <a:xfrm xmlns:a="http://schemas.openxmlformats.org/drawingml/2006/main">
            <a:off x="2552700" y="3952875"/>
            <a:ext cx="3543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38" b="0" i="0">
                <a:solidFill>
                  <a:srgbClr val="172B4D"/>
                </a:solidFill>
                <a:latin typeface="Calibri"/>
                <a:ea typeface="Calibri"/>
                <a:cs typeface="Calibri"/>
              </a:defRPr>
            </a:pPr>
            <a:r>
              <a:rPr sz="938" b="0" i="0">
                <a:solidFill>
                  <a:srgbClr val="172B4D"/>
                </a:solidFill>
                <a:latin typeface="Calibri"/>
                <a:ea typeface="Calibri"/>
                <a:cs typeface="Calibri"/>
              </a:rPr>
              <a:t>Candidate queries with relevant chunk labels</a:t>
            </a:r>
          </a:p>
        </p:txBody>
      </p:sp>
      <p:sp>
        <p:nvSpPr>
          <p:cNvPr id="95" name="eval-cell-2-2">
            <a:extLst xmlns:a="http://schemas.openxmlformats.org/drawingml/2006/main">
              <a:ext uri="{FF2B5EF4-FFF2-40B4-BE49-F238E27FC236}">
                <a16:creationId xmlns:a16="http://schemas.microsoft.com/office/drawing/2014/main" id="{9E557DA6-91F3-4BE3-AC92-7C6E68166120}"/>
              </a:ext>
            </a:extLst>
          </p:cNvPr>
          <p:cNvSpPr>
            <a:spLocks xmlns:a="http://schemas.openxmlformats.org/drawingml/2006/main" noGrp="1"/>
          </p:cNvSpPr>
          <p:nvPr/>
        </p:nvSpPr>
        <p:spPr>
          <a:xfrm xmlns:a="http://schemas.openxmlformats.org/drawingml/2006/main">
            <a:off x="6191250" y="3886200"/>
            <a:ext cx="27432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prstDash val="solid"/>
          </a:ln>
        </p:spPr>
      </p:sp>
      <p:sp>
        <p:nvSpPr>
          <p:cNvPr id="96" name="eval-cell-text-2-2">
            <a:extLst xmlns:a="http://schemas.openxmlformats.org/drawingml/2006/main">
              <a:ext uri="{FF2B5EF4-FFF2-40B4-BE49-F238E27FC236}">
                <a16:creationId xmlns:a16="http://schemas.microsoft.com/office/drawing/2014/main" id="{36957811-52B7-4589-B45E-7A66FF000E0B}"/>
              </a:ext>
            </a:extLst>
          </p:cNvPr>
          <p:cNvSpPr>
            <a:spLocks xmlns:a="http://schemas.openxmlformats.org/drawingml/2006/main" noGrp="1"/>
          </p:cNvSpPr>
          <p:nvPr/>
        </p:nvSpPr>
        <p:spPr>
          <a:xfrm xmlns:a="http://schemas.openxmlformats.org/drawingml/2006/main">
            <a:off x="6286500" y="3952875"/>
            <a:ext cx="2552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38" b="0" i="0">
                <a:solidFill>
                  <a:srgbClr val="172B4D"/>
                </a:solidFill>
                <a:latin typeface="Calibri"/>
                <a:ea typeface="Calibri"/>
                <a:cs typeface="Calibri"/>
              </a:defRPr>
            </a:pPr>
            <a:r>
              <a:rPr sz="938" b="0" i="0">
                <a:solidFill>
                  <a:srgbClr val="172B4D"/>
                </a:solidFill>
                <a:latin typeface="Calibri"/>
                <a:ea typeface="Calibri"/>
                <a:cs typeface="Calibri"/>
              </a:rPr>
              <a:t>Recall@5 · MRR@5 · context precision</a:t>
            </a:r>
          </a:p>
        </p:txBody>
      </p:sp>
      <p:sp>
        <p:nvSpPr>
          <p:cNvPr id="97" name="eval-cell-2-3">
            <a:extLst xmlns:a="http://schemas.openxmlformats.org/drawingml/2006/main">
              <a:ext uri="{FF2B5EF4-FFF2-40B4-BE49-F238E27FC236}">
                <a16:creationId xmlns:a16="http://schemas.microsoft.com/office/drawing/2014/main" id="{D1684A90-2529-4E90-9250-F8D64157D582}"/>
              </a:ext>
            </a:extLst>
          </p:cNvPr>
          <p:cNvSpPr>
            <a:spLocks xmlns:a="http://schemas.openxmlformats.org/drawingml/2006/main" noGrp="1"/>
          </p:cNvSpPr>
          <p:nvPr/>
        </p:nvSpPr>
        <p:spPr>
          <a:xfrm xmlns:a="http://schemas.openxmlformats.org/drawingml/2006/main">
            <a:off x="8934450" y="3886200"/>
            <a:ext cx="28003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prstDash val="solid"/>
          </a:ln>
        </p:spPr>
      </p:sp>
      <p:sp>
        <p:nvSpPr>
          <p:cNvPr id="98" name="eval-cell-text-2-3">
            <a:extLst xmlns:a="http://schemas.openxmlformats.org/drawingml/2006/main">
              <a:ext uri="{FF2B5EF4-FFF2-40B4-BE49-F238E27FC236}">
                <a16:creationId xmlns:a16="http://schemas.microsoft.com/office/drawing/2014/main" id="{E0867F04-C668-4814-9BCB-4CA894CA40B6}"/>
              </a:ext>
            </a:extLst>
          </p:cNvPr>
          <p:cNvSpPr>
            <a:spLocks xmlns:a="http://schemas.openxmlformats.org/drawingml/2006/main" noGrp="1"/>
          </p:cNvSpPr>
          <p:nvPr/>
        </p:nvSpPr>
        <p:spPr>
          <a:xfrm xmlns:a="http://schemas.openxmlformats.org/drawingml/2006/main">
            <a:off x="9029700" y="3952875"/>
            <a:ext cx="2609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38" b="0" i="0">
                <a:solidFill>
                  <a:srgbClr val="172B4D"/>
                </a:solidFill>
                <a:latin typeface="Calibri"/>
                <a:ea typeface="Calibri"/>
                <a:cs typeface="Calibri"/>
              </a:defRPr>
            </a:pPr>
            <a:r>
              <a:rPr sz="938" b="0" i="0">
                <a:solidFill>
                  <a:srgbClr val="172B4D"/>
                </a:solidFill>
                <a:latin typeface="Calibri"/>
                <a:ea typeface="Calibri"/>
                <a:cs typeface="Calibri"/>
              </a:rPr>
              <a:t>Does Top-5 contain the right knowledge early?</a:t>
            </a:r>
          </a:p>
        </p:txBody>
      </p:sp>
      <p:sp>
        <p:nvSpPr>
          <p:cNvPr id="99" name="eval-cell-3-0">
            <a:extLst xmlns:a="http://schemas.openxmlformats.org/drawingml/2006/main">
              <a:ext uri="{FF2B5EF4-FFF2-40B4-BE49-F238E27FC236}">
                <a16:creationId xmlns:a16="http://schemas.microsoft.com/office/drawing/2014/main" id="{27081D4C-2366-40E2-88E5-14027F6F3F6F}"/>
              </a:ext>
            </a:extLst>
          </p:cNvPr>
          <p:cNvSpPr>
            <a:spLocks xmlns:a="http://schemas.openxmlformats.org/drawingml/2006/main" noGrp="1"/>
          </p:cNvSpPr>
          <p:nvPr/>
        </p:nvSpPr>
        <p:spPr>
          <a:xfrm xmlns:a="http://schemas.openxmlformats.org/drawingml/2006/main">
            <a:off x="400050" y="4438650"/>
            <a:ext cx="2057400" cy="552450"/>
          </a:xfrm>
          <a:prstGeom xmlns:a="http://schemas.openxmlformats.org/drawingml/2006/main" prst="rect">
            <a:avLst/>
          </a:prstGeom>
          <a:solidFill xmlns:a="http://schemas.openxmlformats.org/drawingml/2006/main">
            <a:srgbClr val="F6F8FB"/>
          </a:solidFill>
          <a:ln xmlns:a="http://schemas.openxmlformats.org/drawingml/2006/main" w="9525">
            <a:solidFill>
              <a:srgbClr val="D7E0EA"/>
            </a:solidFill>
            <a:prstDash val="solid"/>
          </a:ln>
        </p:spPr>
      </p:sp>
      <p:sp>
        <p:nvSpPr>
          <p:cNvPr id="100" name="eval-cell-text-3-0">
            <a:extLst xmlns:a="http://schemas.openxmlformats.org/drawingml/2006/main">
              <a:ext uri="{FF2B5EF4-FFF2-40B4-BE49-F238E27FC236}">
                <a16:creationId xmlns:a16="http://schemas.microsoft.com/office/drawing/2014/main" id="{7E37F0A9-8B26-43DD-BBC1-3B84240D73EC}"/>
              </a:ext>
            </a:extLst>
          </p:cNvPr>
          <p:cNvSpPr>
            <a:spLocks xmlns:a="http://schemas.openxmlformats.org/drawingml/2006/main" noGrp="1"/>
          </p:cNvSpPr>
          <p:nvPr/>
        </p:nvSpPr>
        <p:spPr>
          <a:xfrm xmlns:a="http://schemas.openxmlformats.org/drawingml/2006/main">
            <a:off x="495300" y="4505325"/>
            <a:ext cx="1866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1" i="0">
                <a:solidFill>
                  <a:srgbClr val="173B67"/>
                </a:solidFill>
                <a:latin typeface="Calibri"/>
                <a:ea typeface="Calibri"/>
                <a:cs typeface="Calibri"/>
              </a:defRPr>
            </a:pPr>
            <a:r>
              <a:rPr sz="975" b="1" i="0">
                <a:solidFill>
                  <a:srgbClr val="173B67"/>
                </a:solidFill>
                <a:latin typeface="Calibri"/>
                <a:ea typeface="Calibri"/>
                <a:cs typeface="Calibri"/>
              </a:rPr>
              <a:t>Question plan</a:t>
            </a:r>
          </a:p>
        </p:txBody>
      </p:sp>
      <p:sp>
        <p:nvSpPr>
          <p:cNvPr id="101" name="eval-cell-3-1">
            <a:extLst xmlns:a="http://schemas.openxmlformats.org/drawingml/2006/main">
              <a:ext uri="{FF2B5EF4-FFF2-40B4-BE49-F238E27FC236}">
                <a16:creationId xmlns:a16="http://schemas.microsoft.com/office/drawing/2014/main" id="{23051FAF-A3E2-4EA4-AED7-F66F658A88D5}"/>
              </a:ext>
            </a:extLst>
          </p:cNvPr>
          <p:cNvSpPr>
            <a:spLocks xmlns:a="http://schemas.openxmlformats.org/drawingml/2006/main" noGrp="1"/>
          </p:cNvSpPr>
          <p:nvPr/>
        </p:nvSpPr>
        <p:spPr>
          <a:xfrm xmlns:a="http://schemas.openxmlformats.org/drawingml/2006/main">
            <a:off x="2457450" y="4438650"/>
            <a:ext cx="3733800" cy="552450"/>
          </a:xfrm>
          <a:prstGeom xmlns:a="http://schemas.openxmlformats.org/drawingml/2006/main" prst="rect">
            <a:avLst/>
          </a:prstGeom>
          <a:solidFill xmlns:a="http://schemas.openxmlformats.org/drawingml/2006/main">
            <a:srgbClr val="F6F8FB"/>
          </a:solidFill>
          <a:ln xmlns:a="http://schemas.openxmlformats.org/drawingml/2006/main" w="9525">
            <a:solidFill>
              <a:srgbClr val="D7E0EA"/>
            </a:solidFill>
            <a:prstDash val="solid"/>
          </a:ln>
        </p:spPr>
      </p:sp>
      <p:sp>
        <p:nvSpPr>
          <p:cNvPr id="102" name="eval-cell-text-3-1">
            <a:extLst xmlns:a="http://schemas.openxmlformats.org/drawingml/2006/main">
              <a:ext uri="{FF2B5EF4-FFF2-40B4-BE49-F238E27FC236}">
                <a16:creationId xmlns:a16="http://schemas.microsoft.com/office/drawing/2014/main" id="{F69157B6-3A70-4C9E-A98F-F393AD30E20F}"/>
              </a:ext>
            </a:extLst>
          </p:cNvPr>
          <p:cNvSpPr>
            <a:spLocks xmlns:a="http://schemas.openxmlformats.org/drawingml/2006/main" noGrp="1"/>
          </p:cNvSpPr>
          <p:nvPr/>
        </p:nvSpPr>
        <p:spPr>
          <a:xfrm xmlns:a="http://schemas.openxmlformats.org/drawingml/2006/main">
            <a:off x="2552700" y="4505325"/>
            <a:ext cx="3543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38" b="0" i="0">
                <a:solidFill>
                  <a:srgbClr val="172B4D"/>
                </a:solidFill>
                <a:latin typeface="Calibri"/>
                <a:ea typeface="Calibri"/>
                <a:cs typeface="Calibri"/>
              </a:defRPr>
            </a:pPr>
            <a:r>
              <a:rPr sz="938" b="0" i="0">
                <a:solidFill>
                  <a:srgbClr val="172B4D"/>
                </a:solidFill>
                <a:latin typeface="Calibri"/>
                <a:ea typeface="Calibri"/>
                <a:cs typeface="Calibri"/>
              </a:rPr>
              <a:t>Reviewer rubric by role, level and evidence</a:t>
            </a:r>
          </a:p>
        </p:txBody>
      </p:sp>
      <p:sp>
        <p:nvSpPr>
          <p:cNvPr id="103" name="eval-cell-3-2">
            <a:extLst xmlns:a="http://schemas.openxmlformats.org/drawingml/2006/main">
              <a:ext uri="{FF2B5EF4-FFF2-40B4-BE49-F238E27FC236}">
                <a16:creationId xmlns:a16="http://schemas.microsoft.com/office/drawing/2014/main" id="{2AA72803-6B13-4C6F-9140-A6CAEC0F60A3}"/>
              </a:ext>
            </a:extLst>
          </p:cNvPr>
          <p:cNvSpPr>
            <a:spLocks xmlns:a="http://schemas.openxmlformats.org/drawingml/2006/main" noGrp="1"/>
          </p:cNvSpPr>
          <p:nvPr/>
        </p:nvSpPr>
        <p:spPr>
          <a:xfrm xmlns:a="http://schemas.openxmlformats.org/drawingml/2006/main">
            <a:off x="6191250" y="4438650"/>
            <a:ext cx="2743200" cy="552450"/>
          </a:xfrm>
          <a:prstGeom xmlns:a="http://schemas.openxmlformats.org/drawingml/2006/main" prst="rect">
            <a:avLst/>
          </a:prstGeom>
          <a:solidFill xmlns:a="http://schemas.openxmlformats.org/drawingml/2006/main">
            <a:srgbClr val="F6F8FB"/>
          </a:solidFill>
          <a:ln xmlns:a="http://schemas.openxmlformats.org/drawingml/2006/main" w="9525">
            <a:solidFill>
              <a:srgbClr val="D7E0EA"/>
            </a:solidFill>
            <a:prstDash val="solid"/>
          </a:ln>
        </p:spPr>
      </p:sp>
      <p:sp>
        <p:nvSpPr>
          <p:cNvPr id="104" name="eval-cell-text-3-2">
            <a:extLst xmlns:a="http://schemas.openxmlformats.org/drawingml/2006/main">
              <a:ext uri="{FF2B5EF4-FFF2-40B4-BE49-F238E27FC236}">
                <a16:creationId xmlns:a16="http://schemas.microsoft.com/office/drawing/2014/main" id="{A48BAD32-A465-4A27-8585-3A422FAD92A6}"/>
              </a:ext>
            </a:extLst>
          </p:cNvPr>
          <p:cNvSpPr>
            <a:spLocks xmlns:a="http://schemas.openxmlformats.org/drawingml/2006/main" noGrp="1"/>
          </p:cNvSpPr>
          <p:nvPr/>
        </p:nvSpPr>
        <p:spPr>
          <a:xfrm xmlns:a="http://schemas.openxmlformats.org/drawingml/2006/main">
            <a:off x="6286500" y="4505325"/>
            <a:ext cx="2552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38" b="0" i="0">
                <a:solidFill>
                  <a:srgbClr val="172B4D"/>
                </a:solidFill>
                <a:latin typeface="Calibri"/>
                <a:ea typeface="Calibri"/>
                <a:cs typeface="Calibri"/>
              </a:defRPr>
            </a:pPr>
            <a:r>
              <a:rPr sz="938" b="0" i="0">
                <a:solidFill>
                  <a:srgbClr val="172B4D"/>
                </a:solidFill>
                <a:latin typeface="Calibri"/>
                <a:ea typeface="Calibri"/>
                <a:cs typeface="Calibri"/>
              </a:rPr>
              <a:t>Relevance · CV alignment · hallucination rate</a:t>
            </a:r>
          </a:p>
        </p:txBody>
      </p:sp>
      <p:sp>
        <p:nvSpPr>
          <p:cNvPr id="105" name="eval-cell-3-3">
            <a:extLst xmlns:a="http://schemas.openxmlformats.org/drawingml/2006/main">
              <a:ext uri="{FF2B5EF4-FFF2-40B4-BE49-F238E27FC236}">
                <a16:creationId xmlns:a16="http://schemas.microsoft.com/office/drawing/2014/main" id="{80A14434-9621-4281-B193-E9D3358C1D7D}"/>
              </a:ext>
            </a:extLst>
          </p:cNvPr>
          <p:cNvSpPr>
            <a:spLocks xmlns:a="http://schemas.openxmlformats.org/drawingml/2006/main" noGrp="1"/>
          </p:cNvSpPr>
          <p:nvPr/>
        </p:nvSpPr>
        <p:spPr>
          <a:xfrm xmlns:a="http://schemas.openxmlformats.org/drawingml/2006/main">
            <a:off x="8934450" y="4438650"/>
            <a:ext cx="2800350" cy="552450"/>
          </a:xfrm>
          <a:prstGeom xmlns:a="http://schemas.openxmlformats.org/drawingml/2006/main" prst="rect">
            <a:avLst/>
          </a:prstGeom>
          <a:solidFill xmlns:a="http://schemas.openxmlformats.org/drawingml/2006/main">
            <a:srgbClr val="F6F8FB"/>
          </a:solidFill>
          <a:ln xmlns:a="http://schemas.openxmlformats.org/drawingml/2006/main" w="9525">
            <a:solidFill>
              <a:srgbClr val="D7E0EA"/>
            </a:solidFill>
            <a:prstDash val="solid"/>
          </a:ln>
        </p:spPr>
      </p:sp>
      <p:sp>
        <p:nvSpPr>
          <p:cNvPr id="106" name="eval-cell-text-3-3">
            <a:extLst xmlns:a="http://schemas.openxmlformats.org/drawingml/2006/main">
              <a:ext uri="{FF2B5EF4-FFF2-40B4-BE49-F238E27FC236}">
                <a16:creationId xmlns:a16="http://schemas.microsoft.com/office/drawing/2014/main" id="{5BF98FA7-0043-456B-B288-967A42906C05}"/>
              </a:ext>
            </a:extLst>
          </p:cNvPr>
          <p:cNvSpPr>
            <a:spLocks xmlns:a="http://schemas.openxmlformats.org/drawingml/2006/main" noGrp="1"/>
          </p:cNvSpPr>
          <p:nvPr/>
        </p:nvSpPr>
        <p:spPr>
          <a:xfrm xmlns:a="http://schemas.openxmlformats.org/drawingml/2006/main">
            <a:off x="9029700" y="4505325"/>
            <a:ext cx="2609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38" b="0" i="0">
                <a:solidFill>
                  <a:srgbClr val="172B4D"/>
                </a:solidFill>
                <a:latin typeface="Calibri"/>
                <a:ea typeface="Calibri"/>
                <a:cs typeface="Calibri"/>
              </a:defRPr>
            </a:pPr>
            <a:r>
              <a:rPr sz="938" b="0" i="0">
                <a:solidFill>
                  <a:srgbClr val="172B4D"/>
                </a:solidFill>
                <a:latin typeface="Calibri"/>
                <a:ea typeface="Calibri"/>
                <a:cs typeface="Calibri"/>
              </a:rPr>
              <a:t>Are questions grounded and appropriate?</a:t>
            </a:r>
          </a:p>
        </p:txBody>
      </p:sp>
      <p:sp>
        <p:nvSpPr>
          <p:cNvPr id="107" name="eval-cell-4-0">
            <a:extLst xmlns:a="http://schemas.openxmlformats.org/drawingml/2006/main">
              <a:ext uri="{FF2B5EF4-FFF2-40B4-BE49-F238E27FC236}">
                <a16:creationId xmlns:a16="http://schemas.microsoft.com/office/drawing/2014/main" id="{0DE966B1-6C16-4AC3-849F-9BEAB3377446}"/>
              </a:ext>
            </a:extLst>
          </p:cNvPr>
          <p:cNvSpPr>
            <a:spLocks xmlns:a="http://schemas.openxmlformats.org/drawingml/2006/main" noGrp="1"/>
          </p:cNvSpPr>
          <p:nvPr/>
        </p:nvSpPr>
        <p:spPr>
          <a:xfrm xmlns:a="http://schemas.openxmlformats.org/drawingml/2006/main">
            <a:off x="400050" y="4991100"/>
            <a:ext cx="20574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prstDash val="solid"/>
          </a:ln>
        </p:spPr>
      </p:sp>
      <p:sp>
        <p:nvSpPr>
          <p:cNvPr id="108" name="eval-cell-text-4-0">
            <a:extLst xmlns:a="http://schemas.openxmlformats.org/drawingml/2006/main">
              <a:ext uri="{FF2B5EF4-FFF2-40B4-BE49-F238E27FC236}">
                <a16:creationId xmlns:a16="http://schemas.microsoft.com/office/drawing/2014/main" id="{9DF5731F-E993-402B-9177-484F82503F2A}"/>
              </a:ext>
            </a:extLst>
          </p:cNvPr>
          <p:cNvSpPr>
            <a:spLocks xmlns:a="http://schemas.openxmlformats.org/drawingml/2006/main" noGrp="1"/>
          </p:cNvSpPr>
          <p:nvPr/>
        </p:nvSpPr>
        <p:spPr>
          <a:xfrm xmlns:a="http://schemas.openxmlformats.org/drawingml/2006/main">
            <a:off x="495300" y="5057775"/>
            <a:ext cx="1866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1" i="0">
                <a:solidFill>
                  <a:srgbClr val="173B67"/>
                </a:solidFill>
                <a:latin typeface="Calibri"/>
                <a:ea typeface="Calibri"/>
                <a:cs typeface="Calibri"/>
              </a:defRPr>
            </a:pPr>
            <a:r>
              <a:rPr sz="975" b="1" i="0">
                <a:solidFill>
                  <a:srgbClr val="173B67"/>
                </a:solidFill>
                <a:latin typeface="Calibri"/>
                <a:ea typeface="Calibri"/>
                <a:cs typeface="Calibri"/>
              </a:rPr>
              <a:t>Evaluator</a:t>
            </a:r>
          </a:p>
        </p:txBody>
      </p:sp>
      <p:sp>
        <p:nvSpPr>
          <p:cNvPr id="109" name="eval-cell-4-1">
            <a:extLst xmlns:a="http://schemas.openxmlformats.org/drawingml/2006/main">
              <a:ext uri="{FF2B5EF4-FFF2-40B4-BE49-F238E27FC236}">
                <a16:creationId xmlns:a16="http://schemas.microsoft.com/office/drawing/2014/main" id="{1C046412-DA7A-4AE5-9BDA-CFE3B12F3336}"/>
              </a:ext>
            </a:extLst>
          </p:cNvPr>
          <p:cNvSpPr>
            <a:spLocks xmlns:a="http://schemas.openxmlformats.org/drawingml/2006/main" noGrp="1"/>
          </p:cNvSpPr>
          <p:nvPr/>
        </p:nvSpPr>
        <p:spPr>
          <a:xfrm xmlns:a="http://schemas.openxmlformats.org/drawingml/2006/main">
            <a:off x="2457450" y="4991100"/>
            <a:ext cx="37338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prstDash val="solid"/>
          </a:ln>
        </p:spPr>
      </p:sp>
      <p:sp>
        <p:nvSpPr>
          <p:cNvPr id="110" name="eval-cell-text-4-1">
            <a:extLst xmlns:a="http://schemas.openxmlformats.org/drawingml/2006/main">
              <a:ext uri="{FF2B5EF4-FFF2-40B4-BE49-F238E27FC236}">
                <a16:creationId xmlns:a16="http://schemas.microsoft.com/office/drawing/2014/main" id="{CB2AC229-A6F3-4957-951C-1C7550A2025B}"/>
              </a:ext>
            </a:extLst>
          </p:cNvPr>
          <p:cNvSpPr>
            <a:spLocks xmlns:a="http://schemas.openxmlformats.org/drawingml/2006/main" noGrp="1"/>
          </p:cNvSpPr>
          <p:nvPr/>
        </p:nvSpPr>
        <p:spPr>
          <a:xfrm xmlns:a="http://schemas.openxmlformats.org/drawingml/2006/main">
            <a:off x="2552700" y="5057775"/>
            <a:ext cx="3543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38" b="0" i="0">
                <a:solidFill>
                  <a:srgbClr val="172B4D"/>
                </a:solidFill>
                <a:latin typeface="Calibri"/>
                <a:ea typeface="Calibri"/>
                <a:cs typeface="Calibri"/>
              </a:defRPr>
            </a:pPr>
            <a:r>
              <a:rPr sz="938" b="0" i="0">
                <a:solidFill>
                  <a:srgbClr val="172B4D"/>
                </a:solidFill>
                <a:latin typeface="Calibri"/>
                <a:ea typeface="Calibri"/>
                <a:cs typeface="Calibri"/>
              </a:rPr>
              <a:t>Double-scored answers with adjudication</a:t>
            </a:r>
          </a:p>
        </p:txBody>
      </p:sp>
      <p:sp>
        <p:nvSpPr>
          <p:cNvPr id="111" name="eval-cell-4-2">
            <a:extLst xmlns:a="http://schemas.openxmlformats.org/drawingml/2006/main">
              <a:ext uri="{FF2B5EF4-FFF2-40B4-BE49-F238E27FC236}">
                <a16:creationId xmlns:a16="http://schemas.microsoft.com/office/drawing/2014/main" id="{452D1D44-CC9C-45C1-BE05-0B656087688A}"/>
              </a:ext>
            </a:extLst>
          </p:cNvPr>
          <p:cNvSpPr>
            <a:spLocks xmlns:a="http://schemas.openxmlformats.org/drawingml/2006/main" noGrp="1"/>
          </p:cNvSpPr>
          <p:nvPr/>
        </p:nvSpPr>
        <p:spPr>
          <a:xfrm xmlns:a="http://schemas.openxmlformats.org/drawingml/2006/main">
            <a:off x="6191250" y="4991100"/>
            <a:ext cx="27432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prstDash val="solid"/>
          </a:ln>
        </p:spPr>
      </p:sp>
      <p:sp>
        <p:nvSpPr>
          <p:cNvPr id="112" name="eval-cell-text-4-2">
            <a:extLst xmlns:a="http://schemas.openxmlformats.org/drawingml/2006/main">
              <a:ext uri="{FF2B5EF4-FFF2-40B4-BE49-F238E27FC236}">
                <a16:creationId xmlns:a16="http://schemas.microsoft.com/office/drawing/2014/main" id="{9729692B-CF63-4199-9DDB-57F7634F9FF8}"/>
              </a:ext>
            </a:extLst>
          </p:cNvPr>
          <p:cNvSpPr>
            <a:spLocks xmlns:a="http://schemas.openxmlformats.org/drawingml/2006/main" noGrp="1"/>
          </p:cNvSpPr>
          <p:nvPr/>
        </p:nvSpPr>
        <p:spPr>
          <a:xfrm xmlns:a="http://schemas.openxmlformats.org/drawingml/2006/main">
            <a:off x="6286500" y="5057775"/>
            <a:ext cx="2552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38" b="0" i="0">
                <a:solidFill>
                  <a:srgbClr val="172B4D"/>
                </a:solidFill>
                <a:latin typeface="Calibri"/>
                <a:ea typeface="Calibri"/>
                <a:cs typeface="Calibri"/>
              </a:defRPr>
            </a:pPr>
            <a:r>
              <a:rPr sz="938" b="0" i="0">
                <a:solidFill>
                  <a:srgbClr val="172B4D"/>
                </a:solidFill>
                <a:latin typeface="Calibri"/>
                <a:ea typeface="Calibri"/>
                <a:cs typeface="Calibri"/>
              </a:rPr>
              <a:t>MAE · correlation · repeatability</a:t>
            </a:r>
          </a:p>
        </p:txBody>
      </p:sp>
      <p:sp>
        <p:nvSpPr>
          <p:cNvPr id="113" name="eval-cell-4-3">
            <a:extLst xmlns:a="http://schemas.openxmlformats.org/drawingml/2006/main">
              <a:ext uri="{FF2B5EF4-FFF2-40B4-BE49-F238E27FC236}">
                <a16:creationId xmlns:a16="http://schemas.microsoft.com/office/drawing/2014/main" id="{E356B90A-6DFE-4EAF-AA36-0C2560DE0017}"/>
              </a:ext>
            </a:extLst>
          </p:cNvPr>
          <p:cNvSpPr>
            <a:spLocks xmlns:a="http://schemas.openxmlformats.org/drawingml/2006/main" noGrp="1"/>
          </p:cNvSpPr>
          <p:nvPr/>
        </p:nvSpPr>
        <p:spPr>
          <a:xfrm xmlns:a="http://schemas.openxmlformats.org/drawingml/2006/main">
            <a:off x="8934450" y="4991100"/>
            <a:ext cx="28003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prstDash val="solid"/>
          </a:ln>
        </p:spPr>
      </p:sp>
      <p:sp>
        <p:nvSpPr>
          <p:cNvPr id="114" name="eval-cell-text-4-3">
            <a:extLst xmlns:a="http://schemas.openxmlformats.org/drawingml/2006/main">
              <a:ext uri="{FF2B5EF4-FFF2-40B4-BE49-F238E27FC236}">
                <a16:creationId xmlns:a16="http://schemas.microsoft.com/office/drawing/2014/main" id="{5287BA31-C082-4F06-9B86-ED87C453EB37}"/>
              </a:ext>
            </a:extLst>
          </p:cNvPr>
          <p:cNvSpPr>
            <a:spLocks xmlns:a="http://schemas.openxmlformats.org/drawingml/2006/main" noGrp="1"/>
          </p:cNvSpPr>
          <p:nvPr/>
        </p:nvSpPr>
        <p:spPr>
          <a:xfrm xmlns:a="http://schemas.openxmlformats.org/drawingml/2006/main">
            <a:off x="9029700" y="5057775"/>
            <a:ext cx="2609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38" b="0" i="0">
                <a:solidFill>
                  <a:srgbClr val="172B4D"/>
                </a:solidFill>
                <a:latin typeface="Calibri"/>
                <a:ea typeface="Calibri"/>
                <a:cs typeface="Calibri"/>
              </a:defRPr>
            </a:pPr>
            <a:r>
              <a:rPr sz="938" b="0" i="0">
                <a:solidFill>
                  <a:srgbClr val="172B4D"/>
                </a:solidFill>
                <a:latin typeface="Calibri"/>
                <a:ea typeface="Calibri"/>
                <a:cs typeface="Calibri"/>
              </a:rPr>
              <a:t>Does automated scoring agree and remain stable?</a:t>
            </a:r>
          </a:p>
        </p:txBody>
      </p:sp>
      <p:sp>
        <p:nvSpPr>
          <p:cNvPr id="115" name="eval-claim-band">
            <a:extLst xmlns:a="http://schemas.openxmlformats.org/drawingml/2006/main">
              <a:ext uri="{FF2B5EF4-FFF2-40B4-BE49-F238E27FC236}">
                <a16:creationId xmlns:a16="http://schemas.microsoft.com/office/drawing/2014/main" id="{86DBAE02-4D58-4A21-92B2-1CF38F604460}"/>
              </a:ext>
            </a:extLst>
          </p:cNvPr>
          <p:cNvSpPr>
            <a:spLocks xmlns:a="http://schemas.openxmlformats.org/drawingml/2006/main" noGrp="1"/>
          </p:cNvSpPr>
          <p:nvPr/>
        </p:nvSpPr>
        <p:spPr>
          <a:xfrm xmlns:a="http://schemas.openxmlformats.org/drawingml/2006/main">
            <a:off x="400050" y="5657850"/>
            <a:ext cx="11334750" cy="381000"/>
          </a:xfrm>
          <a:prstGeom xmlns:a="http://schemas.openxmlformats.org/drawingml/2006/main" prst="roundRect">
            <a:avLst>
              <a:gd name="adj" fmla="val 20000"/>
            </a:avLst>
          </a:prstGeom>
          <a:solidFill xmlns:a="http://schemas.openxmlformats.org/drawingml/2006/main">
            <a:srgbClr val="FDEDEA"/>
          </a:solidFill>
          <a:ln xmlns:a="http://schemas.openxmlformats.org/drawingml/2006/main" w="9525">
            <a:solidFill>
              <a:srgbClr val="F2C8C1"/>
            </a:solidFill>
            <a:prstDash val="solid"/>
          </a:ln>
        </p:spPr>
      </p:sp>
      <p:sp>
        <p:nvSpPr>
          <p:cNvPr id="116" name="eval-claim">
            <a:extLst xmlns:a="http://schemas.openxmlformats.org/drawingml/2006/main">
              <a:ext uri="{FF2B5EF4-FFF2-40B4-BE49-F238E27FC236}">
                <a16:creationId xmlns:a16="http://schemas.microsoft.com/office/drawing/2014/main" id="{B56069BA-6394-495E-968C-AE30AE3D0CE8}"/>
              </a:ext>
            </a:extLst>
          </p:cNvPr>
          <p:cNvSpPr>
            <a:spLocks xmlns:a="http://schemas.openxmlformats.org/drawingml/2006/main" noGrp="1"/>
          </p:cNvSpPr>
          <p:nvPr/>
        </p:nvSpPr>
        <p:spPr>
          <a:xfrm xmlns:a="http://schemas.openxmlformats.org/drawingml/2006/main">
            <a:off x="590550" y="5734050"/>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i="0">
                <a:solidFill>
                  <a:srgbClr val="C64D3A"/>
                </a:solidFill>
                <a:latin typeface="Calibri"/>
                <a:ea typeface="Calibri"/>
                <a:cs typeface="Calibri"/>
              </a:defRPr>
            </a:pPr>
            <a:r>
              <a:rPr sz="1050" b="1" i="0">
                <a:solidFill>
                  <a:srgbClr val="C64D3A"/>
                </a:solidFill>
                <a:latin typeface="Calibri"/>
                <a:ea typeface="Calibri"/>
                <a:cs typeface="Calibri"/>
              </a:rPr>
              <a:t>CURRENT EVIDENCE BOUNDARY: canonical evaluation_report.json = no_data; the synthetic 10-group RAGAS-style pilot is not a human benchmark.</a:t>
            </a:r>
          </a:p>
        </p:txBody>
      </p:sp>
    </p:spTree>
    <p:extLst>
      <p:ext uri="{BB962C8B-B14F-4D97-AF65-F5344CB8AC3E}">
        <p14:creationId xmlns:p14="http://schemas.microsoft.com/office/powerpoint/2010/main" val="189607418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7823EBE3-962B-49D7-89B5-FA115278815F}"/>
              </a:ext>
            </a:extLst>
          </p:cNvPr>
          <p:cNvSpPr>
            <a:spLocks xmlns:a="http://schemas.openxmlformats.org/drawingml/2006/main" noGrp="1"/>
          </p:cNvSpPr>
          <p:nvPr/>
        </p:nvSpPr>
        <p:spPr>
          <a:xfrm xmlns:a="http://schemas.openxmlformats.org/drawingml/2006/main">
            <a:off x="400050" y="2857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1356F"/>
                </a:solidFill>
              </a:defRPr>
            </a:pPr>
            <a:r>
              <a:rPr sz="2025" b="1">
                <a:solidFill>
                  <a:srgbClr val="11356F"/>
                </a:solidFill>
              </a:rPr>
              <a:t>5. DEFENSE READINESS</a:t>
            </a:r>
          </a:p>
        </p:txBody>
      </p:sp>
      <p:sp>
        <p:nvSpPr>
          <p:cNvPr id="2" name="">
            <a:extLst xmlns:a="http://schemas.openxmlformats.org/drawingml/2006/main">
              <a:ext uri="{FF2B5EF4-FFF2-40B4-BE49-F238E27FC236}">
                <a16:creationId xmlns:a16="http://schemas.microsoft.com/office/drawing/2014/main" id="{95148F34-5B08-485E-A22C-D909F79932CB}"/>
              </a:ext>
            </a:extLst>
          </p:cNvPr>
          <p:cNvSpPr>
            <a:spLocks xmlns:a="http://schemas.openxmlformats.org/drawingml/2006/main" noGrp="1"/>
          </p:cNvSpPr>
          <p:nvPr/>
        </p:nvSpPr>
        <p:spPr>
          <a:xfrm xmlns:a="http://schemas.openxmlformats.org/drawingml/2006/main">
            <a:off x="400050" y="723900"/>
            <a:ext cx="9715500" cy="9525"/>
          </a:xfrm>
          <a:prstGeom xmlns:a="http://schemas.openxmlformats.org/drawingml/2006/main" prst="line">
            <a:avLst/>
          </a:prstGeom>
          <a:noFill xmlns:a="http://schemas.openxmlformats.org/drawingml/2006/main"/>
          <a:ln xmlns:a="http://schemas.openxmlformats.org/drawingml/2006/main" w="9525">
            <a:solidFill>
              <a:srgbClr val="D8E6FF"/>
            </a:solidFill>
            <a:prstDash val="solid"/>
          </a:ln>
        </p:spPr>
      </p:sp>
      <p:sp>
        <p:nvSpPr>
          <p:cNvPr id="3" name="">
            <a:extLst xmlns:a="http://schemas.openxmlformats.org/drawingml/2006/main">
              <a:ext uri="{FF2B5EF4-FFF2-40B4-BE49-F238E27FC236}">
                <a16:creationId xmlns:a16="http://schemas.microsoft.com/office/drawing/2014/main" id="{5DA52FB4-C599-4BC1-9AEA-7E29D5D9786C}"/>
              </a:ext>
            </a:extLst>
          </p:cNvPr>
          <p:cNvSpPr>
            <a:spLocks xmlns:a="http://schemas.openxmlformats.org/drawingml/2006/main" noGrp="1"/>
          </p:cNvSpPr>
          <p:nvPr/>
        </p:nvSpPr>
        <p:spPr>
          <a:xfrm xmlns:a="http://schemas.openxmlformats.org/drawingml/2006/main">
            <a:off x="400050" y="838200"/>
            <a:ext cx="923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62C52"/>
                </a:solidFill>
              </a:defRPr>
            </a:pPr>
            <a:r>
              <a:rPr sz="1500" b="1">
                <a:solidFill>
                  <a:srgbClr val="162C52"/>
                </a:solidFill>
              </a:rPr>
              <a:t>Six Answers the Committee Should Hear Clearly</a:t>
            </a:r>
          </a:p>
        </p:txBody>
      </p:sp>
      <p:sp>
        <p:nvSpPr>
          <p:cNvPr id="4" name="">
            <a:extLst xmlns:a="http://schemas.openxmlformats.org/drawingml/2006/main">
              <a:ext uri="{FF2B5EF4-FFF2-40B4-BE49-F238E27FC236}">
                <a16:creationId xmlns:a16="http://schemas.microsoft.com/office/drawing/2014/main" id="{04C9B905-63D2-4777-BB16-8DD7A9877E9A}"/>
              </a:ext>
            </a:extLst>
          </p:cNvPr>
          <p:cNvSpPr>
            <a:spLocks xmlns:a="http://schemas.openxmlformats.org/drawingml/2006/main" noGrp="1"/>
          </p:cNvSpPr>
          <p:nvPr/>
        </p:nvSpPr>
        <p:spPr>
          <a:xfrm xmlns:a="http://schemas.openxmlformats.org/drawingml/2006/main">
            <a:off x="400050" y="1114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617391"/>
                </a:solidFill>
              </a:defRPr>
            </a:pPr>
            <a:r>
              <a:rPr sz="1050" b="0">
                <a:solidFill>
                  <a:srgbClr val="617391"/>
                </a:solidFill>
              </a:rPr>
              <a:t>Lead with the production truth, then state the measured plan or proposed upgrade without blending the two.</a:t>
            </a:r>
          </a:p>
        </p:txBody>
      </p:sp>
      <p:sp>
        <p:nvSpPr>
          <p:cNvPr id="5" name="">
            <a:extLst xmlns:a="http://schemas.openxmlformats.org/drawingml/2006/main">
              <a:ext uri="{FF2B5EF4-FFF2-40B4-BE49-F238E27FC236}">
                <a16:creationId xmlns:a16="http://schemas.microsoft.com/office/drawing/2014/main" id="{BB63E4F1-312E-47A5-BE7C-FF79AEFD8634}"/>
              </a:ext>
            </a:extLst>
          </p:cNvPr>
          <p:cNvSpPr>
            <a:spLocks xmlns:a="http://schemas.openxmlformats.org/drawingml/2006/main" noGrp="1"/>
          </p:cNvSpPr>
          <p:nvPr/>
        </p:nvSpPr>
        <p:spPr>
          <a:xfrm xmlns:a="http://schemas.openxmlformats.org/drawingml/2006/main">
            <a:off x="11001375" y="304800"/>
            <a:ext cx="228600" cy="228600"/>
          </a:xfrm>
          <a:prstGeom xmlns:a="http://schemas.openxmlformats.org/drawingml/2006/main" prst="rect">
            <a:avLst/>
          </a:prstGeom>
          <a:solidFill xmlns:a="http://schemas.openxmlformats.org/drawingml/2006/main">
            <a:srgbClr val="D9E5F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79082FA-796C-4FE9-8EF7-36987B70A9C5}"/>
              </a:ext>
            </a:extLst>
          </p:cNvPr>
          <p:cNvSpPr>
            <a:spLocks xmlns:a="http://schemas.openxmlformats.org/drawingml/2006/main" noGrp="1"/>
          </p:cNvSpPr>
          <p:nvPr/>
        </p:nvSpPr>
        <p:spPr>
          <a:xfrm xmlns:a="http://schemas.openxmlformats.org/drawingml/2006/main">
            <a:off x="11258550" y="304800"/>
            <a:ext cx="228600" cy="228600"/>
          </a:xfrm>
          <a:prstGeom xmlns:a="http://schemas.openxmlformats.org/drawingml/2006/main" prst="rect">
            <a:avLst/>
          </a:prstGeom>
          <a:solidFill xmlns:a="http://schemas.openxmlformats.org/drawingml/2006/main">
            <a:srgbClr val="AFC9F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D8455CD-2121-4A3C-965C-B1C6C6155B18}"/>
              </a:ext>
            </a:extLst>
          </p:cNvPr>
          <p:cNvSpPr>
            <a:spLocks xmlns:a="http://schemas.openxmlformats.org/drawingml/2006/main" noGrp="1"/>
          </p:cNvSpPr>
          <p:nvPr/>
        </p:nvSpPr>
        <p:spPr>
          <a:xfrm xmlns:a="http://schemas.openxmlformats.org/drawingml/2006/main">
            <a:off x="11515725" y="304800"/>
            <a:ext cx="228600" cy="228600"/>
          </a:xfrm>
          <a:prstGeom xmlns:a="http://schemas.openxmlformats.org/drawingml/2006/main" prst="rect">
            <a:avLst/>
          </a:prstGeom>
          <a:solidFill xmlns:a="http://schemas.openxmlformats.org/drawingml/2006/main">
            <a:srgbClr val="78A3F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93A6B4A-524D-419E-8BFC-145D547D97DD}"/>
              </a:ext>
            </a:extLst>
          </p:cNvPr>
          <p:cNvSpPr>
            <a:spLocks xmlns:a="http://schemas.openxmlformats.org/drawingml/2006/main" noGrp="1"/>
          </p:cNvSpPr>
          <p:nvPr/>
        </p:nvSpPr>
        <p:spPr>
          <a:xfrm xmlns:a="http://schemas.openxmlformats.org/drawingml/2006/main">
            <a:off x="40005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A98AE"/>
                </a:solidFill>
              </a:defRPr>
            </a:pPr>
            <a:r>
              <a:rPr sz="825" b="1">
                <a:solidFill>
                  <a:srgbClr val="8A98AE"/>
                </a:solidFill>
              </a:rPr>
              <a:t>FIPILOT  •  DEFENSE ROUND 1  •  16</a:t>
            </a:r>
          </a:p>
        </p:txBody>
      </p:sp>
      <p:sp>
        <p:nvSpPr>
          <p:cNvPr id="44" name="header-cover-1">
            <a:extLst xmlns:a="http://schemas.openxmlformats.org/drawingml/2006/main">
              <a:ext uri="{FF2B5EF4-FFF2-40B4-BE49-F238E27FC236}">
                <a16:creationId xmlns:a16="http://schemas.microsoft.com/office/drawing/2014/main" id="{C938C83A-3B35-4103-BD3E-AD0070E61393}"/>
              </a:ext>
            </a:extLst>
          </p:cNvPr>
          <p:cNvSpPr>
            <a:spLocks xmlns:a="http://schemas.openxmlformats.org/drawingml/2006/main" noGrp="1"/>
          </p:cNvSpPr>
          <p:nvPr/>
        </p:nvSpPr>
        <p:spPr>
          <a:xfrm xmlns:a="http://schemas.openxmlformats.org/drawingml/2006/main">
            <a:off x="323850" y="190500"/>
            <a:ext cx="11525250" cy="6096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5" name="section-title-1">
            <a:extLst xmlns:a="http://schemas.openxmlformats.org/drawingml/2006/main">
              <a:ext uri="{FF2B5EF4-FFF2-40B4-BE49-F238E27FC236}">
                <a16:creationId xmlns:a16="http://schemas.microsoft.com/office/drawing/2014/main" id="{7A7EC7E9-40C8-4C75-853F-3E8B1A7A7D74}"/>
              </a:ext>
            </a:extLst>
          </p:cNvPr>
          <p:cNvSpPr>
            <a:spLocks xmlns:a="http://schemas.openxmlformats.org/drawingml/2006/main" noGrp="1"/>
          </p:cNvSpPr>
          <p:nvPr/>
        </p:nvSpPr>
        <p:spPr>
          <a:xfrm xmlns:a="http://schemas.openxmlformats.org/drawingml/2006/main">
            <a:off x="400050" y="2857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1356F"/>
                </a:solidFill>
              </a:defRPr>
            </a:pPr>
            <a:r>
              <a:rPr sz="2025" b="1">
                <a:solidFill>
                  <a:srgbClr val="11356F"/>
                </a:solidFill>
              </a:rPr>
              <a:t>5. DEFENSE READINESS</a:t>
            </a:r>
          </a:p>
        </p:txBody>
      </p:sp>
      <p:sp>
        <p:nvSpPr>
          <p:cNvPr id="46" name="section-rule-1">
            <a:extLst xmlns:a="http://schemas.openxmlformats.org/drawingml/2006/main">
              <a:ext uri="{FF2B5EF4-FFF2-40B4-BE49-F238E27FC236}">
                <a16:creationId xmlns:a16="http://schemas.microsoft.com/office/drawing/2014/main" id="{BA4BF006-9BA6-455B-B6BE-E23F88209C54}"/>
              </a:ext>
            </a:extLst>
          </p:cNvPr>
          <p:cNvSpPr>
            <a:spLocks xmlns:a="http://schemas.openxmlformats.org/drawingml/2006/main" noGrp="1"/>
          </p:cNvSpPr>
          <p:nvPr/>
        </p:nvSpPr>
        <p:spPr>
          <a:xfrm xmlns:a="http://schemas.openxmlformats.org/drawingml/2006/main">
            <a:off x="400050" y="723900"/>
            <a:ext cx="9715500" cy="9525"/>
          </a:xfrm>
          <a:prstGeom xmlns:a="http://schemas.openxmlformats.org/drawingml/2006/main" prst="line">
            <a:avLst/>
          </a:prstGeom>
          <a:noFill xmlns:a="http://schemas.openxmlformats.org/drawingml/2006/main"/>
          <a:ln xmlns:a="http://schemas.openxmlformats.org/drawingml/2006/main" w="9525">
            <a:solidFill>
              <a:srgbClr val="D8E6FF"/>
            </a:solidFill>
            <a:prstDash val="solid"/>
          </a:ln>
        </p:spPr>
      </p:sp>
      <p:sp>
        <p:nvSpPr>
          <p:cNvPr id="47" name="brand-square-1-1">
            <a:extLst xmlns:a="http://schemas.openxmlformats.org/drawingml/2006/main">
              <a:ext uri="{FF2B5EF4-FFF2-40B4-BE49-F238E27FC236}">
                <a16:creationId xmlns:a16="http://schemas.microsoft.com/office/drawing/2014/main" id="{9ECAECBD-BC84-4E8C-821C-F1F51FDCB947}"/>
              </a:ext>
            </a:extLst>
          </p:cNvPr>
          <p:cNvSpPr>
            <a:spLocks xmlns:a="http://schemas.openxmlformats.org/drawingml/2006/main" noGrp="1"/>
          </p:cNvSpPr>
          <p:nvPr/>
        </p:nvSpPr>
        <p:spPr>
          <a:xfrm xmlns:a="http://schemas.openxmlformats.org/drawingml/2006/main">
            <a:off x="11001375" y="304800"/>
            <a:ext cx="228600" cy="228600"/>
          </a:xfrm>
          <a:prstGeom xmlns:a="http://schemas.openxmlformats.org/drawingml/2006/main" prst="rect">
            <a:avLst/>
          </a:prstGeom>
          <a:solidFill xmlns:a="http://schemas.openxmlformats.org/drawingml/2006/main">
            <a:srgbClr val="D9E5FB"/>
          </a:solidFill>
          <a:ln xmlns:a="http://schemas.openxmlformats.org/drawingml/2006/main" w="0">
            <a:noFill/>
            <a:prstDash val="solid"/>
          </a:ln>
        </p:spPr>
      </p:sp>
      <p:sp>
        <p:nvSpPr>
          <p:cNvPr id="48" name="brand-square-2-1">
            <a:extLst xmlns:a="http://schemas.openxmlformats.org/drawingml/2006/main">
              <a:ext uri="{FF2B5EF4-FFF2-40B4-BE49-F238E27FC236}">
                <a16:creationId xmlns:a16="http://schemas.microsoft.com/office/drawing/2014/main" id="{91DC9A5D-FE85-40D3-82C6-D682A5A844B0}"/>
              </a:ext>
            </a:extLst>
          </p:cNvPr>
          <p:cNvSpPr>
            <a:spLocks xmlns:a="http://schemas.openxmlformats.org/drawingml/2006/main" noGrp="1"/>
          </p:cNvSpPr>
          <p:nvPr/>
        </p:nvSpPr>
        <p:spPr>
          <a:xfrm xmlns:a="http://schemas.openxmlformats.org/drawingml/2006/main">
            <a:off x="11258550" y="304800"/>
            <a:ext cx="228600" cy="228600"/>
          </a:xfrm>
          <a:prstGeom xmlns:a="http://schemas.openxmlformats.org/drawingml/2006/main" prst="rect">
            <a:avLst/>
          </a:prstGeom>
          <a:solidFill xmlns:a="http://schemas.openxmlformats.org/drawingml/2006/main">
            <a:srgbClr val="AFC9F7"/>
          </a:solidFill>
          <a:ln xmlns:a="http://schemas.openxmlformats.org/drawingml/2006/main" w="0">
            <a:noFill/>
            <a:prstDash val="solid"/>
          </a:ln>
        </p:spPr>
      </p:sp>
      <p:sp>
        <p:nvSpPr>
          <p:cNvPr id="49" name="brand-square-3-1">
            <a:extLst xmlns:a="http://schemas.openxmlformats.org/drawingml/2006/main">
              <a:ext uri="{FF2B5EF4-FFF2-40B4-BE49-F238E27FC236}">
                <a16:creationId xmlns:a16="http://schemas.microsoft.com/office/drawing/2014/main" id="{BA56A268-FDEC-4BCE-9A1F-E978E7A89F81}"/>
              </a:ext>
            </a:extLst>
          </p:cNvPr>
          <p:cNvSpPr>
            <a:spLocks xmlns:a="http://schemas.openxmlformats.org/drawingml/2006/main" noGrp="1"/>
          </p:cNvSpPr>
          <p:nvPr/>
        </p:nvSpPr>
        <p:spPr>
          <a:xfrm xmlns:a="http://schemas.openxmlformats.org/drawingml/2006/main">
            <a:off x="11515725" y="304800"/>
            <a:ext cx="228600" cy="228600"/>
          </a:xfrm>
          <a:prstGeom xmlns:a="http://schemas.openxmlformats.org/drawingml/2006/main" prst="rect">
            <a:avLst/>
          </a:prstGeom>
          <a:solidFill xmlns:a="http://schemas.openxmlformats.org/drawingml/2006/main">
            <a:srgbClr val="78A3F1"/>
          </a:solidFill>
          <a:ln xmlns:a="http://schemas.openxmlformats.org/drawingml/2006/main" w="0">
            <a:noFill/>
            <a:prstDash val="solid"/>
          </a:ln>
        </p:spPr>
      </p:sp>
      <p:sp>
        <p:nvSpPr>
          <p:cNvPr id="50" name="footer-cover-1">
            <a:extLst xmlns:a="http://schemas.openxmlformats.org/drawingml/2006/main">
              <a:ext uri="{FF2B5EF4-FFF2-40B4-BE49-F238E27FC236}">
                <a16:creationId xmlns:a16="http://schemas.microsoft.com/office/drawing/2014/main" id="{FA75868D-35FC-4039-A250-EB53A2C779FB}"/>
              </a:ext>
            </a:extLst>
          </p:cNvPr>
          <p:cNvSpPr>
            <a:spLocks xmlns:a="http://schemas.openxmlformats.org/drawingml/2006/main" noGrp="1"/>
          </p:cNvSpPr>
          <p:nvPr/>
        </p:nvSpPr>
        <p:spPr>
          <a:xfrm xmlns:a="http://schemas.openxmlformats.org/drawingml/2006/main">
            <a:off x="323850" y="6438900"/>
            <a:ext cx="4191000" cy="2667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1" name="footer-1">
            <a:extLst xmlns:a="http://schemas.openxmlformats.org/drawingml/2006/main">
              <a:ext uri="{FF2B5EF4-FFF2-40B4-BE49-F238E27FC236}">
                <a16:creationId xmlns:a16="http://schemas.microsoft.com/office/drawing/2014/main" id="{B7B9356B-2CFC-49CF-AC51-E93BA5DC0869}"/>
              </a:ext>
            </a:extLst>
          </p:cNvPr>
          <p:cNvSpPr>
            <a:spLocks xmlns:a="http://schemas.openxmlformats.org/drawingml/2006/main" noGrp="1"/>
          </p:cNvSpPr>
          <p:nvPr/>
        </p:nvSpPr>
        <p:spPr>
          <a:xfrm xmlns:a="http://schemas.openxmlformats.org/drawingml/2006/main">
            <a:off x="40005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A98AE"/>
                </a:solidFill>
              </a:defRPr>
            </a:pPr>
            <a:r>
              <a:rPr sz="825" b="1">
                <a:solidFill>
                  <a:srgbClr val="8A98AE"/>
                </a:solidFill>
              </a:rPr>
              <a:t>FIPILOT  •  DEFENSE ROUND 1  •  16</a:t>
            </a:r>
          </a:p>
        </p:txBody>
      </p:sp>
      <p:sp>
        <p:nvSpPr>
          <p:cNvPr id="53" name="answer-card-0">
            <a:extLst xmlns:a="http://schemas.openxmlformats.org/drawingml/2006/main">
              <a:ext uri="{FF2B5EF4-FFF2-40B4-BE49-F238E27FC236}">
                <a16:creationId xmlns:a16="http://schemas.microsoft.com/office/drawing/2014/main" id="{74DCB99A-4BA9-4CF5-BC58-66D4D1D578D6}"/>
              </a:ext>
            </a:extLst>
          </p:cNvPr>
          <p:cNvSpPr>
            <a:spLocks xmlns:a="http://schemas.openxmlformats.org/drawingml/2006/main" noGrp="1"/>
          </p:cNvSpPr>
          <p:nvPr/>
        </p:nvSpPr>
        <p:spPr>
          <a:xfrm xmlns:a="http://schemas.openxmlformats.org/drawingml/2006/main">
            <a:off x="400050" y="1562100"/>
            <a:ext cx="5524500" cy="1200150"/>
          </a:xfrm>
          <a:prstGeom xmlns:a="http://schemas.openxmlformats.org/drawingml/2006/main" prst="roundRect">
            <a:avLst>
              <a:gd name="adj" fmla="val 6349"/>
            </a:avLst>
          </a:prstGeom>
          <a:solidFill xmlns:a="http://schemas.openxmlformats.org/drawingml/2006/main">
            <a:srgbClr val="EAF2FF"/>
          </a:solidFill>
          <a:ln xmlns:a="http://schemas.openxmlformats.org/drawingml/2006/main" w="9525">
            <a:solidFill>
              <a:srgbClr val="2A6FDB"/>
            </a:solidFill>
            <a:prstDash val="solid"/>
          </a:ln>
        </p:spPr>
      </p:sp>
      <p:sp>
        <p:nvSpPr>
          <p:cNvPr id="54" name="answer-accent-0">
            <a:extLst xmlns:a="http://schemas.openxmlformats.org/drawingml/2006/main">
              <a:ext uri="{FF2B5EF4-FFF2-40B4-BE49-F238E27FC236}">
                <a16:creationId xmlns:a16="http://schemas.microsoft.com/office/drawing/2014/main" id="{2B2A5EB0-EDB1-4C1D-A7D7-DB1EA2455C6F}"/>
              </a:ext>
            </a:extLst>
          </p:cNvPr>
          <p:cNvSpPr>
            <a:spLocks xmlns:a="http://schemas.openxmlformats.org/drawingml/2006/main" noGrp="1"/>
          </p:cNvSpPr>
          <p:nvPr/>
        </p:nvSpPr>
        <p:spPr>
          <a:xfrm xmlns:a="http://schemas.openxmlformats.org/drawingml/2006/main">
            <a:off x="400050" y="1562100"/>
            <a:ext cx="76200" cy="1200150"/>
          </a:xfrm>
          <a:prstGeom xmlns:a="http://schemas.openxmlformats.org/drawingml/2006/main" prst="rect">
            <a:avLst/>
          </a:prstGeom>
          <a:solidFill xmlns:a="http://schemas.openxmlformats.org/drawingml/2006/main">
            <a:srgbClr val="2A6FDB"/>
          </a:solidFill>
          <a:ln xmlns:a="http://schemas.openxmlformats.org/drawingml/2006/main" w="0">
            <a:noFill/>
            <a:prstDash val="solid"/>
          </a:ln>
        </p:spPr>
      </p:sp>
      <p:sp>
        <p:nvSpPr>
          <p:cNvPr id="55" name="answer-title-0">
            <a:extLst xmlns:a="http://schemas.openxmlformats.org/drawingml/2006/main">
              <a:ext uri="{FF2B5EF4-FFF2-40B4-BE49-F238E27FC236}">
                <a16:creationId xmlns:a16="http://schemas.microsoft.com/office/drawing/2014/main" id="{82F91AE9-D3D8-4679-B3D0-F4FC82D9302B}"/>
              </a:ext>
            </a:extLst>
          </p:cNvPr>
          <p:cNvSpPr>
            <a:spLocks xmlns:a="http://schemas.openxmlformats.org/drawingml/2006/main" noGrp="1"/>
          </p:cNvSpPr>
          <p:nvPr/>
        </p:nvSpPr>
        <p:spPr>
          <a:xfrm xmlns:a="http://schemas.openxmlformats.org/drawingml/2006/main">
            <a:off x="628650" y="1733550"/>
            <a:ext cx="5048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2A6FDB"/>
                </a:solidFill>
                <a:latin typeface="Calibri"/>
                <a:ea typeface="Calibri"/>
                <a:cs typeface="Calibri"/>
              </a:defRPr>
            </a:pPr>
            <a:r>
              <a:rPr sz="1050" b="1" i="0">
                <a:solidFill>
                  <a:srgbClr val="2A6FDB"/>
                </a:solidFill>
                <a:latin typeface="Calibri"/>
                <a:ea typeface="Calibri"/>
                <a:cs typeface="Calibri"/>
              </a:rPr>
              <a:t>1 · HOW IS A CV PARSED?</a:t>
            </a:r>
          </a:p>
        </p:txBody>
      </p:sp>
      <p:sp>
        <p:nvSpPr>
          <p:cNvPr id="56" name="answer-body-0">
            <a:extLst xmlns:a="http://schemas.openxmlformats.org/drawingml/2006/main">
              <a:ext uri="{FF2B5EF4-FFF2-40B4-BE49-F238E27FC236}">
                <a16:creationId xmlns:a16="http://schemas.microsoft.com/office/drawing/2014/main" id="{107E94D4-FAD6-479D-9758-68EE05276B83}"/>
              </a:ext>
            </a:extLst>
          </p:cNvPr>
          <p:cNvSpPr>
            <a:spLocks xmlns:a="http://schemas.openxmlformats.org/drawingml/2006/main" noGrp="1"/>
          </p:cNvSpPr>
          <p:nvPr/>
        </p:nvSpPr>
        <p:spPr>
          <a:xfrm xmlns:a="http://schemas.openxmlformats.org/drawingml/2006/main">
            <a:off x="628650" y="2057400"/>
            <a:ext cx="5048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i="0">
                <a:solidFill>
                  <a:srgbClr val="172B4D"/>
                </a:solidFill>
                <a:latin typeface="Calibri"/>
                <a:ea typeface="Calibri"/>
                <a:cs typeface="Calibri"/>
              </a:defRPr>
            </a:pPr>
            <a:r>
              <a:rPr sz="1125" b="0" i="0">
                <a:solidFill>
                  <a:srgbClr val="172B4D"/>
                </a:solidFill>
                <a:latin typeface="Calibri"/>
                <a:ea typeface="Calibri"/>
                <a:cs typeface="Calibri"/>
              </a:rPr>
              <a:t>PDF uses pypdf per page; DOCX uses paragraphs and tables. There is no OCR path today.</a:t>
            </a:r>
          </a:p>
        </p:txBody>
      </p:sp>
      <p:sp>
        <p:nvSpPr>
          <p:cNvPr id="57" name="answer-card-1">
            <a:extLst xmlns:a="http://schemas.openxmlformats.org/drawingml/2006/main">
              <a:ext uri="{FF2B5EF4-FFF2-40B4-BE49-F238E27FC236}">
                <a16:creationId xmlns:a16="http://schemas.microsoft.com/office/drawing/2014/main" id="{FA1D9C0A-25AB-441D-9B9C-5F894D7F73F4}"/>
              </a:ext>
            </a:extLst>
          </p:cNvPr>
          <p:cNvSpPr>
            <a:spLocks xmlns:a="http://schemas.openxmlformats.org/drawingml/2006/main" noGrp="1"/>
          </p:cNvSpPr>
          <p:nvPr/>
        </p:nvSpPr>
        <p:spPr>
          <a:xfrm xmlns:a="http://schemas.openxmlformats.org/drawingml/2006/main">
            <a:off x="6153150" y="1562100"/>
            <a:ext cx="5524500" cy="1200150"/>
          </a:xfrm>
          <a:prstGeom xmlns:a="http://schemas.openxmlformats.org/drawingml/2006/main" prst="roundRect">
            <a:avLst>
              <a:gd name="adj" fmla="val 6349"/>
            </a:avLst>
          </a:prstGeom>
          <a:solidFill xmlns:a="http://schemas.openxmlformats.org/drawingml/2006/main">
            <a:srgbClr val="F2EDFB"/>
          </a:solidFill>
          <a:ln xmlns:a="http://schemas.openxmlformats.org/drawingml/2006/main" w="9525">
            <a:solidFill>
              <a:srgbClr val="7652B5"/>
            </a:solidFill>
            <a:prstDash val="solid"/>
          </a:ln>
        </p:spPr>
      </p:sp>
      <p:sp>
        <p:nvSpPr>
          <p:cNvPr id="58" name="answer-accent-1">
            <a:extLst xmlns:a="http://schemas.openxmlformats.org/drawingml/2006/main">
              <a:ext uri="{FF2B5EF4-FFF2-40B4-BE49-F238E27FC236}">
                <a16:creationId xmlns:a16="http://schemas.microsoft.com/office/drawing/2014/main" id="{E353C99C-7D0D-426B-BB34-897DD2505CCB}"/>
              </a:ext>
            </a:extLst>
          </p:cNvPr>
          <p:cNvSpPr>
            <a:spLocks xmlns:a="http://schemas.openxmlformats.org/drawingml/2006/main" noGrp="1"/>
          </p:cNvSpPr>
          <p:nvPr/>
        </p:nvSpPr>
        <p:spPr>
          <a:xfrm xmlns:a="http://schemas.openxmlformats.org/drawingml/2006/main">
            <a:off x="6153150" y="1562100"/>
            <a:ext cx="76200" cy="1200150"/>
          </a:xfrm>
          <a:prstGeom xmlns:a="http://schemas.openxmlformats.org/drawingml/2006/main" prst="rect">
            <a:avLst/>
          </a:prstGeom>
          <a:solidFill xmlns:a="http://schemas.openxmlformats.org/drawingml/2006/main">
            <a:srgbClr val="7652B5"/>
          </a:solidFill>
          <a:ln xmlns:a="http://schemas.openxmlformats.org/drawingml/2006/main" w="0">
            <a:noFill/>
            <a:prstDash val="solid"/>
          </a:ln>
        </p:spPr>
      </p:sp>
      <p:sp>
        <p:nvSpPr>
          <p:cNvPr id="59" name="answer-title-1">
            <a:extLst xmlns:a="http://schemas.openxmlformats.org/drawingml/2006/main">
              <a:ext uri="{FF2B5EF4-FFF2-40B4-BE49-F238E27FC236}">
                <a16:creationId xmlns:a16="http://schemas.microsoft.com/office/drawing/2014/main" id="{CB0FFD3F-CF64-458F-A962-03D1C7FC5CAF}"/>
              </a:ext>
            </a:extLst>
          </p:cNvPr>
          <p:cNvSpPr>
            <a:spLocks xmlns:a="http://schemas.openxmlformats.org/drawingml/2006/main" noGrp="1"/>
          </p:cNvSpPr>
          <p:nvPr/>
        </p:nvSpPr>
        <p:spPr>
          <a:xfrm xmlns:a="http://schemas.openxmlformats.org/drawingml/2006/main">
            <a:off x="6381750" y="1733550"/>
            <a:ext cx="5048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7652B5"/>
                </a:solidFill>
                <a:latin typeface="Calibri"/>
                <a:ea typeface="Calibri"/>
                <a:cs typeface="Calibri"/>
              </a:defRPr>
            </a:pPr>
            <a:r>
              <a:rPr sz="1050" b="1" i="0">
                <a:solidFill>
                  <a:srgbClr val="7652B5"/>
                </a:solidFill>
                <a:latin typeface="Calibri"/>
                <a:ea typeface="Calibri"/>
                <a:cs typeface="Calibri"/>
              </a:rPr>
              <a:t>2 · HOW IS TEXT CHUNKED?</a:t>
            </a:r>
          </a:p>
        </p:txBody>
      </p:sp>
      <p:sp>
        <p:nvSpPr>
          <p:cNvPr id="60" name="answer-body-1">
            <a:extLst xmlns:a="http://schemas.openxmlformats.org/drawingml/2006/main">
              <a:ext uri="{FF2B5EF4-FFF2-40B4-BE49-F238E27FC236}">
                <a16:creationId xmlns:a16="http://schemas.microsoft.com/office/drawing/2014/main" id="{8FBE0111-35F3-4B3D-B47C-EDFE314DE6F8}"/>
              </a:ext>
            </a:extLst>
          </p:cNvPr>
          <p:cNvSpPr>
            <a:spLocks xmlns:a="http://schemas.openxmlformats.org/drawingml/2006/main" noGrp="1"/>
          </p:cNvSpPr>
          <p:nvPr/>
        </p:nvSpPr>
        <p:spPr>
          <a:xfrm xmlns:a="http://schemas.openxmlformats.org/drawingml/2006/main">
            <a:off x="6381750" y="2057400"/>
            <a:ext cx="5048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i="0">
                <a:solidFill>
                  <a:srgbClr val="172B4D"/>
                </a:solidFill>
                <a:latin typeface="Calibri"/>
                <a:ea typeface="Calibri"/>
                <a:cs typeface="Calibri"/>
              </a:defRPr>
            </a:pPr>
            <a:r>
              <a:rPr sz="1125" b="0" i="0">
                <a:solidFill>
                  <a:srgbClr val="172B4D"/>
                </a:solidFill>
                <a:latin typeface="Calibri"/>
                <a:ea typeface="Calibri"/>
                <a:cs typeface="Calibri"/>
              </a:rPr>
              <a:t>CV extraction sends the first 12,000 characters. Proposed KB chunks are semantic units of 250–500 tokens with selective overlap.</a:t>
            </a:r>
          </a:p>
        </p:txBody>
      </p:sp>
      <p:sp>
        <p:nvSpPr>
          <p:cNvPr id="61" name="answer-card-2">
            <a:extLst xmlns:a="http://schemas.openxmlformats.org/drawingml/2006/main">
              <a:ext uri="{FF2B5EF4-FFF2-40B4-BE49-F238E27FC236}">
                <a16:creationId xmlns:a16="http://schemas.microsoft.com/office/drawing/2014/main" id="{757C344B-95DC-4DD0-BFC1-3BEEB363588D}"/>
              </a:ext>
            </a:extLst>
          </p:cNvPr>
          <p:cNvSpPr>
            <a:spLocks xmlns:a="http://schemas.openxmlformats.org/drawingml/2006/main" noGrp="1"/>
          </p:cNvSpPr>
          <p:nvPr/>
        </p:nvSpPr>
        <p:spPr>
          <a:xfrm xmlns:a="http://schemas.openxmlformats.org/drawingml/2006/main">
            <a:off x="400050" y="2914650"/>
            <a:ext cx="5524500" cy="1200150"/>
          </a:xfrm>
          <a:prstGeom xmlns:a="http://schemas.openxmlformats.org/drawingml/2006/main" prst="roundRect">
            <a:avLst>
              <a:gd name="adj" fmla="val 6349"/>
            </a:avLst>
          </a:prstGeom>
          <a:solidFill xmlns:a="http://schemas.openxmlformats.org/drawingml/2006/main">
            <a:srgbClr val="FFF3E5"/>
          </a:solidFill>
          <a:ln xmlns:a="http://schemas.openxmlformats.org/drawingml/2006/main" w="9525">
            <a:solidFill>
              <a:srgbClr val="D77A24"/>
            </a:solidFill>
            <a:prstDash val="solid"/>
          </a:ln>
        </p:spPr>
      </p:sp>
      <p:sp>
        <p:nvSpPr>
          <p:cNvPr id="62" name="answer-accent-2">
            <a:extLst xmlns:a="http://schemas.openxmlformats.org/drawingml/2006/main">
              <a:ext uri="{FF2B5EF4-FFF2-40B4-BE49-F238E27FC236}">
                <a16:creationId xmlns:a16="http://schemas.microsoft.com/office/drawing/2014/main" id="{5F97A48A-0CD5-4370-8FCD-93F9D27F2091}"/>
              </a:ext>
            </a:extLst>
          </p:cNvPr>
          <p:cNvSpPr>
            <a:spLocks xmlns:a="http://schemas.openxmlformats.org/drawingml/2006/main" noGrp="1"/>
          </p:cNvSpPr>
          <p:nvPr/>
        </p:nvSpPr>
        <p:spPr>
          <a:xfrm xmlns:a="http://schemas.openxmlformats.org/drawingml/2006/main">
            <a:off x="400050" y="2914650"/>
            <a:ext cx="76200" cy="1200150"/>
          </a:xfrm>
          <a:prstGeom xmlns:a="http://schemas.openxmlformats.org/drawingml/2006/main" prst="rect">
            <a:avLst/>
          </a:prstGeom>
          <a:solidFill xmlns:a="http://schemas.openxmlformats.org/drawingml/2006/main">
            <a:srgbClr val="D77A24"/>
          </a:solidFill>
          <a:ln xmlns:a="http://schemas.openxmlformats.org/drawingml/2006/main" w="0">
            <a:noFill/>
            <a:prstDash val="solid"/>
          </a:ln>
        </p:spPr>
      </p:sp>
      <p:sp>
        <p:nvSpPr>
          <p:cNvPr id="63" name="answer-title-2">
            <a:extLst xmlns:a="http://schemas.openxmlformats.org/drawingml/2006/main">
              <a:ext uri="{FF2B5EF4-FFF2-40B4-BE49-F238E27FC236}">
                <a16:creationId xmlns:a16="http://schemas.microsoft.com/office/drawing/2014/main" id="{611797B0-A784-4141-93AC-8D5F9EA7478A}"/>
              </a:ext>
            </a:extLst>
          </p:cNvPr>
          <p:cNvSpPr>
            <a:spLocks xmlns:a="http://schemas.openxmlformats.org/drawingml/2006/main" noGrp="1"/>
          </p:cNvSpPr>
          <p:nvPr/>
        </p:nvSpPr>
        <p:spPr>
          <a:xfrm xmlns:a="http://schemas.openxmlformats.org/drawingml/2006/main">
            <a:off x="628650" y="3086100"/>
            <a:ext cx="5048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D77A24"/>
                </a:solidFill>
                <a:latin typeface="Calibri"/>
                <a:ea typeface="Calibri"/>
                <a:cs typeface="Calibri"/>
              </a:defRPr>
            </a:pPr>
            <a:r>
              <a:rPr sz="1050" b="1" i="0">
                <a:solidFill>
                  <a:srgbClr val="D77A24"/>
                </a:solidFill>
                <a:latin typeface="Calibri"/>
                <a:ea typeface="Calibri"/>
                <a:cs typeface="Calibri"/>
              </a:rPr>
              <a:t>3 · WHERE ARE VECTORS STORED?</a:t>
            </a:r>
          </a:p>
        </p:txBody>
      </p:sp>
      <p:sp>
        <p:nvSpPr>
          <p:cNvPr id="64" name="answer-body-2">
            <a:extLst xmlns:a="http://schemas.openxmlformats.org/drawingml/2006/main">
              <a:ext uri="{FF2B5EF4-FFF2-40B4-BE49-F238E27FC236}">
                <a16:creationId xmlns:a16="http://schemas.microsoft.com/office/drawing/2014/main" id="{858FC6F5-26D0-490D-89A4-5AE0CC09F2A4}"/>
              </a:ext>
            </a:extLst>
          </p:cNvPr>
          <p:cNvSpPr>
            <a:spLocks xmlns:a="http://schemas.openxmlformats.org/drawingml/2006/main" noGrp="1"/>
          </p:cNvSpPr>
          <p:nvPr/>
        </p:nvSpPr>
        <p:spPr>
          <a:xfrm xmlns:a="http://schemas.openxmlformats.org/drawingml/2006/main">
            <a:off x="628650" y="3409950"/>
            <a:ext cx="5048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i="0">
                <a:solidFill>
                  <a:srgbClr val="172B4D"/>
                </a:solidFill>
                <a:latin typeface="Calibri"/>
                <a:ea typeface="Calibri"/>
                <a:cs typeface="Calibri"/>
              </a:defRPr>
            </a:pPr>
            <a:r>
              <a:rPr sz="1125" b="0" i="0">
                <a:solidFill>
                  <a:srgbClr val="172B4D"/>
                </a:solidFill>
                <a:latin typeface="Calibri"/>
                <a:ea typeface="Calibri"/>
                <a:cs typeface="Calibri"/>
              </a:rPr>
              <a:t>No production vector database exists. Proposed Firestore: one document per traceable chunk, with a 768-D embedding plus metadata.</a:t>
            </a:r>
          </a:p>
        </p:txBody>
      </p:sp>
      <p:sp>
        <p:nvSpPr>
          <p:cNvPr id="65" name="answer-card-3">
            <a:extLst xmlns:a="http://schemas.openxmlformats.org/drawingml/2006/main">
              <a:ext uri="{FF2B5EF4-FFF2-40B4-BE49-F238E27FC236}">
                <a16:creationId xmlns:a16="http://schemas.microsoft.com/office/drawing/2014/main" id="{877261E2-9927-4229-B534-4DB99A631EE4}"/>
              </a:ext>
            </a:extLst>
          </p:cNvPr>
          <p:cNvSpPr>
            <a:spLocks xmlns:a="http://schemas.openxmlformats.org/drawingml/2006/main" noGrp="1"/>
          </p:cNvSpPr>
          <p:nvPr/>
        </p:nvSpPr>
        <p:spPr>
          <a:xfrm xmlns:a="http://schemas.openxmlformats.org/drawingml/2006/main">
            <a:off x="6153150" y="2914650"/>
            <a:ext cx="5524500" cy="1200150"/>
          </a:xfrm>
          <a:prstGeom xmlns:a="http://schemas.openxmlformats.org/drawingml/2006/main" prst="roundRect">
            <a:avLst>
              <a:gd name="adj" fmla="val 6349"/>
            </a:avLst>
          </a:prstGeom>
          <a:solidFill xmlns:a="http://schemas.openxmlformats.org/drawingml/2006/main">
            <a:srgbClr val="EAF7F3"/>
          </a:solidFill>
          <a:ln xmlns:a="http://schemas.openxmlformats.org/drawingml/2006/main" w="9525">
            <a:solidFill>
              <a:srgbClr val="16866C"/>
            </a:solidFill>
            <a:prstDash val="solid"/>
          </a:ln>
        </p:spPr>
      </p:sp>
      <p:sp>
        <p:nvSpPr>
          <p:cNvPr id="66" name="answer-accent-3">
            <a:extLst xmlns:a="http://schemas.openxmlformats.org/drawingml/2006/main">
              <a:ext uri="{FF2B5EF4-FFF2-40B4-BE49-F238E27FC236}">
                <a16:creationId xmlns:a16="http://schemas.microsoft.com/office/drawing/2014/main" id="{53672587-73AE-4AA2-ADD4-145054AD3C0C}"/>
              </a:ext>
            </a:extLst>
          </p:cNvPr>
          <p:cNvSpPr>
            <a:spLocks xmlns:a="http://schemas.openxmlformats.org/drawingml/2006/main" noGrp="1"/>
          </p:cNvSpPr>
          <p:nvPr/>
        </p:nvSpPr>
        <p:spPr>
          <a:xfrm xmlns:a="http://schemas.openxmlformats.org/drawingml/2006/main">
            <a:off x="6153150" y="2914650"/>
            <a:ext cx="76200" cy="1200150"/>
          </a:xfrm>
          <a:prstGeom xmlns:a="http://schemas.openxmlformats.org/drawingml/2006/main" prst="rect">
            <a:avLst/>
          </a:prstGeom>
          <a:solidFill xmlns:a="http://schemas.openxmlformats.org/drawingml/2006/main">
            <a:srgbClr val="16866C"/>
          </a:solidFill>
          <a:ln xmlns:a="http://schemas.openxmlformats.org/drawingml/2006/main" w="0">
            <a:noFill/>
            <a:prstDash val="solid"/>
          </a:ln>
        </p:spPr>
      </p:sp>
      <p:sp>
        <p:nvSpPr>
          <p:cNvPr id="67" name="answer-title-3">
            <a:extLst xmlns:a="http://schemas.openxmlformats.org/drawingml/2006/main">
              <a:ext uri="{FF2B5EF4-FFF2-40B4-BE49-F238E27FC236}">
                <a16:creationId xmlns:a16="http://schemas.microsoft.com/office/drawing/2014/main" id="{317ADBCC-98F5-4189-872E-A185AE3EB77A}"/>
              </a:ext>
            </a:extLst>
          </p:cNvPr>
          <p:cNvSpPr>
            <a:spLocks xmlns:a="http://schemas.openxmlformats.org/drawingml/2006/main" noGrp="1"/>
          </p:cNvSpPr>
          <p:nvPr/>
        </p:nvSpPr>
        <p:spPr>
          <a:xfrm xmlns:a="http://schemas.openxmlformats.org/drawingml/2006/main">
            <a:off x="6381750" y="3086100"/>
            <a:ext cx="5048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16866C"/>
                </a:solidFill>
                <a:latin typeface="Calibri"/>
                <a:ea typeface="Calibri"/>
                <a:cs typeface="Calibri"/>
              </a:defRPr>
            </a:pPr>
            <a:r>
              <a:rPr sz="1050" b="1" i="0">
                <a:solidFill>
                  <a:srgbClr val="16866C"/>
                </a:solidFill>
                <a:latin typeface="Calibri"/>
                <a:ea typeface="Calibri"/>
                <a:cs typeface="Calibri"/>
              </a:rPr>
              <a:t>4 · HOW DOES SEARCH WORK?</a:t>
            </a:r>
          </a:p>
        </p:txBody>
      </p:sp>
      <p:sp>
        <p:nvSpPr>
          <p:cNvPr id="68" name="answer-body-3">
            <a:extLst xmlns:a="http://schemas.openxmlformats.org/drawingml/2006/main">
              <a:ext uri="{FF2B5EF4-FFF2-40B4-BE49-F238E27FC236}">
                <a16:creationId xmlns:a16="http://schemas.microsoft.com/office/drawing/2014/main" id="{427B82C1-BCFA-4081-B6F8-A4AD3F062D01}"/>
              </a:ext>
            </a:extLst>
          </p:cNvPr>
          <p:cNvSpPr>
            <a:spLocks xmlns:a="http://schemas.openxmlformats.org/drawingml/2006/main" noGrp="1"/>
          </p:cNvSpPr>
          <p:nvPr/>
        </p:nvSpPr>
        <p:spPr>
          <a:xfrm xmlns:a="http://schemas.openxmlformats.org/drawingml/2006/main">
            <a:off x="6381750" y="3409950"/>
            <a:ext cx="5048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i="0">
                <a:solidFill>
                  <a:srgbClr val="172B4D"/>
                </a:solidFill>
                <a:latin typeface="Calibri"/>
                <a:ea typeface="Calibri"/>
                <a:cs typeface="Calibri"/>
              </a:defRPr>
            </a:pPr>
            <a:r>
              <a:rPr sz="1125" b="0" i="0">
                <a:solidFill>
                  <a:srgbClr val="172B4D"/>
                </a:solidFill>
                <a:latin typeface="Calibri"/>
                <a:ea typeface="Calibri"/>
                <a:cs typeface="Calibri"/>
              </a:rPr>
              <a:t>Current path: deterministic lexical scoring, Top-8 topics. Proposed path: metadata pre-filter + cosine Top-5.</a:t>
            </a:r>
          </a:p>
        </p:txBody>
      </p:sp>
      <p:sp>
        <p:nvSpPr>
          <p:cNvPr id="69" name="answer-card-4">
            <a:extLst xmlns:a="http://schemas.openxmlformats.org/drawingml/2006/main">
              <a:ext uri="{FF2B5EF4-FFF2-40B4-BE49-F238E27FC236}">
                <a16:creationId xmlns:a16="http://schemas.microsoft.com/office/drawing/2014/main" id="{FD9E4FE3-A8BD-4691-8F78-B6D408ADE882}"/>
              </a:ext>
            </a:extLst>
          </p:cNvPr>
          <p:cNvSpPr>
            <a:spLocks xmlns:a="http://schemas.openxmlformats.org/drawingml/2006/main" noGrp="1"/>
          </p:cNvSpPr>
          <p:nvPr/>
        </p:nvSpPr>
        <p:spPr>
          <a:xfrm xmlns:a="http://schemas.openxmlformats.org/drawingml/2006/main">
            <a:off x="400050" y="4267200"/>
            <a:ext cx="5524500" cy="1200150"/>
          </a:xfrm>
          <a:prstGeom xmlns:a="http://schemas.openxmlformats.org/drawingml/2006/main" prst="roundRect">
            <a:avLst>
              <a:gd name="adj" fmla="val 6349"/>
            </a:avLst>
          </a:prstGeom>
          <a:solidFill xmlns:a="http://schemas.openxmlformats.org/drawingml/2006/main">
            <a:srgbClr val="EAF2FF"/>
          </a:solidFill>
          <a:ln xmlns:a="http://schemas.openxmlformats.org/drawingml/2006/main" w="9525">
            <a:solidFill>
              <a:srgbClr val="173B67"/>
            </a:solidFill>
            <a:prstDash val="solid"/>
          </a:ln>
        </p:spPr>
      </p:sp>
      <p:sp>
        <p:nvSpPr>
          <p:cNvPr id="70" name="answer-accent-4">
            <a:extLst xmlns:a="http://schemas.openxmlformats.org/drawingml/2006/main">
              <a:ext uri="{FF2B5EF4-FFF2-40B4-BE49-F238E27FC236}">
                <a16:creationId xmlns:a16="http://schemas.microsoft.com/office/drawing/2014/main" id="{D907E058-E343-4200-B8C3-3BC29AEE9D3D}"/>
              </a:ext>
            </a:extLst>
          </p:cNvPr>
          <p:cNvSpPr>
            <a:spLocks xmlns:a="http://schemas.openxmlformats.org/drawingml/2006/main" noGrp="1"/>
          </p:cNvSpPr>
          <p:nvPr/>
        </p:nvSpPr>
        <p:spPr>
          <a:xfrm xmlns:a="http://schemas.openxmlformats.org/drawingml/2006/main">
            <a:off x="400050" y="4267200"/>
            <a:ext cx="76200" cy="1200150"/>
          </a:xfrm>
          <a:prstGeom xmlns:a="http://schemas.openxmlformats.org/drawingml/2006/main" prst="rect">
            <a:avLst/>
          </a:prstGeom>
          <a:solidFill xmlns:a="http://schemas.openxmlformats.org/drawingml/2006/main">
            <a:srgbClr val="173B67"/>
          </a:solidFill>
          <a:ln xmlns:a="http://schemas.openxmlformats.org/drawingml/2006/main" w="0">
            <a:noFill/>
            <a:prstDash val="solid"/>
          </a:ln>
        </p:spPr>
      </p:sp>
      <p:sp>
        <p:nvSpPr>
          <p:cNvPr id="71" name="answer-title-4">
            <a:extLst xmlns:a="http://schemas.openxmlformats.org/drawingml/2006/main">
              <a:ext uri="{FF2B5EF4-FFF2-40B4-BE49-F238E27FC236}">
                <a16:creationId xmlns:a16="http://schemas.microsoft.com/office/drawing/2014/main" id="{E1C4C77C-2004-498B-9D6E-78AB03CFBA8B}"/>
              </a:ext>
            </a:extLst>
          </p:cNvPr>
          <p:cNvSpPr>
            <a:spLocks xmlns:a="http://schemas.openxmlformats.org/drawingml/2006/main" noGrp="1"/>
          </p:cNvSpPr>
          <p:nvPr/>
        </p:nvSpPr>
        <p:spPr>
          <a:xfrm xmlns:a="http://schemas.openxmlformats.org/drawingml/2006/main">
            <a:off x="628650" y="4438650"/>
            <a:ext cx="5048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173B67"/>
                </a:solidFill>
                <a:latin typeface="Calibri"/>
                <a:ea typeface="Calibri"/>
                <a:cs typeface="Calibri"/>
              </a:defRPr>
            </a:pPr>
            <a:r>
              <a:rPr sz="1050" b="1" i="0">
                <a:solidFill>
                  <a:srgbClr val="173B67"/>
                </a:solidFill>
                <a:latin typeface="Calibri"/>
                <a:ea typeface="Calibri"/>
                <a:cs typeface="Calibri"/>
              </a:rPr>
              <a:t>5 · WHAT DID THE TEAM TRAIN?</a:t>
            </a:r>
          </a:p>
        </p:txBody>
      </p:sp>
      <p:sp>
        <p:nvSpPr>
          <p:cNvPr id="72" name="answer-body-4">
            <a:extLst xmlns:a="http://schemas.openxmlformats.org/drawingml/2006/main">
              <a:ext uri="{FF2B5EF4-FFF2-40B4-BE49-F238E27FC236}">
                <a16:creationId xmlns:a16="http://schemas.microsoft.com/office/drawing/2014/main" id="{81E497D1-B4EB-4EA4-AA02-EB78A7CB9279}"/>
              </a:ext>
            </a:extLst>
          </p:cNvPr>
          <p:cNvSpPr>
            <a:spLocks xmlns:a="http://schemas.openxmlformats.org/drawingml/2006/main" noGrp="1"/>
          </p:cNvSpPr>
          <p:nvPr/>
        </p:nvSpPr>
        <p:spPr>
          <a:xfrm xmlns:a="http://schemas.openxmlformats.org/drawingml/2006/main">
            <a:off x="628650" y="4762500"/>
            <a:ext cx="5048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i="0">
                <a:solidFill>
                  <a:srgbClr val="172B4D"/>
                </a:solidFill>
                <a:latin typeface="Calibri"/>
                <a:ea typeface="Calibri"/>
                <a:cs typeface="Calibri"/>
              </a:defRPr>
            </a:pPr>
            <a:r>
              <a:rPr sz="1125" b="0" i="0">
                <a:solidFill>
                  <a:srgbClr val="172B4D"/>
                </a:solidFill>
                <a:latin typeface="Calibri"/>
                <a:ea typeface="Calibri"/>
                <a:cs typeface="Calibri"/>
              </a:rPr>
              <a:t>No LLM fine-tuning. The system uses pre-trained models and prompts; model quality must be evaluated separately from software tests.</a:t>
            </a:r>
          </a:p>
        </p:txBody>
      </p:sp>
      <p:sp>
        <p:nvSpPr>
          <p:cNvPr id="73" name="answer-card-5">
            <a:extLst xmlns:a="http://schemas.openxmlformats.org/drawingml/2006/main">
              <a:ext uri="{FF2B5EF4-FFF2-40B4-BE49-F238E27FC236}">
                <a16:creationId xmlns:a16="http://schemas.microsoft.com/office/drawing/2014/main" id="{FC3EA34B-5DBD-438C-BAD0-24217259018B}"/>
              </a:ext>
            </a:extLst>
          </p:cNvPr>
          <p:cNvSpPr>
            <a:spLocks xmlns:a="http://schemas.openxmlformats.org/drawingml/2006/main" noGrp="1"/>
          </p:cNvSpPr>
          <p:nvPr/>
        </p:nvSpPr>
        <p:spPr>
          <a:xfrm xmlns:a="http://schemas.openxmlformats.org/drawingml/2006/main">
            <a:off x="6153150" y="4267200"/>
            <a:ext cx="5524500" cy="1200150"/>
          </a:xfrm>
          <a:prstGeom xmlns:a="http://schemas.openxmlformats.org/drawingml/2006/main" prst="roundRect">
            <a:avLst>
              <a:gd name="adj" fmla="val 6349"/>
            </a:avLst>
          </a:prstGeom>
          <a:solidFill xmlns:a="http://schemas.openxmlformats.org/drawingml/2006/main">
            <a:srgbClr val="FDEDEA"/>
          </a:solidFill>
          <a:ln xmlns:a="http://schemas.openxmlformats.org/drawingml/2006/main" w="9525">
            <a:solidFill>
              <a:srgbClr val="C64D3A"/>
            </a:solidFill>
            <a:prstDash val="solid"/>
          </a:ln>
        </p:spPr>
      </p:sp>
      <p:sp>
        <p:nvSpPr>
          <p:cNvPr id="74" name="answer-accent-5">
            <a:extLst xmlns:a="http://schemas.openxmlformats.org/drawingml/2006/main">
              <a:ext uri="{FF2B5EF4-FFF2-40B4-BE49-F238E27FC236}">
                <a16:creationId xmlns:a16="http://schemas.microsoft.com/office/drawing/2014/main" id="{D7E3F8A7-7E68-42FD-88DE-8C8497323D1D}"/>
              </a:ext>
            </a:extLst>
          </p:cNvPr>
          <p:cNvSpPr>
            <a:spLocks xmlns:a="http://schemas.openxmlformats.org/drawingml/2006/main" noGrp="1"/>
          </p:cNvSpPr>
          <p:nvPr/>
        </p:nvSpPr>
        <p:spPr>
          <a:xfrm xmlns:a="http://schemas.openxmlformats.org/drawingml/2006/main">
            <a:off x="6153150" y="4267200"/>
            <a:ext cx="76200" cy="1200150"/>
          </a:xfrm>
          <a:prstGeom xmlns:a="http://schemas.openxmlformats.org/drawingml/2006/main" prst="rect">
            <a:avLst/>
          </a:prstGeom>
          <a:solidFill xmlns:a="http://schemas.openxmlformats.org/drawingml/2006/main">
            <a:srgbClr val="C64D3A"/>
          </a:solidFill>
          <a:ln xmlns:a="http://schemas.openxmlformats.org/drawingml/2006/main" w="0">
            <a:noFill/>
            <a:prstDash val="solid"/>
          </a:ln>
        </p:spPr>
      </p:sp>
      <p:sp>
        <p:nvSpPr>
          <p:cNvPr id="75" name="answer-title-5">
            <a:extLst xmlns:a="http://schemas.openxmlformats.org/drawingml/2006/main">
              <a:ext uri="{FF2B5EF4-FFF2-40B4-BE49-F238E27FC236}">
                <a16:creationId xmlns:a16="http://schemas.microsoft.com/office/drawing/2014/main" id="{4670D40D-42BA-4A5C-8AFC-5A28EC336A0C}"/>
              </a:ext>
            </a:extLst>
          </p:cNvPr>
          <p:cNvSpPr>
            <a:spLocks xmlns:a="http://schemas.openxmlformats.org/drawingml/2006/main" noGrp="1"/>
          </p:cNvSpPr>
          <p:nvPr/>
        </p:nvSpPr>
        <p:spPr>
          <a:xfrm xmlns:a="http://schemas.openxmlformats.org/drawingml/2006/main">
            <a:off x="6381750" y="4438650"/>
            <a:ext cx="5048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C64D3A"/>
                </a:solidFill>
                <a:latin typeface="Calibri"/>
                <a:ea typeface="Calibri"/>
                <a:cs typeface="Calibri"/>
              </a:defRPr>
            </a:pPr>
            <a:r>
              <a:rPr sz="1050" b="1" i="0">
                <a:solidFill>
                  <a:srgbClr val="C64D3A"/>
                </a:solidFill>
                <a:latin typeface="Calibri"/>
                <a:ea typeface="Calibri"/>
                <a:cs typeface="Calibri"/>
              </a:rPr>
              <a:t>6 · ACCURACY AND UPDATES?</a:t>
            </a:r>
          </a:p>
        </p:txBody>
      </p:sp>
      <p:sp>
        <p:nvSpPr>
          <p:cNvPr id="76" name="answer-body-5">
            <a:extLst xmlns:a="http://schemas.openxmlformats.org/drawingml/2006/main">
              <a:ext uri="{FF2B5EF4-FFF2-40B4-BE49-F238E27FC236}">
                <a16:creationId xmlns:a16="http://schemas.microsoft.com/office/drawing/2014/main" id="{6BFE5FED-CD86-48A7-A4C9-64DA3F507074}"/>
              </a:ext>
            </a:extLst>
          </p:cNvPr>
          <p:cNvSpPr>
            <a:spLocks xmlns:a="http://schemas.openxmlformats.org/drawingml/2006/main" noGrp="1"/>
          </p:cNvSpPr>
          <p:nvPr/>
        </p:nvSpPr>
        <p:spPr>
          <a:xfrm xmlns:a="http://schemas.openxmlformats.org/drawingml/2006/main">
            <a:off x="6381750" y="4762500"/>
            <a:ext cx="5048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i="0">
                <a:solidFill>
                  <a:srgbClr val="172B4D"/>
                </a:solidFill>
                <a:latin typeface="Calibri"/>
                <a:ea typeface="Calibri"/>
                <a:cs typeface="Calibri"/>
              </a:defRPr>
            </a:pPr>
            <a:r>
              <a:rPr sz="1125" b="0" i="0">
                <a:solidFill>
                  <a:srgbClr val="172B4D"/>
                </a:solidFill>
                <a:latin typeface="Calibri"/>
                <a:ea typeface="Calibri"/>
                <a:cs typeface="Calibri"/>
              </a:rPr>
              <a:t>Canonical accuracy is currently no_data. Proposed index updates use content hash and versioned rebuilds; publish metrics only after a frozen benchmark.</a:t>
            </a:r>
          </a:p>
        </p:txBody>
      </p:sp>
      <p:sp>
        <p:nvSpPr>
          <p:cNvPr id="77" name="answer-boundary-band">
            <a:extLst xmlns:a="http://schemas.openxmlformats.org/drawingml/2006/main">
              <a:ext uri="{FF2B5EF4-FFF2-40B4-BE49-F238E27FC236}">
                <a16:creationId xmlns:a16="http://schemas.microsoft.com/office/drawing/2014/main" id="{5783DFFF-FD33-4A64-BE4F-683834152A15}"/>
              </a:ext>
            </a:extLst>
          </p:cNvPr>
          <p:cNvSpPr>
            <a:spLocks xmlns:a="http://schemas.openxmlformats.org/drawingml/2006/main" noGrp="1"/>
          </p:cNvSpPr>
          <p:nvPr/>
        </p:nvSpPr>
        <p:spPr>
          <a:xfrm xmlns:a="http://schemas.openxmlformats.org/drawingml/2006/main">
            <a:off x="400050" y="5695950"/>
            <a:ext cx="11277600" cy="400050"/>
          </a:xfrm>
          <a:prstGeom xmlns:a="http://schemas.openxmlformats.org/drawingml/2006/main" prst="roundRect">
            <a:avLst>
              <a:gd name="adj" fmla="val 19048"/>
            </a:avLst>
          </a:prstGeom>
          <a:solidFill xmlns:a="http://schemas.openxmlformats.org/drawingml/2006/main">
            <a:srgbClr val="173B67"/>
          </a:solidFill>
          <a:ln xmlns:a="http://schemas.openxmlformats.org/drawingml/2006/main" w="0">
            <a:noFill/>
            <a:prstDash val="solid"/>
          </a:ln>
        </p:spPr>
      </p:sp>
      <p:sp>
        <p:nvSpPr>
          <p:cNvPr id="78" name="answer-boundary">
            <a:extLst xmlns:a="http://schemas.openxmlformats.org/drawingml/2006/main">
              <a:ext uri="{FF2B5EF4-FFF2-40B4-BE49-F238E27FC236}">
                <a16:creationId xmlns:a16="http://schemas.microsoft.com/office/drawing/2014/main" id="{4DD427D9-7D4B-489C-BB96-AFE9071AAE2C}"/>
              </a:ext>
            </a:extLst>
          </p:cNvPr>
          <p:cNvSpPr>
            <a:spLocks xmlns:a="http://schemas.openxmlformats.org/drawingml/2006/main" noGrp="1"/>
          </p:cNvSpPr>
          <p:nvPr/>
        </p:nvSpPr>
        <p:spPr>
          <a:xfrm xmlns:a="http://schemas.openxmlformats.org/drawingml/2006/main">
            <a:off x="590550" y="5772150"/>
            <a:ext cx="10896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i="0">
                <a:solidFill>
                  <a:srgbClr val="FFFFFF"/>
                </a:solidFill>
                <a:latin typeface="Calibri"/>
                <a:ea typeface="Calibri"/>
                <a:cs typeface="Calibri"/>
              </a:defRPr>
            </a:pPr>
            <a:r>
              <a:rPr sz="1125" b="1" i="0">
                <a:solidFill>
                  <a:srgbClr val="FFFFFF"/>
                </a:solidFill>
                <a:latin typeface="Calibri"/>
                <a:ea typeface="Calibri"/>
                <a:cs typeface="Calibri"/>
              </a:rPr>
              <a:t>DEFENSE RULE  ·  Never present a proposed mechanism, synthetic pilot or illustrative score as a deployed production result.</a:t>
            </a:r>
          </a:p>
        </p:txBody>
      </p:sp>
    </p:spTree>
    <p:extLst>
      <p:ext uri="{BB962C8B-B14F-4D97-AF65-F5344CB8AC3E}">
        <p14:creationId xmlns:p14="http://schemas.microsoft.com/office/powerpoint/2010/main" val="6885955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2026-08-18T09:30:24.3550000Z</dcterms:created>
  <dcterms:modified xsi:type="dcterms:W3CDTF">2026-08-18T09:30:24.3550000Z</dcterms:modified>
</coreProperties>
</file>