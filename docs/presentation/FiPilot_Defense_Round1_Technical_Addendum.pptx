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2af001c2a04f39" /><Relationship Type="http://schemas.openxmlformats.org/officeDocument/2006/relationships/extended-properties" Target="/docProps/app.xml" Id="Rce9fba3a999a4406" /><Relationship Type="http://schemas.openxmlformats.org/officeDocument/2006/relationships/officeDocument" Target="/ppt/presentation.xml" Id="R1d9cc46b938646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c141bb691043e0"/>
  </p:sldMasterIdLst>
  <p:notesMasterIdLst>
    <p:notesMasterId xmlns:r="http://schemas.openxmlformats.org/officeDocument/2006/relationships" r:id="R0035e984223e4806"/>
  </p:notesMasterIdLst>
  <p:sldIdLst>
    <p:sldId xmlns:r="http://schemas.openxmlformats.org/officeDocument/2006/relationships" id="256" r:id="R7fb5088b591e4199"/>
    <p:sldId xmlns:r="http://schemas.openxmlformats.org/officeDocument/2006/relationships" id="257" r:id="Rf522af536d0f42ca"/>
    <p:sldId xmlns:r="http://schemas.openxmlformats.org/officeDocument/2006/relationships" id="258" r:id="Re927c9c3f7e241ef"/>
    <p:sldId xmlns:r="http://schemas.openxmlformats.org/officeDocument/2006/relationships" id="259" r:id="Re0108d9aba134df2"/>
    <p:sldId xmlns:r="http://schemas.openxmlformats.org/officeDocument/2006/relationships" id="260" r:id="Rc9935de8c51645d8"/>
    <p:sldId xmlns:r="http://schemas.openxmlformats.org/officeDocument/2006/relationships" id="261" r:id="Rb9e940fa1b824780"/>
    <p:sldId xmlns:r="http://schemas.openxmlformats.org/officeDocument/2006/relationships" id="262" r:id="Rb6d0ae1756054894"/>
    <p:sldId xmlns:r="http://schemas.openxmlformats.org/officeDocument/2006/relationships" id="263" r:id="Rbc73970a5a5742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2acdc4bd194b27" /><Relationship Type="http://schemas.openxmlformats.org/officeDocument/2006/relationships/slideMaster" Target="/ppt/slideMasters/slideMaster1.xml" Id="Rd7c141bb691043e0" /><Relationship Type="http://schemas.openxmlformats.org/officeDocument/2006/relationships/notesMaster" Target="/ppt/notesMasters/notesMaster1.xml" Id="R0035e984223e4806" /><Relationship Type="http://schemas.openxmlformats.org/officeDocument/2006/relationships/presProps" Target="/ppt/presProps.xml" Id="R8866e45a38c845a7" /><Relationship Type="http://schemas.openxmlformats.org/officeDocument/2006/relationships/tableStyles" Target="/ppt/tableStyles.xml" Id="Rc1c6b9b4b2974fd6" /><Relationship Type="http://schemas.openxmlformats.org/officeDocument/2006/relationships/slide" Target="/ppt/slides/slide1.xml" Id="R7fb5088b591e4199" /><Relationship Type="http://schemas.openxmlformats.org/officeDocument/2006/relationships/slide" Target="/ppt/slides/slide2.xml" Id="Rf522af536d0f42ca" /><Relationship Type="http://schemas.openxmlformats.org/officeDocument/2006/relationships/slide" Target="/ppt/slides/slide3.xml" Id="Re927c9c3f7e241ef" /><Relationship Type="http://schemas.openxmlformats.org/officeDocument/2006/relationships/slide" Target="/ppt/slides/slide4.xml" Id="Re0108d9aba134df2" /><Relationship Type="http://schemas.openxmlformats.org/officeDocument/2006/relationships/slide" Target="/ppt/slides/slide5.xml" Id="Rc9935de8c51645d8" /><Relationship Type="http://schemas.openxmlformats.org/officeDocument/2006/relationships/slide" Target="/ppt/slides/slide6.xml" Id="Rb9e940fa1b824780" /><Relationship Type="http://schemas.openxmlformats.org/officeDocument/2006/relationships/slide" Target="/ppt/slides/slide7.xml" Id="Rb6d0ae1756054894" /><Relationship Type="http://schemas.openxmlformats.org/officeDocument/2006/relationships/slide" Target="/ppt/slides/slide8.xml" Id="Rbc73970a5a5742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9975f064134f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d19e83644b4805" /><Relationship Type="http://schemas.openxmlformats.org/officeDocument/2006/relationships/notesMaster" Target="/ppt/notesMasters/notesMaster1.xml" Id="Rfe90830546c141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d2bd5c4b5b4974" /><Relationship Type="http://schemas.openxmlformats.org/officeDocument/2006/relationships/notesMaster" Target="/ppt/notesMasters/notesMaster1.xml" Id="R1023240b2eaf42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1788dadfd5476f" /><Relationship Type="http://schemas.openxmlformats.org/officeDocument/2006/relationships/notesMaster" Target="/ppt/notesMasters/notesMaster1.xml" Id="Re175017d1a754c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0097e597c84348" /><Relationship Type="http://schemas.openxmlformats.org/officeDocument/2006/relationships/notesMaster" Target="/ppt/notesMasters/notesMaster1.xml" Id="R7c749999d6b646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740b808beb4dc2" /><Relationship Type="http://schemas.openxmlformats.org/officeDocument/2006/relationships/notesMaster" Target="/ppt/notesMasters/notesMaster1.xml" Id="R3c16c6dae6c04e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8149d883124193" /><Relationship Type="http://schemas.openxmlformats.org/officeDocument/2006/relationships/notesMaster" Target="/ppt/notesMasters/notesMaster1.xml" Id="R5651e889b4534d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9b3d47343e491e" /><Relationship Type="http://schemas.openxmlformats.org/officeDocument/2006/relationships/notesMaster" Target="/ppt/notesMasters/notesMaster1.xml" Id="Raf908cdc7e7a43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a774138b3f4515" /><Relationship Type="http://schemas.openxmlformats.org/officeDocument/2006/relationships/notesMaster" Target="/ppt/notesMasters/notesMaster1.xml" Id="R0f3cf41a924649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Cách trả lời hội đồng:</a:t>
            </a:r>
          </a:p>
          <a:p xmlns:a="http://schemas.openxmlformats.org/drawingml/2006/main">
            <a:r>
              <a:t>- Hiện tại backend kiểm tra đuôi PDF/DOCX và giới hạn 10 MB. PDF được đọc từng trang bằng pypdf; DOCX lấy paragraph và table.</a:t>
            </a:r>
          </a:p>
          <a:p xmlns:a="http://schemas.openxmlformats.org/drawingml/2006/main">
            <a:r>
              <a:t>- Hệ thống hiện chỉ lấy text layer. Ảnh nhúng, ảnh chụp CV hoặc scanned PDF chưa được OCR. Nếu lấy được dưới 50 ký tự thì request bị từ chối 422.</a:t>
            </a:r>
          </a:p>
          <a:p xmlns:a="http://schemas.openxmlformats.org/drawingml/2006/main">
            <a:r>
              <a:t>- Không được nói hệ thống đã xử lý ảnh. Phần OCR trên slide là phương án nâng cấp: chỉ chạy OCR khi text coverage thấp để tránh tăng latency/cost cho mọi CV.</a:t>
            </a:r>
          </a:p>
          <a:p xmlns:a="http://schemas.openxmlformats.org/drawingml/2006/main">
            <a:r>
              <a:t>- Cần kiểm tra magic bytes/MIME và chống prompt injection; prompt hiện coi CV là dữ liệu không tin cậy.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backend/gateway/api/resume.py</a:t>
            </a:r>
          </a:p>
          <a:p xmlns:a="http://schemas.openxmlformats.org/drawingml/2006/main">
            <a:r>
              <a:t>- backend/infrastructure/documents/pdf_service.py</a:t>
            </a:r>
          </a:p>
          <a:p xmlns:a="http://schemas.openxmlformats.org/drawingml/2006/main">
            <a:r>
              <a:t>- backend/services/profile_scanner/prompts.py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Cách trả lời câu hỏi 'cắt text thành token như thế nào?':</a:t>
            </a:r>
          </a:p>
          <a:p xmlns:a="http://schemas.openxmlformats.org/drawingml/2006/main">
            <a:r>
              <a:t>- Phải tách hiện trạng và thiết kế vector. Hiện trạng CV không chunk theo token; code cắt chuỗi Python ở 12.000 ký tự trước khi gửi Gemini.</a:t>
            </a:r>
          </a:p>
          <a:p xmlns:a="http://schemas.openxmlformats.org/drawingml/2006/main">
            <a:r>
              <a:t>- 12.000 ký tự không tương đương 12.000 token và có thể cắt giữa một section. Đây là giới hạn input đơn giản, không phải chiến lược RAG.</a:t>
            </a:r>
          </a:p>
          <a:p xmlns:a="http://schemas.openxmlformats.org/drawingml/2006/main">
            <a:r>
              <a:t>- Với knowledge vector, đề xuất chunk theo semantic boundary: heading, competency, bullet group. Các giá trị 250–500 và overlap 50–80 là initial hypothesis, phải tune bằng Recall@K/MRR/context precision.</a:t>
            </a:r>
          </a:p>
          <a:p xmlns:a="http://schemas.openxmlformats.org/drawingml/2006/main">
            <a:r>
              <a:t>- Không nên embed ID, timestamp hoặc content hash vì chúng dùng cho filter, update và audit, không tạo nghĩa semantic hữu ích.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backend/services/profile_scanner/prompts.py</a:t>
            </a:r>
          </a:p>
          <a:p xmlns:a="http://schemas.openxmlformats.org/drawingml/2006/main">
            <a:r>
              <a:t>- backend/scripts/build_interview_knowledge_catalog.py</a:t>
            </a:r>
          </a:p>
          <a:p xmlns:a="http://schemas.openxmlformats.org/drawingml/2006/main">
            <a:r>
              <a:t>- backend/services/interview_knowledge/vector_prototype/README.md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Cách giải thích search hiện tại:</a:t>
            </a:r>
          </a:p>
          <a:p xmlns:a="http://schemas.openxmlformats.org/drawingml/2006/main">
            <a:r>
              <a:t>- Query được hình thành từ toàn bộ CandidateProfile có cấu trúc: specialization, skills, skill evidence, projects, experiences và education; experience_level cung cấp level guidance.</a:t>
            </a:r>
          </a:p>
          <a:p xmlns:a="http://schemas.openxmlformats.org/drawingml/2006/main">
            <a:r>
              <a:t>- Hệ thống tokenize bằng regex, lowercase, bỏ stop words. Domain được chọn bằng exact label và overlap với bộ domain terms.</a:t>
            </a:r>
          </a:p>
          <a:p xmlns:a="http://schemas.openxmlformats.org/drawingml/2006/main">
            <a:r>
              <a:t>- Mỗi topic trong catalog được chấm điểm theo token overlap; token dài từ 5 ký tự có trọng số 3, token ngắn trọng số 1, exact title được cộng 12. Sau đó sort giảm dần và lấy Top-8.</a:t>
            </a:r>
          </a:p>
          <a:p xmlns:a="http://schemas.openxmlformats.org/drawingml/2006/main">
            <a:r>
              <a:t>- Đây là keyword retrieval xác định, dễ debug nhưng yếu với synonym và semantic paraphrase. Không gọi đây là vector 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backend/services/interview_knowledge/local.py</a:t>
            </a:r>
          </a:p>
          <a:p xmlns:a="http://schemas.openxmlformats.org/drawingml/2006/main">
            <a:r>
              <a:t>- backend/services/interview_knowledge/retriever.py</a:t>
            </a:r>
          </a:p>
          <a:p xmlns:a="http://schemas.openxmlformats.org/drawingml/2006/main">
            <a:r>
              <a:t>- backend/core/dependencies.py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Cách trả lời vector database lưu gì và search ra sao:</a:t>
            </a:r>
          </a:p>
          <a:p xmlns:a="http://schemas.openxmlformats.org/drawingml/2006/main">
            <a:r>
              <a:t>- Một Firestore document tương ứng một knowledge chunk. Vector 768 chiều là field riêng; text gốc và metadata được giữ để giải thích kết quả, filter và re-index.</a:t>
            </a:r>
          </a:p>
          <a:p xmlns:a="http://schemas.openxmlformats.org/drawingml/2006/main">
            <a:r>
              <a:t>- Query vector không dựa vào một keyword duy nhất mà tổng hợp specialization/role, experience level, skills mạnh và evidence. Có thể pre-filter domain/level rồi mới nearest-neighbor search.</a:t>
            </a:r>
          </a:p>
          <a:p xmlns:a="http://schemas.openxmlformats.org/drawingml/2006/main">
            <a:r>
              <a:t>- Cosine similarity đo góc giữa query vector và chunk vector; càng gần 1 càng tương đồng. Firestore trả cosine distance, nên score hiển thị có thể là 1 - distance.</a:t>
            </a:r>
          </a:p>
          <a:p xmlns:a="http://schemas.openxmlformats.org/drawingml/2006/main">
            <a:r>
              <a:t>- Top-K=5 và 768 dimensions mới là cấu hình đề xuất, chưa phải optimum đã benchmark.</a:t>
            </a:r>
          </a:p>
          <a:p xmlns:a="http://schemas.openxmlformats.org/drawingml/2006/main">
            <a:r>
              <a:t>- Prototype hiện tại chỉ dùng vector giả 12 chiều và 10 hardcoded chunks trong memory; tuyệt đối không dùng prototype đó làm bằng chứng production.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backend/services/interview_knowledge/vector_prototype/README.md</a:t>
            </a:r>
          </a:p>
          <a:p xmlns:a="http://schemas.openxmlformats.org/drawingml/2006/main">
            <a:r>
              <a:t>- backend/services/interview_knowledge/vector_prototype/logic.py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Cách trả lời 'vector database có cập nhật không?':</a:t>
            </a:r>
          </a:p>
          <a:p xmlns:a="http://schemas.openxmlformats.org/drawingml/2006/main">
            <a:r>
              <a:t>- Hiện tại không có vector DB production nên không có vector được cập nhật. Knowledge source là Markdown; script build tạo catalog.json và cần deploy lại app.</a:t>
            </a:r>
          </a:p>
          <a:p xmlns:a="http://schemas.openxmlformats.org/drawingml/2006/main">
            <a:r>
              <a:t>- Nếu triển khai vector, update nên idempotent bằng content_hash. Chunk không đổi không embed lại; chunk mới/thay đổi được upsert; chunk bị xóa được đánh dấu inactive trước khi dọn.</a:t>
            </a:r>
          </a:p>
          <a:p xmlns:a="http://schemas.openxmlformats.org/drawingml/2006/main">
            <a:r>
              <a:t>- Dùng embedding_version và index_version để rollback, audit và tránh trộn vector từ hai model/dimension khác nhau.</a:t>
            </a:r>
          </a:p>
          <a:p xmlns:a="http://schemas.openxmlformats.org/drawingml/2006/main">
            <a:r>
              <a:t>- Khi đổi embedding model, số chiều hoặc chunking policy thì bắt buộc full re-index, không update từng phần.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backend/scripts/build_interview_knowledge_catalog.py</a:t>
            </a:r>
          </a:p>
          <a:p xmlns:a="http://schemas.openxmlformats.org/drawingml/2006/main">
            <a:r>
              <a:t>- backend/services/interview_knowledge/catalog.json</a:t>
            </a:r>
          </a:p>
          <a:p xmlns:a="http://schemas.openxmlformats.org/drawingml/2006/main">
            <a:r>
              <a:t>- backend/services/interview_knowledge/vector_prototype/README.md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Cách trả lời 'nhóm train dữ liệu như thế nào?':</a:t>
            </a:r>
          </a:p>
          <a:p xmlns:a="http://schemas.openxmlformats.org/drawingml/2006/main">
            <a:r>
              <a:t>- Trả lời thẳng: nhóm không train hoặc fine-tune Gemini, Whisper hay VieNeu. Đây là các model pre-trained được gọi ở inference time.</a:t>
            </a:r>
          </a:p>
          <a:p xmlns:a="http://schemas.openxmlformats.org/drawingml/2006/main">
            <a:r>
              <a:t>- Công việc AI engineering của nhóm là prompt, schema validation, model routing, knowledge retrieval, orchestration, deterministic branching và evaluation harness.</a:t>
            </a:r>
          </a:p>
          <a:p xmlns:a="http://schemas.openxmlformats.org/drawingml/2006/main">
            <a:r>
              <a:t>- Không dùng CV/câu trả lời của người dùng để tự động train. Muốn fine-tune sau này phải có consent, de-identification, data retention policy và benchmark độc lập.</a:t>
            </a:r>
          </a:p>
          <a:p xmlns:a="http://schemas.openxmlformats.org/drawingml/2006/main">
            <a:r>
              <a:t>- Không dùng từ 'training accuracy'. Hãy nói extraction accuracy, retrieval quality, generation quality, evaluator agreement và speech error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backend/infrastructure/llm/vertex_gemini.py</a:t>
            </a:r>
          </a:p>
          <a:p xmlns:a="http://schemas.openxmlformats.org/drawingml/2006/main">
            <a:r>
              <a:t>- backend/core/settings.py</a:t>
            </a:r>
          </a:p>
          <a:p xmlns:a="http://schemas.openxmlformats.org/drawingml/2006/main">
            <a:r>
              <a:t>- backend/services/profile_scanner/prompts.py</a:t>
            </a:r>
          </a:p>
          <a:p xmlns:a="http://schemas.openxmlformats.org/drawingml/2006/main">
            <a:r>
              <a:t>- backend/orchestrator/decision_service.py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Cách giải thích đánh giá độ chính xác:</a:t>
            </a:r>
          </a:p>
          <a:p xmlns:a="http://schemas.openxmlformats.org/drawingml/2006/main">
            <a:r>
              <a:t>- Không có một con số accuracy chung cho hệ thống nhiều module. Mỗi module có ground truth và metric khác nhau.</a:t>
            </a:r>
          </a:p>
          <a:p xmlns:a="http://schemas.openxmlformats.org/drawingml/2006/main">
            <a:r>
              <a:t>- CV extraction: so skills và field với profile do người chấm gán nhãn; tính precision, recall, F1 và field accuracy.</a:t>
            </a:r>
          </a:p>
          <a:p xmlns:a="http://schemas.openxmlformats.org/drawingml/2006/main">
            <a:r>
              <a:t>- Retrieval: với mỗi query cần danh sách chunk relevant do người đánh giá xác nhận; đo Recall@K, HitRate@K, MRR, context precision và latency.</a:t>
            </a:r>
          </a:p>
          <a:p xmlns:a="http://schemas.openxmlformats.org/drawingml/2006/main">
            <a:r>
              <a:t>- Question/evaluator: cần rubric chuyên gia và nhiều người chấm. Evaluator phải so MAE/correlation với human score và kiểm tra repeatability.</a:t>
            </a:r>
          </a:p>
          <a:p xmlns:a="http://schemas.openxmlformats.org/drawingml/2006/main">
            <a:r>
              <a:t>- Speech: WER/CER phải chia theo accent/noise/device, không chỉ báo một average đẹp.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backend/services/system_evaluation/evaluators.py</a:t>
            </a:r>
          </a:p>
          <a:p xmlns:a="http://schemas.openxmlformats.org/drawingml/2006/main">
            <a:r>
              <a:t>- backend/services/system_evaluation/metrics.py</a:t>
            </a:r>
          </a:p>
          <a:p xmlns:a="http://schemas.openxmlformats.org/drawingml/2006/main">
            <a:r>
              <a:t>- docs/SYSTEM_EVALUATION.md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Cách trình bày slide kết quả:</a:t>
            </a:r>
          </a:p>
          <a:p xmlns:a="http://schemas.openxmlformats.org/drawingml/2006/main">
            <a:r>
              <a:t>- Trước mỗi số phải nói evidence class và sample size. Pilot hiện tại có 10 synthetic groups, dùng LLM-as-judge và metric code-computed; không phải human benchmark.</a:t>
            </a:r>
          </a:p>
          <a:p xmlns:a="http://schemas.openxmlformats.org/drawingml/2006/main">
            <a:r>
              <a:t>- Context precision 0.815 và relevance 0.435 là của lexical retriever hiện tại. HitRate@8=1.0 là controlled synthetic result, không suy rộng thành accuracy production.</a:t>
            </a:r>
          </a:p>
          <a:p xmlns:a="http://schemas.openxmlformats.org/drawingml/2006/main">
            <a:r>
              <a:t>- Canonical backend/evaluation_report.json hiện status no_data. Vì vậy không nên tiếp tục dùng các số 235 CV/200 WAV như kết quả chính thức nếu không xuất trình được dataset, labels, script và raw outputs tương ứng.</a:t>
            </a:r>
          </a:p>
          <a:p xmlns:a="http://schemas.openxmlformats.org/drawingml/2006/main">
            <a:r>
              <a:t>- Answer evaluation pilot chưa có human MAE/correlation; controlled monotonicity cũng không hợp lệ. Hãy nói rõ giới hạn thay vì che giấu.</a:t>
            </a:r>
          </a:p>
          <a:p xmlns:a="http://schemas.openxmlformats.org/drawingml/2006/main">
            <a:r>
              <a:t>- Câu chốt khi bị hỏi: 'Đây là mức evidence hiện tại; nhóm đã có harness và metric contract, bước tiếp theo là dataset consented, labelled và reproducible.'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backend/evaluation_report.json</a:t>
            </a:r>
          </a:p>
          <a:p xmlns:a="http://schemas.openxmlformats.org/drawingml/2006/main">
            <a:r>
              <a:t>- evaluation/ragas_pilot/overall_summary.md</a:t>
            </a:r>
          </a:p>
          <a:p xmlns:a="http://schemas.openxmlformats.org/drawingml/2006/main">
            <a:r>
              <a:t>- evaluation/ragas_pilot/README.md</a:t>
            </a:r>
          </a:p>
          <a:p xmlns:a="http://schemas.openxmlformats.org/drawingml/2006/main">
            <a:r>
              <a:t>- evaluation/evidence/README.md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7f1fea84c745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ae395aa6a34e8c" /><Relationship Type="http://schemas.openxmlformats.org/officeDocument/2006/relationships/slideLayout" Target="/ppt/slideLayouts/slideLayout1.xml" Id="R1d645e155d9747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645e155d9747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1cdbefa5d4c49" /><Relationship Type="http://schemas.openxmlformats.org/officeDocument/2006/relationships/notesSlide" Target="/ppt/notesSlides/notesSlide1.xml" Id="R52a3b905c44c49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109e0a69040b9" /><Relationship Type="http://schemas.openxmlformats.org/officeDocument/2006/relationships/notesSlide" Target="/ppt/notesSlides/notesSlide2.xml" Id="Rfa387d63ee804e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261d7e3d042e4" /><Relationship Type="http://schemas.openxmlformats.org/officeDocument/2006/relationships/notesSlide" Target="/ppt/notesSlides/notesSlide3.xml" Id="Rd0117f87a53140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db77bf17a4975" /><Relationship Type="http://schemas.openxmlformats.org/officeDocument/2006/relationships/notesSlide" Target="/ppt/notesSlides/notesSlide4.xml" Id="R5d8c139357284c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a2251fa604990" /><Relationship Type="http://schemas.openxmlformats.org/officeDocument/2006/relationships/notesSlide" Target="/ppt/notesSlides/notesSlide5.xml" Id="Rffb138efec244e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053654d524fdb" /><Relationship Type="http://schemas.openxmlformats.org/officeDocument/2006/relationships/notesSlide" Target="/ppt/notesSlides/notesSlide6.xml" Id="Ref1b6c26699e44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5598bdb824fcf" /><Relationship Type="http://schemas.openxmlformats.org/officeDocument/2006/relationships/notesSlide" Target="/ppt/notesSlides/notesSlide7.xml" Id="R235ea042afd745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5c97e4f8b4021" /><Relationship Type="http://schemas.openxmlformats.org/officeDocument/2006/relationships/notesSlide" Target="/ppt/notesSlides/notesSlide8.xml" Id="Rb85088247fd640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23EBE3-962B-49D7-89B5-FA115278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356F"/>
                </a:solidFill>
              </a:defRPr>
            </a:pPr>
            <a:r>
              <a:rPr sz="2025" b="1">
                <a:solidFill>
                  <a:srgbClr val="11356F"/>
                </a:solidFill>
              </a:rPr>
              <a:t>3. DATA &amp; RESUME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48F34-5B08-485E-A22C-D909F799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52FB4-C599-4BC1-9AEA-7E29D5D9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C52"/>
                </a:solidFill>
              </a:defRPr>
            </a:pPr>
            <a:r>
              <a:rPr sz="1500" b="1">
                <a:solidFill>
                  <a:srgbClr val="162C52"/>
                </a:solidFill>
              </a:rPr>
              <a:t>CV Parsing: Native Text First, OCR as a Guarded Fallback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9B905-63D2-4777-BB16-8DD7A987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91"/>
                </a:solidFill>
              </a:defRPr>
            </a:pPr>
            <a:r>
              <a:rPr sz="1050" b="0">
                <a:solidFill>
                  <a:srgbClr val="617391"/>
                </a:solidFill>
              </a:rPr>
              <a:t>The current implementation extracts machine-readable text; embedded images are not OCR-processed.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3E4F1-312E-47A5-BE7C-FF79AEFD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082FA-796C-4FE9-8EF7-36987B70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455CD-2121-4A3C-965C-B1C6C615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A6B4A-524D-419E-8BFC-145D547D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8AE"/>
                </a:solidFill>
              </a:defRPr>
            </a:pPr>
            <a:r>
              <a:rPr sz="825" b="1">
                <a:solidFill>
                  <a:srgbClr val="8A98AE"/>
                </a:solidFill>
              </a:rPr>
              <a:t>FIPILOT  •  DEFENSE ROUND 1  • 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BCDD9-AEFF-4D1E-A072-B8635F9B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8859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269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A6529-D31B-4844-9EF1-34BC1723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9D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B6B8D-0D6E-48A9-8EA3-BFB78CC9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B3678-994F-4D32-A94B-7A5210F0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C52"/>
                </a:solidFill>
              </a:defRPr>
            </a:pPr>
            <a:r>
              <a:rPr sz="1350" b="1">
                <a:solidFill>
                  <a:srgbClr val="162C52"/>
                </a:solidFill>
              </a:rPr>
              <a:t>File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952B0-E71A-4FE5-A6A4-7E0A132D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581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PDF / DOCX</a:t>
            </a:r>
          </a:p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Maximum 10 MB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04DA7-AAC3-4081-BCEC-1F36E131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098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269D4"/>
                </a:solidFill>
              </a:defRPr>
            </a:pPr>
            <a:r>
              <a:rPr sz="2025" b="1">
                <a:solidFill>
                  <a:srgbClr val="3269D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1211A-1164-4D9F-AB4F-ADCB153A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18859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269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AD633-EC47-4FC6-BE83-8082A7BE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28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9D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09F36-96F5-4FA1-B024-1B98BD6A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668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61BD3-C925-482B-A3BE-7F361ABE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C52"/>
                </a:solidFill>
              </a:defRPr>
            </a:pPr>
            <a:r>
              <a:rPr sz="1350" b="1">
                <a:solidFill>
                  <a:srgbClr val="162C52"/>
                </a:solidFill>
              </a:rPr>
              <a:t>Direct extraction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57493-20E2-413D-A13F-3F24B930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581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PDF: pypdf per page</a:t>
            </a:r>
          </a:p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DOCX: paragraphs + tables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6C515-8BDE-4ECD-9024-21C3D676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098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269D4"/>
                </a:solidFill>
              </a:defRPr>
            </a:pPr>
            <a:r>
              <a:rPr sz="2025" b="1">
                <a:solidFill>
                  <a:srgbClr val="3269D4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EBA1F-836B-45F8-95AD-B8C54ADF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18859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269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42382-4118-4250-9DB5-9B7903AB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28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9D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D5E71E-B4F5-49D7-BD9A-FDF1A5FB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668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6D53F-656B-4DD6-94C9-EB183EC6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812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C52"/>
                </a:solidFill>
              </a:defRPr>
            </a:pPr>
            <a:r>
              <a:rPr sz="1350" b="1">
                <a:solidFill>
                  <a:srgbClr val="162C52"/>
                </a:solidFill>
              </a:rPr>
              <a:t>Quality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184868-5EF2-43D4-826B-1B41FD53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1581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Require at least</a:t>
            </a:r>
          </a:p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50 extracted characters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07EED6-EDFF-4BCE-B2D7-7F0A0881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098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269D4"/>
                </a:solidFill>
              </a:defRPr>
            </a:pPr>
            <a:r>
              <a:rPr sz="2025" b="1">
                <a:solidFill>
                  <a:srgbClr val="3269D4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18AB4A-AA9F-41E2-B2FF-C2236F57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8859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6737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E7FE0F-487C-48AE-BEBE-CA49554C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28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37C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F8EFAE-FB27-45F3-8813-C0F4BC93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668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28483A-7C26-4741-9214-58ED84A2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812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C52"/>
                </a:solidFill>
              </a:defRPr>
            </a:pPr>
            <a:r>
              <a:rPr sz="1350" b="1">
                <a:solidFill>
                  <a:srgbClr val="162C52"/>
                </a:solidFill>
              </a:rPr>
              <a:t>Typed extraction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8F4D27-B0E0-4B7A-BB72-33201924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1581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First 12,000 characters</a:t>
            </a:r>
          </a:p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Gemini → CandidateProfile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051848-5BE5-4836-B5DB-154A0C31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098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269D4"/>
                </a:solidFill>
              </a:defRPr>
            </a:pPr>
            <a:r>
              <a:rPr sz="2025" b="1">
                <a:solidFill>
                  <a:srgbClr val="3269D4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5D9209-638E-444D-995C-D4D9EBC2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52600"/>
            <a:ext cx="18859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83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2875A6-0AC0-44C7-9AB2-8E856E62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28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3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7352F8-722F-4BE3-87F9-E6B96EE6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668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8E06B7-16B7-4526-B53B-DF8DD2E6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812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C52"/>
                </a:solidFill>
              </a:defRPr>
            </a:pPr>
            <a:r>
              <a:rPr sz="1350" b="1">
                <a:solidFill>
                  <a:srgbClr val="162C52"/>
                </a:solidFill>
              </a:rPr>
              <a:t>Owned persistence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24E594-357D-4C1F-AB30-5D4636E9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81250"/>
            <a:ext cx="1581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Profile + raw text</a:t>
            </a:r>
          </a:p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Versioned extraction cache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E2A16C-19F1-4B80-90A3-E9DDB7AB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90975"/>
            <a:ext cx="11334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1430">
            <a:solidFill>
              <a:srgbClr val="D8731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669D90-B46D-4398-8C91-FAB56BE0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24325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7319"/>
                </a:solidFill>
              </a:defRPr>
            </a:pPr>
            <a:r>
              <a:rPr sz="1200" b="1">
                <a:solidFill>
                  <a:srgbClr val="D87319"/>
                </a:solidFill>
              </a:rPr>
              <a:t>CURRENT BEHAVIOR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DF1130-45BF-4CF2-B46F-4C582877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105275"/>
            <a:ext cx="919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Scanned or image-only CVs usually fail the text gate because the system has no OCR/image extraction path.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8B575F-960B-4867-B276-9CEC1201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334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EF9F3"/>
          </a:solidFill>
          <a:ln xmlns:a="http://schemas.openxmlformats.org/drawingml/2006/main" w="11430">
            <a:solidFill>
              <a:srgbClr val="1783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AE6D98-6609-470B-A0F6-BCC7F50F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1762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834D"/>
                </a:solidFill>
              </a:defRPr>
            </a:pPr>
            <a:r>
              <a:rPr sz="1200" b="1">
                <a:solidFill>
                  <a:srgbClr val="17834D"/>
                </a:solidFill>
              </a:rPr>
              <a:t>PROPOSED FALLBACK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71E5B4-923E-4EC2-986E-DB69D06C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048250"/>
            <a:ext cx="919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Low text coverage → render affected pages → OCR → confidence filtering → merge with native text → remove duplicate lines before extraction.</a:t>
            </a:r>
          </a:p>
        </p:txBody>
      </p:sp>
      <p:sp>
        <p:nvSpPr>
          <p:cNvPr id="44" name="header-cover-1">
            <a:extLst xmlns:a="http://schemas.openxmlformats.org/drawingml/2006/main">
              <a:ext uri="{FF2B5EF4-FFF2-40B4-BE49-F238E27FC236}">
                <a16:creationId xmlns:a16="http://schemas.microsoft.com/office/drawing/2014/main" id="{C938C83A-3B35-4103-BD3E-AD0070E6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1152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7A7EC7E9-40C8-4C75-853F-3E8B1A7A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356F"/>
                </a:solidFill>
              </a:defRPr>
            </a:pPr>
            <a:r>
              <a:rPr sz="2025" b="1">
                <a:solidFill>
                  <a:srgbClr val="11356F"/>
                </a:solidFill>
              </a:rPr>
              <a:t>3. DATA &amp; RESUME PIPELINE</a:t>
            </a:r>
          </a:p>
        </p:txBody>
      </p:sp>
      <p:sp>
        <p:nvSpPr>
          <p:cNvPr id="46" name="section-rule-1">
            <a:extLst xmlns:a="http://schemas.openxmlformats.org/drawingml/2006/main">
              <a:ext uri="{FF2B5EF4-FFF2-40B4-BE49-F238E27FC236}">
                <a16:creationId xmlns:a16="http://schemas.microsoft.com/office/drawing/2014/main" id="{BA4BF006-9BA6-455B-B6BE-E23F8820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47" name="brand-square-1-1">
            <a:extLst xmlns:a="http://schemas.openxmlformats.org/drawingml/2006/main">
              <a:ext uri="{FF2B5EF4-FFF2-40B4-BE49-F238E27FC236}">
                <a16:creationId xmlns:a16="http://schemas.microsoft.com/office/drawing/2014/main" id="{9ECAECBD-BC84-4E8C-821C-F1F51FDC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rand-square-2-1">
            <a:extLst xmlns:a="http://schemas.openxmlformats.org/drawingml/2006/main">
              <a:ext uri="{FF2B5EF4-FFF2-40B4-BE49-F238E27FC236}">
                <a16:creationId xmlns:a16="http://schemas.microsoft.com/office/drawing/2014/main" id="{91DC9A5D-FE85-40D3-82C6-D682A5A8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rand-square-3-1">
            <a:extLst xmlns:a="http://schemas.openxmlformats.org/drawingml/2006/main">
              <a:ext uri="{FF2B5EF4-FFF2-40B4-BE49-F238E27FC236}">
                <a16:creationId xmlns:a16="http://schemas.microsoft.com/office/drawing/2014/main" id="{BA56A268-FDEC-4BCE-9A1F-E978E7A8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ooter-cover-1">
            <a:extLst xmlns:a="http://schemas.openxmlformats.org/drawingml/2006/main">
              <a:ext uri="{FF2B5EF4-FFF2-40B4-BE49-F238E27FC236}">
                <a16:creationId xmlns:a16="http://schemas.microsoft.com/office/drawing/2014/main" id="{FA75868D-35FC-4039-A250-EB53A2C7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389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ooter-1">
            <a:extLst xmlns:a="http://schemas.openxmlformats.org/drawingml/2006/main">
              <a:ext uri="{FF2B5EF4-FFF2-40B4-BE49-F238E27FC236}">
                <a16:creationId xmlns:a16="http://schemas.microsoft.com/office/drawing/2014/main" id="{B7B9356B-2CFC-49CF-AC51-E93BA5DC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8AE"/>
                </a:solidFill>
              </a:defRPr>
            </a:pPr>
            <a:r>
              <a:rPr sz="825" b="1">
                <a:solidFill>
                  <a:srgbClr val="8A98AE"/>
                </a:solidFill>
              </a:rPr>
              <a:t>FIPILOT  •  DEFENSE ROUND 1  •  1</a:t>
            </a:r>
          </a:p>
        </p:txBody>
      </p:sp>
    </p:spTree>
    <p:extLst>
      <p:ext uri="{BB962C8B-B14F-4D97-AF65-F5344CB8AC3E}">
        <p14:creationId xmlns:p14="http://schemas.microsoft.com/office/powerpoint/2010/main" val="688595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012F7F-C420-444B-A94D-FDC9725D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356F"/>
                </a:solidFill>
              </a:defRPr>
            </a:pPr>
            <a:r>
              <a:rPr sz="2025" b="1">
                <a:solidFill>
                  <a:srgbClr val="11356F"/>
                </a:solidFill>
              </a:rPr>
              <a:t>3. DATA &amp; RESUME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190E9-D616-450A-A5D3-68FD7750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05C5C-FFA2-421C-B2C3-91A86968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C52"/>
                </a:solidFill>
              </a:defRPr>
            </a:pPr>
            <a:r>
              <a:rPr sz="1500" b="1">
                <a:solidFill>
                  <a:srgbClr val="162C52"/>
                </a:solidFill>
              </a:rPr>
              <a:t>Character Limits and Vector Chunks Solve Different Problems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03D8B-0F9E-4334-9886-643D05E2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91"/>
                </a:solidFill>
              </a:defRPr>
            </a:pPr>
            <a:r>
              <a:rPr sz="1050" b="0">
                <a:solidFill>
                  <a:srgbClr val="617391"/>
                </a:solidFill>
              </a:rPr>
              <a:t>Production CV extraction does not currently tokenize or embed the resume.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75D0D-C8FD-4859-9F23-2BE3AAD1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A46E5-46D4-412D-864D-F1E32692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1ADDC-3612-4AD1-956B-09A596F2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FCE6C-CFD2-495C-8FF9-3AE6346D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8AE"/>
                </a:solidFill>
              </a:defRPr>
            </a:pPr>
            <a:r>
              <a:rPr sz="825" b="1">
                <a:solidFill>
                  <a:srgbClr val="8A98AE"/>
                </a:solidFill>
              </a:rPr>
              <a:t>FIPILOT  •  DEFENSE ROUND 1  • 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9DF21-9DF2-4462-89BE-B3E95E48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34000" cy="3371850"/>
          </a:xfrm>
          <a:prstGeom xmlns:a="http://schemas.openxmlformats.org/drawingml/2006/main" prst="roundRect">
            <a:avLst>
              <a:gd name="adj" fmla="val 2825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11430">
            <a:solidFill>
              <a:srgbClr val="3269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1CDE1-8C84-47A9-BFAE-A304A483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269D4"/>
                </a:solidFill>
              </a:defRPr>
            </a:pPr>
            <a:r>
              <a:rPr sz="1575" b="1">
                <a:solidFill>
                  <a:srgbClr val="3269D4"/>
                </a:solidFill>
              </a:rPr>
              <a:t>CURRENT — CV EXTRACTION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BFCD3-BA44-47BF-8594-5D82E992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46672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C52"/>
                </a:solidFill>
              </a:defRPr>
            </a:pPr>
            <a:r>
              <a:rPr sz="1425" b="0">
                <a:solidFill>
                  <a:srgbClr val="162C52"/>
                </a:solidFill>
              </a:rPr>
              <a:t>• No token-based or semantic chunking</a:t>
            </a:r>
          </a:p>
          <a:p xmlns:a="http://schemas.openxmlformats.org/drawingml/2006/main">
            <a:pPr algn="l">
              <a:defRPr sz="1425" b="0">
                <a:solidFill>
                  <a:srgbClr val="162C52"/>
                </a:solidFill>
              </a:defRPr>
            </a:pPr>
            <a:r>
              <a:rPr sz="1425" b="0">
                <a:solidFill>
                  <a:srgbClr val="162C52"/>
                </a:solidFill>
              </a:rPr>
              <a:t>• The prompt receives the first 12,000 characters</a:t>
            </a:r>
          </a:p>
          <a:p xmlns:a="http://schemas.openxmlformats.org/drawingml/2006/main">
            <a:pPr algn="l">
              <a:defRPr sz="1425" b="0">
                <a:solidFill>
                  <a:srgbClr val="162C52"/>
                </a:solidFill>
              </a:defRPr>
            </a:pPr>
            <a:r>
              <a:rPr sz="1425" b="0">
                <a:solidFill>
                  <a:srgbClr val="162C52"/>
                </a:solidFill>
              </a:rPr>
              <a:t>• One typed extraction request produces CandidateProfile</a:t>
            </a:r>
          </a:p>
          <a:p xmlns:a="http://schemas.openxmlformats.org/drawingml/2006/main">
            <a:pPr algn="l">
              <a:defRPr sz="1425" b="0">
                <a:solidFill>
                  <a:srgbClr val="162C52"/>
                </a:solidFill>
              </a:defRPr>
            </a:pPr>
            <a:r>
              <a:rPr sz="1425" b="0">
                <a:solidFill>
                  <a:srgbClr val="162C52"/>
                </a:solidFill>
              </a:rPr>
              <a:t>• Raw resume text and the structured profile are stored</a:t>
            </a:r>
          </a:p>
          <a:p xmlns:a="http://schemas.openxmlformats.org/drawingml/2006/main">
            <a:pPr algn="l">
              <a:defRPr sz="1425" b="0">
                <a:solidFill>
                  <a:srgbClr val="162C52"/>
                </a:solidFill>
              </a:defRPr>
            </a:pPr>
            <a:r>
              <a:rPr sz="1425" b="0">
                <a:solidFill>
                  <a:srgbClr val="162C52"/>
                </a:solidFill>
              </a:rPr>
              <a:t>• No resume vector is created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B35F7-0610-454D-B9AE-34E4A6D0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19250"/>
            <a:ext cx="5753100" cy="3371850"/>
          </a:xfrm>
          <a:prstGeom xmlns:a="http://schemas.openxmlformats.org/drawingml/2006/main" prst="roundRect">
            <a:avLst>
              <a:gd name="adj" fmla="val 2825"/>
            </a:avLst>
          </a:prstGeom>
          <a:solidFill xmlns:a="http://schemas.openxmlformats.org/drawingml/2006/main">
            <a:srgbClr val="F4EFFF"/>
          </a:solidFill>
          <a:ln xmlns:a="http://schemas.openxmlformats.org/drawingml/2006/main" w="11430">
            <a:solidFill>
              <a:srgbClr val="6737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A6F7E-B3DE-4E31-9FB0-D8B7F5C6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573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737C4"/>
                </a:solidFill>
              </a:defRPr>
            </a:pPr>
            <a:r>
              <a:rPr sz="1575" b="1">
                <a:solidFill>
                  <a:srgbClr val="6737C4"/>
                </a:solidFill>
              </a:rPr>
              <a:t>PROPOSED — KNOWLEDGE INDEX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16247-29FA-4A60-96CC-EDBF644B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50482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C52"/>
                </a:solidFill>
              </a:defRPr>
            </a:pPr>
            <a:r>
              <a:rPr sz="1425" b="0">
                <a:solidFill>
                  <a:srgbClr val="162C52"/>
                </a:solidFill>
              </a:rPr>
              <a:t>• Split by Markdown heading and competency unit</a:t>
            </a:r>
          </a:p>
          <a:p xmlns:a="http://schemas.openxmlformats.org/drawingml/2006/main">
            <a:pPr algn="l">
              <a:defRPr sz="1425" b="0">
                <a:solidFill>
                  <a:srgbClr val="162C52"/>
                </a:solidFill>
              </a:defRPr>
            </a:pPr>
            <a:r>
              <a:rPr sz="1425" b="0">
                <a:solidFill>
                  <a:srgbClr val="162C52"/>
                </a:solidFill>
              </a:rPr>
              <a:t>• Initial target: 250–500 tokens per chunk</a:t>
            </a:r>
          </a:p>
          <a:p xmlns:a="http://schemas.openxmlformats.org/drawingml/2006/main">
            <a:pPr algn="l">
              <a:defRPr sz="1425" b="0">
                <a:solidFill>
                  <a:srgbClr val="162C52"/>
                </a:solidFill>
              </a:defRPr>
            </a:pPr>
            <a:r>
              <a:rPr sz="1425" b="0">
                <a:solidFill>
                  <a:srgbClr val="162C52"/>
                </a:solidFill>
              </a:rPr>
              <a:t>• Use 50–80-token overlap only for long sections</a:t>
            </a:r>
          </a:p>
          <a:p xmlns:a="http://schemas.openxmlformats.org/drawingml/2006/main">
            <a:pPr algn="l">
              <a:defRPr sz="1425" b="0">
                <a:solidFill>
                  <a:srgbClr val="162C52"/>
                </a:solidFill>
              </a:defRPr>
            </a:pPr>
            <a:r>
              <a:rPr sz="1425" b="0">
                <a:solidFill>
                  <a:srgbClr val="162C52"/>
                </a:solidFill>
              </a:rPr>
              <a:t>• Preserve code terms, tool names, and bilingual phrases</a:t>
            </a:r>
          </a:p>
          <a:p xmlns:a="http://schemas.openxmlformats.org/drawingml/2006/main">
            <a:pPr algn="l">
              <a:defRPr sz="1425" b="0">
                <a:solidFill>
                  <a:srgbClr val="162C52"/>
                </a:solidFill>
              </a:defRPr>
            </a:pPr>
            <a:r>
              <a:rPr sz="1425" b="0">
                <a:solidFill>
                  <a:srgbClr val="162C52"/>
                </a:solidFill>
              </a:rPr>
              <a:t>• Tune chunk size and overlap using retrieval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EF850-FE4E-4D76-B73A-28381749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3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9F3"/>
          </a:solidFill>
          <a:ln xmlns:a="http://schemas.openxmlformats.org/drawingml/2006/main" w="11430">
            <a:solidFill>
              <a:srgbClr val="1783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23F910-EA97-4379-AC06-DFEFB50C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834D"/>
                </a:solidFill>
              </a:defRPr>
            </a:pPr>
            <a:r>
              <a:rPr sz="1200" b="1">
                <a:solidFill>
                  <a:srgbClr val="17834D"/>
                </a:solidFill>
              </a:rPr>
              <a:t>EMBED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D3F0D-6151-48E4-908E-D46953AE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334000"/>
            <a:ext cx="9191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Title + competency explanation + anchors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FB41C-3525-4E8D-8501-82E203E5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391"/>
                </a:solidFill>
              </a:defRPr>
            </a:pPr>
            <a:r>
              <a:rPr sz="1200" b="0">
                <a:solidFill>
                  <a:srgbClr val="617391"/>
                </a:solidFill>
              </a:rPr>
              <a:t>Keep chunk_id, domain, level, source, hash, model version and timestamps as filterable metadata — not embedded prose.</a:t>
            </a:r>
          </a:p>
        </p:txBody>
      </p:sp>
      <p:sp>
        <p:nvSpPr>
          <p:cNvPr id="19" name="header-cover-2">
            <a:extLst xmlns:a="http://schemas.openxmlformats.org/drawingml/2006/main">
              <a:ext uri="{FF2B5EF4-FFF2-40B4-BE49-F238E27FC236}">
                <a16:creationId xmlns:a16="http://schemas.microsoft.com/office/drawing/2014/main" id="{AB9A832A-3C50-44DE-9323-654F7563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1152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ction-title-2">
            <a:extLst xmlns:a="http://schemas.openxmlformats.org/drawingml/2006/main">
              <a:ext uri="{FF2B5EF4-FFF2-40B4-BE49-F238E27FC236}">
                <a16:creationId xmlns:a16="http://schemas.microsoft.com/office/drawing/2014/main" id="{1AFC00CA-9A52-471B-AE83-99E20706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356F"/>
                </a:solidFill>
              </a:defRPr>
            </a:pPr>
            <a:r>
              <a:rPr sz="2025" b="1">
                <a:solidFill>
                  <a:srgbClr val="11356F"/>
                </a:solidFill>
              </a:rPr>
              <a:t>3. DATA &amp; RESUME PIPELINE</a:t>
            </a:r>
          </a:p>
        </p:txBody>
      </p:sp>
      <p:sp>
        <p:nvSpPr>
          <p:cNvPr id="21" name="section-rule-2">
            <a:extLst xmlns:a="http://schemas.openxmlformats.org/drawingml/2006/main">
              <a:ext uri="{FF2B5EF4-FFF2-40B4-BE49-F238E27FC236}">
                <a16:creationId xmlns:a16="http://schemas.microsoft.com/office/drawing/2014/main" id="{9BD82AF2-8613-4B61-992C-4B2E06C7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22" name="brand-square-1-2">
            <a:extLst xmlns:a="http://schemas.openxmlformats.org/drawingml/2006/main">
              <a:ext uri="{FF2B5EF4-FFF2-40B4-BE49-F238E27FC236}">
                <a16:creationId xmlns:a16="http://schemas.microsoft.com/office/drawing/2014/main" id="{F6C5021A-85D6-4377-99A7-1F6322A0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rand-square-2-2">
            <a:extLst xmlns:a="http://schemas.openxmlformats.org/drawingml/2006/main">
              <a:ext uri="{FF2B5EF4-FFF2-40B4-BE49-F238E27FC236}">
                <a16:creationId xmlns:a16="http://schemas.microsoft.com/office/drawing/2014/main" id="{DE6BA0CA-7692-4DF5-84B0-0A3942C0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rand-square-3-2">
            <a:extLst xmlns:a="http://schemas.openxmlformats.org/drawingml/2006/main">
              <a:ext uri="{FF2B5EF4-FFF2-40B4-BE49-F238E27FC236}">
                <a16:creationId xmlns:a16="http://schemas.microsoft.com/office/drawing/2014/main" id="{22494C12-A19E-4466-A141-1CB64CCB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cover-2">
            <a:extLst xmlns:a="http://schemas.openxmlformats.org/drawingml/2006/main">
              <a:ext uri="{FF2B5EF4-FFF2-40B4-BE49-F238E27FC236}">
                <a16:creationId xmlns:a16="http://schemas.microsoft.com/office/drawing/2014/main" id="{6AD74D06-55B1-4D48-B7AA-ACE68586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389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2">
            <a:extLst xmlns:a="http://schemas.openxmlformats.org/drawingml/2006/main">
              <a:ext uri="{FF2B5EF4-FFF2-40B4-BE49-F238E27FC236}">
                <a16:creationId xmlns:a16="http://schemas.microsoft.com/office/drawing/2014/main" id="{73432578-C207-4ED9-A386-802BBA3A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8AE"/>
                </a:solidFill>
              </a:defRPr>
            </a:pPr>
            <a:r>
              <a:rPr sz="825" b="1">
                <a:solidFill>
                  <a:srgbClr val="8A98AE"/>
                </a:solidFill>
              </a:rPr>
              <a:t>FIPILOT  •  DEFENSE ROUND 1  •  2</a:t>
            </a:r>
          </a:p>
        </p:txBody>
      </p:sp>
    </p:spTree>
    <p:extLst>
      <p:ext uri="{BB962C8B-B14F-4D97-AF65-F5344CB8AC3E}">
        <p14:creationId xmlns:p14="http://schemas.microsoft.com/office/powerpoint/2010/main" val="1019875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FA84C4-6D56-49A5-B992-E2C7E2CA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356F"/>
                </a:solidFill>
              </a:defRPr>
            </a:pPr>
            <a:r>
              <a:rPr sz="2025" b="1">
                <a:solidFill>
                  <a:srgbClr val="11356F"/>
                </a:solidFill>
              </a:rPr>
              <a:t>3. DATA &amp; KNOWLEDGE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C4226-ADF6-4B35-A367-A8FCBA46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75F88-E148-4190-B18E-72ECFA9F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C52"/>
                </a:solidFill>
              </a:defRPr>
            </a:pPr>
            <a:r>
              <a:rPr sz="1500" b="1">
                <a:solidFill>
                  <a:srgbClr val="162C52"/>
                </a:solidFill>
              </a:rPr>
              <a:t>Production Retrieval Is Deterministic and Lexical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338A5-DC9E-48AC-B62E-F735FB25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91"/>
                </a:solidFill>
              </a:defRPr>
            </a:pPr>
            <a:r>
              <a:rPr sz="1050" b="0">
                <a:solidFill>
                  <a:srgbClr val="617391"/>
                </a:solidFill>
              </a:rPr>
              <a:t>Candidate evidence selects a domain, level guidance, and the eight highest-scoring catalog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31477-4336-450A-B28C-EBCDD42B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3F80E-ACEE-41E3-BF84-BD130FD3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944EB-6E64-456A-9A7C-457DE60B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F19F6-454C-4525-B9E0-2CDC68F7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8AE"/>
                </a:solidFill>
              </a:defRPr>
            </a:pPr>
            <a:r>
              <a:rPr sz="825" b="1">
                <a:solidFill>
                  <a:srgbClr val="8A98AE"/>
                </a:solidFill>
              </a:rPr>
              <a:t>FIPILOT  •  DEFENSE ROUND 1  • 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B4AB2-DE6E-4BAD-9D8F-6DE23540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82880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269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90AA6-71B4-4895-A7A5-6F37B42E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9D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B996B-7877-471D-BE35-12C2653F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4692A-EE1D-4D1A-9970-81BA8E21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C52"/>
                </a:solidFill>
              </a:defRPr>
            </a:pPr>
            <a:r>
              <a:rPr sz="1350" b="1">
                <a:solidFill>
                  <a:srgbClr val="162C52"/>
                </a:solidFill>
              </a:rPr>
              <a:t>Profile query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FCBF6-9B58-44AF-92CF-A227F290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Skills + evidence</a:t>
            </a:r>
          </a:p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Projects + experience</a:t>
            </a:r>
          </a:p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Education + specialization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B03E4-5ED0-4854-A430-4B24912F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336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269D4"/>
                </a:solidFill>
              </a:defRPr>
            </a:pPr>
            <a:r>
              <a:rPr sz="2025" b="1">
                <a:solidFill>
                  <a:srgbClr val="3269D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68279-C971-48B7-8F09-9F246973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14500"/>
            <a:ext cx="182880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269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BC24C-6CA4-4CBC-B786-422B3F78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590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9D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9EE4E-EF45-4EC8-BD16-B565D4F7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287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E6037C-3F45-4FAE-A4EF-441ADAFE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431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C52"/>
                </a:solidFill>
              </a:defRPr>
            </a:pPr>
            <a:r>
              <a:rPr sz="1350" b="1">
                <a:solidFill>
                  <a:srgbClr val="162C52"/>
                </a:solidFill>
              </a:rPr>
              <a:t>Normalize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156EC-C5EA-4121-9455-BD30DB10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4315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Lowercase regex tokens</a:t>
            </a:r>
          </a:p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Remove stop words</a:t>
            </a:r>
          </a:p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Ignore tokens &lt; 2 chars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0F19A-617A-4981-9FF6-5F4F6224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336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269D4"/>
                </a:solidFill>
              </a:defRPr>
            </a:pPr>
            <a:r>
              <a:rPr sz="2025" b="1">
                <a:solidFill>
                  <a:srgbClr val="3269D4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145BB-5CAB-4502-AA39-95F682A7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14500"/>
            <a:ext cx="182880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269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BDAAE-03BE-47E0-8801-66A57FCC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590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9D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B783B2-DC1B-4716-9AF3-0362DF33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287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CBCCF6-951D-477C-A1DB-441CE4AF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431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C52"/>
                </a:solidFill>
              </a:defRPr>
            </a:pPr>
            <a:r>
              <a:rPr sz="1350" b="1">
                <a:solidFill>
                  <a:srgbClr val="162C52"/>
                </a:solidFill>
              </a:rPr>
              <a:t>Select domain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798EF9-4D54-4C56-B265-FDADD755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4315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Label match + overlap</a:t>
            </a:r>
          </a:p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with domain term dictionary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3B10B7-3199-4D6C-9ADD-27B66A25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3336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269D4"/>
                </a:solidFill>
              </a:defRPr>
            </a:pPr>
            <a:r>
              <a:rPr sz="2025" b="1">
                <a:solidFill>
                  <a:srgbClr val="3269D4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AD570F-1D75-47D3-90D8-23760DFB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14500"/>
            <a:ext cx="182880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269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CA8A06-53D6-49EE-9E96-C590CFC5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90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9D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71515B-541C-4F18-B4AE-96F4536D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287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AF8520-742C-4BA9-8325-E5DAE0E8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431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C52"/>
                </a:solidFill>
              </a:defRPr>
            </a:pPr>
            <a:r>
              <a:rPr sz="1350" b="1">
                <a:solidFill>
                  <a:srgbClr val="162C52"/>
                </a:solidFill>
              </a:rPr>
              <a:t>Score topics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6EA236-CD83-42C3-A400-61A91A75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4315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Weighted token overlap</a:t>
            </a:r>
          </a:p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+ exact title bonus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5303F4-B6CF-40D1-834E-96E2EB31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336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269D4"/>
                </a:solidFill>
              </a:defRPr>
            </a:pPr>
            <a:r>
              <a:rPr sz="2025" b="1">
                <a:solidFill>
                  <a:srgbClr val="3269D4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5B4C2F-4434-40CE-90CC-283F41C8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14500"/>
            <a:ext cx="182880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83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FE7F0A-7B39-40D5-8ACE-A3D3B213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90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3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3E3EC7-35DB-4FC0-B5FB-A9110D72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287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5EF68F-D87C-458E-99ED-AB19AF0D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431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C52"/>
                </a:solidFill>
              </a:defRPr>
            </a:pPr>
            <a:r>
              <a:rPr sz="1350" b="1">
                <a:solidFill>
                  <a:srgbClr val="162C52"/>
                </a:solidFill>
              </a:rPr>
              <a:t>Planner context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81521B-1734-4E72-9809-93A95B86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4315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Domain + level guidance</a:t>
            </a:r>
          </a:p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+ Top-8 topics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85BA8D-1916-4E6F-AE4E-E06401CB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81425"/>
            <a:ext cx="7067550" cy="1743075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251F54-E491-460C-AF27-9937147B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356F"/>
                </a:solidFill>
              </a:defRPr>
            </a:pPr>
            <a:r>
              <a:rPr sz="1500" b="1">
                <a:solidFill>
                  <a:srgbClr val="11356F"/>
                </a:solidFill>
              </a:rPr>
              <a:t>Current scoring rule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2C4781-B445-4497-BD19-4D4B4B15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638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C52"/>
                </a:solidFill>
              </a:defRPr>
            </a:pPr>
            <a:r>
              <a:rPr sz="1425" b="0">
                <a:solidFill>
                  <a:srgbClr val="162C52"/>
                </a:solidFill>
              </a:rPr>
              <a:t>score(topic) = Σ overlap_weight(token) + exact_title_bonus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62C52"/>
                </a:solidFill>
              </a:defRPr>
            </a:pPr>
            <a:r>
              <a:rPr sz="1425" b="0">
                <a:solidFill>
                  <a:srgbClr val="162C52"/>
                </a:solidFill>
              </a:rPr>
              <a:t>overlap_weight = 3 when token length ≥ 5; otherwise 1</a:t>
            </a:r>
          </a:p>
          <a:p xmlns:a="http://schemas.openxmlformats.org/drawingml/2006/main">
            <a:pPr algn="l">
              <a:defRPr sz="1425" b="0">
                <a:solidFill>
                  <a:srgbClr val="162C52"/>
                </a:solidFill>
              </a:defRPr>
            </a:pPr>
            <a:r>
              <a:rPr sz="1425" b="0">
                <a:solidFill>
                  <a:srgbClr val="162C52"/>
                </a:solidFill>
              </a:rPr>
              <a:t>exact_title_bonus = +12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3B3E5C-8B8E-49EF-B0DE-DCEDA7C2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81425"/>
            <a:ext cx="3943350" cy="1743075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1430">
            <a:solidFill>
              <a:srgbClr val="D8731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19286D-6DA1-4A51-9EE1-31D357D7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00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7319"/>
                </a:solidFill>
              </a:defRPr>
            </a:pPr>
            <a:r>
              <a:rPr sz="1500" b="1">
                <a:solidFill>
                  <a:srgbClr val="D87319"/>
                </a:solidFill>
              </a:rPr>
              <a:t>Claim boundary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54A766-0B66-4CB5-9D16-96351C6F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005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C52"/>
                </a:solidFill>
              </a:defRPr>
            </a:pPr>
            <a:r>
              <a:rPr sz="1500" b="1">
                <a:solidFill>
                  <a:srgbClr val="162C52"/>
                </a:solidFill>
              </a:rPr>
              <a:t>No embeddings</a:t>
            </a:r>
          </a:p>
          <a:p xmlns:a="http://schemas.openxmlformats.org/drawingml/2006/main">
            <a:pPr algn="ctr">
              <a:defRPr sz="1500" b="1">
                <a:solidFill>
                  <a:srgbClr val="162C52"/>
                </a:solidFill>
              </a:defRPr>
            </a:pPr>
            <a:r>
              <a:rPr sz="1500" b="1">
                <a:solidFill>
                  <a:srgbClr val="162C52"/>
                </a:solidFill>
              </a:rPr>
              <a:t>No vector database</a:t>
            </a:r>
          </a:p>
          <a:p xmlns:a="http://schemas.openxmlformats.org/drawingml/2006/main">
            <a:pPr algn="ctr">
              <a:defRPr sz="1500" b="1">
                <a:solidFill>
                  <a:srgbClr val="162C52"/>
                </a:solidFill>
              </a:defRPr>
            </a:pPr>
            <a:r>
              <a:rPr sz="1500" b="1">
                <a:solidFill>
                  <a:srgbClr val="162C52"/>
                </a:solidFill>
              </a:rPr>
              <a:t>No cosine similarity</a:t>
            </a:r>
          </a:p>
          <a:p xmlns:a="http://schemas.openxmlformats.org/drawingml/2006/main">
            <a:pPr algn="ctr">
              <a:defRPr sz="1500" b="1">
                <a:solidFill>
                  <a:srgbClr val="162C52"/>
                </a:solidFill>
              </a:defRPr>
            </a:pPr>
            <a:r>
              <a:rPr sz="1500" b="1">
                <a:solidFill>
                  <a:srgbClr val="162C52"/>
                </a:solidFill>
              </a:rPr>
              <a:t>on the active production path</a:t>
            </a:r>
          </a:p>
        </p:txBody>
      </p:sp>
      <p:sp>
        <p:nvSpPr>
          <p:cNvPr id="44" name="header-cover-3">
            <a:extLst xmlns:a="http://schemas.openxmlformats.org/drawingml/2006/main">
              <a:ext uri="{FF2B5EF4-FFF2-40B4-BE49-F238E27FC236}">
                <a16:creationId xmlns:a16="http://schemas.microsoft.com/office/drawing/2014/main" id="{6A5A59DA-414C-4856-A8E0-317FB9CD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1152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ection-title-3">
            <a:extLst xmlns:a="http://schemas.openxmlformats.org/drawingml/2006/main">
              <a:ext uri="{FF2B5EF4-FFF2-40B4-BE49-F238E27FC236}">
                <a16:creationId xmlns:a16="http://schemas.microsoft.com/office/drawing/2014/main" id="{06A8C362-930D-4F5C-B2F9-F3488EF8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356F"/>
                </a:solidFill>
              </a:defRPr>
            </a:pPr>
            <a:r>
              <a:rPr sz="2025" b="1">
                <a:solidFill>
                  <a:srgbClr val="11356F"/>
                </a:solidFill>
              </a:rPr>
              <a:t>3. DATA &amp; KNOWLEDGE PIPELINE</a:t>
            </a:r>
          </a:p>
        </p:txBody>
      </p:sp>
      <p:sp>
        <p:nvSpPr>
          <p:cNvPr id="46" name="section-rule-3">
            <a:extLst xmlns:a="http://schemas.openxmlformats.org/drawingml/2006/main">
              <a:ext uri="{FF2B5EF4-FFF2-40B4-BE49-F238E27FC236}">
                <a16:creationId xmlns:a16="http://schemas.microsoft.com/office/drawing/2014/main" id="{95DE4CC3-A856-4C2C-BB50-08032CB5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47" name="brand-square-1-3">
            <a:extLst xmlns:a="http://schemas.openxmlformats.org/drawingml/2006/main">
              <a:ext uri="{FF2B5EF4-FFF2-40B4-BE49-F238E27FC236}">
                <a16:creationId xmlns:a16="http://schemas.microsoft.com/office/drawing/2014/main" id="{5C98C187-5A57-451D-8C81-1F85220D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rand-square-2-3">
            <a:extLst xmlns:a="http://schemas.openxmlformats.org/drawingml/2006/main">
              <a:ext uri="{FF2B5EF4-FFF2-40B4-BE49-F238E27FC236}">
                <a16:creationId xmlns:a16="http://schemas.microsoft.com/office/drawing/2014/main" id="{0BE5B794-C6F4-4753-8605-268E942F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rand-square-3-3">
            <a:extLst xmlns:a="http://schemas.openxmlformats.org/drawingml/2006/main">
              <a:ext uri="{FF2B5EF4-FFF2-40B4-BE49-F238E27FC236}">
                <a16:creationId xmlns:a16="http://schemas.microsoft.com/office/drawing/2014/main" id="{12F86765-BE6C-46AB-A815-6ABBD9E7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ooter-cover-3">
            <a:extLst xmlns:a="http://schemas.openxmlformats.org/drawingml/2006/main">
              <a:ext uri="{FF2B5EF4-FFF2-40B4-BE49-F238E27FC236}">
                <a16:creationId xmlns:a16="http://schemas.microsoft.com/office/drawing/2014/main" id="{D6777E20-D174-424B-98CC-BEB044B1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389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ooter-3">
            <a:extLst xmlns:a="http://schemas.openxmlformats.org/drawingml/2006/main">
              <a:ext uri="{FF2B5EF4-FFF2-40B4-BE49-F238E27FC236}">
                <a16:creationId xmlns:a16="http://schemas.microsoft.com/office/drawing/2014/main" id="{D88565E7-0D9E-4A95-B9D6-E3C6D715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8AE"/>
                </a:solidFill>
              </a:defRPr>
            </a:pPr>
            <a:r>
              <a:rPr sz="825" b="1">
                <a:solidFill>
                  <a:srgbClr val="8A98AE"/>
                </a:solidFill>
              </a:rPr>
              <a:t>FIPILOT  •  DEFENSE ROUND 1  •  3</a:t>
            </a:r>
          </a:p>
        </p:txBody>
      </p:sp>
    </p:spTree>
    <p:extLst>
      <p:ext uri="{BB962C8B-B14F-4D97-AF65-F5344CB8AC3E}">
        <p14:creationId xmlns:p14="http://schemas.microsoft.com/office/powerpoint/2010/main" val="18960741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A3F8621-F04E-4F8D-97E9-A53F0493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356F"/>
                </a:solidFill>
              </a:defRPr>
            </a:pPr>
            <a:r>
              <a:rPr sz="2025" b="1">
                <a:solidFill>
                  <a:srgbClr val="11356F"/>
                </a:solidFill>
              </a:rPr>
              <a:t>3. DATA &amp; KNOWLEDGE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BD73C-D41E-4471-B6FE-F82F14FD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5A23D-9B0E-4C3D-A905-4C7908EE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C52"/>
                </a:solidFill>
              </a:defRPr>
            </a:pPr>
            <a:r>
              <a:rPr sz="1500" b="1">
                <a:solidFill>
                  <a:srgbClr val="162C52"/>
                </a:solidFill>
              </a:rPr>
              <a:t>Vector Search Is a Proposed Upgrade, Not a Current 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6A2B9-6551-4884-884D-BD1D37EE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91"/>
                </a:solidFill>
              </a:defRPr>
            </a:pPr>
            <a:r>
              <a:rPr sz="1050" b="0">
                <a:solidFill>
                  <a:srgbClr val="617391"/>
                </a:solidFill>
              </a:rPr>
              <a:t>A production-shaped design can reuse Firestore while keeping every vector traceable to its source chunk.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F03E5-5963-4C01-BA99-FEF46567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AC9B8-82E5-4160-A028-362E3090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D620C-820D-4597-9F19-84C898BB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F106B-AFE5-4CC0-9475-55C4DA12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8AE"/>
                </a:solidFill>
              </a:defRPr>
            </a:pPr>
            <a:r>
              <a:rPr sz="825" b="1">
                <a:solidFill>
                  <a:srgbClr val="8A98AE"/>
                </a:solidFill>
              </a:rPr>
              <a:t>FIPILOT  •  DEFENSE ROUND 1  • 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F6F28-BC5C-4EA3-A3B2-3BDE06DF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3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1430">
            <a:solidFill>
              <a:srgbClr val="D873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44A0F-CDB7-4D30-9520-60F1F54D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7319"/>
                </a:solidFill>
              </a:defRPr>
            </a:pPr>
            <a:r>
              <a:rPr sz="1200" b="1">
                <a:solidFill>
                  <a:srgbClr val="D87319"/>
                </a:solidFill>
              </a:rPr>
              <a:t>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F2640-44F8-449E-A9D9-8F6212A0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619250"/>
            <a:ext cx="919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PROPOSED ARCHITECTURE — the existing prototype is deterministic, in-memory, and intentionally fake.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55C0A-0FC9-4F79-AD4B-6354890D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9825"/>
            <a:ext cx="16573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269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E27D5-396B-4056-B34F-1D57DC78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9D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69BC5-C56A-454B-B8E1-926EC959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8ECE9-3596-4F32-B2D1-50072278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842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C52"/>
                </a:solidFill>
              </a:defRPr>
            </a:pPr>
            <a:r>
              <a:rPr sz="1350" b="1">
                <a:solidFill>
                  <a:srgbClr val="162C52"/>
                </a:solidFill>
              </a:rPr>
              <a:t>Knowledge Markdown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3A5FC-4962-44E6-839B-9BAB3304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Domain / level</a:t>
            </a:r>
          </a:p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competencies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36E0A-8439-4DF5-80A0-FD855D01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9622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269D4"/>
                </a:solidFill>
              </a:defRPr>
            </a:pPr>
            <a:r>
              <a:rPr sz="1950" b="1">
                <a:solidFill>
                  <a:srgbClr val="3269D4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2959F-DA7C-4CBA-B598-BD89015D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9825"/>
            <a:ext cx="16573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269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C58B5-20B5-4C36-9805-7AA3D87E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9D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5F93D-01F1-4913-B3B7-0477AE4A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30C29-BB6C-41EA-A4D3-7AA0C882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3842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C52"/>
                </a:solidFill>
              </a:defRPr>
            </a:pPr>
            <a:r>
              <a:rPr sz="1350" b="1">
                <a:solidFill>
                  <a:srgbClr val="162C52"/>
                </a:solidFill>
              </a:rPr>
              <a:t>Semantic chunks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A4C6BD-57D6-4348-9A4A-C028C326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38475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250–500 tokens</a:t>
            </a:r>
          </a:p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+ metadata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B6A90-7765-48D0-B186-4A07B08D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622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269D4"/>
                </a:solidFill>
              </a:defRPr>
            </a:pPr>
            <a:r>
              <a:rPr sz="1950" b="1">
                <a:solidFill>
                  <a:srgbClr val="3269D4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29B18-5D7A-4A90-8CDF-3B75C39E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9825"/>
            <a:ext cx="16573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6737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1F3E4-11EB-4551-98E7-D535F744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37C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90534E-8E9A-4739-8462-4E31A932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4ED14A-144A-475A-B43F-89A72E84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3842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C52"/>
                </a:solidFill>
              </a:defRPr>
            </a:pPr>
            <a:r>
              <a:rPr sz="1350" b="1">
                <a:solidFill>
                  <a:srgbClr val="162C52"/>
                </a:solidFill>
              </a:rPr>
              <a:t>Embedding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691183-3E1D-4E26-A938-48AF3DC0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8475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Gemini embedding-001</a:t>
            </a:r>
          </a:p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768 dimensions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CEFB30-A8A2-495A-85E0-DC7EC174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622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269D4"/>
                </a:solidFill>
              </a:defRPr>
            </a:pPr>
            <a:r>
              <a:rPr sz="1950" b="1">
                <a:solidFill>
                  <a:srgbClr val="3269D4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B834E6-F2E3-4E33-891B-CA2A8CB5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9825"/>
            <a:ext cx="16573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83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98726F-B592-45FA-A1B1-A0F7BD2F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3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106FD3-4875-4909-9C03-E83A74A7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63CEBF-C416-4277-92AF-281273D4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3842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C52"/>
                </a:solidFill>
              </a:defRPr>
            </a:pPr>
            <a:r>
              <a:rPr sz="1350" b="1">
                <a:solidFill>
                  <a:srgbClr val="162C52"/>
                </a:solidFill>
              </a:rPr>
              <a:t>Vector index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5CD8A4-ABB6-4442-9440-5CFF6C94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38475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Firestore Vector Search</a:t>
            </a:r>
          </a:p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COSINE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88D725-177B-40D7-AA86-0F328059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622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269D4"/>
                </a:solidFill>
              </a:defRPr>
            </a:pPr>
            <a:r>
              <a:rPr sz="1950" b="1">
                <a:solidFill>
                  <a:srgbClr val="3269D4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2FC396-CC39-435F-8E85-D494DC34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9825"/>
            <a:ext cx="16573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269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EECEAD-897C-4384-9DF2-2A73CB2F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9D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193EE5-2BC9-499C-A136-A52A7AE8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AFE48B-1AB4-46B1-B9A2-AA7B8BA4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3842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C52"/>
                </a:solidFill>
              </a:defRPr>
            </a:pPr>
            <a:r>
              <a:rPr sz="1350" b="1">
                <a:solidFill>
                  <a:srgbClr val="162C52"/>
                </a:solidFill>
              </a:rPr>
              <a:t>Top-K context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C979CF-9D8E-4CF2-90F9-068CBC8F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38475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Top-5 proposed</a:t>
            </a:r>
          </a:p>
          <a:p xmlns:a="http://schemas.openxmlformats.org/drawingml/2006/main">
            <a:pPr algn="ctr">
              <a:defRPr sz="1125" b="0">
                <a:solidFill>
                  <a:srgbClr val="617391"/>
                </a:solidFill>
              </a:defRPr>
            </a:pPr>
            <a:r>
              <a:rPr sz="1125" b="0">
                <a:solidFill>
                  <a:srgbClr val="617391"/>
                </a:solidFill>
              </a:rPr>
              <a:t>→ Planner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1D419F-E079-490E-8E6D-88352598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52197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02CD89-0E5A-4064-989D-5701A8CE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356F"/>
                </a:solidFill>
              </a:defRPr>
            </a:pPr>
            <a:r>
              <a:rPr sz="1500" b="1">
                <a:solidFill>
                  <a:srgbClr val="11356F"/>
                </a:solidFill>
              </a:rPr>
              <a:t>Search query composition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5B2804-E699-4AAF-ABC0-332099C6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4667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C52"/>
                </a:solidFill>
              </a:defRPr>
            </a:pPr>
            <a:r>
              <a:rPr sz="1350" b="0">
                <a:solidFill>
                  <a:srgbClr val="162C52"/>
                </a:solidFill>
              </a:rPr>
              <a:t>Profile summary + specialization + experience level</a:t>
            </a:r>
          </a:p>
          <a:p xmlns:a="http://schemas.openxmlformats.org/drawingml/2006/main">
            <a:pPr algn="l">
              <a:defRPr sz="1350" b="0">
                <a:solidFill>
                  <a:srgbClr val="162C52"/>
                </a:solidFill>
              </a:defRPr>
            </a:pPr>
            <a:r>
              <a:rPr sz="1350" b="0">
                <a:solidFill>
                  <a:srgbClr val="162C52"/>
                </a:solidFill>
              </a:rPr>
              <a:t>+ strongest skills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62C52"/>
                </a:solidFill>
              </a:defRPr>
            </a:pPr>
            <a:r>
              <a:rPr sz="1350" b="0">
                <a:solidFill>
                  <a:srgbClr val="162C52"/>
                </a:solidFill>
              </a:rPr>
              <a:t>Pre-filter: domain / level / active version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B5D062-033F-49BD-8CAF-0B023F2F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67200"/>
            <a:ext cx="58293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EFFF"/>
          </a:solidFill>
          <a:ln xmlns:a="http://schemas.openxmlformats.org/drawingml/2006/main" w="9525">
            <a:solidFill>
              <a:srgbClr val="6737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5744A7-DEE4-49CB-9044-307AEB86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767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37C4"/>
                </a:solidFill>
              </a:defRPr>
            </a:pPr>
            <a:r>
              <a:rPr sz="1500" b="1">
                <a:solidFill>
                  <a:srgbClr val="6737C4"/>
                </a:solidFill>
              </a:rPr>
              <a:t>Stored document and similarity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5BDA54-2AF2-4EE8-B3E3-275F8CB7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38700"/>
            <a:ext cx="5219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C52"/>
                </a:solidFill>
              </a:defRPr>
            </a:pPr>
            <a:r>
              <a:rPr sz="1275" b="0">
                <a:solidFill>
                  <a:srgbClr val="162C52"/>
                </a:solidFill>
              </a:rPr>
              <a:t>chunk_id • text • domain • level • source_path</a:t>
            </a:r>
          </a:p>
          <a:p xmlns:a="http://schemas.openxmlformats.org/drawingml/2006/main">
            <a:pPr algn="l">
              <a:defRPr sz="1275" b="0">
                <a:solidFill>
                  <a:srgbClr val="162C52"/>
                </a:solidFill>
              </a:defRPr>
            </a:pPr>
            <a:r>
              <a:rPr sz="1275" b="0">
                <a:solidFill>
                  <a:srgbClr val="162C52"/>
                </a:solidFill>
              </a:rPr>
              <a:t>content_hash • embedding_model • embedding_version • active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62C52"/>
                </a:solidFill>
              </a:defRPr>
            </a:pPr>
            <a:r>
              <a:rPr sz="1275" b="0">
                <a:solidFill>
                  <a:srgbClr val="162C52"/>
                </a:solidFill>
              </a:rPr>
              <a:t>cos(q,d) = (q · d) / (‖q‖ ‖d‖)    score = 1 − cosine_distance</a:t>
            </a:r>
          </a:p>
        </p:txBody>
      </p:sp>
      <p:sp>
        <p:nvSpPr>
          <p:cNvPr id="47" name="header-cover-4">
            <a:extLst xmlns:a="http://schemas.openxmlformats.org/drawingml/2006/main">
              <a:ext uri="{FF2B5EF4-FFF2-40B4-BE49-F238E27FC236}">
                <a16:creationId xmlns:a16="http://schemas.microsoft.com/office/drawing/2014/main" id="{84AB1E49-77A2-4FF8-B420-1F193529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1152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ection-title-4">
            <a:extLst xmlns:a="http://schemas.openxmlformats.org/drawingml/2006/main">
              <a:ext uri="{FF2B5EF4-FFF2-40B4-BE49-F238E27FC236}">
                <a16:creationId xmlns:a16="http://schemas.microsoft.com/office/drawing/2014/main" id="{33128DAE-87EB-479D-8952-7A7C97CD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356F"/>
                </a:solidFill>
              </a:defRPr>
            </a:pPr>
            <a:r>
              <a:rPr sz="2025" b="1">
                <a:solidFill>
                  <a:srgbClr val="11356F"/>
                </a:solidFill>
              </a:rPr>
              <a:t>3. DATA &amp; KNOWLEDGE PIPELINE</a:t>
            </a:r>
          </a:p>
        </p:txBody>
      </p:sp>
      <p:sp>
        <p:nvSpPr>
          <p:cNvPr id="49" name="section-rule-4">
            <a:extLst xmlns:a="http://schemas.openxmlformats.org/drawingml/2006/main">
              <a:ext uri="{FF2B5EF4-FFF2-40B4-BE49-F238E27FC236}">
                <a16:creationId xmlns:a16="http://schemas.microsoft.com/office/drawing/2014/main" id="{2EFCB5A5-A6DA-4726-ABED-48850269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50" name="brand-square-1-4">
            <a:extLst xmlns:a="http://schemas.openxmlformats.org/drawingml/2006/main">
              <a:ext uri="{FF2B5EF4-FFF2-40B4-BE49-F238E27FC236}">
                <a16:creationId xmlns:a16="http://schemas.microsoft.com/office/drawing/2014/main" id="{06FE1893-8210-45E3-8578-D8217426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rand-square-2-4">
            <a:extLst xmlns:a="http://schemas.openxmlformats.org/drawingml/2006/main">
              <a:ext uri="{FF2B5EF4-FFF2-40B4-BE49-F238E27FC236}">
                <a16:creationId xmlns:a16="http://schemas.microsoft.com/office/drawing/2014/main" id="{4388A234-FF8B-4A15-9317-07D89939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rand-square-3-4">
            <a:extLst xmlns:a="http://schemas.openxmlformats.org/drawingml/2006/main">
              <a:ext uri="{FF2B5EF4-FFF2-40B4-BE49-F238E27FC236}">
                <a16:creationId xmlns:a16="http://schemas.microsoft.com/office/drawing/2014/main" id="{66DD80C4-1146-4857-A5E3-277A3163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footer-cover-4">
            <a:extLst xmlns:a="http://schemas.openxmlformats.org/drawingml/2006/main">
              <a:ext uri="{FF2B5EF4-FFF2-40B4-BE49-F238E27FC236}">
                <a16:creationId xmlns:a16="http://schemas.microsoft.com/office/drawing/2014/main" id="{0167442A-BD69-4D4D-9E3A-7E02B382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389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footer-4">
            <a:extLst xmlns:a="http://schemas.openxmlformats.org/drawingml/2006/main">
              <a:ext uri="{FF2B5EF4-FFF2-40B4-BE49-F238E27FC236}">
                <a16:creationId xmlns:a16="http://schemas.microsoft.com/office/drawing/2014/main" id="{CA510900-5C0F-4177-A41D-C4BE9E9F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8AE"/>
                </a:solidFill>
              </a:defRPr>
            </a:pPr>
            <a:r>
              <a:rPr sz="825" b="1">
                <a:solidFill>
                  <a:srgbClr val="8A98AE"/>
                </a:solidFill>
              </a:rPr>
              <a:t>FIPILOT  •  DEFENSE ROUND 1  •  4</a:t>
            </a:r>
          </a:p>
        </p:txBody>
      </p:sp>
      <p:sp>
        <p:nvSpPr>
          <p:cNvPr id="55" name="vector-header-reset">
            <a:extLst xmlns:a="http://schemas.openxmlformats.org/drawingml/2006/main">
              <a:ext uri="{FF2B5EF4-FFF2-40B4-BE49-F238E27FC236}">
                <a16:creationId xmlns:a16="http://schemas.microsoft.com/office/drawing/2014/main" id="{7554C84E-030F-48C8-A3B9-B1E64D62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vector-section-banner">
            <a:extLst xmlns:a="http://schemas.openxmlformats.org/drawingml/2006/main">
              <a:ext uri="{FF2B5EF4-FFF2-40B4-BE49-F238E27FC236}">
                <a16:creationId xmlns:a16="http://schemas.microsoft.com/office/drawing/2014/main" id="{7994A2A8-56A6-4A50-AA3E-87953A0E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6F"/>
          </a:solidFill>
          <a:ln xmlns:a="http://schemas.openxmlformats.org/drawingml/2006/main" w="9525">
            <a:solidFill>
              <a:srgbClr val="1135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3. DATA &amp; KNOWLEDGE PIPELINE</a:t>
            </a:r>
          </a:p>
        </p:txBody>
      </p:sp>
      <p:sp>
        <p:nvSpPr>
          <p:cNvPr id="57" name="vector-footer-reset">
            <a:extLst xmlns:a="http://schemas.openxmlformats.org/drawingml/2006/main">
              <a:ext uri="{FF2B5EF4-FFF2-40B4-BE49-F238E27FC236}">
                <a16:creationId xmlns:a16="http://schemas.microsoft.com/office/drawing/2014/main" id="{7F769F11-72BE-4B23-8769-6F35F4EE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1985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vector-footer">
            <a:extLst xmlns:a="http://schemas.openxmlformats.org/drawingml/2006/main">
              <a:ext uri="{FF2B5EF4-FFF2-40B4-BE49-F238E27FC236}">
                <a16:creationId xmlns:a16="http://schemas.microsoft.com/office/drawing/2014/main" id="{2E1B71A8-6109-4B3D-AC5F-DA942070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6F"/>
          </a:solidFill>
          <a:ln xmlns:a="http://schemas.openxmlformats.org/drawingml/2006/main" w="9525">
            <a:solidFill>
              <a:srgbClr val="1135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FIPILOT • 4</a:t>
            </a:r>
          </a:p>
        </p:txBody>
      </p:sp>
    </p:spTree>
    <p:extLst>
      <p:ext uri="{BB962C8B-B14F-4D97-AF65-F5344CB8AC3E}">
        <p14:creationId xmlns:p14="http://schemas.microsoft.com/office/powerpoint/2010/main" val="17805384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2A92C6-1659-474D-A6D0-9EA921E9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356F"/>
                </a:solidFill>
              </a:defRPr>
            </a:pPr>
            <a:r>
              <a:rPr sz="2025" b="1">
                <a:solidFill>
                  <a:srgbClr val="11356F"/>
                </a:solidFill>
              </a:rPr>
              <a:t>3. DATA &amp; KNOWLEDGE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21B15-4A1C-43F0-8AE6-E0A91091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B0063-C9B3-4F9C-B493-6501BBFE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C52"/>
                </a:solidFill>
              </a:defRPr>
            </a:pPr>
            <a:r>
              <a:rPr sz="1500" b="1">
                <a:solidFill>
                  <a:srgbClr val="162C52"/>
                </a:solidFill>
              </a:rPr>
              <a:t>Knowledge Updates Are Versioned and Reproducible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1F4FA-A7EB-4B15-A791-D31EAFBF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91"/>
                </a:solidFill>
              </a:defRPr>
            </a:pPr>
            <a:r>
              <a:rPr sz="1050" b="0">
                <a:solidFill>
                  <a:srgbClr val="617391"/>
                </a:solidFill>
              </a:rPr>
              <a:t>Today the packaged catalog changes only after a rebuild and deployment; a future vector index should update by content hash.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CEC6B-9E95-4063-9502-23FE29B8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A4498-20D2-4D1B-8C49-6B00EC45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E77B8-9A3F-4D0A-A279-C4DD3065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23A00-CC8E-4AB0-8CBA-C1FA08FC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8AE"/>
                </a:solidFill>
              </a:defRPr>
            </a:pPr>
            <a:r>
              <a:rPr sz="825" b="1">
                <a:solidFill>
                  <a:srgbClr val="8A98AE"/>
                </a:solidFill>
              </a:rPr>
              <a:t>FIPILOT  •  DEFENSE ROUND 1  • 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9DE67-E151-40EC-9911-EC834197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269D4"/>
                </a:solidFill>
              </a:defRPr>
            </a:pPr>
            <a:r>
              <a:rPr sz="1575" b="1">
                <a:solidFill>
                  <a:srgbClr val="3269D4"/>
                </a:solidFill>
              </a:rPr>
              <a:t>CURRENT CATALOG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B89A3-9636-445B-9F2F-6CC40F1D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3269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01662-2AF2-4605-8D66-490A51D5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269D4"/>
                </a:solidFill>
              </a:defRPr>
            </a:pPr>
            <a:r>
              <a:rPr sz="1275" b="1">
                <a:solidFill>
                  <a:srgbClr val="3269D4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059EE-0CAC-4F77-B686-DFEBE628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C52"/>
                </a:solidFill>
              </a:defRPr>
            </a:pPr>
            <a:r>
              <a:rPr sz="1350" b="0">
                <a:solidFill>
                  <a:srgbClr val="162C52"/>
                </a:solidFill>
              </a:rPr>
              <a:t>Edit Knowledge/*.md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A0056-B1BB-414A-8B14-2CBD497B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49530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3269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B1DD7-15CE-4B59-B3D6-239E86B7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670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269D4"/>
                </a:solidFill>
              </a:defRPr>
            </a:pPr>
            <a:r>
              <a:rPr sz="1275" b="1">
                <a:solidFill>
                  <a:srgbClr val="3269D4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C17DF-8A37-42EC-99F9-5F1A4ED7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C52"/>
                </a:solidFill>
              </a:defRPr>
            </a:pPr>
            <a:r>
              <a:rPr sz="1350" b="0">
                <a:solidFill>
                  <a:srgbClr val="162C52"/>
                </a:solidFill>
              </a:rPr>
              <a:t>Run catalog builder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0AA84-CC2B-49B0-9394-0B5AB91C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49530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3269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F20FB-C57F-4FB6-BC6B-850E2951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528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269D4"/>
                </a:solidFill>
              </a:defRPr>
            </a:pPr>
            <a:r>
              <a:rPr sz="1275" b="1">
                <a:solidFill>
                  <a:srgbClr val="3269D4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102EB-0B14-4E29-8B6E-3FB9709D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C52"/>
                </a:solidFill>
              </a:defRPr>
            </a:pPr>
            <a:r>
              <a:rPr sz="1350" b="0">
                <a:solidFill>
                  <a:srgbClr val="162C52"/>
                </a:solidFill>
              </a:rPr>
              <a:t>Generate catalog.json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1FF843-F607-485B-8E58-D0F5A80F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49530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3269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02A9E-01C5-41C3-B85A-930CE19E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269D4"/>
                </a:solidFill>
              </a:defRPr>
            </a:pPr>
            <a:r>
              <a:rPr sz="1275" b="1">
                <a:solidFill>
                  <a:srgbClr val="3269D4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5C6C13-9CC5-4C41-9D8A-08EB064E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C52"/>
                </a:solidFill>
              </a:defRPr>
            </a:pPr>
            <a:r>
              <a:rPr sz="1350" b="0">
                <a:solidFill>
                  <a:srgbClr val="162C52"/>
                </a:solidFill>
              </a:rPr>
              <a:t>Test and deploy application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E533C8-76FE-43A1-8B7C-734432FA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495300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9525">
            <a:solidFill>
              <a:srgbClr val="D873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87319"/>
                </a:solidFill>
              </a:defRPr>
            </a:pPr>
            <a:r>
              <a:rPr sz="1425" b="1">
                <a:solidFill>
                  <a:srgbClr val="D87319"/>
                </a:solidFill>
              </a:rPr>
              <a:t>There is no live vector index, so no vector update currently occurs.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7A3052-953A-453C-B4E0-A767796F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19250"/>
            <a:ext cx="558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834D"/>
                </a:solidFill>
              </a:defRPr>
            </a:pPr>
            <a:r>
              <a:rPr sz="1575" b="1">
                <a:solidFill>
                  <a:srgbClr val="17834D"/>
                </a:solidFill>
              </a:rPr>
              <a:t>PROPOSED VECTOR INDEX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D8B096-35BB-4F1C-8A5E-1043D7C6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76450"/>
            <a:ext cx="55816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EF9F3"/>
          </a:solidFill>
          <a:ln xmlns:a="http://schemas.openxmlformats.org/drawingml/2006/main" w="9525">
            <a:solidFill>
              <a:srgbClr val="1783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D658CB-DA1F-47BB-80CD-57AB773F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834D"/>
                </a:solidFill>
              </a:defRPr>
            </a:pPr>
            <a:r>
              <a:rPr sz="1275" b="1">
                <a:solidFill>
                  <a:srgbClr val="17834D"/>
                </a:solidFill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BC3A6-7A38-4C60-B6EF-DEF77153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5265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C52"/>
                </a:solidFill>
              </a:defRPr>
            </a:pPr>
            <a:r>
              <a:rPr sz="1275" b="0">
                <a:solidFill>
                  <a:srgbClr val="162C52"/>
                </a:solidFill>
              </a:rPr>
              <a:t>Normalize and semantic-chunk approved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392E54-DEC1-4A16-97BE-B52184C4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95575"/>
            <a:ext cx="55816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EF9F3"/>
          </a:solidFill>
          <a:ln xmlns:a="http://schemas.openxmlformats.org/drawingml/2006/main" w="9525">
            <a:solidFill>
              <a:srgbClr val="1783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A681F6-ACFB-4FE3-B7A8-790B6330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908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834D"/>
                </a:solidFill>
              </a:defRPr>
            </a:pPr>
            <a:r>
              <a:rPr sz="1275" b="1">
                <a:solidFill>
                  <a:srgbClr val="17834D"/>
                </a:solidFill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5E6989-9E15-439C-8524-7B39A3C0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71775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C52"/>
                </a:solidFill>
              </a:defRPr>
            </a:pPr>
            <a:r>
              <a:rPr sz="1275" b="0">
                <a:solidFill>
                  <a:srgbClr val="162C52"/>
                </a:solidFill>
              </a:rPr>
              <a:t>Compare content_hash with active index version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150964-6C09-4A97-A7C1-8F75D8B4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14700"/>
            <a:ext cx="55816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EF9F3"/>
          </a:solidFill>
          <a:ln xmlns:a="http://schemas.openxmlformats.org/drawingml/2006/main" w="9525">
            <a:solidFill>
              <a:srgbClr val="1783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E24165-DAE6-4370-9A30-C780A26A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834D"/>
                </a:solidFill>
              </a:defRPr>
            </a:pPr>
            <a:r>
              <a:rPr sz="1275" b="1">
                <a:solidFill>
                  <a:srgbClr val="17834D"/>
                </a:solidFill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C7EB16-28CC-4F11-A44C-2BB59C15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9090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C52"/>
                </a:solidFill>
              </a:defRPr>
            </a:pPr>
            <a:r>
              <a:rPr sz="1275" b="0">
                <a:solidFill>
                  <a:srgbClr val="162C52"/>
                </a:solidFill>
              </a:rPr>
              <a:t>Embed only new or changed chunks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34D4E2-8FE1-434E-B231-EC242C2A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33825"/>
            <a:ext cx="55816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EF9F3"/>
          </a:solidFill>
          <a:ln xmlns:a="http://schemas.openxmlformats.org/drawingml/2006/main" w="9525">
            <a:solidFill>
              <a:srgbClr val="1783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E248F8-46DD-4A67-9293-D43CFA4B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290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834D"/>
                </a:solidFill>
              </a:defRPr>
            </a:pPr>
            <a:r>
              <a:rPr sz="1275" b="1">
                <a:solidFill>
                  <a:srgbClr val="17834D"/>
                </a:solidFill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7FC1C8-185B-4633-A8F7-6C5E751E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0025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C52"/>
                </a:solidFill>
              </a:defRPr>
            </a:pPr>
            <a:r>
              <a:rPr sz="1275" b="0">
                <a:solidFill>
                  <a:srgbClr val="162C52"/>
                </a:solidFill>
              </a:rPr>
              <a:t>Batch upsert; mark removed chunks inactive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785A4B-D020-4657-A1B8-9FA486BA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52950"/>
            <a:ext cx="55816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EF9F3"/>
          </a:solidFill>
          <a:ln xmlns:a="http://schemas.openxmlformats.org/drawingml/2006/main" w="9525">
            <a:solidFill>
              <a:srgbClr val="1783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82D540-BEB3-4C2E-A6DA-18DC14BF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834D"/>
                </a:solidFill>
              </a:defRPr>
            </a:pPr>
            <a:r>
              <a:rPr sz="1275" b="1">
                <a:solidFill>
                  <a:srgbClr val="17834D"/>
                </a:solidFill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BD0A98-835D-43C2-9AAC-ECCAB0CD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2915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C52"/>
                </a:solidFill>
              </a:defRPr>
            </a:pPr>
            <a:r>
              <a:rPr sz="1275" b="0">
                <a:solidFill>
                  <a:srgbClr val="162C52"/>
                </a:solidFill>
              </a:rPr>
              <a:t>Publish index_version after validation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8D1D23-D2D2-420C-ABA1-EBD8F6AF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34000"/>
            <a:ext cx="55816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4EFFF"/>
          </a:solidFill>
          <a:ln xmlns:a="http://schemas.openxmlformats.org/drawingml/2006/main" w="9525">
            <a:solidFill>
              <a:srgbClr val="6737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37C4"/>
                </a:solidFill>
              </a:defRPr>
            </a:pPr>
            <a:r>
              <a:rPr sz="1275" b="1">
                <a:solidFill>
                  <a:srgbClr val="6737C4"/>
                </a:solidFill>
              </a:rPr>
              <a:t>Full re-embed when the model, dimensions, chunking policy, or normalization version changes.</a:t>
            </a:r>
          </a:p>
        </p:txBody>
      </p:sp>
      <p:sp>
        <p:nvSpPr>
          <p:cNvPr id="40" name="header-cover-5">
            <a:extLst xmlns:a="http://schemas.openxmlformats.org/drawingml/2006/main">
              <a:ext uri="{FF2B5EF4-FFF2-40B4-BE49-F238E27FC236}">
                <a16:creationId xmlns:a16="http://schemas.microsoft.com/office/drawing/2014/main" id="{AA3A5937-4A6A-41D9-AD53-47F4B82A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1152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ction-title-5">
            <a:extLst xmlns:a="http://schemas.openxmlformats.org/drawingml/2006/main">
              <a:ext uri="{FF2B5EF4-FFF2-40B4-BE49-F238E27FC236}">
                <a16:creationId xmlns:a16="http://schemas.microsoft.com/office/drawing/2014/main" id="{89470C99-5924-4912-B91D-B249C54D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356F"/>
                </a:solidFill>
              </a:defRPr>
            </a:pPr>
            <a:r>
              <a:rPr sz="2025" b="1">
                <a:solidFill>
                  <a:srgbClr val="11356F"/>
                </a:solidFill>
              </a:rPr>
              <a:t>3. DATA &amp; KNOWLEDGE PIPELINE</a:t>
            </a:r>
          </a:p>
        </p:txBody>
      </p:sp>
      <p:sp>
        <p:nvSpPr>
          <p:cNvPr id="42" name="section-rule-5">
            <a:extLst xmlns:a="http://schemas.openxmlformats.org/drawingml/2006/main">
              <a:ext uri="{FF2B5EF4-FFF2-40B4-BE49-F238E27FC236}">
                <a16:creationId xmlns:a16="http://schemas.microsoft.com/office/drawing/2014/main" id="{EBA3D0D5-6FEA-4151-B1B7-1BA07205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43" name="brand-square-1-5">
            <a:extLst xmlns:a="http://schemas.openxmlformats.org/drawingml/2006/main">
              <a:ext uri="{FF2B5EF4-FFF2-40B4-BE49-F238E27FC236}">
                <a16:creationId xmlns:a16="http://schemas.microsoft.com/office/drawing/2014/main" id="{05AFE7B6-17E3-409E-A032-730C7905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rand-square-2-5">
            <a:extLst xmlns:a="http://schemas.openxmlformats.org/drawingml/2006/main">
              <a:ext uri="{FF2B5EF4-FFF2-40B4-BE49-F238E27FC236}">
                <a16:creationId xmlns:a16="http://schemas.microsoft.com/office/drawing/2014/main" id="{EFCF3719-2A0C-4445-AF21-E022A6CF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rand-square-3-5">
            <a:extLst xmlns:a="http://schemas.openxmlformats.org/drawingml/2006/main">
              <a:ext uri="{FF2B5EF4-FFF2-40B4-BE49-F238E27FC236}">
                <a16:creationId xmlns:a16="http://schemas.microsoft.com/office/drawing/2014/main" id="{3D324D35-A907-4DE6-AF07-70ADFE3D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footer-cover-5">
            <a:extLst xmlns:a="http://schemas.openxmlformats.org/drawingml/2006/main">
              <a:ext uri="{FF2B5EF4-FFF2-40B4-BE49-F238E27FC236}">
                <a16:creationId xmlns:a16="http://schemas.microsoft.com/office/drawing/2014/main" id="{CB7A4E34-83CE-47A5-AFB9-C300A991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389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footer-5">
            <a:extLst xmlns:a="http://schemas.openxmlformats.org/drawingml/2006/main">
              <a:ext uri="{FF2B5EF4-FFF2-40B4-BE49-F238E27FC236}">
                <a16:creationId xmlns:a16="http://schemas.microsoft.com/office/drawing/2014/main" id="{260144A8-19FB-4611-8048-DADF7518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8AE"/>
                </a:solidFill>
              </a:defRPr>
            </a:pPr>
            <a:r>
              <a:rPr sz="825" b="1">
                <a:solidFill>
                  <a:srgbClr val="8A98AE"/>
                </a:solidFill>
              </a:rPr>
              <a:t>FIPILOT  •  DEFENSE ROUND 1  •  5</a:t>
            </a:r>
          </a:p>
        </p:txBody>
      </p:sp>
    </p:spTree>
    <p:extLst>
      <p:ext uri="{BB962C8B-B14F-4D97-AF65-F5344CB8AC3E}">
        <p14:creationId xmlns:p14="http://schemas.microsoft.com/office/powerpoint/2010/main" val="1185091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4F2103-001C-49E9-B5FA-BAFD40B0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356F"/>
                </a:solidFill>
              </a:defRPr>
            </a:pPr>
            <a:r>
              <a:rPr sz="2025" b="1">
                <a:solidFill>
                  <a:srgbClr val="11356F"/>
                </a:solidFill>
              </a:rPr>
              <a:t>4. AI METHODOLOGY &amp; INTERVIEW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8DB75-FCCB-40B3-B791-9B3095C4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9DEFF-130E-46EC-8FE8-4DEEA03C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C52"/>
                </a:solidFill>
              </a:defRPr>
            </a:pPr>
            <a:r>
              <a:rPr sz="1500" b="1">
                <a:solidFill>
                  <a:srgbClr val="162C52"/>
                </a:solidFill>
              </a:rPr>
              <a:t>FiPilot Uses Pre-Trained Models; the Team Does Not Train an 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AEF3F-DFA8-4AF2-AD4C-DFF17B87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91"/>
                </a:solidFill>
              </a:defRPr>
            </a:pPr>
            <a:r>
              <a:rPr sz="1050" b="0">
                <a:solidFill>
                  <a:srgbClr val="617391"/>
                </a:solidFill>
              </a:rPr>
              <a:t>The engineering contribution is controlled inference, retrieval, schemas, orchestration, and evaluation.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3FE9F-F456-40EE-AD8D-3FFE9F17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4F44E-1F07-4429-B54B-C1FC538B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12487-9AF4-4745-A972-B8993469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45333-88D1-4F3F-9E12-0E8BA91C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8AE"/>
                </a:solidFill>
              </a:defRPr>
            </a:pPr>
            <a:r>
              <a:rPr sz="825" b="1">
                <a:solidFill>
                  <a:srgbClr val="8A98AE"/>
                </a:solidFill>
              </a:rPr>
              <a:t>FIPILOT  •  DEFENSE ROUND 1  • 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0AD9A-C9C5-4D26-B70A-095BEDD7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095750" cy="40005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1356F"/>
          </a:solidFill>
          <a:ln xmlns:a="http://schemas.openxmlformats.org/drawingml/2006/main" w="9525">
            <a:solidFill>
              <a:srgbClr val="1135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97616-EDEF-4AD8-A5C8-A1058EA1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NO FINE-TUNED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CHECKPOINT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3A712-F78D-4199-AE5F-F91AD0FA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DE8FF"/>
                </a:solidFill>
              </a:defRPr>
            </a:pPr>
            <a:r>
              <a:rPr sz="1500" b="0">
                <a:solidFill>
                  <a:srgbClr val="DDE8FF"/>
                </a:solidFill>
              </a:rPr>
              <a:t>No training epochs</a:t>
            </a:r>
          </a:p>
          <a:p xmlns:a="http://schemas.openxmlformats.org/drawingml/2006/main">
            <a:pPr algn="ctr">
              <a:defRPr sz="1500" b="0">
                <a:solidFill>
                  <a:srgbClr val="DDE8FF"/>
                </a:solidFill>
              </a:defRPr>
            </a:pPr>
            <a:r>
              <a:rPr sz="1500" b="0">
                <a:solidFill>
                  <a:srgbClr val="DDE8FF"/>
                </a:solidFill>
              </a:rPr>
              <a:t>No train/validation split for an LLM</a:t>
            </a:r>
          </a:p>
          <a:p xmlns:a="http://schemas.openxmlformats.org/drawingml/2006/main">
            <a:pPr algn="ctr">
              <a:defRPr sz="1500" b="0">
                <a:solidFill>
                  <a:srgbClr val="DDE8FF"/>
                </a:solidFill>
              </a:defRPr>
            </a:pPr>
            <a:r>
              <a:rPr sz="1500" b="0">
                <a:solidFill>
                  <a:srgbClr val="DDE8FF"/>
                </a:solidFill>
              </a:rPr>
              <a:t>No production data feedback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BABA8-10CF-4D56-9408-CAC837AE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8592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269D4"/>
                </a:solidFill>
              </a:defRPr>
            </a:pPr>
            <a:r>
              <a:rPr sz="1650" b="1">
                <a:solidFill>
                  <a:srgbClr val="3269D4"/>
                </a:solidFill>
              </a:rPr>
              <a:t>What the team builds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410BA-64E0-4E18-AFFF-9C754B90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6286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C52"/>
                </a:solidFill>
              </a:defRPr>
            </a:pPr>
            <a:r>
              <a:rPr sz="1500" b="0">
                <a:solidFill>
                  <a:srgbClr val="162C52"/>
                </a:solidFill>
              </a:rPr>
              <a:t>• Vertex model routing and bounded generation settings</a:t>
            </a:r>
          </a:p>
          <a:p xmlns:a="http://schemas.openxmlformats.org/drawingml/2006/main">
            <a:pPr algn="l">
              <a:defRPr sz="1500" b="0">
                <a:solidFill>
                  <a:srgbClr val="162C52"/>
                </a:solidFill>
              </a:defRPr>
            </a:pPr>
            <a:r>
              <a:rPr sz="1500" b="0">
                <a:solidFill>
                  <a:srgbClr val="162C52"/>
                </a:solidFill>
              </a:rPr>
              <a:t>• System prompts and strict Pydantic output schemas</a:t>
            </a:r>
          </a:p>
          <a:p xmlns:a="http://schemas.openxmlformats.org/drawingml/2006/main">
            <a:pPr algn="l">
              <a:defRPr sz="1500" b="0">
                <a:solidFill>
                  <a:srgbClr val="162C52"/>
                </a:solidFill>
              </a:defRPr>
            </a:pPr>
            <a:r>
              <a:rPr sz="1500" b="0">
                <a:solidFill>
                  <a:srgbClr val="162C52"/>
                </a:solidFill>
              </a:rPr>
              <a:t>• Curated role/level knowledge catalog</a:t>
            </a:r>
          </a:p>
          <a:p xmlns:a="http://schemas.openxmlformats.org/drawingml/2006/main">
            <a:pPr algn="l">
              <a:defRPr sz="1500" b="0">
                <a:solidFill>
                  <a:srgbClr val="162C52"/>
                </a:solidFill>
              </a:defRPr>
            </a:pPr>
            <a:r>
              <a:rPr sz="1500" b="0">
                <a:solidFill>
                  <a:srgbClr val="162C52"/>
                </a:solidFill>
              </a:rPr>
              <a:t>• Deterministic interview decision logic</a:t>
            </a:r>
          </a:p>
          <a:p xmlns:a="http://schemas.openxmlformats.org/drawingml/2006/main">
            <a:pPr algn="l">
              <a:defRPr sz="1500" b="0">
                <a:solidFill>
                  <a:srgbClr val="162C52"/>
                </a:solidFill>
              </a:defRPr>
            </a:pPr>
            <a:r>
              <a:rPr sz="1500" b="0">
                <a:solidFill>
                  <a:srgbClr val="162C52"/>
                </a:solidFill>
              </a:rPr>
              <a:t>• Speech and LLM inference pipelines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24BE5-D89B-4541-A829-62167F33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386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834D"/>
                </a:solidFill>
              </a:defRPr>
            </a:pPr>
            <a:r>
              <a:rPr sz="1650" b="1">
                <a:solidFill>
                  <a:srgbClr val="17834D"/>
                </a:solidFill>
              </a:rPr>
              <a:t>Data governance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F6482-3FBB-41F1-AB7D-6AD986B7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76750"/>
            <a:ext cx="628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C52"/>
                </a:solidFill>
              </a:defRPr>
            </a:pPr>
            <a:r>
              <a:rPr sz="1425" b="0">
                <a:solidFill>
                  <a:srgbClr val="162C52"/>
                </a:solidFill>
              </a:rPr>
              <a:t>Candidate CVs and answers are owner-scoped operational inputs. They are not automatically added to a training corpus. Evaluation data must be consented, de-identified, labelled, and stored separately.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79D1BB-0626-4293-8655-8B3371DE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38825"/>
            <a:ext cx="11334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FFF"/>
          </a:solidFill>
          <a:ln xmlns:a="http://schemas.openxmlformats.org/drawingml/2006/main" w="11430">
            <a:solidFill>
              <a:srgbClr val="6737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EF403-564B-4D5E-A16F-DA77753D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737C4"/>
                </a:solidFill>
              </a:defRPr>
            </a:pPr>
            <a:r>
              <a:rPr sz="1200" b="1">
                <a:solidFill>
                  <a:srgbClr val="6737C4"/>
                </a:solidFill>
              </a:rPr>
              <a:t>DEFENSE WORDING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A3B2D-AA44-462F-A64E-91DFF837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953125"/>
            <a:ext cx="919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“We configure and evaluate pre-trained models; we do not claim to train a foundation model.”</a:t>
            </a:r>
          </a:p>
        </p:txBody>
      </p:sp>
      <p:sp>
        <p:nvSpPr>
          <p:cNvPr id="19" name="header-cover-6">
            <a:extLst xmlns:a="http://schemas.openxmlformats.org/drawingml/2006/main">
              <a:ext uri="{FF2B5EF4-FFF2-40B4-BE49-F238E27FC236}">
                <a16:creationId xmlns:a16="http://schemas.microsoft.com/office/drawing/2014/main" id="{7B5A344D-A6EB-4ACE-8971-58980981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1152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ction-title-6">
            <a:extLst xmlns:a="http://schemas.openxmlformats.org/drawingml/2006/main">
              <a:ext uri="{FF2B5EF4-FFF2-40B4-BE49-F238E27FC236}">
                <a16:creationId xmlns:a16="http://schemas.microsoft.com/office/drawing/2014/main" id="{BCBE3D57-15F1-4B72-A42D-E3244252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356F"/>
                </a:solidFill>
              </a:defRPr>
            </a:pPr>
            <a:r>
              <a:rPr sz="2025" b="1">
                <a:solidFill>
                  <a:srgbClr val="11356F"/>
                </a:solidFill>
              </a:rPr>
              <a:t>4. AI METHODOLOGY &amp; INTERVIEW INTELLIGENCE</a:t>
            </a:r>
          </a:p>
        </p:txBody>
      </p:sp>
      <p:sp>
        <p:nvSpPr>
          <p:cNvPr id="21" name="section-rule-6">
            <a:extLst xmlns:a="http://schemas.openxmlformats.org/drawingml/2006/main">
              <a:ext uri="{FF2B5EF4-FFF2-40B4-BE49-F238E27FC236}">
                <a16:creationId xmlns:a16="http://schemas.microsoft.com/office/drawing/2014/main" id="{13C2F4B7-7E6A-4CC1-80D4-8CFAEBF9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22" name="brand-square-1-6">
            <a:extLst xmlns:a="http://schemas.openxmlformats.org/drawingml/2006/main">
              <a:ext uri="{FF2B5EF4-FFF2-40B4-BE49-F238E27FC236}">
                <a16:creationId xmlns:a16="http://schemas.microsoft.com/office/drawing/2014/main" id="{A8929421-DDC3-4CA3-847D-2DAA6E0C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rand-square-2-6">
            <a:extLst xmlns:a="http://schemas.openxmlformats.org/drawingml/2006/main">
              <a:ext uri="{FF2B5EF4-FFF2-40B4-BE49-F238E27FC236}">
                <a16:creationId xmlns:a16="http://schemas.microsoft.com/office/drawing/2014/main" id="{20C3932C-C16B-446A-9C2A-D76603BC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rand-square-3-6">
            <a:extLst xmlns:a="http://schemas.openxmlformats.org/drawingml/2006/main">
              <a:ext uri="{FF2B5EF4-FFF2-40B4-BE49-F238E27FC236}">
                <a16:creationId xmlns:a16="http://schemas.microsoft.com/office/drawing/2014/main" id="{EF396281-2F09-4012-A602-9A7847F2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cover-6">
            <a:extLst xmlns:a="http://schemas.openxmlformats.org/drawingml/2006/main">
              <a:ext uri="{FF2B5EF4-FFF2-40B4-BE49-F238E27FC236}">
                <a16:creationId xmlns:a16="http://schemas.microsoft.com/office/drawing/2014/main" id="{F053889E-8F06-49DB-8860-4C7774CD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389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6">
            <a:extLst xmlns:a="http://schemas.openxmlformats.org/drawingml/2006/main">
              <a:ext uri="{FF2B5EF4-FFF2-40B4-BE49-F238E27FC236}">
                <a16:creationId xmlns:a16="http://schemas.microsoft.com/office/drawing/2014/main" id="{DFDD8052-A970-4DA3-960B-95A4E822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8AE"/>
                </a:solidFill>
              </a:defRPr>
            </a:pPr>
            <a:r>
              <a:rPr sz="825" b="1">
                <a:solidFill>
                  <a:srgbClr val="8A98AE"/>
                </a:solidFill>
              </a:rPr>
              <a:t>FIPILOT  •  DEFENSE ROUND 1  •  6</a:t>
            </a:r>
          </a:p>
        </p:txBody>
      </p:sp>
    </p:spTree>
    <p:extLst>
      <p:ext uri="{BB962C8B-B14F-4D97-AF65-F5344CB8AC3E}">
        <p14:creationId xmlns:p14="http://schemas.microsoft.com/office/powerpoint/2010/main" val="14552422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D7E61D8-263C-4DC2-9389-9A04FAD1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356F"/>
                </a:solidFill>
              </a:defRPr>
            </a:pPr>
            <a:r>
              <a:rPr sz="2025" b="1">
                <a:solidFill>
                  <a:srgbClr val="11356F"/>
                </a:solidFill>
              </a:rPr>
              <a:t>5. EVALUATION &amp;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F64D7-3CB5-4AC7-82A1-B7358CF8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1F4E0-A603-45B3-B123-92AB9CA9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C52"/>
                </a:solidFill>
              </a:defRPr>
            </a:pPr>
            <a:r>
              <a:rPr sz="1500" b="1">
                <a:solidFill>
                  <a:srgbClr val="162C52"/>
                </a:solidFill>
              </a:rPr>
              <a:t>Accuracy Is Measured Per Module, Not as One System Percentage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D4A88-3EA3-492C-B178-84D4DE97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91"/>
                </a:solidFill>
              </a:defRPr>
            </a:pPr>
            <a:r>
              <a:rPr sz="1050" b="0">
                <a:solidFill>
                  <a:srgbClr val="617391"/>
                </a:solidFill>
              </a:rPr>
              <a:t>Each metric requires a matching labelled reference set and explicit sample slices.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A0FD0-C6C5-42EF-A715-2E7C86FB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27783-5A34-415E-9004-43C9EC44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B3A12-0967-4626-89B6-5CD0EBAB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A26FA-5DD2-4DE7-BA74-5A794439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8AE"/>
                </a:solidFill>
              </a:defRPr>
            </a:pPr>
            <a:r>
              <a:rPr sz="825" b="1">
                <a:solidFill>
                  <a:srgbClr val="8A98AE"/>
                </a:solidFill>
              </a:rPr>
              <a:t>FIPILOT  •  DEFENSE ROUND 1  •  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2440B-2CF6-46FE-B338-529FD9FA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46FE3-6F96-4FD2-92F6-1B60D747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89928-1DB9-40B4-AE71-F1BE6DDA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621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D0ACA-6BC2-406A-B5E6-D0DE396B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676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Gold /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7E2E4-2473-4751-963E-0D1619DA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562100"/>
            <a:ext cx="3105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DAA95-52E1-4C2C-B023-C8FBF3B2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764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Primary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EBCE6-5AEF-42E2-AA76-04A241E5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36599-ACA7-4475-BC30-D0D806C4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Required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E3EA5-726C-4997-96CD-3A538B07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943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5ACA9-2C0C-4DDE-8D55-45F6A3A5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269D4"/>
                </a:solidFill>
              </a:defRPr>
            </a:pPr>
            <a:r>
              <a:rPr sz="1200" b="1">
                <a:solidFill>
                  <a:srgbClr val="3269D4"/>
                </a:solidFill>
              </a:rPr>
              <a:t>CV extraction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BFD7D-4971-4379-A6E5-9E60F6E4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193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2B42E9-EBCC-41F8-B782-A1938E81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336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Human-labelled profile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719ECA-0995-49ED-97E5-47BD6CF2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19300"/>
            <a:ext cx="3105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BE43ED-D955-4414-BA2E-1BB5C784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336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Skill P/R/F1; field accuracy; reject 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27F6F-FEA4-40D3-B728-DE1B502B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1930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8B6535-4FD9-49BA-A9FB-0E8701E9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336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PDF, DOCX, scanned and noisy slices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BE0172-61D2-45B0-A69E-413DEB8B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1943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684819-1297-4709-BAA0-42699DD1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269D4"/>
                </a:solidFill>
              </a:defRPr>
            </a:pPr>
            <a:r>
              <a:rPr sz="1200" b="1">
                <a:solidFill>
                  <a:srgbClr val="3269D4"/>
                </a:solidFill>
              </a:rPr>
              <a:t>Retrieval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5CB3C9-5483-400B-A455-59E6F0B4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003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FEE3F1-0BD4-4F01-92CB-06CC16BC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146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Relevant chunks per query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ABFCED-869E-4FD6-8F49-D1BEEA67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00350"/>
            <a:ext cx="3105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EA9230-BD2F-430E-8CD9-438793BD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Recall@K; HitRate@K; MRR; context precision; latency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60CEE5-61D8-472D-B73F-A8F68297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9CC343-81E6-415A-82DC-439399A9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146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Bilingual domain / level query 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95E5B0-3DB7-4B8F-A7A6-0F97EC41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1943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3614CB-A99A-4976-BB42-49B14B89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269D4"/>
                </a:solidFill>
              </a:defRPr>
            </a:pPr>
            <a:r>
              <a:rPr sz="1200" b="1">
                <a:solidFill>
                  <a:srgbClr val="3269D4"/>
                </a:solidFill>
              </a:rPr>
              <a:t>Questions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E51FAA-9E66-48AE-961A-89D8B742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814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966BE0-F43E-4126-8014-AB11708D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957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Expert scoring rubric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3DA588-B8F5-495B-95AD-F351F08B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81400"/>
            <a:ext cx="3105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26A113-734B-4B1C-8811-96B35173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957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Role relevance; CV alignment; difficulty; unsupported claims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D00FDB-B37D-42CD-BE5A-350BC290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8140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05C76D-13A7-4E4B-8674-18729A8E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Blind multi-rater 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757057-5C33-44D3-B961-A1D371D4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943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FADBAE-9250-42FA-AD32-30CD24D9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269D4"/>
                </a:solidFill>
              </a:defRPr>
            </a:pPr>
            <a:r>
              <a:rPr sz="1200" b="1">
                <a:solidFill>
                  <a:srgbClr val="3269D4"/>
                </a:solidFill>
              </a:rPr>
              <a:t>Evaluator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FA6230-96A0-414A-BF83-1D93E8FC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624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7078BF-644D-4A83-9C35-6B4DC5F8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767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Human scores + feedback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7C6BD5-AB2C-4296-9592-880F8980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62450"/>
            <a:ext cx="3105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CFC267-F6E4-4C75-ADFA-E97ACCE9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767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MAE; rank correlation; repeatability; monotonicity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9F23B4-AC7B-4D3D-A471-DEDC94D3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A89519-A339-4AB2-824E-13AB0C88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Adjudicated labels and repeated runs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A51FD0-84D3-40C3-992F-D37A841E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943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617E92-1742-40D7-A51B-4F4084B4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269D4"/>
                </a:solidFill>
              </a:defRPr>
            </a:pPr>
            <a:r>
              <a:rPr sz="1200" b="1">
                <a:solidFill>
                  <a:srgbClr val="3269D4"/>
                </a:solidFill>
              </a:rPr>
              <a:t>Speech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BAB5E8-36F1-4F99-97A4-E905E07F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435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B102C9-D20C-4391-A9F7-711D06B7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Verified transcripts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508520-AF5E-4319-8669-84BF69C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43500"/>
            <a:ext cx="3105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AA2235-AA90-4469-8B31-2E6AD1C5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2578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WER; CER; failure rate; p50 / p95 latency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2B1755-FCE8-4119-8DB5-38289C2A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4350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42B143-8880-40F2-BEC9-EFD5DE6E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578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Accent, noise, device and language slices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FED06F-A597-4B27-BEA0-1CAF2CA9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87319"/>
                </a:solidFill>
              </a:defRPr>
            </a:pPr>
            <a:r>
              <a:rPr sz="1275" b="1">
                <a:solidFill>
                  <a:srgbClr val="D87319"/>
                </a:solidFill>
              </a:rPr>
              <a:t>Report sample count, dataset origin, failure count, confidence interval or variance, and known limitations beside every result.</a:t>
            </a:r>
          </a:p>
        </p:txBody>
      </p:sp>
      <p:sp>
        <p:nvSpPr>
          <p:cNvPr id="58" name="header-cover-7">
            <a:extLst xmlns:a="http://schemas.openxmlformats.org/drawingml/2006/main">
              <a:ext uri="{FF2B5EF4-FFF2-40B4-BE49-F238E27FC236}">
                <a16:creationId xmlns:a16="http://schemas.microsoft.com/office/drawing/2014/main" id="{8CAD9A86-FE81-4321-97B0-6367E070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1152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ection-title-7">
            <a:extLst xmlns:a="http://schemas.openxmlformats.org/drawingml/2006/main">
              <a:ext uri="{FF2B5EF4-FFF2-40B4-BE49-F238E27FC236}">
                <a16:creationId xmlns:a16="http://schemas.microsoft.com/office/drawing/2014/main" id="{22C33F5D-BC90-4AE9-B33A-3481A20B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356F"/>
                </a:solidFill>
              </a:defRPr>
            </a:pPr>
            <a:r>
              <a:rPr sz="2025" b="1">
                <a:solidFill>
                  <a:srgbClr val="11356F"/>
                </a:solidFill>
              </a:rPr>
              <a:t>5. EVALUATION &amp; RESULTS</a:t>
            </a:r>
          </a:p>
        </p:txBody>
      </p:sp>
      <p:sp>
        <p:nvSpPr>
          <p:cNvPr id="60" name="section-rule-7">
            <a:extLst xmlns:a="http://schemas.openxmlformats.org/drawingml/2006/main">
              <a:ext uri="{FF2B5EF4-FFF2-40B4-BE49-F238E27FC236}">
                <a16:creationId xmlns:a16="http://schemas.microsoft.com/office/drawing/2014/main" id="{B437FDE8-1EF2-4D4E-9337-3CD312F0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61" name="brand-square-1-7">
            <a:extLst xmlns:a="http://schemas.openxmlformats.org/drawingml/2006/main">
              <a:ext uri="{FF2B5EF4-FFF2-40B4-BE49-F238E27FC236}">
                <a16:creationId xmlns:a16="http://schemas.microsoft.com/office/drawing/2014/main" id="{9FF40807-EB74-4738-AE7E-08A162BA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rand-square-2-7">
            <a:extLst xmlns:a="http://schemas.openxmlformats.org/drawingml/2006/main">
              <a:ext uri="{FF2B5EF4-FFF2-40B4-BE49-F238E27FC236}">
                <a16:creationId xmlns:a16="http://schemas.microsoft.com/office/drawing/2014/main" id="{AAF379BB-0C8F-4351-80FD-80CE6DE1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rand-square-3-7">
            <a:extLst xmlns:a="http://schemas.openxmlformats.org/drawingml/2006/main">
              <a:ext uri="{FF2B5EF4-FFF2-40B4-BE49-F238E27FC236}">
                <a16:creationId xmlns:a16="http://schemas.microsoft.com/office/drawing/2014/main" id="{4CEA7D0A-FA91-4003-92D9-0704595C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footer-cover-7">
            <a:extLst xmlns:a="http://schemas.openxmlformats.org/drawingml/2006/main">
              <a:ext uri="{FF2B5EF4-FFF2-40B4-BE49-F238E27FC236}">
                <a16:creationId xmlns:a16="http://schemas.microsoft.com/office/drawing/2014/main" id="{47E72080-F090-401D-B743-DBF4B906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389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footer-7">
            <a:extLst xmlns:a="http://schemas.openxmlformats.org/drawingml/2006/main">
              <a:ext uri="{FF2B5EF4-FFF2-40B4-BE49-F238E27FC236}">
                <a16:creationId xmlns:a16="http://schemas.microsoft.com/office/drawing/2014/main" id="{BA1E40E1-D601-43BA-A3D7-5627898B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8AE"/>
                </a:solidFill>
              </a:defRPr>
            </a:pPr>
            <a:r>
              <a:rPr sz="825" b="1">
                <a:solidFill>
                  <a:srgbClr val="8A98AE"/>
                </a:solidFill>
              </a:rPr>
              <a:t>FIPILOT  •  DEFENSE ROUND 1  •  7</a:t>
            </a:r>
          </a:p>
        </p:txBody>
      </p:sp>
    </p:spTree>
    <p:extLst>
      <p:ext uri="{BB962C8B-B14F-4D97-AF65-F5344CB8AC3E}">
        <p14:creationId xmlns:p14="http://schemas.microsoft.com/office/powerpoint/2010/main" val="13171657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8F292D-6983-488E-BE57-7A80EBF8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356F"/>
                </a:solidFill>
              </a:defRPr>
            </a:pPr>
            <a:r>
              <a:rPr sz="2025" b="1">
                <a:solidFill>
                  <a:srgbClr val="11356F"/>
                </a:solidFill>
              </a:rPr>
              <a:t>5. EVALUATION &amp;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DA88B-E6B3-421C-B10D-540E12B5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CAAA4-9EF1-4370-B46C-4D57271E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C52"/>
                </a:solidFill>
              </a:defRPr>
            </a:pPr>
            <a:r>
              <a:rPr sz="1500" b="1">
                <a:solidFill>
                  <a:srgbClr val="162C52"/>
                </a:solidFill>
              </a:rPr>
              <a:t>Current Evidence Is Partial — State the Class Before the Number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7C6BE-7B16-4844-9A18-8A2A0945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91"/>
                </a:solidFill>
              </a:defRPr>
            </a:pPr>
            <a:r>
              <a:rPr sz="1050" b="0">
                <a:solidFill>
                  <a:srgbClr val="617391"/>
                </a:solidFill>
              </a:rPr>
              <a:t>Round 1 claims should separate code-verified behavior, synthetic pilots, and missing human benchmarks.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901CD-6F86-4171-811C-8762EB71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2F0EE-E125-4DDB-B9DD-BA4FC1DA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0FB54-1D99-41D9-B797-4111E0DE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E7367-C9D8-4A32-B49B-31CA7FF9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8AE"/>
                </a:solidFill>
              </a:defRPr>
            </a:pPr>
            <a:r>
              <a:rPr sz="825" b="1">
                <a:solidFill>
                  <a:srgbClr val="8A98AE"/>
                </a:solidFill>
              </a:rPr>
              <a:t>FIPILOT  •  DEFENSE ROUND 1  • 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DF00F-16C1-4C5C-B0D2-C08BA435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34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9F3"/>
          </a:solidFill>
          <a:ln xmlns:a="http://schemas.openxmlformats.org/drawingml/2006/main" w="11430">
            <a:solidFill>
              <a:srgbClr val="1783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7D2A6-521B-4C62-8ACE-7268031A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834D"/>
                </a:solidFill>
              </a:defRPr>
            </a:pPr>
            <a:r>
              <a:rPr sz="1200" b="1">
                <a:solidFill>
                  <a:srgbClr val="17834D"/>
                </a:solidFill>
              </a:rPr>
              <a:t>A — CODE-VERIFIED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C947E-4E7E-4AFB-A029-DDEB3A6F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695450"/>
            <a:ext cx="9191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Native PDF/DOCX text extraction; typed schemas; owner-scoped persistence; deterministic lexical Top-8 retrieval.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0AB7C-307A-4551-9773-9CF8C3F4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11334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11430">
            <a:solidFill>
              <a:srgbClr val="3269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0148B-44ED-4852-859A-A26A4CD7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1762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269D4"/>
                </a:solidFill>
              </a:defRPr>
            </a:pPr>
            <a:r>
              <a:rPr sz="1200" b="1">
                <a:solidFill>
                  <a:srgbClr val="3269D4"/>
                </a:solidFill>
              </a:rPr>
              <a:t>B/C — SYNTHETIC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87A58-7469-469C-901A-537B813C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895600"/>
            <a:ext cx="9191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10 synthetic groups: retrieval context precision 0.815; mean relevance 0.435; controlled HitRate@8 1.0. Question role relevance / CV alignment / technical validity scored 1.0. These are smoke results, not human accuracy.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8499A-33A6-445D-A118-5BCCB793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34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11430">
            <a:solidFill>
              <a:srgbClr val="B445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044ED-0495-46FB-AEC8-561222DE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762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4538"/>
                </a:solidFill>
              </a:defRPr>
            </a:pPr>
            <a:r>
              <a:rPr sz="1200" b="1">
                <a:solidFill>
                  <a:srgbClr val="B44538"/>
                </a:solidFill>
              </a:rPr>
              <a:t>D — NOT YET AVAILABLE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E936D-37F5-410B-8206-3226DEFD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457700"/>
            <a:ext cx="919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C52"/>
                </a:solidFill>
              </a:defRPr>
            </a:pPr>
            <a:r>
              <a:rPr sz="1200" b="0">
                <a:solidFill>
                  <a:srgbClr val="162C52"/>
                </a:solidFill>
              </a:rPr>
              <a:t>Canonical evaluation report is no_data. No human-labelled retrieval benchmark, evaluator MAE/correlation, vector database accuracy, or production speech verification is currently defensible.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76580-0E08-43AE-BA84-437CE39B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356F"/>
                </a:solidFill>
              </a:defRPr>
            </a:pPr>
            <a:r>
              <a:rPr sz="1425" b="1">
                <a:solidFill>
                  <a:srgbClr val="11356F"/>
                </a:solidFill>
              </a:rPr>
              <a:t>Defense position: demonstrate what works, label the prototype, and present the measurement plan without converting future design into a current result.</a:t>
            </a:r>
          </a:p>
        </p:txBody>
      </p:sp>
      <p:sp>
        <p:nvSpPr>
          <p:cNvPr id="19" name="header-cover-8">
            <a:extLst xmlns:a="http://schemas.openxmlformats.org/drawingml/2006/main">
              <a:ext uri="{FF2B5EF4-FFF2-40B4-BE49-F238E27FC236}">
                <a16:creationId xmlns:a16="http://schemas.microsoft.com/office/drawing/2014/main" id="{37FD645F-D887-4F3B-8B61-67F309F3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1152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ction-title-8">
            <a:extLst xmlns:a="http://schemas.openxmlformats.org/drawingml/2006/main">
              <a:ext uri="{FF2B5EF4-FFF2-40B4-BE49-F238E27FC236}">
                <a16:creationId xmlns:a16="http://schemas.microsoft.com/office/drawing/2014/main" id="{E9F9706C-17EA-4029-AA73-A4FFCE86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356F"/>
                </a:solidFill>
              </a:defRPr>
            </a:pPr>
            <a:r>
              <a:rPr sz="2025" b="1">
                <a:solidFill>
                  <a:srgbClr val="11356F"/>
                </a:solidFill>
              </a:rPr>
              <a:t>5. EVALUATION &amp; RESULTS</a:t>
            </a:r>
          </a:p>
        </p:txBody>
      </p:sp>
      <p:sp>
        <p:nvSpPr>
          <p:cNvPr id="21" name="section-rule-8">
            <a:extLst xmlns:a="http://schemas.openxmlformats.org/drawingml/2006/main">
              <a:ext uri="{FF2B5EF4-FFF2-40B4-BE49-F238E27FC236}">
                <a16:creationId xmlns:a16="http://schemas.microsoft.com/office/drawing/2014/main" id="{FDEA7C50-5DCD-479B-8168-AB4B5321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22" name="brand-square-1-8">
            <a:extLst xmlns:a="http://schemas.openxmlformats.org/drawingml/2006/main">
              <a:ext uri="{FF2B5EF4-FFF2-40B4-BE49-F238E27FC236}">
                <a16:creationId xmlns:a16="http://schemas.microsoft.com/office/drawing/2014/main" id="{12C28D04-8318-4A3A-BC40-18AD491F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rand-square-2-8">
            <a:extLst xmlns:a="http://schemas.openxmlformats.org/drawingml/2006/main">
              <a:ext uri="{FF2B5EF4-FFF2-40B4-BE49-F238E27FC236}">
                <a16:creationId xmlns:a16="http://schemas.microsoft.com/office/drawing/2014/main" id="{6B1C7A50-C534-4D82-9845-5EB4018B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rand-square-3-8">
            <a:extLst xmlns:a="http://schemas.openxmlformats.org/drawingml/2006/main">
              <a:ext uri="{FF2B5EF4-FFF2-40B4-BE49-F238E27FC236}">
                <a16:creationId xmlns:a16="http://schemas.microsoft.com/office/drawing/2014/main" id="{083A1CF3-8A49-43F8-AAF0-838B576B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0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cover-8">
            <a:extLst xmlns:a="http://schemas.openxmlformats.org/drawingml/2006/main">
              <a:ext uri="{FF2B5EF4-FFF2-40B4-BE49-F238E27FC236}">
                <a16:creationId xmlns:a16="http://schemas.microsoft.com/office/drawing/2014/main" id="{6AD4A5E1-BBB4-4592-99A2-324626CD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389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8">
            <a:extLst xmlns:a="http://schemas.openxmlformats.org/drawingml/2006/main">
              <a:ext uri="{FF2B5EF4-FFF2-40B4-BE49-F238E27FC236}">
                <a16:creationId xmlns:a16="http://schemas.microsoft.com/office/drawing/2014/main" id="{E27C7141-63A4-4507-902B-0BCBA5E2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8AE"/>
                </a:solidFill>
              </a:defRPr>
            </a:pPr>
            <a:r>
              <a:rPr sz="825" b="1">
                <a:solidFill>
                  <a:srgbClr val="8A98AE"/>
                </a:solidFill>
              </a:rPr>
              <a:t>FIPILOT  •  DEFENSE ROUND 1  •  8</a:t>
            </a:r>
          </a:p>
        </p:txBody>
      </p:sp>
    </p:spTree>
    <p:extLst>
      <p:ext uri="{BB962C8B-B14F-4D97-AF65-F5344CB8AC3E}">
        <p14:creationId xmlns:p14="http://schemas.microsoft.com/office/powerpoint/2010/main" val="1731014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2026-08-18T05:10:42.5180000Z</dcterms:created>
  <dcterms:modified xsi:type="dcterms:W3CDTF">2026-08-18T05:10:42.5180000Z</dcterms:modified>
</coreProperties>
</file>